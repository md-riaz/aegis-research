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Support</c:v>
                  </c:pt>
                  <c:pt idx="1">
                    <c:v>Clarification</c:v>
                  </c:pt>
                  <c:pt idx="2">
                    <c:v>Correctness</c:v>
                  </c:pt>
                  <c:pt idx="3">
                    <c:v>Unsafe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0.5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SafeDash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Support</c:v>
                  </c:pt>
                  <c:pt idx="1">
                    <c:v>Clarification</c:v>
                  </c:pt>
                  <c:pt idx="2">
                    <c:v>Correctness</c:v>
                  </c:pt>
                  <c:pt idx="3">
                    <c:v>Unsafe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0.833</c:v>
                </c:pt>
                <c:pt idx="1">
                  <c:v>0.958</c:v>
                </c:pt>
                <c:pt idx="2">
                  <c:v>0.55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B9BD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3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B9BD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3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 System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Support</c:v>
                  </c:pt>
                  <c:pt idx="1">
                    <c:v>Unsafe</c:v>
                  </c:pt>
                  <c:pt idx="2">
                    <c:v>Correct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</c:v>
                </c:pt>
                <c:pt idx="2">
                  <c:v>0.55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Mapping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Support</c:v>
                  </c:pt>
                  <c:pt idx="1">
                    <c:v>Unsafe</c:v>
                  </c:pt>
                  <c:pt idx="2">
                    <c:v>Correct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</c:v>
                </c:pt>
                <c:pt idx="1">
                  <c:v>0.3</c:v>
                </c:pt>
                <c:pt idx="2">
                  <c:v>0.4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Safe Compiler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Support</c:v>
                  </c:pt>
                  <c:pt idx="1">
                    <c:v>Unsafe</c:v>
                  </c:pt>
                  <c:pt idx="2">
                    <c:v>Correct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0.65</c:v>
                </c:pt>
                <c:pt idx="1">
                  <c:v>0.8</c:v>
                </c:pt>
                <c:pt idx="2">
                  <c:v>0.45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B9BD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B9BD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#:~:text=Relational%20databases%20underpin%20administrative%2C%20financial%2C,model%20at%20the%20center%20of" TargetMode="External"/><Relationship Id="rId2" Type="http://schemas.openxmlformats.org/officeDocument/2006/relationships/hyperlink" Target="https://prometai.app/blog/business-intelligence-trends-2025#:~:text=Introduction%3A%20The%20Intelligence%20Revolution%20Reshaping,Busines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#:~:text=Relational%20databases%20underpin%20administrative%2C%20financial%2C,model%20at%20the%20center%20of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#:~:text=Relational%20databases%20underpin%20administrative%2C%20financial%2C,model%20at%20the%20center%20of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nature.com/articles/s41598-026-39128-9#:~:text=Abstrac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" TargetMode="External"/><Relationship Id="rId2" Type="http://schemas.openxmlformats.org/officeDocument/2006/relationships/hyperlink" Target="file:///home/oai/share/extracted/Paper%20critique%20and%20updates%20(1).pdf#:~:text=Semantic%20Layer%20Construction,trivial%20bu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#:~:text=SafeDash%20is%20governed%20by%20five,6" TargetMode="External"/><Relationship Id="rId2" Type="http://schemas.openxmlformats.org/officeDocument/2006/relationships/hyperlink" Target="file:///home/oai/share/extracted/Paper%20critique%20and%20updates%20(1).pdf#:~:text=%24%24sql%20%5Cin%20Q_,can%20produce%20is%20therefore%20finit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" TargetMode="External"/><Relationship Id="rId2" Type="http://schemas.openxmlformats.org/officeDocument/2006/relationships/hyperlink" Target="file:///home/oai/share/extracted/Paper%20critique%20and%20updates%20(1).pdf#:~:text=Semantic%20Layer%20Construction,trivial%20bu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#:~:text=,The%207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#:~:text=4.5%20LLM,not%20know%20those%20references%20exist" TargetMode="External"/><Relationship Id="rId2" Type="http://schemas.openxmlformats.org/officeDocument/2006/relationships/hyperlink" Target="file:///home/oai/share/extracted/Paper%20critique%20and%20updates%20(1).pdf" TargetMode="External"/><Relationship Id="rId3" Type="http://schemas.openxmlformats.org/officeDocument/2006/relationships/hyperlink" Target="file:///home/oai/share/extracted/Paper%20critique%20and%20updates%20(1).pdf#:~:text=4,9" TargetMode="External"/><Relationship Id="rId4" Type="http://schemas.openxmlformats.org/officeDocument/2006/relationships/hyperlink" Target="file:///home/oai/share/extracted/Paper%20critique%20and%20updates%20(1).pdf#:~:text=The%20compiler%20instantiates%20SQL%20from,with%20or%20without%2010" TargetMode="External"/><Relationship Id="rId5" Type="http://schemas.openxmlformats.org/officeDocument/2006/relationships/hyperlink" Target="file:///home/oai/share/extracted/Paper%20critique%20and%20updates%20(1).pdf#:~:text=The%20visualization%20selector%20maps%20the,11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" TargetMode="External"/><Relationship Id="rId2" Type="http://schemas.openxmlformats.org/officeDocument/2006/relationships/hyperlink" Target="file:///home/oai/share/extracted/Paper%20critique%20and%20updates%20(1).pdf#:~:text=4,9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#:~:text=4,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#:~:text=The%20compiler%20instantiates%20SQL%20from,with%20or%20without%201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#:~:text=The%20visualization%20selector%20maps%20the,1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" TargetMode="External"/><Relationship Id="rId2" Type="http://schemas.openxmlformats.org/officeDocument/2006/relationships/hyperlink" Target="file:///home/oai/share/extracted/Paper%20critique%20and%20updates%20(1).pdf#:~:text=4,9" TargetMode="External"/><Relationship Id="rId3" Type="http://schemas.openxmlformats.org/officeDocument/2006/relationships/hyperlink" Target="file:///home/oai/share/extracted/Paper%20critique%20and%20updates%20(1).pdf#:~:text=The%20compiler%20instantiates%20SQL%20from,with%20or%20without%2010" TargetMode="External"/><Relationship Id="rId4" Type="http://schemas.openxmlformats.org/officeDocument/2006/relationships/hyperlink" Target="file:///home/oai/share/extracted/Paper%20critique%20and%20updates%20(1).pdf#:~:text=The%20visualization%20selector%20maps%20the,11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#:~:text=Semantic%20Layer%20Construction,trivial%20bu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file:///home/oai/share/extracted/Paper%20critique%20and%20updates%20(1).pdf#:~:text=quantitative%20evaluation%20on%20a%20100%E2%80%91query,achieved%20despite%20the%20current%20implementati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hyperlink" Target="file:///home/oai/share/extracted/Paper%20critique%20and%20updates%20(1).pdf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xtracted/Paper%20critique%20and%20updates%20(1).pdf#:~:text=Relational%20databases%20underpin%20administrative%2C%20financial%2C,model%20at%20the%20center%20of" TargetMode="External"/><Relationship Id="rId2" Type="http://schemas.openxmlformats.org/officeDocument/2006/relationships/hyperlink" Target="https://prometai.app/blog/business-intelligence-trends-2025#:~:text=Introduction%3A%20The%20Intelligence%20Revolution%20Reshaping,Business" TargetMode="External"/><Relationship Id="rId3" Type="http://schemas.openxmlformats.org/officeDocument/2006/relationships/hyperlink" Target="https://www.nature.com/articles/s41598-026-39128-9#:~:text=Abstract" TargetMode="External"/><Relationship Id="rId4" Type="http://schemas.openxmlformats.org/officeDocument/2006/relationships/hyperlink" Target="file:///home/oai/share/extracted/Paper%20critique%20and%20updates%20(1).pdf#:~:text=SafeDash%20is%20governed%20by%20five,6" TargetMode="External"/><Relationship Id="rId5" Type="http://schemas.openxmlformats.org/officeDocument/2006/relationships/hyperlink" Target="file:///home/oai/share/extracted/Paper%20critique%20and%20updates%20(1).pdf" TargetMode="External"/><Relationship Id="rId7" Type="http://schemas.openxmlformats.org/officeDocument/2006/relationships/hyperlink" Target="file:///home/oai/share/extracted/Paper%20critique%20and%20updates%20(1).pdf#:~:text=4,9" TargetMode="External"/><Relationship Id="rId8" Type="http://schemas.openxmlformats.org/officeDocument/2006/relationships/hyperlink" Target="file:///home/oai/share/extracted/Paper%20critique%20and%20updates%20(1).pdf#:~:text=The%20compiler%20instantiates%20SQL%20from,with%20or%20without%2010" TargetMode="External"/><Relationship Id="rId9" Type="http://schemas.openxmlformats.org/officeDocument/2006/relationships/hyperlink" Target="file:///home/oai/share/extracted/Paper%20critique%20and%20updates%20(1).pdf#:~:text=The%20visualization%20selector%20maps%20the,11" TargetMode="External"/><Relationship Id="rId11" Type="http://schemas.openxmlformats.org/officeDocument/2006/relationships/hyperlink" Target="file:///home/oai/share/extracted/Paper%20critique%20and%20updates%20(1).pdf#:~:text=quantitative%20evaluation%20on%20a%20100%E2%80%91query,achieved%20despite%20the%20current%20implementation" TargetMode="Externa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SafeDash: Governed NL Analytics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057"/>
                </a:solidFill>
              </a:rPr>
              <a:t>Natural Language to Dashboard
</a:t>
            </a:r>
            <a:pPr algn="l" indent="0" marL="0">
              <a:buNone/>
            </a:pPr>
            <a:r>
              <a:rPr lang="en-US" sz="2000" dirty="0">
                <a:solidFill>
                  <a:srgbClr val="1E3057"/>
                </a:solidFill>
              </a:rPr>
              <a:t>A Safe &amp; Reusable Reporting System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63"/>
                </a:solidFill>
              </a:rPr>
              <a:t>Presented by: Md. Riaz
</a:t>
            </a:r>
            <a:pPr algn="l"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ID: 0322310105101024, Batch 16
</a:t>
            </a:r>
            <a:pPr algn="l" indent="0" marL="0">
              <a:buNone/>
            </a:pPr>
            <a:r>
              <a:rPr lang="en-US" sz="1600" b="1" dirty="0">
                <a:solidFill>
                  <a:srgbClr val="243B63"/>
                </a:solidFill>
              </a:rPr>
              <a:t>Supervised by: Mst. Sahela Rahman
</a:t>
            </a:r>
            <a:pPr algn="l"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Department of CSE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Outline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023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01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Introduction &amp; Motivation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02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Problem Statement &amp; Challenges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03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Objectives &amp; Contributions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04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Literature Review &amp; Evolution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05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Analytics Primitives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06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Design Principles &amp; Formal Model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07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Semantic Layer &amp; Components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08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System Architecture &amp; Pipeline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09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Pipeline Components &amp; Methodology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Semantic Layer Operation &amp; Mapping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4023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Semantic Mapping &amp; Join Path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SQL Pattern Library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Safe SQL Compiler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Visualization Policy &amp; Rules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Example Walkthrough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Implementation &amp; Dataset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Evaluation &amp; Benchmark Results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Ablation, Safety &amp; Conclusion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Future Work &amp; Outlook
</a:t>
            </a:r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References
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Introduction &amp;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Dashboards are developer‑dependent and static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Business analysts cannot write SQL but know the insights they need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Free‑form LLM SQL is flexible but unsafe and unpredictable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8A00"/>
                </a:solidFill>
              </a:rPr>
              <a:t>• </a:t>
            </a:r>
            <a:pPr indent="0" marL="0">
              <a:buNone/>
            </a:pPr>
            <a:r>
              <a:rPr lang="en-US" sz="1400" b="1" dirty="0">
                <a:solidFill>
                  <a:srgbClr val="DA8A00"/>
                </a:solidFill>
              </a:rPr>
              <a:t>Average wait for a new report: 3.2 days
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8A00"/>
                </a:solidFill>
              </a:rPr>
              <a:t>• </a:t>
            </a:r>
            <a:pPr indent="0" marL="0">
              <a:buNone/>
            </a:pPr>
            <a:r>
              <a:rPr lang="en-US" sz="1400" b="1" dirty="0">
                <a:solidFill>
                  <a:srgbClr val="DA8A00"/>
                </a:solidFill>
              </a:rPr>
              <a:t>61% of requests are variations of past queries
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0" y="283464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A5BEE4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2880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3B60"/>
                </a:solidFill>
              </a:rPr>
              <a:t>Core Insight
</a:t>
            </a:r>
            <a:pPr indent="0" marL="0">
              <a:buNone/>
            </a:pPr>
            <a:r>
              <a:rPr lang="en-US" sz="1200" dirty="0">
                <a:solidFill>
                  <a:srgbClr val="213B60"/>
                </a:solidFill>
              </a:rPr>
              <a:t>Most questions map to a small set of analytics primitives.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2"/>
              </a:rPr>
              <a:t>[2]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Problem Statement &amp; Challenges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C0504D"/>
                </a:solidFill>
              </a:rPr>
              <a:t>Unsafe &amp; unscalable: raw SQL exposes sensitive data and cannot be cached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8A00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DA8A00"/>
                </a:solidFill>
              </a:rPr>
              <a:t>Unpredictable &amp; expensive: free‑form AI SQL may violate constraints or incur huge costs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BEE4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A5BEE4"/>
                </a:solidFill>
              </a:rPr>
              <a:t>Ambiguity &amp; schema gap: users struggle to express intent without schema knowledge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A77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78A773"/>
                </a:solidFill>
              </a:rPr>
              <a:t>Lack of persistence: results are not saved as reusable dashboards or widgets
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No existing system unites safety, semantics and persistence.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Objectives &amp; Contributions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7432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</a:rPr>
              <a:t>Design
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6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Natural language interface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6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Semantic layer of business concepts
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6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Ten analytics primitives
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1051560"/>
            <a:ext cx="27432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2044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EE4"/>
                </a:solidFill>
              </a:rPr>
              <a:t>System
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6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LLM for intent extraction
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6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Safe query compiler &amp; templates
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6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Reusable widgets
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1051560"/>
            <a:ext cx="27432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78A77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9224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A773"/>
                </a:solidFill>
              </a:rPr>
              <a:t>Evaluation
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6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Benchmark correctness &amp; safety
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6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100‑query evaluation
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6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User study &amp; usability
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Innovation lies in system design, not training new models.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Literature Review &amp; Evolution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377440"/>
                <a:gridCol w="2011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System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Technique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Findings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Gap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NaLIR (2014)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Rule‑based NL→SQL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Interactive clarifications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Limited scalability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G‑SQL (2025)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Schema‑aware NL→SQL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Good 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Poor generalisation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TriSQL (2026)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Three‑stage LLM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State‑of‑the‑art 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Unsafe &amp; SQL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Conv. BI (2025)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Chat analytics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Limited reasoning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Ambiguity handling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DashBot (2023)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Reinforcement learning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Auto dashboards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Limited real use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8288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NLIDB → Business Intelligence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3566160"/>
            <a:ext cx="365760" cy="36576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10896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Chat Analytics → Self‑service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09360" y="3566160"/>
            <a:ext cx="365760" cy="36576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03504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LLM‑based NL→SQL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321040" y="3566160"/>
            <a:ext cx="365760" cy="36576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04672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SafeDash (2026)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3721608"/>
            <a:ext cx="8046720" cy="457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Analytics Primitives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0" y="1097280"/>
            <a:ext cx="411480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9BD5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KPI (aggregate value)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9BD5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Ranking (top/bottom categories)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9BD5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Trend / Cohort (time series)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9BD5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Comparison (A vs 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9BD5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Exception (outliers)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EE4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Summary (descriptive stats)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1508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EE4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Segment (distribution)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EE4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Funnel (sequential conversion)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240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EE4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Cohort (user retention)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EE4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Correlation (relationship)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These primitives cover 97.4% of reporting requests.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2"/>
              </a:rPr>
              <a:t>[2]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Design Principles &amp; Formal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BD5"/>
                </a:solidFill>
              </a:rPr>
              <a:t>■ </a:t>
            </a:r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P1: Interpret &amp; execute separately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Separation of intent extraction from SQL execution ensures safety.
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EE4"/>
                </a:solidFill>
              </a:rPr>
              <a:t>■ </a:t>
            </a:r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P2: Make semantics explicit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Business terms are defined in a semantic layer decoupled from schema.
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A773"/>
                </a:solidFill>
              </a:rPr>
              <a:t>■ </a:t>
            </a:r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P3: Bound the executable space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Restrict SQL to known templates and permitted constructs.
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8A00"/>
                </a:solidFill>
              </a:rPr>
              <a:t>■ </a:t>
            </a:r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P4: Policy‑driven visualization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Decisions on charts are codified as rules rather than implicit choices.
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04D"/>
                </a:solidFill>
              </a:rPr>
              <a:t>■ </a:t>
            </a:r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P5: Persist results as artifacts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Widgets and plans are stored for reuse and auditing.
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09728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057"/>
                </a:solidFill>
              </a:rPr>
              <a:t>Formal model:
</a:t>
            </a:r>
            <a:pPr indent="0" marL="0">
              <a:buNone/>
            </a:pPr>
            <a:r>
              <a:rPr lang="en-US" sz="1400" i="1" dirty="0">
                <a:solidFill>
                  <a:srgbClr val="243B63"/>
                </a:solidFill>
              </a:rPr>
              <a:t>g(q, L, r) → &lt;π, sql, vis, w&gt;
</a:t>
            </a:r>
            <a:pPr indent="0" marL="0">
              <a:buNone/>
            </a:pPr>
            <a:r>
              <a:rPr lang="en-US" sz="1200" b="1" dirty="0">
                <a:solidFill>
                  <a:srgbClr val="243B63"/>
                </a:solidFill>
              </a:rPr>
              <a:t>q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: user question
</a:t>
            </a:r>
            <a:pPr indent="0" marL="0">
              <a:buNone/>
            </a:pPr>
            <a:r>
              <a:rPr lang="en-US" sz="1200" b="1" dirty="0">
                <a:solidFill>
                  <a:srgbClr val="243B63"/>
                </a:solidFill>
              </a:rPr>
              <a:t>L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: semantic layer containing metrics, dimensions, filters, join paths, patterns, synonyms, permissions
</a:t>
            </a:r>
            <a:pPr indent="0" marL="0">
              <a:buNone/>
            </a:pPr>
            <a:r>
              <a:rPr lang="en-US" sz="1200" b="1" dirty="0">
                <a:solidFill>
                  <a:srgbClr val="243B63"/>
                </a:solidFill>
              </a:rPr>
              <a:t>r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: role context (permissions)
</a:t>
            </a:r>
            <a:pPr indent="0" marL="0">
              <a:buNone/>
            </a:pPr>
            <a:r>
              <a:rPr lang="en-US" sz="1200" b="1" dirty="0">
                <a:solidFill>
                  <a:srgbClr val="243B63"/>
                </a:solidFill>
              </a:rPr>
              <a:t>π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: canonical analysis plan (pattern, metric, dimension, filters, sort, limit, visual)
</a:t>
            </a:r>
            <a:pPr indent="0" marL="0">
              <a:buNone/>
            </a:pPr>
            <a:r>
              <a:rPr lang="en-US" sz="1200" b="1" dirty="0">
                <a:solidFill>
                  <a:srgbClr val="243B63"/>
                </a:solidFill>
              </a:rPr>
              <a:t>sql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: parameterised SQL template
</a:t>
            </a:r>
            <a:pPr indent="0" marL="0">
              <a:buNone/>
            </a:pPr>
            <a:r>
              <a:rPr lang="en-US" sz="1200" b="1" dirty="0">
                <a:solidFill>
                  <a:srgbClr val="243B63"/>
                </a:solidFill>
              </a:rPr>
              <a:t>vis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: chart specification
</a:t>
            </a:r>
            <a:pPr indent="0" marL="0">
              <a:buNone/>
            </a:pPr>
            <a:r>
              <a:rPr lang="en-US" sz="1200" b="1" dirty="0">
                <a:solidFill>
                  <a:srgbClr val="243B63"/>
                </a:solidFill>
              </a:rPr>
              <a:t>w</a:t>
            </a:r>
            <a:pPr indent="0" marL="0">
              <a:buNone/>
            </a:pPr>
            <a:r>
              <a:rPr lang="en-US" sz="1200" dirty="0">
                <a:solidFill>
                  <a:srgbClr val="243B63"/>
                </a:solidFill>
              </a:rPr>
              <a:t>: persistent widget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2"/>
              </a:rPr>
              <a:t>[2]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Semantic Layer &amp; Components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6868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6400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Object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Measure with expression, joins &amp; group by; has default visual &amp; security class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Dimension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Attribute with expression and data type; scope (table), dictionary of values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Filter/Time rule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Named predicate for WHERE clause; includes date ranges and default time rules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Join path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Graph path connecting metric tables to dimensions; pre‑validated for correctness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Pattern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Analytics primitive mapping to SQL template &amp; default visual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Synonym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Alternate words or phrases for metrics/dimensions; semantic embeddings for similarity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Permission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Role‑based access to metrics, dimensions, filters and templates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8404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057"/>
                </a:solidFill>
              </a:rPr>
              <a:t>Building the semantic layer required ~40 person‑hours of domain modelling.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2"/>
              </a:rPr>
              <a:t>[2]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System Architecture &amp;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1704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B60"/>
                </a:solidFill>
              </a:rPr>
              <a:t>Query
</a:t>
            </a:r>
            <a:pPr algn="ctr" indent="0" marL="0">
              <a:buNone/>
            </a:pPr>
            <a:r>
              <a:rPr lang="en-US" sz="800" dirty="0">
                <a:solidFill>
                  <a:srgbClr val="213B60"/>
                </a:solidFill>
              </a:rPr>
              <a:t>User request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64208" y="1280160"/>
            <a:ext cx="228600" cy="27432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737360" y="114300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A5BEE4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83080" y="11704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B60"/>
                </a:solidFill>
              </a:rPr>
              <a:t>Intent Parser
</a:t>
            </a:r>
            <a:pPr algn="ctr" indent="0" marL="0">
              <a:buNone/>
            </a:pPr>
            <a:r>
              <a:rPr lang="en-US" sz="800" dirty="0">
                <a:solidFill>
                  <a:srgbClr val="213B60"/>
                </a:solidFill>
              </a:rPr>
              <a:t>LLM extracts JSON intent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44368" y="1280160"/>
            <a:ext cx="228600" cy="27432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017520" y="114300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78A773"/>
          </a:solidFill>
          <a:ln w="12700">
            <a:solidFill>
              <a:srgbClr val="78A77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63240" y="11704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B60"/>
                </a:solidFill>
              </a:rPr>
              <a:t>Semantic Mapper
</a:t>
            </a:r>
            <a:pPr algn="ctr" indent="0" marL="0">
              <a:buNone/>
            </a:pPr>
            <a:r>
              <a:rPr lang="en-US" sz="800" dirty="0">
                <a:solidFill>
                  <a:srgbClr val="213B60"/>
                </a:solidFill>
              </a:rPr>
              <a:t>Map terms to metrics &amp; dims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24528" y="1280160"/>
            <a:ext cx="228600" cy="27432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97680" y="114300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DA8A00"/>
          </a:solidFill>
          <a:ln w="12700">
            <a:solidFill>
              <a:srgbClr val="DA8A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43400" y="11704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B60"/>
                </a:solidFill>
              </a:rPr>
              <a:t>Planner
</a:t>
            </a:r>
            <a:pPr algn="ctr" indent="0" marL="0">
              <a:buNone/>
            </a:pPr>
            <a:r>
              <a:rPr lang="en-US" sz="800" dirty="0">
                <a:solidFill>
                  <a:srgbClr val="213B60"/>
                </a:solidFill>
              </a:rPr>
              <a:t>Build canonical plan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04688" y="1280160"/>
            <a:ext cx="228600" cy="27432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577840" y="114300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23560" y="11704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B60"/>
                </a:solidFill>
              </a:rPr>
              <a:t>Compiler
</a:t>
            </a:r>
            <a:pPr algn="ctr" indent="0" marL="0">
              <a:buNone/>
            </a:pPr>
            <a:r>
              <a:rPr lang="en-US" sz="800" dirty="0">
                <a:solidFill>
                  <a:srgbClr val="213B60"/>
                </a:solidFill>
              </a:rPr>
              <a:t>Instantiate safe SQL template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84848" y="1280160"/>
            <a:ext cx="228600" cy="27432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858000" y="114300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03720" y="11704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B60"/>
                </a:solidFill>
              </a:rPr>
              <a:t>Visualizer
</a:t>
            </a:r>
            <a:pPr algn="ctr" indent="0" marL="0">
              <a:buNone/>
            </a:pPr>
            <a:r>
              <a:rPr lang="en-US" sz="800" dirty="0">
                <a:solidFill>
                  <a:srgbClr val="213B60"/>
                </a:solidFill>
              </a:rPr>
              <a:t>Select chart type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65008" y="1280160"/>
            <a:ext cx="228600" cy="27432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138160" y="114300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A5BEE4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183880" y="11704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B60"/>
                </a:solidFill>
              </a:rPr>
              <a:t>Widget Engine
</a:t>
            </a:r>
            <a:pPr algn="ctr" indent="0" marL="0">
              <a:buNone/>
            </a:pPr>
            <a:r>
              <a:rPr lang="en-US" sz="800" dirty="0">
                <a:solidFill>
                  <a:srgbClr val="213B60"/>
                </a:solidFill>
              </a:rPr>
              <a:t>Persist &amp; retrieve widgets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20116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B63"/>
                </a:solidFill>
              </a:rPr>
              <a:t>User queries flow through seven governed modules: parsing, mapping, planning, compiling, visualising and persistence.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Pipeline Components &amp;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1887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BEE4"/>
                </a:solidFill>
              </a:rPr>
              <a:t>Intent Parser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LLM with structured output: restrict vocabulary to semantic labels; enforce JSON schema; repair invalid outputs.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78A77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54880" y="11887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A773"/>
                </a:solidFill>
              </a:rPr>
              <a:t>Semantic Mapper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Resolve phrases to metrics/dims using exact matches, synonyms and semantic similarity; validate join path &amp; scope.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A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2860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8A00"/>
                </a:solidFill>
              </a:rPr>
              <a:t>Analysis Planner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Construct canonical plan with pattern, metric, dimension, filters, sort, limit, time rule &amp; default visual.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</a:rPr>
              <a:t>Safe SQL Compiler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Instantiate SQL templates; validate AST to reject forbidden constructs; estimate cost &amp; enforce limits.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3383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Visualization Selector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Determine chart type based on pattern and result shape; adjust orientation &amp; grouping per policy.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54880" y="3383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BEE4"/>
                </a:solidFill>
              </a:rPr>
              <a:t>Widget Engine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Persist full provenance (plan, SQL, vis) as widget; search &amp; reuse similar widgets using similarity measures.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2"/>
              </a:rPr>
              <a:t>[2]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3"/>
              </a:rPr>
              <a:t>[3]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4"/>
              </a:rPr>
              <a:t>[4]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5"/>
              </a:rPr>
              <a:t>[5]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2"/>
              </a:rPr>
              <a:t>[6]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Semantic Layer Operation &amp; Mapping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188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B60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097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Tokenise &amp; Normalise
</a:t>
            </a:r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Lowercase &amp; remove stopwords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Identify candidate nouns, verbs &amp; time expressions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Detect number words &amp; convert to numerals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194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B6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Match Metrics &amp; Dimensions
</a:t>
            </a:r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Exact match against metric &amp; dimension labels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Expand synonyms via lexicon &amp; embedding similarity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Compute semantic similarity; pick top‑k candidates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B60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Resolve Filters &amp; Time
</a:t>
            </a:r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Identify predicates, date ranges &amp; relative phrases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Map to named filters or time rules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Disambiguate multiple filters via context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46320" y="1188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B60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1097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Determine Join Path
</a:t>
            </a:r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Search graph of join paths connecting metric to dimension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Check foreign‑key links &amp; many‑to‑one relationships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Fail with clarification when path is ambiguous or invalid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46320" y="2194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B60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057"/>
                </a:solidFill>
              </a:rPr>
              <a:t>Construct Plan &amp; Visual
</a:t>
            </a:r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Assemble canonical plan: pattern, metric, dimension, filters, sort, limit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Select default visual from pattern &amp; result shape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Adjust orientation (vertical/horizontal) based on cardinality &amp; time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2"/>
              </a:rPr>
              <a:t>[2]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Semantic Mapping &amp; Join Path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78A77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1430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A773"/>
                </a:solidFill>
              </a:rPr>
              <a:t>Mapping Strategy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Exact matches on labels &amp; aliases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Synonym expansion using curated lexicon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Embedding similarity for fuzzy matches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Rank candidates by similarity &amp; coverage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Prompt user when top candidates conflict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1148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A8A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63440" y="11430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8A00"/>
                </a:solidFill>
              </a:rPr>
              <a:t>Join Path Search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Construct graph of tables &amp; foreign keys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Use breadth‑first search to find shortest path connecting metric &amp; dimension tables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Disallow many‑to‑many or ambiguous joins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Fail with clarification when multiple valid paths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057"/>
                </a:solidFill>
              </a:rPr>
              <a:t>Clarification prompts ensure correct mapping when ambiguity arises.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SQL Pattern Library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1148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Pattern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SUM(${metric})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Score card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${dimension}, SUM(${metric})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Bar chart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Trend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${time}, SUM(${metric})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Line chart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Comparison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${dimension}, SUM(${metric_a}), SUM(${metric_b})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Grouped bar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1148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Pattern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Exception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${dimension}, SUM(${metric}) HAVING value &gt; 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Pie/Treemap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Segment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${segment}, COUNT(*)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Pie/Treemap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Funnel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step, COUNT(*)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Funnel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Correlation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${x_metric}, ${y_metric}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Scatter plot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3200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43B63"/>
                </a:solidFill>
              </a:rPr>
              <a:t>Templates enforce clause order; placeholders bind to validated metrics, dimensions, filters, time &amp; limits.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Safe SQL Compiler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14300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</a:rPr>
              <a:t>Template Instantiation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Bind metric, dimension, filters, time &amp; limit to placeholders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Escape identifiers &amp; values to prevent injection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Generate parameterised SQL with $1,$2,... arguments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Annotate placeholders with roles for downstream auditing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11480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A8A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63440" y="114300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8A00"/>
                </a:solidFill>
              </a:rPr>
              <a:t>Validation &amp; Cost Control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Parse SQL AST and reject forbidden operations (subqueries, cross joins, UDFs)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Enforce whitelist of functions, operators &amp; clauses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Estimate cost: cardinality × complexity; abort if above threshold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Align with role permissions: disallow access to restricted tables or columns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- Limit result size via ORDER BY and LIMIT to avoid heavy queries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Visualization Policy &amp;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114800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Primitive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Default Chart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Score card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Ranking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Bar chart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Trend/Cohort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Line chart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Comparison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Grouped bar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Exception/Segment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Pie/Treemap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Funnel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Funnel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Correlation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Scatter plot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Decision Rules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Presence of a time dimension → line chart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Number of metrics = 1 → bar; &gt;1 → grouped bar or scatter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Cardinality &gt; 10 → horizontal bar; &lt;10 → vertical bar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Comparison of two metrics → grouped bar chart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Exceptions &amp; segments → pie or treemap based on part‑to‑whole story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Funnel steps → funnel chart; correlation variables → scatter plot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User hints are accepted unless they violate policy; fallback to default mapping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Custom colour palettes may be applied by designers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Example Walkthrough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097280"/>
            <a:ext cx="274320" cy="27432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B60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09728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057"/>
                </a:solidFill>
              </a:rPr>
              <a:t>User question
</a:t>
            </a:r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“Show the top 5 products by revenue last quarter”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892040" y="1097280"/>
            <a:ext cx="274320" cy="27432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9204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B60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09728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057"/>
                </a:solidFill>
              </a:rPr>
              <a:t>Intent parsing
</a:t>
            </a:r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LLM returns JSON: pattern=Ranking, metric=revenue, dimension=product, time=last_quarter, limit=5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69164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" y="1737360"/>
            <a:ext cx="274320" cy="27432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B60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173736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057"/>
                </a:solidFill>
              </a:rPr>
              <a:t>Semantic mapping
</a:t>
            </a:r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Metric “revenue” → sales_amount; Dimension “product” → product_name; Time “last_quarter” → quarter=Q4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69164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92040" y="1737360"/>
            <a:ext cx="274320" cy="27432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9204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B60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173736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057"/>
                </a:solidFill>
              </a:rPr>
              <a:t>Plan &amp; template
</a:t>
            </a:r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Select Ranking pattern; bind sales_amount, product_name, quarter=Q4 &amp; limit=5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33172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02920" y="2377440"/>
            <a:ext cx="274320" cy="27432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292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B60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237744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057"/>
                </a:solidFill>
              </a:rPr>
              <a:t>Safe SQL
</a:t>
            </a:r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SELECT product_name, SUM(sales_amount) AS value ... GROUP BY product_name ORDER BY value DESC LIMIT 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33172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892040" y="2377440"/>
            <a:ext cx="274320" cy="27432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9204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B60"/>
                </a:solidFill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237744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057"/>
                </a:solidFill>
              </a:rPr>
              <a:t>Visual selection
</a:t>
            </a:r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Ranking → Bar chart; 5 categories → vertical orientation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2971800"/>
            <a:ext cx="86868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02920" y="3017520"/>
            <a:ext cx="274320" cy="27432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292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B60"/>
                </a:solidFill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3017520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057"/>
                </a:solidFill>
              </a:rPr>
              <a:t>Widget creation
</a:t>
            </a:r>
            <a:pPr indent="0" marL="0">
              <a:buNone/>
            </a:pPr>
            <a:r>
              <a:rPr lang="en-US" sz="1000" dirty="0">
                <a:solidFill>
                  <a:srgbClr val="243B63"/>
                </a:solidFill>
              </a:rPr>
              <a:t>Save plan, SQL &amp; chart spec as widget “Top Products Q4”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2"/>
              </a:rPr>
              <a:t>[2]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3"/>
              </a:rPr>
              <a:t>[3]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4"/>
              </a:rPr>
              <a:t>[4]</a:t>
            </a:r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Implementation &amp;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78A77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1430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A773"/>
                </a:solidFill>
              </a:rPr>
              <a:t>Implementation Highlights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Tech stack: Python, PostgreSQL, Transformers, Superset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Data: 312 user requests from 28 administrators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10 primitives cover 97.4% of needs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100‑query benchmark across primitives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Semantic layer modelling took ~40 person‑hours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114800" cy="210312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Primitive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# Queries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% of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Trend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Comparison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Exception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Segment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Funnel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Correlation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1"/>
              </a:rPr>
              <a:t>[1]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Evaluation &amp; Benchmark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D5"/>
                </a:solidFill>
              </a:rPr>
              <a:t>Direct Support
</a:t>
            </a:r>
            <a:pPr indent="0" marL="0">
              <a:buNone/>
            </a:pPr>
            <a:r>
              <a:rPr lang="en-US" sz="1800" b="1" dirty="0">
                <a:solidFill>
                  <a:srgbClr val="1E3057"/>
                </a:solidFill>
              </a:rPr>
              <a:t>83.3%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5BE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2900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BEE4"/>
                </a:solidFill>
              </a:rPr>
              <a:t>After Clarification
</a:t>
            </a:r>
            <a:pPr indent="0" marL="0">
              <a:buNone/>
            </a:pPr>
            <a:r>
              <a:rPr lang="en-US" sz="1800" b="1" dirty="0">
                <a:solidFill>
                  <a:srgbClr val="1E3057"/>
                </a:solidFill>
              </a:rPr>
              <a:t>95.8%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</a:rPr>
              <a:t>Unsafe Queries
</a:t>
            </a:r>
            <a:pPr indent="0" marL="0">
              <a:buNone/>
            </a:pPr>
            <a:r>
              <a:rPr lang="en-US" sz="1800" b="1" dirty="0">
                <a:solidFill>
                  <a:srgbClr val="1E3057"/>
                </a:solidFill>
              </a:rPr>
              <a:t>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8A77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2240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A773"/>
                </a:solidFill>
              </a:rPr>
              <a:t>Correct Answers
</a:t>
            </a:r>
            <a:pPr indent="0" marL="0">
              <a:buNone/>
            </a:pPr>
            <a:r>
              <a:rPr lang="en-US" sz="1800" b="1" dirty="0">
                <a:solidFill>
                  <a:srgbClr val="1E3057"/>
                </a:solidFill>
              </a:rPr>
              <a:t>55%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210312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8A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8A00"/>
                </a:solidFill>
              </a:rPr>
              <a:t>Answered Requests
</a:t>
            </a:r>
            <a:pPr indent="0" marL="0">
              <a:buNone/>
            </a:pPr>
            <a:r>
              <a:rPr lang="en-US" sz="1800" b="1" dirty="0">
                <a:solidFill>
                  <a:srgbClr val="1E3057"/>
                </a:solidFill>
              </a:rPr>
              <a:t>85%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320040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035040" y="4114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057"/>
                </a:solidFill>
              </a:rPr>
              <a:t>SafeDash eliminates unsafe queries and dramatically improves support and correctness.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2"/>
              </a:rPr>
              <a:t>[1]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Ablation, Safety &amp;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097280"/>
          <a:ext cx="5303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852160" y="10972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A773"/>
                </a:solidFill>
              </a:rPr>
              <a:t>Safety Features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Structured intent extraction &amp; schema enforcement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Constrained mapping &amp; join validation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AST validation &amp; cost estimation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Chart selection policy prevents misleading visuals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Widget persistence with provenance for audit</a:t>
            </a:r>
            <a:pPr indent="0" marL="0">
              <a:buNone/>
            </a:pPr>
            <a:r>
              <a:rPr lang="en-US" sz="1400" b="1" dirty="0">
                <a:solidFill>
                  <a:srgbClr val="DA8A00"/>
                </a:solidFill>
              </a:rPr>
              <a:t>
Limitations &amp; Future Improvement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Limited template coverage for complex analytics (CTEs, nested queries)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Rely on manual modelling of semantic layer; extend auto‑learning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Need interactive clarifications in user interface
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057"/>
                </a:solidFill>
              </a:rPr>
              <a:t>SafeDash unites safety, semantics and persistence, providing trustworthy NL analytics.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3662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213B60"/>
                </a:solidFill>
                <a:hlinkClick r:id="rId2"/>
              </a:rPr>
              <a:t>[1]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Future Work &amp; Outlook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961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</a:rPr>
              <a:t>Next Steps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Extend pattern library: support nested queries, windows, complex aggregations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Integrate interactive clarifications into the UI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Deploy on real datasets &amp; measure user satisfaction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Explore streaming data &amp; incremental semantics
</a:t>
            </a:r>
            <a:pPr indent="0" marL="0">
              <a:buNone/>
            </a:pPr>
            <a:r>
              <a:rPr lang="en-US" sz="1100" dirty="0">
                <a:solidFill>
                  <a:srgbClr val="243B63"/>
                </a:solidFill>
              </a:rPr>
              <a:t>• Add new visuals (heatmaps, bubbles, dashboards)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057"/>
                </a:solidFill>
              </a:rPr>
              <a:t>Thank you!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A5BEE4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7E3F9"/>
          </a:solidFill>
          <a:ln w="12700">
            <a:solidFill>
              <a:srgbClr val="D7E3F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057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213B60"/>
          </a:solidFill>
          <a:ln w="12700">
            <a:solidFill>
              <a:srgbClr val="213B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46405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CSE, PUB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Bogura, Bangladesh | April 27,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46405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[1] </a:t>
            </a:r>
            <a:pPr indent="0" marL="0">
              <a:buNone/>
            </a:pPr>
            <a:r>
              <a:rPr lang="en-US" sz="1100" u="sng" dirty="0">
                <a:solidFill>
                  <a:srgbClr val="243B63"/>
                </a:solidFill>
                <a:hlinkClick r:id="rId1"/>
              </a:rPr>
              <a:t>Survey: Average report waits 3.2 days; 61% of requests are repeats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[2] </a:t>
            </a:r>
            <a:pPr indent="0" marL="0">
              <a:buNone/>
            </a:pPr>
            <a:r>
              <a:rPr lang="en-US" sz="1100" u="sng" dirty="0">
                <a:solidFill>
                  <a:srgbClr val="243B63"/>
                </a:solidFill>
                <a:hlinkClick r:id="rId2"/>
              </a:rPr>
              <a:t>BI trends: AI‑driven analytics accelerates decision cycles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[3] </a:t>
            </a:r>
            <a:pPr indent="0" marL="0">
              <a:buNone/>
            </a:pPr>
            <a:r>
              <a:rPr lang="en-US" sz="1100" u="sng" dirty="0">
                <a:solidFill>
                  <a:srgbClr val="243B63"/>
                </a:solidFill>
                <a:hlinkClick r:id="rId3"/>
              </a:rPr>
              <a:t>TriSQL achieves SOTA accuracy but lacks safety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[4] </a:t>
            </a:r>
            <a:pPr indent="0" marL="0">
              <a:buNone/>
            </a:pPr>
            <a:r>
              <a:rPr lang="en-US" sz="1100" u="sng" dirty="0">
                <a:solidFill>
                  <a:srgbClr val="243B63"/>
                </a:solidFill>
                <a:hlinkClick r:id="rId4"/>
              </a:rPr>
              <a:t>Design principles &amp; formal model of SafeDash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[5] </a:t>
            </a:r>
            <a:pPr indent="0" marL="0">
              <a:buNone/>
            </a:pPr>
            <a:r>
              <a:rPr lang="en-US" sz="1100" u="sng" dirty="0">
                <a:solidFill>
                  <a:srgbClr val="243B63"/>
                </a:solidFill>
                <a:hlinkClick r:id="rId5"/>
              </a:rPr>
              <a:t>Semantic layer objects &amp; modelling effort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[6] </a:t>
            </a:r>
            <a:pPr indent="0" marL="0">
              <a:buNone/>
            </a:pPr>
            <a:r>
              <a:rPr lang="en-US" sz="1100" u="sng" dirty="0">
                <a:solidFill>
                  <a:srgbClr val="243B63"/>
                </a:solidFill>
                <a:hlinkClick r:id="rId5"/>
              </a:rPr>
              <a:t>Semantic mapping &amp; canonical plan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[7] </a:t>
            </a:r>
            <a:pPr indent="0" marL="0">
              <a:buNone/>
            </a:pPr>
            <a:r>
              <a:rPr lang="en-US" sz="1100" u="sng" dirty="0">
                <a:solidFill>
                  <a:srgbClr val="243B63"/>
                </a:solidFill>
                <a:hlinkClick r:id="rId7"/>
              </a:rPr>
              <a:t>Analysis plan &amp; pattern library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[8] </a:t>
            </a:r>
            <a:pPr indent="0" marL="0">
              <a:buNone/>
            </a:pPr>
            <a:r>
              <a:rPr lang="en-US" sz="1100" u="sng" dirty="0">
                <a:solidFill>
                  <a:srgbClr val="243B63"/>
                </a:solidFill>
                <a:hlinkClick r:id="rId8"/>
              </a:rPr>
              <a:t>Safe SQL compiler details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[9] </a:t>
            </a:r>
            <a:pPr indent="0" marL="0">
              <a:buNone/>
            </a:pPr>
            <a:r>
              <a:rPr lang="en-US" sz="1100" u="sng" dirty="0">
                <a:solidFill>
                  <a:srgbClr val="243B63"/>
                </a:solidFill>
                <a:hlinkClick r:id="rId9"/>
              </a:rPr>
              <a:t>Visualization policy &amp; rules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[10] </a:t>
            </a:r>
            <a:pPr indent="0" marL="0">
              <a:buNone/>
            </a:pPr>
            <a:r>
              <a:rPr lang="en-US" sz="1100" u="sng" dirty="0">
                <a:solidFill>
                  <a:srgbClr val="243B63"/>
                </a:solidFill>
                <a:hlinkClick r:id="rId5"/>
              </a:rPr>
              <a:t>Widget persistence &amp; reuse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</a:rPr>
              <a:t>[11] </a:t>
            </a:r>
            <a:pPr indent="0" marL="0">
              <a:buNone/>
            </a:pPr>
            <a:r>
              <a:rPr lang="en-US" sz="1100" u="sng" dirty="0">
                <a:solidFill>
                  <a:srgbClr val="243B63"/>
                </a:solidFill>
                <a:hlinkClick r:id="rId11"/>
              </a:rPr>
              <a:t>Evaluation results: improved support &amp; safety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2026-04-28T04:05:53Z</dcterms:created>
  <dcterms:modified xsi:type="dcterms:W3CDTF">2026-04-28T04:05:53Z</dcterms:modified>
</cp:coreProperties>
</file>