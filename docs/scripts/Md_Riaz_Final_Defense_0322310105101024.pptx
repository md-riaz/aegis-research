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6"/>
    <p:sldId id="272" r:id="rId5"/>
    <p:sldId id="273" r:id="rId4"/>
    <p:sldId id="274" r:id="rId3"/>
    <p:sldId id="275" r:id="rId2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D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816" y="-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0.xml"/><Relationship Id="rId3" Type="http://schemas.openxmlformats.org/officeDocument/2006/relationships/slide" Target="slides/slide19.xml"/><Relationship Id="rId4" Type="http://schemas.openxmlformats.org/officeDocument/2006/relationships/slide" Target="slides/slide18.xml"/><Relationship Id="rId5" Type="http://schemas.openxmlformats.org/officeDocument/2006/relationships/slide" Target="slides/slide17.xml"/><Relationship Id="rId6" Type="http://schemas.openxmlformats.org/officeDocument/2006/relationships/slide" Target="slides/slide16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9ED17C-F12B-40CB-B332-C6480DB8E7F0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A46629-DDE9-4049-9809-56964DD20E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6618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morning/afternoon respected chairperson and committee members. I am presenting the final defense of AEGIS, a constraint-based architecture for safe LLM-assisted natural language analytics.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9010A2-2799-FE5F-7ED3-EB6017D4A1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FDB441-FC1F-DE44-F6CE-9071CC1BB9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99C45D-883E-7779-00CB-DBC9446D19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26F32-91A8-4340-868D-5E0A85BEE79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D1568B-516F-8789-445D-64FD01EAB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91F1F7-A3B0-7732-298C-5AA7838DF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5790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B5FF4E-617C-962C-941E-340049DCD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138BE-F1A8-1373-5286-AABA55AAB9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910DC0-4A9D-C5CF-F3D5-178353D0C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5A2554-468B-44E7-959E-8F3376471EAD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6BBE8E-91E4-ED3B-758D-71E53DC60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F98918-B618-D501-E52B-6715935AC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6200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A0F9C9-C56B-F97A-7A67-5F80EF659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DD72EF-0371-4EF3-F13B-00B9A9A288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22793C-09E8-86E9-6545-F087C62A7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B59EFF-22CB-4D13-B295-F8753D08A73B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A0B9DE-F9AF-C044-B742-EE46DA54C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32D79C-9841-FDA0-404A-39F5A0A2B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159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4FE28-B718-D71C-2EA9-1B632A636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8EE841-31A1-54CE-183E-5A44AAFA39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73B3D6-8DC7-44CC-9B9B-B93034578A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54ECBA-B5CC-A31F-146E-6A782EECF5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5A188-44D0-4F09-95D3-72A118F0258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FC95A0-8502-DDB7-350B-6903964052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C0FE03-C2CF-FF0D-DA8E-6C168AD822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85692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391A6-EBFE-2902-D783-CC57008B1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DF28CB-12B2-F1D2-C8B6-22F92B2B71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6B5252-2284-738C-D8D3-FDA5C61CFC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61ED42-0717-CEDF-F130-83B329241A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E235ED-66DF-805B-6261-6000A6BB05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E731C4-35E1-2943-49BF-A9F49F00C5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53173E-BCA8-4A3A-AC75-A00FF2F39098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78AF73-A3F6-154D-BBC0-390E58653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319234-EC89-C0B4-E246-54794909D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6142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0A47B-3B21-F564-4C44-F3F39C8CD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948F16C-025D-E8CF-C55B-9A48EA5D0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8D53B1-6CA6-43AD-AFC7-3BAAD7905353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86437C-4EC8-2BEE-1B01-39179C281B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29B9CD-31B6-F216-04D7-2D8490988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19787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5D2B2E-62E1-D996-0F7D-965298FD8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61911-596A-4E6F-AD9C-B71EEA0CF3A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718A65-0619-BBB3-D0F3-1A04A23521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2E0F82-47F7-3C1D-3991-A97DD0221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13218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AFD86-268A-E8B1-DF2B-67C9077B41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599890-208F-07F8-6D61-A8A5E54507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65E985-C31A-EC84-643D-A298C147F6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88AD1E-D15F-13DF-D0EE-3045E9BD97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82B00-7004-42D2-934B-515D1C4746E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A0CA75-AA80-CA9F-0583-3D76A1D1E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73539F-6D07-DFE8-9D8E-4D0C9B7DF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0510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43D71-67DB-BE48-8413-73578AF97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C5F6471-82C4-C1F2-457E-5700D30BEA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EDCB74-DE1A-64CE-E074-6211862034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2EFCFA-3DB2-F7EC-E730-4AAEBE53AE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C2A020-4EAE-4E4F-8C9E-951F4F971C7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DC0783-E417-3900-5A15-F51D98BC1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6B4EA3-183F-C894-634E-C87BFD306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246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1E11E-BBAC-E306-F0F6-8C5642859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5E9375-E4F8-5E47-F749-0E43582A32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D69470-97B2-066F-3D3E-E9A4FB0264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C06AA-0BDC-429B-AE85-E36D6466E38F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706243-198A-3AF4-6167-B23E62CC72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F4819B-7F1A-1712-57FD-A38659BB8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0168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32B1DF7-140F-18DE-6C89-ED937C3F58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AED161-72AA-0748-E7D9-A9002D3E61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42EE77-787F-8250-D203-870E3BDCC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1CE58-21A7-48A7-8899-442DC8E1F8DD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55A889-6AB3-60FB-051F-B1DD3B910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774A74-18F7-DE41-0F12-EABFBBB6F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8299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0ED10EF-3C6F-5653-1C40-257FA515F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F79F23-7CA2-A3B1-C6F7-BBA7DE0077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6A714A-5F1A-95E3-6CA0-47E2358F4C5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2E878E-58C3-45D4-9533-4D4E368A52BC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17EFD6-72B9-7DEE-473C-C500D5DC1A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0DB06F-F648-F322-F9B5-7514010746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838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Rectangle 6">
            <a:extLst>
              <a:ext uri="{FF2B5EF4-FFF2-40B4-BE49-F238E27FC236}">
                <a16:creationId xmlns:a16="http://schemas.microsoft.com/office/drawing/2014/main" id="{86E891FF-ACD8-A286-1B16-C741C516BE9D}"/>
              </a:ext>
            </a:extLst>
          </p:cNvPr>
          <p:cNvSpPr/>
          <p:nvPr/>
        </p:nvSpPr>
        <p:spPr>
          <a:xfrm>
            <a:off x="0" y="5946468"/>
            <a:ext cx="12192000" cy="931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23E7505-B103-38D8-46D8-4E396DB4C8E4}"/>
              </a:ext>
            </a:extLst>
          </p:cNvPr>
          <p:cNvSpPr/>
          <p:nvPr/>
        </p:nvSpPr>
        <p:spPr>
          <a:xfrm>
            <a:off x="0" y="0"/>
            <a:ext cx="12192000" cy="365532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3939" y="2331720"/>
            <a:ext cx="9144000" cy="960120"/>
          </a:xfrm>
        </p:spPr>
        <p:txBody>
          <a:bodyPr/>
          <a:lstStyle/>
          <a:p>
            <a:pPr algn="ctr">
              <a:lnSpc>
                <a:spcPct val="112000"/>
              </a:lnSpc>
              <a:defRPr b="1" sz="3100">
                <a:solidFill>
                  <a:srgbClr val="003366"/>
                </a:solidFill>
                <a:latin typeface="Times New Roman"/>
              </a:defRPr>
            </a:pPr>
            <a:r>
              <a:t>AEGIS: A Constraint-Based Architecture for Safe</a:t>
            </a:r>
          </a:p>
          <a:p>
            <a:pPr algn="ctr">
              <a:lnSpc>
                <a:spcPct val="112000"/>
              </a:lnSpc>
              <a:defRPr b="1" sz="3100">
                <a:solidFill>
                  <a:srgbClr val="003366"/>
                </a:solidFill>
                <a:latin typeface="Times New Roman"/>
              </a:defRPr>
            </a:pPr>
            <a:r>
              <a:t>LLM-Assisted Natural Language Analytics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9203" y="641463"/>
            <a:ext cx="753594" cy="7460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82222" y="5413248"/>
            <a:ext cx="5627553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latin typeface="Times New Roman"/>
              </a:defRPr>
            </a:pPr>
            <a:r>
              <a:t>Department of Computer Science &amp; Engineering</a:t>
            </a:r>
          </a:p>
          <a:p>
            <a:pPr algn="ctr">
              <a:defRPr sz="1200">
                <a:latin typeface="Times New Roman"/>
              </a:defRPr>
            </a:pPr>
            <a:r>
              <a:t>Pundra University of Science &amp; Technology, Bogura - 5800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3939" y="1671980"/>
            <a:ext cx="9144000" cy="4049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latin typeface="Times New Roman"/>
              </a:defRPr>
            </a:pPr>
            <a:r>
              <a:t>Final Defense Presentation 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27048" y="3730752"/>
            <a:ext cx="3886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latin typeface="Times New Roman"/>
              </a:defRPr>
            </a:pPr>
            <a:r>
              <a:t>Presented By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4041648"/>
            <a:ext cx="3886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defRPr sz="2000" b="1">
                <a:latin typeface="Times New Roman"/>
              </a:defRPr>
            </a:pPr>
            <a:r>
              <a:t>Md. Riaz</a:t>
            </a:r>
          </a:p>
          <a:p>
            <a:pPr>
              <a:lnSpc>
                <a:spcPct val="112000"/>
              </a:lnSpc>
              <a:defRPr sz="1600" b="0">
                <a:latin typeface="Times New Roman"/>
              </a:defRPr>
            </a:pPr>
            <a:r>
              <a:t>Program: B.Sc. in CSE (Diploma)</a:t>
            </a:r>
          </a:p>
          <a:p>
            <a:pPr>
              <a:lnSpc>
                <a:spcPct val="112000"/>
              </a:lnSpc>
              <a:defRPr sz="1600" b="0">
                <a:latin typeface="Times New Roman"/>
              </a:defRPr>
            </a:pPr>
            <a:r>
              <a:t>ID: 0322310105101024</a:t>
            </a:r>
          </a:p>
          <a:p>
            <a:pPr>
              <a:lnSpc>
                <a:spcPct val="112000"/>
              </a:lnSpc>
              <a:defRPr sz="1600" b="0">
                <a:latin typeface="Times New Roman"/>
              </a:defRPr>
            </a:pPr>
            <a:r>
              <a:t>Batch: 16th</a:t>
            </a:r>
          </a:p>
          <a:p>
            <a:pPr>
              <a:lnSpc>
                <a:spcPct val="112000"/>
              </a:lnSpc>
              <a:defRPr sz="1600" b="0">
                <a:latin typeface="Times New Roman"/>
              </a:defRPr>
            </a:pPr>
            <a:r>
              <a:t>8th Semester / 4th Year</a:t>
            </a:r>
          </a:p>
          <a:p>
            <a:pPr>
              <a:lnSpc>
                <a:spcPct val="112000"/>
              </a:lnSpc>
              <a:defRPr sz="1600" b="0">
                <a:latin typeface="Times New Roman"/>
              </a:defRPr>
            </a:pPr>
            <a:r>
              <a:t>Session: Spring - 2023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3767328"/>
            <a:ext cx="3886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latin typeface="Times New Roman"/>
              </a:defRPr>
            </a:pPr>
            <a:r>
              <a:t>Supervised By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69480" y="4133087"/>
            <a:ext cx="3886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defRPr sz="2000" b="1">
                <a:latin typeface="Times New Roman"/>
              </a:defRPr>
            </a:pPr>
            <a:r>
              <a:t>Mst. Sahela Rahman</a:t>
            </a:r>
          </a:p>
          <a:p>
            <a:pPr>
              <a:lnSpc>
                <a:spcPct val="112000"/>
              </a:lnSpc>
              <a:defRPr sz="1600" b="0">
                <a:latin typeface="Times New Roman"/>
              </a:defRPr>
            </a:pPr>
            <a:r>
              <a:t>Lecturer</a:t>
            </a:r>
          </a:p>
          <a:p>
            <a:pPr>
              <a:lnSpc>
                <a:spcPct val="112000"/>
              </a:lnSpc>
              <a:defRPr sz="1600" b="0">
                <a:latin typeface="Times New Roman"/>
              </a:defRPr>
            </a:pPr>
            <a:r>
              <a:t>Dept. of CSE, PUB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Outline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1600200"/>
            <a:ext cx="9418320" cy="438912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1. Introduction and Problem Statement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2. The Idea in One Picture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3. Literature Review and Research Gap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4. Objectives and Methodology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5. AEGIS Architecture (Stages 1-5)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6. Semantic Layer and Compiler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7. Query-to-SQL Walkthrough, Including Joins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8. Prototype Implementation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650">
                <a:solidFill>
                  <a:srgbClr val="003366"/>
                </a:solidFill>
                <a:latin typeface="Times New Roman"/>
              </a:rPr>
              <a:t>9. Evaluation:</a:t>
            </a:r>
            <a:r>
              <a:rPr b="0" i="0" sz="1650">
                <a:solidFill>
                  <a:srgbClr val="333333"/>
                </a:solidFill>
                <a:latin typeface="Times New Roman"/>
              </a:rPr>
              <a:t> 500 Questions and 20 Admin Reports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10. Limitations, Conclusion, and Future Work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650">
                <a:solidFill>
                  <a:srgbClr val="003366"/>
                </a:solidFill>
                <a:latin typeface="Times New Roman"/>
              </a:rPr>
              <a:t>11. Appendix:</a:t>
            </a:r>
            <a:r>
              <a:rPr b="0" i="0" sz="1650">
                <a:solidFill>
                  <a:srgbClr val="333333"/>
                </a:solidFill>
                <a:latin typeface="Times New Roman"/>
              </a:rPr>
              <a:t> Schema, Semantic Layer, Compiler Code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Introduction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1481328"/>
            <a:ext cx="10058400" cy="4736592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900">
                <a:solidFill>
                  <a:srgbClr val="003366"/>
                </a:solidFill>
                <a:latin typeface="Times New Roman"/>
              </a:rPr>
              <a:t>Motivation: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E-commerce systems store rich operational data, but built-in dashboards answer only a fixed set of questions.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When users need new analytical combinations, the request usually depends on a developer or BI person to translate it into report logic.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Natural language analytics can reduce that delay for managers, sales teams, and administrators.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900">
                <a:solidFill>
                  <a:srgbClr val="003366"/>
                </a:solidFill>
                <a:latin typeface="Times New Roman"/>
              </a:rPr>
              <a:t>Central Tension: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Direct LLM-to-SQL systems are flexible, but the model writes executable database code.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A safe analytics system should understand the question without giving the model authority to create arbitrary SQL.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900">
                <a:solidFill>
                  <a:srgbClr val="003366"/>
                </a:solidFill>
                <a:latin typeface="Times New Roman"/>
              </a:rPr>
              <a:t>AEGIS Direction: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Use the LLM for intent extraction only.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Use deterministic semantic mapping and SQL compilation for execution.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Problem Statement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1755648"/>
            <a:ext cx="10058400" cy="4005072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b="1" i="0" sz="1700">
                <a:solidFill>
                  <a:srgbClr val="333333"/>
                </a:solidFill>
                <a:latin typeface="Times New Roman"/>
              </a:rPr>
              <a:t>Current Generative NL2SQL approaches have 3 structural vulnerability classes:</a:t>
            </a:r>
          </a:p>
          <a:p>
            <a:pPr>
              <a:lnSpc>
                <a:spcPct val="108000"/>
              </a:lnSpc>
              <a:spcBef>
                <a:spcPts val="800"/>
              </a:spcBef>
              <a:spcAft>
                <a:spcPts val="500"/>
              </a:spcAft>
            </a:pPr>
            <a:r>
              <a:rPr b="1" i="0" sz="1600">
                <a:solidFill>
                  <a:srgbClr val="333333"/>
                </a:solidFill>
                <a:latin typeface="Times New Roman"/>
              </a:rPr>
              <a:t>1. Structural Injection Risk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Adversarial prompt manipulation can bypass model instructions, causing neural models to output data-modifying DML/DDL statements (DROP, DELETE, UPDATE).</a:t>
            </a:r>
          </a:p>
          <a:p>
            <a:pPr>
              <a:lnSpc>
                <a:spcPct val="108000"/>
              </a:lnSpc>
              <a:spcBef>
                <a:spcPts val="800"/>
              </a:spcBef>
              <a:spcAft>
                <a:spcPts val="500"/>
              </a:spcAft>
            </a:pPr>
            <a:r>
              <a:rPr b="1" i="0" sz="1600">
                <a:solidFill>
                  <a:srgbClr val="333333"/>
                </a:solidFill>
                <a:latin typeface="Times New Roman"/>
              </a:rPr>
              <a:t>2. Unbounded Schema Hallucination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Probabilistic token generation leads to hallucinated table joins, non-existent entity relations, and invalid column attributes.</a:t>
            </a:r>
          </a:p>
          <a:p>
            <a:pPr>
              <a:lnSpc>
                <a:spcPct val="108000"/>
              </a:lnSpc>
              <a:spcBef>
                <a:spcPts val="800"/>
              </a:spcBef>
              <a:spcAft>
                <a:spcPts val="500"/>
              </a:spcAft>
            </a:pPr>
            <a:r>
              <a:rPr b="1" i="0" sz="1600">
                <a:solidFill>
                  <a:srgbClr val="333333"/>
                </a:solidFill>
                <a:latin typeface="Times New Roman"/>
              </a:rPr>
              <a:t>3. Access Control &amp; Context Bypass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Direct query generation bypasses application-level multi-tenant boundaries and row-level security scopes.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The Idea in One Picture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1371600"/>
            <a:ext cx="10149840" cy="73152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000">
                <a:solidFill>
                  <a:srgbClr val="003366"/>
                </a:solidFill>
                <a:latin typeface="Times New Roman"/>
              </a:rPr>
              <a:t>In a restaurant, the waiter writes down what you want — the dish, how many plates. The waiter never walks into the kitchen and cooks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2286000"/>
            <a:ext cx="2743200" cy="914400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500" b="1">
                <a:solidFill>
                  <a:srgbClr val="003366"/>
                </a:solidFill>
                <a:latin typeface="Times New Roman"/>
              </a:defRPr>
            </a:pPr>
            <a:r>
              <a:t>Waiter</a:t>
            </a:r>
            <a:br/>
            <a:r>
              <a:t>takes the order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2286000"/>
            <a:ext cx="2743200" cy="914400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500" b="1">
                <a:solidFill>
                  <a:srgbClr val="003366"/>
                </a:solidFill>
                <a:latin typeface="Times New Roman"/>
              </a:defRPr>
            </a:pPr>
            <a:r>
              <a:t>Order form</a:t>
            </a:r>
            <a:br/>
            <a:r>
              <a:t>fixed fields only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2286000"/>
            <a:ext cx="2743200" cy="914400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500" b="1">
                <a:solidFill>
                  <a:srgbClr val="003366"/>
                </a:solidFill>
                <a:latin typeface="Times New Roman"/>
              </a:defRPr>
            </a:pPr>
            <a:r>
              <a:t>Kitchen</a:t>
            </a:r>
            <a:br/>
            <a:r>
              <a:t>cooks the dish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886200" y="2743200"/>
            <a:ext cx="685800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315200" y="2743200"/>
            <a:ext cx="685800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143000" y="3520440"/>
          <a:ext cx="9601200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429000"/>
                <a:gridCol w="3429000"/>
              </a:tblGrid>
              <a:tr h="46862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In the restaurant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In AEGIS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What it cannot do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waiter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language model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Cannot write or run SQL</a:t>
                      </a:r>
                    </a:p>
                  </a:txBody>
                  <a:tcPr marL="64008" marR="64008" marT="27432" marB="27432" anchor="ctr"/>
                </a:tc>
              </a:tr>
              <a:tr h="468629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order form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Intent Object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Cannot hold a table or column name of its own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</a:tr>
              <a:tr h="46863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kitchen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SQL compiler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Cannot accept anything outside the approved list</a:t>
                      </a:r>
                    </a:p>
                  </a:txBody>
                  <a:tcPr marL="64008" marR="64008" marT="27432" marB="27432" anchor="ctr"/>
                </a:tc>
              </a:tr>
            </a:tbl>
          </a:graphicData>
        </a:graphic>
      </p:graphicFrame>
      <p:sp>
        <p:nvSpPr>
          <p:cNvPr id="20" name="Rounded Rectangle 19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The model chooses names from an approved list. It never writes the database query itself.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Literature Review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6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13232" y="1417320"/>
          <a:ext cx="10744199" cy="4370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2423160"/>
                <a:gridCol w="2926080"/>
                <a:gridCol w="3520440"/>
              </a:tblGrid>
              <a:tr h="62440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Work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Main focus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Control approach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Gap for AEGIS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</a:tr>
              <a:tr h="6244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NaLIR [1]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Interactive NLIDB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Parse and refine intent with grammar and DB mapping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Limited dashboard and modern LLM risk handling</a:t>
                      </a:r>
                    </a:p>
                  </a:txBody>
                  <a:tcPr marL="36576" marR="36576" marT="13716" marB="13716" anchor="ctr"/>
                </a:tc>
              </a:tr>
              <a:tr h="6244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nl4dv [2]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NL to visualization specs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Extract analytic attributes; not SQL-centered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Visualization focus, not safe database execution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</a:tr>
              <a:tr h="6244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DashBot [3]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Dashboard generation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Insight-driven dashboard selection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Does not solve arbitrary SQL authority risk</a:t>
                      </a:r>
                    </a:p>
                  </a:txBody>
                  <a:tcPr marL="36576" marR="36576" marT="13716" marB="13716" anchor="ctr"/>
                </a:tc>
              </a:tr>
              <a:tr h="6244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PICARD [4]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Constrained decoding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Parser-level SQL validity during token generation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Model still generates SQL text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</a:tr>
              <a:tr h="6244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G-SQL [5] / TriSQL [6]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Robust Text-to-SQL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Schema-aware generation with rules, repair, and refinement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Safety depends on controlling generated SQL</a:t>
                      </a:r>
                    </a:p>
                  </a:txBody>
                  <a:tcPr marL="36576" marR="36576" marT="13716" marB="13716" anchor="ctr"/>
                </a:tc>
              </a:tr>
              <a:tr h="62440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AEGIS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Safe NL analytics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Intent extraction only; SQL compiled from semantic layer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Trades open SQL for auditable analytics intent validation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Research Gap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1600200"/>
            <a:ext cx="9966960" cy="434340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100">
                <a:solidFill>
                  <a:srgbClr val="003366"/>
                </a:solidFill>
                <a:latin typeface="Times New Roman"/>
              </a:rPr>
              <a:t>Observed Gap in Existing Systems: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Many systems improve SQL generation accuracy, but still let executable SQL be authored by the model.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Visualization systems help users express analysis, but do not fully address database execution safety.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Parser and repair methods can reject invalid syntax, yet syntactically valid SQL can still be unsafe or semantically wrong.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100">
                <a:solidFill>
                  <a:srgbClr val="003366"/>
                </a:solidFill>
                <a:latin typeface="Times New Roman"/>
              </a:rPr>
              <a:t>AEGIS Research Gap: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A practical architecture is needed where natural language is accepted, but executable SQL is produced only from an explicit semantic layer and deterministic compiler.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Objectives and Contributions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8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822960" y="1325880"/>
          <a:ext cx="105613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7543800"/>
              </a:tblGrid>
              <a:tr h="914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Objective</a:t>
                      </a:r>
                    </a:p>
                  </a:txBody>
                  <a:tcPr marL="91440" marR="91440" marT="45720" marB="4572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Contribution</a:t>
                      </a:r>
                    </a:p>
                  </a:txBody>
                  <a:tcPr marL="91440" marR="91440" marT="45720" marB="45720" anchor="ctr">
                    <a:solidFill>
                      <a:srgbClr val="003366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Reduce execution risk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Separate natural-language understanding from SQL creation.</a:t>
                      </a:r>
                    </a:p>
                  </a:txBody>
                  <a:tcPr marL="91440" marR="91440" marT="45720" marB="45720" anchor="ctr"/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Make analytics auditable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Define metrics, dimensions, filters, join paths, and output shapes in a semantic layer.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Support real e-commerce reports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Implement AEGIS over a seeded nopCommerce [7] MySQL database.</a:t>
                      </a:r>
                    </a:p>
                  </a:txBody>
                  <a:tcPr marL="91440" marR="91440" marT="45720" marB="45720" anchor="ctr"/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Evaluate against an independent oracle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Measure breadth on 500 fixed natural-language questions, and fidelity against nopCommerce's own twenty admin reports.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Research Methodology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9</a:t>
            </a:r>
          </a:p>
        </p:txBody>
      </p:sp>
      <p:pic>
        <p:nvPicPr>
          <p:cNvPr id="13" name="Picture 12" descr="thesis-figure-01-dsr-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7340" y="1572768"/>
            <a:ext cx="9052560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Proposed AEGIS Architecture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10</a:t>
            </a:r>
          </a:p>
        </p:txBody>
      </p:sp>
      <p:pic>
        <p:nvPicPr>
          <p:cNvPr id="13" name="Picture 12" descr="figure-03-architecture-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8261" y="1097280"/>
            <a:ext cx="8699862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Semantic Layer Implementation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11</a:t>
            </a:r>
          </a:p>
        </p:txBody>
      </p:sp>
      <p:pic>
        <p:nvPicPr>
          <p:cNvPr id="13" name="Picture 12" descr="figure-04-semantic-layer-modula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859280"/>
            <a:ext cx="5303520" cy="30937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1627632"/>
            <a:ext cx="5029200" cy="416052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50">
                <a:solidFill>
                  <a:srgbClr val="003366"/>
                </a:solidFill>
                <a:latin typeface="Times New Roman"/>
              </a:rPr>
              <a:t>Implemented per target system: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- Business vocabulary: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synonyms for metrics, dimensions, filters, and time periods.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- Metric definitions: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SQL expressions such as order count, revenue, average order value, and customer count.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- Dimension definitions: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status, customer, product, manufacturer, category, date, and geography.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- Join policy: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allowed tables and join paths from the nopCommerce [7] schema.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- Output contracts: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table, matrix, KPI, and chart-ready shapes.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Intent Extraction Boundary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20" y="475488"/>
            <a:ext cx="21031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i="1">
                <a:solidFill>
                  <a:srgbClr val="5F5F5F"/>
                </a:solidFill>
                <a:latin typeface="Times New Roman"/>
              </a:defRPr>
            </a:pPr>
            <a:r>
              <a:t>Stage 1 of 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1335024"/>
            <a:ext cx="2880360" cy="566928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300" b="1">
                <a:solidFill>
                  <a:srgbClr val="003366"/>
                </a:solidFill>
                <a:latin typeface="Times New Roman"/>
              </a:defRPr>
            </a:pPr>
            <a:r>
              <a:t>1. User asks a business question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048256"/>
            <a:ext cx="2651760" cy="786384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650">
                <a:solidFill>
                  <a:srgbClr val="003366"/>
                </a:solidFill>
                <a:latin typeface="Times New Roman"/>
              </a:rPr>
              <a:t>Example: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650">
                <a:solidFill>
                  <a:srgbClr val="003366"/>
                </a:solidFill>
                <a:latin typeface="Times New Roman"/>
              </a:rPr>
              <a:t>Show order average by status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86200" y="1335024"/>
            <a:ext cx="3337560" cy="566928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60" b="1">
                <a:solidFill>
                  <a:srgbClr val="003366"/>
                </a:solidFill>
                <a:latin typeface="Times New Roman"/>
              </a:defRPr>
            </a:pPr>
            <a:r>
              <a:t>2. Prompt exposes approved vocabulary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50208" y="2011680"/>
            <a:ext cx="3154680" cy="1298448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90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370">
                <a:solidFill>
                  <a:srgbClr val="003366"/>
                </a:solidFill>
                <a:latin typeface="Times New Roman"/>
              </a:rPr>
              <a:t>Vocabulary excerpt:</a:t>
            </a:r>
          </a:p>
          <a:p>
            <a:pPr marL="256032" indent="-256032">
              <a:lnSpc>
                <a:spcPct val="90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070">
                <a:solidFill>
                  <a:srgbClr val="003366"/>
                </a:solidFill>
                <a:latin typeface="Times New Roman"/>
              </a:rPr>
              <a:t>- Metrics:</a:t>
            </a:r>
            <a:r>
              <a:rPr b="0" i="0" sz="1070">
                <a:solidFill>
                  <a:srgbClr val="333333"/>
                </a:solidFill>
                <a:latin typeface="Times New Roman"/>
              </a:rPr>
              <a:t> revenue, order_count, avg_order_value</a:t>
            </a:r>
          </a:p>
          <a:p>
            <a:pPr marL="256032" indent="-256032">
              <a:lnSpc>
                <a:spcPct val="90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070">
                <a:solidFill>
                  <a:srgbClr val="003366"/>
                </a:solidFill>
                <a:latin typeface="Times New Roman"/>
              </a:rPr>
              <a:t>- Dimensions:</a:t>
            </a:r>
            <a:r>
              <a:rPr b="0" i="0" sz="1070">
                <a:solidFill>
                  <a:srgbClr val="333333"/>
                </a:solidFill>
                <a:latin typeface="Times New Roman"/>
              </a:rPr>
              <a:t> order_status, category, country</a:t>
            </a:r>
          </a:p>
          <a:p>
            <a:pPr marL="256032" indent="-256032">
              <a:lnSpc>
                <a:spcPct val="90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070">
                <a:solidFill>
                  <a:srgbClr val="003366"/>
                </a:solidFill>
                <a:latin typeface="Times New Roman"/>
              </a:rPr>
              <a:t>- Output:</a:t>
            </a:r>
            <a:r>
              <a:rPr b="0" i="0" sz="1070">
                <a:solidFill>
                  <a:srgbClr val="333333"/>
                </a:solidFill>
                <a:latin typeface="Times New Roman"/>
              </a:rPr>
              <a:t> kpi, table, matrix, chart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82127" y="1335024"/>
            <a:ext cx="3200400" cy="566928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80" b="1">
                <a:solidFill>
                  <a:srgbClr val="003366"/>
                </a:solidFill>
                <a:latin typeface="Times New Roman"/>
              </a:defRPr>
            </a:pPr>
            <a:r>
              <a:t>3. LLM returns an Intent Object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73568" y="2011680"/>
            <a:ext cx="2971800" cy="1536192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969">
                <a:solidFill>
                  <a:srgbClr val="505050"/>
                </a:solidFill>
                <a:latin typeface="Consolas"/>
              </a:defRPr>
            </a:pPr>
            <a:r>
              <a:t>{</a:t>
            </a:r>
          </a:p>
          <a:p>
            <a:pPr algn="l">
              <a:spcAft>
                <a:spcPts val="100"/>
              </a:spcAft>
              <a:defRPr sz="969">
                <a:solidFill>
                  <a:srgbClr val="505050"/>
                </a:solidFill>
                <a:latin typeface="Consolas"/>
              </a:defRPr>
            </a:pPr>
            <a:r>
              <a:t>  "intent_class": "segment",</a:t>
            </a:r>
          </a:p>
          <a:p>
            <a:pPr algn="l">
              <a:spcAft>
                <a:spcPts val="100"/>
              </a:spcAft>
              <a:defRPr sz="969">
                <a:solidFill>
                  <a:srgbClr val="505050"/>
                </a:solidFill>
                <a:latin typeface="Consolas"/>
              </a:defRPr>
            </a:pPr>
            <a:r>
              <a:t>  "metric_term": "avg_order_value",</a:t>
            </a:r>
          </a:p>
          <a:p>
            <a:pPr algn="l">
              <a:spcAft>
                <a:spcPts val="100"/>
              </a:spcAft>
              <a:defRPr sz="969">
                <a:solidFill>
                  <a:srgbClr val="505050"/>
                </a:solidFill>
                <a:latin typeface="Consolas"/>
              </a:defRPr>
            </a:pPr>
            <a:r>
              <a:t>  "dimension_term": "order_status",</a:t>
            </a:r>
          </a:p>
          <a:p>
            <a:pPr algn="l">
              <a:spcAft>
                <a:spcPts val="100"/>
              </a:spcAft>
              <a:defRPr sz="969">
                <a:solidFill>
                  <a:srgbClr val="505050"/>
                </a:solidFill>
                <a:latin typeface="Consolas"/>
              </a:defRPr>
            </a:pPr>
            <a:r>
              <a:t>  "output_shape": "table"</a:t>
            </a:r>
          </a:p>
          <a:p>
            <a:pPr algn="l">
              <a:spcAft>
                <a:spcPts val="100"/>
              </a:spcAft>
              <a:defRPr sz="969">
                <a:solidFill>
                  <a:srgbClr val="505050"/>
                </a:solidFill>
                <a:latin typeface="Consolas"/>
              </a:defRPr>
            </a:pPr>
            <a:r>
              <a:t>}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538728" y="1618488"/>
            <a:ext cx="347472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223760" y="1618488"/>
            <a:ext cx="658367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804672" y="4279392"/>
          <a:ext cx="10286999" cy="1298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3749039"/>
                <a:gridCol w="4297680"/>
              </a:tblGrid>
              <a:tr h="4328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Stage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Allowed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Not allowed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6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LLM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6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Choose approved ids from vocabulary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6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Raw SQL, joins, table names, writes</a:t>
                      </a:r>
                    </a:p>
                  </a:txBody>
                  <a:tcPr marL="36576" marR="36576" marT="13716" marB="13716" anchor="ctr"/>
                </a:tc>
              </a:tr>
              <a:tr h="4328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6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AEGIS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6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Bind ids to semantic definitions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6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Unknown ids, silent fallback, unsafe execution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The model picks names from a list we wrote. It never sees a table name, and never writes SQL.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The Intent Object, and What It Selects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20" y="475488"/>
            <a:ext cx="21031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i="1">
                <a:solidFill>
                  <a:srgbClr val="5F5F5F"/>
                </a:solidFill>
                <a:latin typeface="Times New Roman"/>
              </a:defRPr>
            </a:pPr>
            <a:r>
              <a:t>Stage 1 to 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1280160"/>
            <a:ext cx="5029200" cy="457200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50" b="1">
                <a:solidFill>
                  <a:srgbClr val="003366"/>
                </a:solidFill>
                <a:latin typeface="Times New Roman"/>
              </a:defRPr>
            </a:pPr>
            <a:r>
              <a:t>IntentObject  (aegis/server/models.py)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1828800"/>
            <a:ext cx="4937760" cy="2514600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900">
                <a:solidFill>
                  <a:srgbClr val="505050"/>
                </a:solidFill>
                <a:latin typeface="Consolas"/>
              </a:defRPr>
            </a:pPr>
            <a:r>
              <a:t>class IntentObject(BaseModel):</a:t>
            </a:r>
          </a:p>
          <a:p>
            <a:pPr algn="l">
              <a:spcAft>
                <a:spcPts val="100"/>
              </a:spcAft>
              <a:defRPr sz="900">
                <a:solidFill>
                  <a:srgbClr val="505050"/>
                </a:solidFill>
                <a:latin typeface="Consolas"/>
              </a:defRPr>
            </a:pPr>
            <a:r>
              <a:t>    intent_class:    IntentClass      # required, 11-value enum</a:t>
            </a:r>
          </a:p>
          <a:p>
            <a:pPr algn="l">
              <a:spcAft>
                <a:spcPts val="100"/>
              </a:spcAft>
              <a:defRPr sz="900">
                <a:solidFill>
                  <a:srgbClr val="505050"/>
                </a:solidFill>
                <a:latin typeface="Consolas"/>
              </a:defRPr>
            </a:pPr>
            <a:r>
              <a:t>    metric_term:     Optional[str]    # an approved metric id</a:t>
            </a:r>
          </a:p>
          <a:p>
            <a:pPr algn="l">
              <a:spcAft>
                <a:spcPts val="100"/>
              </a:spcAft>
              <a:defRPr sz="900">
                <a:solidFill>
                  <a:srgbClr val="505050"/>
                </a:solidFill>
                <a:latin typeface="Consolas"/>
              </a:defRPr>
            </a:pPr>
            <a:r>
              <a:t>    dimension_term:  Optional[str]    # an approved dimension id</a:t>
            </a:r>
          </a:p>
          <a:p>
            <a:pPr algn="l">
              <a:spcAft>
                <a:spcPts val="100"/>
              </a:spcAft>
              <a:defRPr sz="900">
                <a:solidFill>
                  <a:srgbClr val="505050"/>
                </a:solidFill>
                <a:latin typeface="Consolas"/>
              </a:defRPr>
            </a:pPr>
            <a:r>
              <a:t>    time_term:       Optional[str]    # a phrase, not a date</a:t>
            </a:r>
          </a:p>
          <a:p>
            <a:pPr algn="l">
              <a:spcAft>
                <a:spcPts val="100"/>
              </a:spcAft>
              <a:defRPr sz="900">
                <a:solidFill>
                  <a:srgbClr val="505050"/>
                </a:solidFill>
                <a:latin typeface="Consolas"/>
              </a:defRPr>
            </a:pPr>
            <a:r>
              <a:t>    filters:         List[Filter]     # field / operator / value</a:t>
            </a:r>
          </a:p>
          <a:p>
            <a:pPr algn="l">
              <a:spcAft>
                <a:spcPts val="100"/>
              </a:spcAft>
              <a:defRPr sz="900">
                <a:solidFill>
                  <a:srgbClr val="505050"/>
                </a:solidFill>
                <a:latin typeface="Consolas"/>
              </a:defRPr>
            </a:pPr>
            <a:r>
              <a:t>    limit:           Optional[int]</a:t>
            </a:r>
          </a:p>
          <a:p>
            <a:pPr algn="l">
              <a:spcAft>
                <a:spcPts val="100"/>
              </a:spcAft>
              <a:defRPr sz="900">
                <a:solidFill>
                  <a:srgbClr val="505050"/>
                </a:solidFill>
                <a:latin typeface="Consolas"/>
              </a:defRPr>
            </a:pPr>
            <a:r>
              <a:t>    confidence:      Confidence = LOW # absence is not confidence</a:t>
            </a:r>
          </a:p>
          <a:p>
            <a:pPr algn="l">
              <a:spcAft>
                <a:spcPts val="100"/>
              </a:spcAft>
              <a:defRPr sz="900">
                <a:solidFill>
                  <a:srgbClr val="505050"/>
                </a:solidFill>
                <a:latin typeface="Consolas"/>
              </a:defRPr>
            </a:pPr>
            <a:r>
              <a:t>    unmapped_terms:  List[str]        # what it could not account for</a:t>
            </a:r>
          </a:p>
          <a:p>
            <a:pPr algn="l">
              <a:spcAft>
                <a:spcPts val="100"/>
              </a:spcAft>
              <a:defRPr sz="900">
                <a:solidFill>
                  <a:srgbClr val="50505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900">
                <a:solidFill>
                  <a:srgbClr val="505050"/>
                </a:solidFill>
                <a:latin typeface="Consolas"/>
              </a:defRPr>
            </a:pPr>
            <a:r>
              <a:t># There is no sql field. The type cannot express one.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9320" y="1280160"/>
            <a:ext cx="5212080" cy="457200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50" b="1">
                <a:solidFill>
                  <a:srgbClr val="003366"/>
                </a:solidFill>
                <a:latin typeface="Times New Roman"/>
              </a:defRPr>
            </a:pPr>
            <a:r>
              <a:t>intent_class selects the compilation path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035040" y="1828800"/>
          <a:ext cx="51663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2834640"/>
              </a:tblGrid>
              <a:tr h="4191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intent_class</a:t>
                      </a:r>
                    </a:p>
                  </a:txBody>
                  <a:tcPr marL="45720" marR="45720" marT="18288" marB="18288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Compiler path taken</a:t>
                      </a:r>
                    </a:p>
                  </a:txBody>
                  <a:tcPr marL="45720" marR="45720" marT="18288" marB="18288" anchor="ctr">
                    <a:solidFill>
                      <a:srgbClr val="003366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kpi, summary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aggregate, no LIMIT</a:t>
                      </a:r>
                    </a:p>
                  </a:txBody>
                  <a:tcPr marL="45720" marR="45720" marT="18288" marB="18288" anchor="ctr"/>
                </a:tc>
              </a:tr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segment, ranking,</a:t>
                      </a:r>
                    </a:p>
                    <a:p>
                      <a:pPr algn="l">
                        <a:lnSpc>
                          <a:spcPct val="100000"/>
                        </a:lnSpc>
                        <a:defRPr sz="10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comparison, cohort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aggregate + GROUP BY + ORDER BY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trend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date bucket; zero-filled when daily</a:t>
                      </a:r>
                    </a:p>
                  </a:txBody>
                  <a:tcPr marL="45720" marR="45720" marT="18288" marB="18288" anchor="ctr"/>
                </a:tc>
              </a:tr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tabular, exception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row listing, no aggregation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funnel, correlate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aggregate over the stated relation</a:t>
                      </a:r>
                    </a:p>
                  </a:txBody>
                  <a:tcPr marL="45720" marR="45720" marT="18288" marB="18288" anchor="ctr"/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777240" y="4526280"/>
            <a:ext cx="10424160" cy="5486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An id the semantic layer does not define is rejected here, before any SQL exists. There is no path from an unknown id to a query.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The answer form is chosen from eleven fixed shapes, not invented per question.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Semantic Mapping Under the Hood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20" y="475488"/>
            <a:ext cx="21031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i="1">
                <a:solidFill>
                  <a:srgbClr val="5F5F5F"/>
                </a:solidFill>
                <a:latin typeface="Times New Roman"/>
              </a:defRPr>
            </a:pPr>
            <a:r>
              <a:t>Stage 2 of 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1353312"/>
            <a:ext cx="2834640" cy="841248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t>Intent Object</a:t>
            </a:r>
            <a:br/>
            <a:r>
              <a:t>metric_term=avg_order_value</a:t>
            </a:r>
            <a:br/>
            <a:r>
              <a:t>dimension_term=order_status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1353312"/>
            <a:ext cx="2834640" cy="841248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t>Lookup in semantic layer</a:t>
            </a:r>
            <a:br/>
            <a:r>
              <a:t>METRICS + DIMENSIONS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39327" y="1353312"/>
            <a:ext cx="2331720" cy="841248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t>Analysis Plan</a:t>
            </a:r>
            <a:br/>
            <a:r>
              <a:t>pattern=segment</a:t>
            </a:r>
            <a:br/>
            <a:r>
              <a:t>shape=table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584448" y="1773936"/>
            <a:ext cx="987552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406640" y="1773936"/>
            <a:ext cx="932687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85800" y="2606040"/>
          <a:ext cx="1083564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1828800"/>
                <a:gridCol w="2834640"/>
                <a:gridCol w="2377440"/>
                <a:gridCol w="2286000"/>
              </a:tblGrid>
              <a:tr h="53721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Slot</a:t>
                      </a:r>
                    </a:p>
                  </a:txBody>
                  <a:tcPr marL="32004" marR="32004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Resolved id</a:t>
                      </a:r>
                    </a:p>
                  </a:txBody>
                  <a:tcPr marL="32004" marR="32004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Business meaning</a:t>
                      </a:r>
                    </a:p>
                  </a:txBody>
                  <a:tcPr marL="32004" marR="32004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SQL expression</a:t>
                      </a:r>
                    </a:p>
                  </a:txBody>
                  <a:tcPr marL="32004" marR="32004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Binding</a:t>
                      </a:r>
                    </a:p>
                  </a:txBody>
                  <a:tcPr marL="32004" marR="32004" marT="13716" marB="13716" anchor="ctr">
                    <a:solidFill>
                      <a:srgbClr val="003366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98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Metric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avg_order_value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Average revenue per order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AVG(COALESCE(o.OrderTotal, 0))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Order as o</a:t>
                      </a:r>
                    </a:p>
                  </a:txBody>
                  <a:tcPr marL="32004" marR="32004" marT="13716" marB="13716" anchor="ctr"/>
                </a:tc>
              </a:tr>
              <a:tr h="53721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98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Dimension</a:t>
                      </a:r>
                    </a:p>
                  </a:txBody>
                  <a:tcPr marL="32004" marR="32004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order_status</a:t>
                      </a:r>
                    </a:p>
                  </a:txBody>
                  <a:tcPr marL="32004" marR="32004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Readable order status label</a:t>
                      </a:r>
                    </a:p>
                  </a:txBody>
                  <a:tcPr marL="32004" marR="32004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CASE o.OrderStatusId ... END</a:t>
                      </a:r>
                    </a:p>
                  </a:txBody>
                  <a:tcPr marL="32004" marR="32004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Order as o</a:t>
                      </a:r>
                    </a:p>
                  </a:txBody>
                  <a:tcPr marL="32004" marR="32004" marT="13716" marB="13716" anchor="ctr">
                    <a:solidFill>
                      <a:srgbClr val="F2F4F8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98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Rule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mandatory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Ignore soft-deleted orders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o.Deleted = 0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WHERE</a:t>
                      </a:r>
                    </a:p>
                  </a:txBody>
                  <a:tcPr marL="32004" marR="32004" marT="13716" marB="13716" anchor="ctr"/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868680" y="4892040"/>
            <a:ext cx="10241280" cy="73152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350">
                <a:solidFill>
                  <a:srgbClr val="003366"/>
                </a:solidFill>
                <a:latin typeface="Times New Roman"/>
              </a:rPr>
              <a:t>Intent Object vs Analysis Plan:</a:t>
            </a:r>
            <a:r>
              <a:rPr b="0" i="0" sz="1250">
                <a:solidFill>
                  <a:srgbClr val="333333"/>
                </a:solidFill>
                <a:latin typeface="Times New Roman"/>
              </a:rPr>
              <a:t> the Intent Object is what the model said. The Analysis Plan is what AEGIS was able to bind it to — it adds the pattern, the join path, the resolved SQL expressions, and the evidence for each binding. Only the Plan reaches the compiler.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The model said 'average order value'. The definition behind that name was written by the administrator.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Template-Based SQL Compilation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20" y="475488"/>
            <a:ext cx="21031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i="1">
                <a:solidFill>
                  <a:srgbClr val="5F5F5F"/>
                </a:solidFill>
                <a:latin typeface="Times New Roman"/>
              </a:defRPr>
            </a:pPr>
            <a:r>
              <a:t>Stage 3 of 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1298448"/>
            <a:ext cx="3154680" cy="530352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300" b="1">
                <a:solidFill>
                  <a:srgbClr val="003366"/>
                </a:solidFill>
                <a:latin typeface="Times New Roman"/>
              </a:defRPr>
            </a:pPr>
            <a:r>
              <a:t>Compiler template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1993392"/>
            <a:ext cx="4526280" cy="2359152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SELECT {dimension_expr} AS label,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       {metric_expr} AS value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FROM {base_table}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{join_clauses}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WHERE {mandatory_predicates}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GROUP BY {dimension_group_expr}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ORDER BY value DESC;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96128" y="1298448"/>
            <a:ext cx="2606040" cy="530352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300" b="1">
                <a:solidFill>
                  <a:srgbClr val="003366"/>
                </a:solidFill>
                <a:latin typeface="Times New Roman"/>
              </a:defRPr>
            </a:pPr>
            <a:r>
              <a:t>Filled from semantic 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23560" y="1938528"/>
            <a:ext cx="2697480" cy="196596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256032" indent="-256032">
              <a:lnSpc>
                <a:spcPct val="92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120">
                <a:solidFill>
                  <a:srgbClr val="003366"/>
                </a:solidFill>
                <a:latin typeface="Times New Roman"/>
              </a:rPr>
              <a:t>- dimension_expr:</a:t>
            </a:r>
            <a:r>
              <a:rPr b="0" i="0" sz="1120">
                <a:solidFill>
                  <a:srgbClr val="333333"/>
                </a:solidFill>
                <a:latin typeface="Times New Roman"/>
              </a:rPr>
              <a:t> CASE order status mapping</a:t>
            </a:r>
          </a:p>
          <a:p>
            <a:pPr marL="256032" indent="-256032">
              <a:lnSpc>
                <a:spcPct val="92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120">
                <a:solidFill>
                  <a:srgbClr val="003366"/>
                </a:solidFill>
                <a:latin typeface="Times New Roman"/>
              </a:rPr>
              <a:t>- metric_expr:</a:t>
            </a:r>
            <a:r>
              <a:rPr b="0" i="0" sz="1120">
                <a:solidFill>
                  <a:srgbClr val="333333"/>
                </a:solidFill>
                <a:latin typeface="Times New Roman"/>
              </a:rPr>
              <a:t> AVG(order total)</a:t>
            </a:r>
          </a:p>
          <a:p>
            <a:pPr marL="256032" indent="-256032">
              <a:lnSpc>
                <a:spcPct val="92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120">
                <a:solidFill>
                  <a:srgbClr val="003366"/>
                </a:solidFill>
                <a:latin typeface="Times New Roman"/>
              </a:rPr>
              <a:t>- base_table:</a:t>
            </a:r>
            <a:r>
              <a:rPr b="0" i="0" sz="1120">
                <a:solidFill>
                  <a:srgbClr val="333333"/>
                </a:solidFill>
                <a:latin typeface="Times New Roman"/>
              </a:rPr>
              <a:t> Order o</a:t>
            </a:r>
          </a:p>
          <a:p>
            <a:pPr marL="256032" indent="-256032">
              <a:lnSpc>
                <a:spcPct val="92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120">
                <a:solidFill>
                  <a:srgbClr val="003366"/>
                </a:solidFill>
                <a:latin typeface="Times New Roman"/>
              </a:rPr>
              <a:t>- joins:</a:t>
            </a:r>
            <a:r>
              <a:rPr b="0" i="0" sz="1120">
                <a:solidFill>
                  <a:srgbClr val="333333"/>
                </a:solidFill>
                <a:latin typeface="Times New Roman"/>
              </a:rPr>
              <a:t> none required here</a:t>
            </a:r>
          </a:p>
          <a:p>
            <a:pPr marL="256032" indent="-256032">
              <a:lnSpc>
                <a:spcPct val="92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120">
                <a:solidFill>
                  <a:srgbClr val="003366"/>
                </a:solidFill>
                <a:latin typeface="Times New Roman"/>
              </a:rPr>
              <a:t>- predicates:</a:t>
            </a:r>
            <a:r>
              <a:rPr b="0" i="0" sz="1120">
                <a:solidFill>
                  <a:srgbClr val="333333"/>
                </a:solidFill>
                <a:latin typeface="Times New Roman"/>
              </a:rPr>
              <a:t> o.Deleted =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13648" y="1298448"/>
            <a:ext cx="2560320" cy="530352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300" b="1">
                <a:solidFill>
                  <a:srgbClr val="003366"/>
                </a:solidFill>
                <a:latin typeface="Times New Roman"/>
              </a:defRPr>
            </a:pPr>
            <a:r>
              <a:t>Compiled safe SELECT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94192" y="1938528"/>
            <a:ext cx="2880360" cy="2651760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720">
                <a:solidFill>
                  <a:srgbClr val="505050"/>
                </a:solidFill>
                <a:latin typeface="Consolas"/>
              </a:defRPr>
            </a:pPr>
            <a:r>
              <a:t>SELECT CASE o.OrderStatusId</a:t>
            </a:r>
          </a:p>
          <a:p>
            <a:pPr algn="l">
              <a:spcAft>
                <a:spcPts val="100"/>
              </a:spcAft>
              <a:defRPr sz="720">
                <a:solidFill>
                  <a:srgbClr val="505050"/>
                </a:solidFill>
                <a:latin typeface="Consolas"/>
              </a:defRPr>
            </a:pPr>
            <a:r>
              <a:t>       WHEN 10 THEN "Pending"</a:t>
            </a:r>
          </a:p>
          <a:p>
            <a:pPr algn="l">
              <a:spcAft>
                <a:spcPts val="100"/>
              </a:spcAft>
              <a:defRPr sz="720">
                <a:solidFill>
                  <a:srgbClr val="505050"/>
                </a:solidFill>
                <a:latin typeface="Consolas"/>
              </a:defRPr>
            </a:pPr>
            <a:r>
              <a:t>       WHEN 20 THEN "Processing"</a:t>
            </a:r>
          </a:p>
          <a:p>
            <a:pPr algn="l">
              <a:spcAft>
                <a:spcPts val="100"/>
              </a:spcAft>
              <a:defRPr sz="720">
                <a:solidFill>
                  <a:srgbClr val="505050"/>
                </a:solidFill>
                <a:latin typeface="Consolas"/>
              </a:defRPr>
            </a:pPr>
            <a:r>
              <a:t>       WHEN 30 THEN "Complete"</a:t>
            </a:r>
          </a:p>
          <a:p>
            <a:pPr algn="l">
              <a:spcAft>
                <a:spcPts val="100"/>
              </a:spcAft>
              <a:defRPr sz="720">
                <a:solidFill>
                  <a:srgbClr val="505050"/>
                </a:solidFill>
                <a:latin typeface="Consolas"/>
              </a:defRPr>
            </a:pPr>
            <a:r>
              <a:t>       WHEN 40 THEN "Cancelled"</a:t>
            </a:r>
          </a:p>
          <a:p>
            <a:pPr algn="l">
              <a:spcAft>
                <a:spcPts val="100"/>
              </a:spcAft>
              <a:defRPr sz="720">
                <a:solidFill>
                  <a:srgbClr val="505050"/>
                </a:solidFill>
                <a:latin typeface="Consolas"/>
              </a:defRPr>
            </a:pPr>
            <a:r>
              <a:t>       END AS label,</a:t>
            </a:r>
          </a:p>
          <a:p>
            <a:pPr algn="l">
              <a:spcAft>
                <a:spcPts val="100"/>
              </a:spcAft>
              <a:defRPr sz="720">
                <a:solidFill>
                  <a:srgbClr val="505050"/>
                </a:solidFill>
                <a:latin typeface="Consolas"/>
              </a:defRPr>
            </a:pPr>
            <a:r>
              <a:t>       AVG(COALESCE(o.OrderTotal, 0)) AS value</a:t>
            </a:r>
          </a:p>
          <a:p>
            <a:pPr algn="l">
              <a:spcAft>
                <a:spcPts val="100"/>
              </a:spcAft>
              <a:defRPr sz="720">
                <a:solidFill>
                  <a:srgbClr val="505050"/>
                </a:solidFill>
                <a:latin typeface="Consolas"/>
              </a:defRPr>
            </a:pPr>
            <a:r>
              <a:t>FROM `Order` o</a:t>
            </a:r>
          </a:p>
          <a:p>
            <a:pPr algn="l">
              <a:spcAft>
                <a:spcPts val="100"/>
              </a:spcAft>
              <a:defRPr sz="720">
                <a:solidFill>
                  <a:srgbClr val="505050"/>
                </a:solidFill>
                <a:latin typeface="Consolas"/>
              </a:defRPr>
            </a:pPr>
            <a:r>
              <a:t>WHERE o.Deleted = 0</a:t>
            </a:r>
          </a:p>
          <a:p>
            <a:pPr algn="l">
              <a:spcAft>
                <a:spcPts val="100"/>
              </a:spcAft>
              <a:defRPr sz="720">
                <a:solidFill>
                  <a:srgbClr val="505050"/>
                </a:solidFill>
                <a:latin typeface="Consolas"/>
              </a:defRPr>
            </a:pPr>
            <a:r>
              <a:t>GROUP BY CASE o.OrderStatusId ... END</a:t>
            </a:r>
          </a:p>
          <a:p>
            <a:pPr algn="l">
              <a:spcAft>
                <a:spcPts val="100"/>
              </a:spcAft>
              <a:defRPr sz="720">
                <a:solidFill>
                  <a:srgbClr val="505050"/>
                </a:solidFill>
                <a:latin typeface="Consolas"/>
              </a:defRPr>
            </a:pPr>
            <a:r>
              <a:t>ORDER BY value DESC;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937760"/>
            <a:ext cx="10378440" cy="566928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500">
                <a:solidFill>
                  <a:srgbClr val="003366"/>
                </a:solidFill>
                <a:latin typeface="Times New Roman"/>
              </a:rPr>
              <a:t>The template controls SQL structure; the semantic layer supplies approved identifiers and expressions; user text is never inserted into the query.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The query's shape is fixed in advance. Only approved names are dropped into the blanks.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Walkthrough: A Question That Needs Four Joins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20" y="475488"/>
            <a:ext cx="21031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i="1">
                <a:solidFill>
                  <a:srgbClr val="5F5F5F"/>
                </a:solidFill>
                <a:latin typeface="Times New Roman"/>
              </a:defRPr>
            </a:pPr>
            <a:r>
              <a:t>Stages 1 to 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1243584"/>
            <a:ext cx="10607040" cy="420624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300" b="1">
                <a:solidFill>
                  <a:srgbClr val="003366"/>
                </a:solidFill>
                <a:latin typeface="Times New Roman"/>
              </a:defRPr>
            </a:pPr>
            <a:r>
              <a:t>NQ257  "Show product revenue by category."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1783080"/>
            <a:ext cx="3931920" cy="402336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t>Intent Object from the model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2249424"/>
            <a:ext cx="3840480" cy="1143000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{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  "intent_class": "segment",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  "metric_term": "line_item_revenue",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  "dimension_term": "category_name"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3520440"/>
            <a:ext cx="3931920" cy="402336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150" b="1">
                <a:solidFill>
                  <a:srgbClr val="003366"/>
                </a:solidFill>
                <a:latin typeface="Times New Roman"/>
              </a:defRPr>
            </a:pPr>
            <a:r>
              <a:t>Join path resolved by BFS, not by the model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3986784"/>
            <a:ext cx="3840480" cy="841248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Product -&gt; OrderItem -&gt; Order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   -&gt; Product_Category_Mapping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   -&gt; Category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92040" y="1783080"/>
            <a:ext cx="6373368" cy="402336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t>Compiled SQL, executed read-only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760" y="2249424"/>
            <a:ext cx="6309360" cy="2578608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860">
                <a:solidFill>
                  <a:srgbClr val="505050"/>
                </a:solidFill>
                <a:latin typeface="Consolas"/>
              </a:defRPr>
            </a:pPr>
            <a:r>
              <a:t>SELECT c.Name AS label, SUM(oi.PriceExclTax) AS value</a:t>
            </a:r>
          </a:p>
          <a:p>
            <a:pPr algn="l">
              <a:spcAft>
                <a:spcPts val="100"/>
              </a:spcAft>
              <a:defRPr sz="860">
                <a:solidFill>
                  <a:srgbClr val="505050"/>
                </a:solidFill>
                <a:latin typeface="Consolas"/>
              </a:defRPr>
            </a:pPr>
            <a:r>
              <a:t>FROM `Order` o</a:t>
            </a:r>
          </a:p>
          <a:p>
            <a:pPr algn="l">
              <a:spcAft>
                <a:spcPts val="100"/>
              </a:spcAft>
              <a:defRPr sz="860">
                <a:solidFill>
                  <a:srgbClr val="505050"/>
                </a:solidFill>
                <a:latin typeface="Consolas"/>
              </a:defRPr>
            </a:pPr>
            <a:r>
              <a:t>LEFT JOIN `OrderItem` oi ON o.Id = oi.OrderId</a:t>
            </a:r>
          </a:p>
          <a:p>
            <a:pPr algn="l">
              <a:spcAft>
                <a:spcPts val="100"/>
              </a:spcAft>
              <a:defRPr sz="860">
                <a:solidFill>
                  <a:srgbClr val="505050"/>
                </a:solidFill>
                <a:latin typeface="Consolas"/>
              </a:defRPr>
            </a:pPr>
            <a:r>
              <a:t>LEFT JOIN `Product` p   ON oi.ProductId = p.Id</a:t>
            </a:r>
          </a:p>
          <a:p>
            <a:pPr algn="l">
              <a:spcAft>
                <a:spcPts val="100"/>
              </a:spcAft>
              <a:defRPr sz="860">
                <a:solidFill>
                  <a:srgbClr val="505050"/>
                </a:solidFill>
                <a:latin typeface="Consolas"/>
              </a:defRPr>
            </a:pPr>
            <a:r>
              <a:t>LEFT JOIN `Product_Category_Mapping` pcm ON p.Id = pcm.ProductId</a:t>
            </a:r>
          </a:p>
          <a:p>
            <a:pPr algn="l">
              <a:spcAft>
                <a:spcPts val="100"/>
              </a:spcAft>
              <a:defRPr sz="860">
                <a:solidFill>
                  <a:srgbClr val="505050"/>
                </a:solidFill>
                <a:latin typeface="Consolas"/>
              </a:defRPr>
            </a:pPr>
            <a:r>
              <a:t>LEFT JOIN `Category` c  ON pcm.CategoryId = c.Id</a:t>
            </a:r>
          </a:p>
          <a:p>
            <a:pPr algn="l">
              <a:spcAft>
                <a:spcPts val="100"/>
              </a:spcAft>
              <a:defRPr sz="860">
                <a:solidFill>
                  <a:srgbClr val="505050"/>
                </a:solidFill>
                <a:latin typeface="Consolas"/>
              </a:defRPr>
            </a:pPr>
            <a:r>
              <a:t>WHERE 1=1</a:t>
            </a:r>
          </a:p>
          <a:p>
            <a:pPr algn="l">
              <a:spcAft>
                <a:spcPts val="100"/>
              </a:spcAft>
              <a:defRPr sz="860">
                <a:solidFill>
                  <a:srgbClr val="505050"/>
                </a:solidFill>
                <a:latin typeface="Consolas"/>
              </a:defRPr>
            </a:pPr>
            <a:r>
              <a:t>  AND o.Deleted = 0</a:t>
            </a:r>
          </a:p>
          <a:p>
            <a:pPr algn="l">
              <a:spcAft>
                <a:spcPts val="100"/>
              </a:spcAft>
              <a:defRPr sz="860">
                <a:solidFill>
                  <a:srgbClr val="505050"/>
                </a:solidFill>
                <a:latin typeface="Consolas"/>
              </a:defRPr>
            </a:pPr>
            <a:r>
              <a:t>  AND p.Deleted = 0</a:t>
            </a:r>
          </a:p>
          <a:p>
            <a:pPr algn="l">
              <a:spcAft>
                <a:spcPts val="100"/>
              </a:spcAft>
              <a:defRPr sz="860">
                <a:solidFill>
                  <a:srgbClr val="505050"/>
                </a:solidFill>
                <a:latin typeface="Consolas"/>
              </a:defRPr>
            </a:pPr>
            <a:r>
              <a:t>GROUP BY c.Name</a:t>
            </a:r>
          </a:p>
          <a:p>
            <a:pPr algn="l">
              <a:spcAft>
                <a:spcPts val="100"/>
              </a:spcAft>
              <a:defRPr sz="860">
                <a:solidFill>
                  <a:srgbClr val="505050"/>
                </a:solidFill>
                <a:latin typeface="Consolas"/>
              </a:defRPr>
            </a:pPr>
            <a:r>
              <a:t>ORDER BY value DESC</a:t>
            </a:r>
          </a:p>
          <a:p>
            <a:pPr algn="l">
              <a:spcAft>
                <a:spcPts val="100"/>
              </a:spcAft>
              <a:defRPr sz="860">
                <a:solidFill>
                  <a:srgbClr val="505050"/>
                </a:solidFill>
                <a:latin typeface="Consolas"/>
              </a:defRPr>
            </a:pPr>
            <a:r>
              <a:t>LIMIT 100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85800" y="4956048"/>
          <a:ext cx="1060704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617720"/>
                <a:gridCol w="3703320"/>
              </a:tblGrid>
              <a:tr h="3048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Also worth seeing</a:t>
                      </a:r>
                    </a:p>
                  </a:txBody>
                  <a:tcPr marL="45720" marR="45720" marT="18288" marB="18288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What actually happens</a:t>
                      </a:r>
                    </a:p>
                  </a:txBody>
                  <a:tcPr marL="45720" marR="45720" marT="18288" marB="18288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Why it matters</a:t>
                      </a:r>
                    </a:p>
                  </a:txBody>
                  <a:tcPr marL="45720" marR="45720" marT="18288" marB="18288" anchor="ctr">
                    <a:solidFill>
                      <a:srgbClr val="003366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"stock less than 10"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compiles to  p.StockQuantity &lt; @p0   with params {p0: 10}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number is bound, never pasted into the SQL text</a:t>
                      </a:r>
                    </a:p>
                  </a:txBody>
                  <a:tcPr marL="45720" marR="45720" marT="18288" marB="18288" anchor="ctr"/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"revenue from Google Ads"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declined: traffic_source is not in the semantic layer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 guess, no nearest-match substitution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Output Generation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17</a:t>
            </a:r>
          </a:p>
        </p:txBody>
      </p:sp>
      <p:pic>
        <p:nvPicPr>
          <p:cNvPr id="13" name="Picture 12" descr="figure-08-widget-lifecy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794509"/>
            <a:ext cx="5212080" cy="30403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17920" y="1627632"/>
            <a:ext cx="4983480" cy="406908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20">
                <a:solidFill>
                  <a:srgbClr val="003366"/>
                </a:solidFill>
                <a:latin typeface="Times New Roman"/>
              </a:rPr>
              <a:t>Output is based on result shape, not model narration: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20">
                <a:solidFill>
                  <a:srgbClr val="003366"/>
                </a:solidFill>
                <a:latin typeface="Times New Roman"/>
              </a:rPr>
              <a:t>- KPI:</a:t>
            </a:r>
            <a:r>
              <a:rPr b="0" i="0" sz="1420">
                <a:solidFill>
                  <a:srgbClr val="333333"/>
                </a:solidFill>
                <a:latin typeface="Times New Roman"/>
              </a:rPr>
              <a:t> one numeric value with label.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20">
                <a:solidFill>
                  <a:srgbClr val="003366"/>
                </a:solidFill>
                <a:latin typeface="Times New Roman"/>
              </a:rPr>
              <a:t>- Table:</a:t>
            </a:r>
            <a:r>
              <a:rPr b="0" i="0" sz="1420">
                <a:solidFill>
                  <a:srgbClr val="333333"/>
                </a:solidFill>
                <a:latin typeface="Times New Roman"/>
              </a:rPr>
              <a:t> row/column data with responsive scrolling in the prototype.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20">
                <a:solidFill>
                  <a:srgbClr val="003366"/>
                </a:solidFill>
                <a:latin typeface="Times New Roman"/>
              </a:rPr>
              <a:t>- Matrix:</a:t>
            </a:r>
            <a:r>
              <a:rPr b="0" i="0" sz="1420">
                <a:solidFill>
                  <a:srgbClr val="333333"/>
                </a:solidFill>
                <a:latin typeface="Times New Roman"/>
              </a:rPr>
              <a:t> period columns such as today, week, month, year, and all time.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20">
                <a:solidFill>
                  <a:srgbClr val="003366"/>
                </a:solidFill>
                <a:latin typeface="Times New Roman"/>
              </a:rPr>
              <a:t>- Chart-ready output:</a:t>
            </a:r>
            <a:r>
              <a:rPr b="0" i="0" sz="1420">
                <a:solidFill>
                  <a:srgbClr val="333333"/>
                </a:solidFill>
                <a:latin typeface="Times New Roman"/>
              </a:rPr>
              <a:t> categories and values are produced from query results.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20">
                <a:solidFill>
                  <a:srgbClr val="003366"/>
                </a:solidFill>
                <a:latin typeface="Times New Roman"/>
              </a:rPr>
              <a:t>This lets the prototype show both the answer and the evidence path used to produce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Prototype Implementation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1417320"/>
            <a:ext cx="5166360" cy="30632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850">
                <a:solidFill>
                  <a:srgbClr val="003366"/>
                </a:solidFill>
                <a:latin typeface="Times New Roman"/>
              </a:rPr>
              <a:t>Prototype stack: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50">
                <a:solidFill>
                  <a:srgbClr val="333333"/>
                </a:solidFill>
                <a:latin typeface="Times New Roman"/>
              </a:rPr>
              <a:t>- FastAPI backend for NL analytics requests.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50">
                <a:solidFill>
                  <a:srgbClr val="333333"/>
                </a:solidFill>
                <a:latin typeface="Times New Roman"/>
              </a:rPr>
              <a:t>- MySQL seeded with nopCommerce-style [7] commerce data.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50">
                <a:solidFill>
                  <a:srgbClr val="333333"/>
                </a:solidFill>
                <a:latin typeface="Times New Roman"/>
              </a:rPr>
              <a:t>- OpenAI-compatible LLM API for intent extraction.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50">
                <a:solidFill>
                  <a:srgbClr val="333333"/>
                </a:solidFill>
                <a:latin typeface="Times New Roman"/>
              </a:rPr>
              <a:t>- Semantic-layer files define metrics, dimensions, filters, and output shapes.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50">
                <a:solidFill>
                  <a:srgbClr val="333333"/>
                </a:solidFill>
                <a:latin typeface="Times New Roman"/>
              </a:rPr>
              <a:t>- Frontend shows answer output plus AEGIS stage evidence.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417320"/>
            <a:ext cx="48920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3366"/>
                </a:solidFill>
                <a:latin typeface="Times New Roman"/>
              </a:defRPr>
            </a:pPr>
            <a:r>
              <a:t>Seeded Data Used in Live Prototype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498080" y="4251960"/>
            <a:ext cx="3474720" cy="0"/>
          </a:xfrm>
          <a:prstGeom prst="line">
            <a:avLst/>
          </a:prstGeom>
          <a:ln w="1270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355080" y="1984248"/>
            <a:ext cx="10515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Order items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0" y="2002536"/>
            <a:ext cx="3137175" cy="3703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0119" y="1984248"/>
            <a:ext cx="5943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33333"/>
                </a:solidFill>
                <a:latin typeface="Times New Roman"/>
              </a:defRPr>
            </a:pPr>
            <a:r>
              <a:t>6320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574036"/>
            <a:ext cx="10515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Orders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80" y="2592324"/>
            <a:ext cx="1240971" cy="3703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93915" y="2574036"/>
            <a:ext cx="5943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33333"/>
                </a:solidFill>
                <a:latin typeface="Times New Roman"/>
              </a:defRPr>
            </a:pPr>
            <a:r>
              <a:t>2500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3163824"/>
            <a:ext cx="10515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Customers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98080" y="3182112"/>
            <a:ext cx="595666" cy="3703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48610" y="3163824"/>
            <a:ext cx="5943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33333"/>
                </a:solidFill>
                <a:latin typeface="Times New Roman"/>
              </a:defRPr>
            </a:pPr>
            <a:r>
              <a:t>1200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753612"/>
            <a:ext cx="10515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Products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98080" y="3771900"/>
            <a:ext cx="8438" cy="3703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61382" y="3753612"/>
            <a:ext cx="5943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33333"/>
                </a:solidFill>
                <a:latin typeface="Times New Roman"/>
              </a:defRPr>
            </a:pPr>
            <a:r>
              <a:t>17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4736592"/>
            <a:ext cx="10241280" cy="91440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400">
                <a:solidFill>
                  <a:srgbClr val="003366"/>
                </a:solidFill>
                <a:latin typeface="Times New Roman"/>
              </a:rPr>
              <a:t>Reproducibility: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100">
                <a:solidFill>
                  <a:srgbClr val="333333"/>
                </a:solidFill>
                <a:latin typeface="Times New Roman"/>
              </a:rPr>
              <a:t>- Docker build includes app, database seed scripts, and smoke checks.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100">
                <a:solidFill>
                  <a:srgbClr val="333333"/>
                </a:solidFill>
                <a:latin typeface="Times New Roman"/>
              </a:rPr>
              <a:t>- Local health test verified database connection and seeded counts.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Evaluation Track 1: 500 Natural-Language Questions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280160"/>
            <a:ext cx="10515600" cy="5486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425 questions the semantic layer should answer, 75 realistic e-commerce questions it should decline. The same corpus is executed two ways, and they answer different questions.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77240" y="1920240"/>
          <a:ext cx="10515599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77639"/>
                <a:gridCol w="3108960"/>
                <a:gridCol w="3429000"/>
              </a:tblGrid>
              <a:tr h="3886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Measure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Deterministic run</a:t>
                      </a:r>
                    </a:p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(no model in the loop)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End-to-end run</a:t>
                      </a:r>
                    </a:p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(live parser)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Parser produced an intent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not applicable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498/500 (99.6%)</a:t>
                      </a:r>
                    </a:p>
                  </a:txBody>
                  <a:tcPr marL="54864" marR="54864" marT="22860" marB="22860" anchor="ctr"/>
                </a:tc>
              </a:tr>
              <a:tr h="3886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Supported questions answered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425/425 (100.0%)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422/425 (99.3%)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Compiled SQL executed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425/425 (100.0%)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422/425 (99.3%)</a:t>
                      </a:r>
                    </a:p>
                  </a:txBody>
                  <a:tcPr marL="54864" marR="54864" marT="22860" marB="22860" anchor="ctr"/>
                </a:tc>
              </a:tr>
              <a:tr h="3886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Intent matched the annotation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not applicable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345/425 (81.2%)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Out-of-scope questions declined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75/75 (100.0%)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74/75 (98.7%)</a:t>
                      </a:r>
                    </a:p>
                  </a:txBody>
                  <a:tcPr marL="54864" marR="54864" marT="22860" marB="22860" anchor="ctr"/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777240" y="4389120"/>
            <a:ext cx="10515600" cy="105156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350">
                <a:solidFill>
                  <a:srgbClr val="003366"/>
                </a:solidFill>
                <a:latin typeface="Times New Roman"/>
              </a:rPr>
              <a:t>The left column has no model in it:</a:t>
            </a:r>
            <a:r>
              <a:rPr b="0" i="0" sz="1250">
                <a:solidFill>
                  <a:srgbClr val="333333"/>
                </a:solidFill>
                <a:latin typeface="Times New Roman"/>
              </a:rPr>
              <a:t> committed intent annotations are fed straight to the mapper, so it tests the compiler, not the pipeline. Only the right column is an end-to-end result, and it is the one to quote.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350">
                <a:solidFill>
                  <a:srgbClr val="003366"/>
                </a:solidFill>
                <a:latin typeface="Times New Roman"/>
              </a:rPr>
              <a:t>Declining is only meaningful next to answering:</a:t>
            </a:r>
            <a:r>
              <a:rPr b="0" i="0" sz="1250">
                <a:solidFill>
                  <a:srgbClr val="333333"/>
                </a:solidFill>
                <a:latin typeface="Times New Roman"/>
              </a:rPr>
              <a:t> a system that refuses everything scores 100% on the last row.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It answers the questions it was built for, and says no to the ones it was not — on purpose.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Where the Time Goes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280160"/>
            <a:ext cx="10515600" cy="41148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650">
                <a:solidFill>
                  <a:srgbClr val="003366"/>
                </a:solidFill>
                <a:latin typeface="Times New Roman"/>
              </a:rPr>
              <a:t>Median and 95th-percentile time per question, measured on the supported questions of the 500-question corpus.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77240" y="1810512"/>
          <a:ext cx="10515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286000"/>
                <a:gridCol w="2286000"/>
                <a:gridCol w="2286000"/>
              </a:tblGrid>
              <a:tr h="3962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Stage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Who runs it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Median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95th percentile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1. Intent extraction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language model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not measured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not measured</a:t>
                      </a:r>
                    </a:p>
                  </a:txBody>
                  <a:tcPr marL="64008" marR="64008" marT="27432" marB="27432" anchor="ctr"/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2. Semantic resolution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AEGIS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0.96 ms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1.46 ms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3. SQL compilation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AEGIS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0.13 ms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0.22 ms</a:t>
                      </a:r>
                    </a:p>
                  </a:txBody>
                  <a:tcPr marL="64008" marR="64008" marT="27432" marB="27432" anchor="ctr"/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4. Database execution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MySQL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2.89 ms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20.41 ms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Stages 2-4 combined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Everything after the model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not measured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not measured</a:t>
                      </a:r>
                    </a:p>
                  </a:txBody>
                  <a:tcPr marL="64008" marR="64008" marT="27432" marB="27432" anchor="ctr"/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777240" y="4343400"/>
            <a:ext cx="10515600" cy="12344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Almost all of the wall clock is the model reading the question. The part that decides which tables to join, writes the SQL, and runs it takes a few milliseconds — and the model has no influence over any of it.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The model figure is a property of the gateway used here, not of the architecture; the deterministic figures are the ones that would follow AEGIS to another deployment.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Evaluation Track 2: nopCommerce's Own 20 Admin Reports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261872"/>
            <a:ext cx="10515600" cy="5486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The report list is nopCommerce's own admin menu, and the comparison target is nopCommerce's own report code, read from source at commit 64bdf2ff. Neither was chosen by this project.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77240" y="1901952"/>
          <a:ext cx="1051560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011680"/>
                <a:gridCol w="5212080"/>
              </a:tblGrid>
              <a:tr h="41148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Check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Result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What it does and does not show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Report reached an answer</a:t>
                      </a:r>
                    </a:p>
                    <a:p>
                      <a:pPr algn="l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and compiled to SQL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20/20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Coverage of the report shape. Not correctness — several once passed this while silently wrong.</a:t>
                      </a:r>
                    </a:p>
                  </a:txBody>
                  <a:tcPr marL="54864" marR="54864" marT="22860" marB="22860" anchor="ctr"/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Result set matched the</a:t>
                      </a:r>
                    </a:p>
                    <a:p>
                      <a:pPr algn="l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platform's own query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15/20 (75.0%)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check that tests the claim: same database, same rows, same values.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777240" y="3310128"/>
            <a:ext cx="10515600" cy="402336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50" b="1">
                <a:solidFill>
                  <a:srgbClr val="003366"/>
                </a:solidFill>
                <a:latin typeface="Times New Roman"/>
              </a:defRPr>
            </a:pPr>
            <a:r>
              <a:t>The five reports that did not match, and why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777240" y="3803904"/>
          <a:ext cx="10515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6309360"/>
              </a:tblGrid>
              <a:tr h="3429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Difference</a:t>
                      </a:r>
                    </a:p>
                  </a:txBody>
                  <a:tcPr marL="54864" marR="54864" marT="18288" marB="18288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Reports affected</a:t>
                      </a:r>
                    </a:p>
                  </a:txBody>
                  <a:tcPr marL="54864" marR="54864" marT="18288" marB="18288" anchor="ctr">
                    <a:solidFill>
                      <a:srgbClr val="003366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Row count only — the platform's report</a:t>
                      </a:r>
                    </a:p>
                    <a:p>
                      <a:pPr algn="l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carries its own LIMIT (5, 15, 100)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Bestsellers by quantity, Bestsellers by amount, Latest orders, Best customers by order count</a:t>
                      </a:r>
                    </a:p>
                  </a:txBody>
                  <a:tcPr marL="54864" marR="54864" marT="18288" marB="18288" anchor="ctr"/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Label column — customer name where the</a:t>
                      </a:r>
                    </a:p>
                    <a:p>
                      <a:pPr algn="l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platform's query labels by email</a:t>
                      </a:r>
                    </a:p>
                  </a:txBody>
                  <a:tcPr marL="54864" marR="54864" marT="18288" marB="18288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Best customers by order total, Best customers by order count</a:t>
                      </a:r>
                    </a:p>
                  </a:txBody>
                  <a:tcPr marL="54864" marR="54864" marT="18288" marB="18288" anchor="ctr">
                    <a:solidFill>
                      <a:srgbClr val="F2F4F8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Wrong value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None. Every overlapping row agrees to the last decimal.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Where the numbers differ from nopCommerce's own reports, they do not — only how many rows and which label.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Beneficiaries and Expected Impact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22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822960" y="1417320"/>
          <a:ext cx="1056132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3657600"/>
                <a:gridCol w="4251960"/>
              </a:tblGrid>
              <a:tr h="83210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Beneficiary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Current difficulty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AEGIS impact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Business users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Need reports but need new report combinations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Ask natural-language analytics questions and receive controlled table or chart-ready results</a:t>
                      </a:r>
                    </a:p>
                  </a:txBody>
                  <a:tcPr marL="54864" marR="54864" marT="22860" marB="22860" anchor="ctr"/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Developers / BI teams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Repeated report requests consume implementation time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Reusable semantic definitions reduce one-off SQL writing for common analytics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Database administrators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Model-written SQL is hard to audit and restrict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Only approved metrics, dimensions, joins, and read-only SQL reach the database</a:t>
                      </a:r>
                    </a:p>
                  </a:txBody>
                  <a:tcPr marL="54864" marR="54864" marT="22860" marB="22860" anchor="ctr"/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Researchers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NL2SQL work often mixes language accuracy with execution authority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Shows an architecture where language understanding and SQL authority are separated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0120" y="5650992"/>
            <a:ext cx="10149840" cy="41148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350">
                <a:solidFill>
                  <a:srgbClr val="003366"/>
                </a:solidFill>
                <a:latin typeface="Times New Roman"/>
              </a:rPr>
              <a:t>Expected impact:</a:t>
            </a:r>
            <a:r>
              <a:rPr b="0" i="0" sz="1250">
                <a:solidFill>
                  <a:srgbClr val="333333"/>
                </a:solidFill>
                <a:latin typeface="Times New Roman"/>
              </a:rPr>
              <a:t> safer self-service analytics for repeated e-commerce reporting, without giving the LLM permission to author executable SQL.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Scope and Limitations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371600"/>
            <a:ext cx="10332720" cy="475488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600">
                <a:solidFill>
                  <a:srgbClr val="003366"/>
                </a:solidFill>
                <a:latin typeface="Times New Roman"/>
              </a:rPr>
              <a:t>Current evaluation scope: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300">
                <a:solidFill>
                  <a:srgbClr val="333333"/>
                </a:solidFill>
                <a:latin typeface="Times New Roman"/>
              </a:rPr>
              <a:t>- Implemented and evaluated for nopCommerce [7] analytics on MySQL; the semantic layer is deliberately finite and deployment-specific.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300">
                <a:solidFill>
                  <a:srgbClr val="003366"/>
                </a:solidFill>
                <a:latin typeface="Times New Roman"/>
              </a:rPr>
              <a:t>- Because the layer is per-deployment, cross-domain benchmarks such as Spider and BIRD do not apply:</a:t>
            </a:r>
            <a:r>
              <a:rPr b="0" i="0" sz="1300">
                <a:solidFill>
                  <a:srgbClr val="333333"/>
                </a:solidFill>
                <a:latin typeface="Times New Roman"/>
              </a:rPr>
              <a:t> they test generalisation to unseen schemas, which this architecture does not attempt.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600">
                <a:solidFill>
                  <a:srgbClr val="003366"/>
                </a:solidFill>
                <a:latin typeface="Times New Roman"/>
              </a:rPr>
              <a:t>Limitations I would raise before the committee does: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300">
                <a:solidFill>
                  <a:srgbClr val="333333"/>
                </a:solidFill>
                <a:latin typeface="Times New Roman"/>
              </a:rPr>
              <a:t>- Correctness at scale is measured on the 20 reports, not on all 425 supported questions. For those, I show that the SQL runs — not that every answer is right.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300">
                <a:solidFill>
                  <a:srgbClr val="333333"/>
                </a:solidFill>
                <a:latin typeface="Times New Roman"/>
              </a:rPr>
              <a:t>- The gateway used for intent extraction resolves a model alias per request, so the run is not pinned to a single model. Each result row records what actually served it.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300">
                <a:solidFill>
                  <a:srgbClr val="333333"/>
                </a:solidFill>
                <a:latin typeface="Times New Roman"/>
              </a:rPr>
              <a:t>- Five reports differ from the platform's own output in row count or label column. No report differs in value.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300">
                <a:solidFill>
                  <a:srgbClr val="333333"/>
                </a:solidFill>
                <a:latin typeface="Times New Roman"/>
              </a:rPr>
              <a:t>- Vague, unsupported language can still be misread during intent extraction.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300">
                <a:solidFill>
                  <a:srgbClr val="333333"/>
                </a:solidFill>
                <a:latin typeface="Times New Roman"/>
              </a:rPr>
              <a:t>- Other SQL dialects require compiler extensions.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600">
                <a:solidFill>
                  <a:srgbClr val="003366"/>
                </a:solidFill>
                <a:latin typeface="Times New Roman"/>
              </a:rPr>
              <a:t>Not a thesis limitation: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300">
                <a:solidFill>
                  <a:srgbClr val="333333"/>
                </a:solidFill>
                <a:latin typeface="Times New Roman"/>
              </a:rPr>
              <a:t>- Multi-turn conversation is out of scope because the work evaluates single-request analytics.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Conclusion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1508760"/>
            <a:ext cx="9966960" cy="44348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000">
                <a:solidFill>
                  <a:srgbClr val="003366"/>
                </a:solidFill>
                <a:latin typeface="Times New Roman"/>
              </a:rPr>
              <a:t>Conclusion: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- AEGIS keeps the LLM useful for language understanding while removing SQL-authoring authority from the model.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- The semantic layer makes analytics definitions explicit, auditable, and reusable for a target system.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- The compiler produces read-only SQL from approved definitions and blocks unsupported execution paths.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- The nopCommerce [7] prototype, the 500-question corpus, and the differential against the platform's own report logic show that the approach can be implemented and evaluated practically.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000">
                <a:solidFill>
                  <a:srgbClr val="003366"/>
                </a:solidFill>
                <a:latin typeface="Times New Roman"/>
              </a:rPr>
              <a:t>Main contribution: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- A constraint-based architecture for safe LLM-assisted natural language analytics.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Future Work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1645920"/>
            <a:ext cx="9784080" cy="3977639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100">
                <a:solidFill>
                  <a:srgbClr val="003366"/>
                </a:solidFill>
                <a:latin typeface="Times New Roman"/>
              </a:rPr>
              <a:t>Possible extensions: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Evaluate AEGIS on another e-commerce system by replacing only the semantic layer.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Add more oracle reports from real admin and business workflows.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Extend compiler modules for PostgreSQL and SQL Server.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Improve clarification behavior for ambiguous but answerable user questions.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Add richer chart recommendation while keeping SQL generation deterministic.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References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27632"/>
            <a:ext cx="10744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[1] Li, F., &amp; Jagadish, H. V. (2014). Constructing an interactive natural language interface for relational databases. PVLDB.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[2] Narechania, A., Srinivasan, A., &amp; Stasko, J. (2021). nl4dv: A toolkit for generating analytic specifications from natural language. IEEE TVCG.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[3] Deng, D., Wu, A., Qu, H., &amp; Wu, Y. (2023). DashBot: Insight-driven dashboard generation. IEEE TVCG.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[4] Scholak, T., Schucher, N., &amp; Bahdanau, D. (2021). PICARD: Parsing incrementally for constrained auto-regressive decoding. EMNLP.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[5] Shalaan, H. S. et al. (2025). G-SQL: A schema-aware and rule-guided approach for robust natural language to SQL translation. IEEE Access.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[6] Su, X. et al. (2026). A robust natural language text-to-SQL generation framework with dynamic strategies based on LLMs. Scientific Reports.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[7] nopSolutions. nopCommerce open-source e-commerce platform. GitHub repository.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Thank You &amp; Discussion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377440"/>
            <a:ext cx="10332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3366"/>
                </a:solidFill>
                <a:latin typeface="Times New Roman"/>
              </a:defRPr>
            </a:pPr>
            <a:r>
              <a:t>THANK YOU!</a:t>
            </a:r>
          </a:p>
          <a:p>
            <a:pPr algn="ctr">
              <a:defRPr sz="2000" i="1">
                <a:solidFill>
                  <a:srgbClr val="464646"/>
                </a:solidFill>
                <a:latin typeface="Times New Roman"/>
              </a:defRPr>
            </a:pPr>
            <a:r>
              <a:t>Questions &amp; Final Defense Discussion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Appendix A: The Semantic Layer Is a File I Wrote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243584"/>
            <a:ext cx="10515600" cy="384048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600">
                <a:solidFill>
                  <a:srgbClr val="003366"/>
                </a:solidFill>
                <a:latin typeface="Times New Roman"/>
              </a:rPr>
              <a:t>aegis/server/semantic_layer.py — two of the objects the model is allowed to name: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737360"/>
            <a:ext cx="5120640" cy="2286000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Metric(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id="avg_order_value",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label="Average Order Value",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description="Average revenue per order",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sql_expr="AVG(COALESCE(o.OrderTotal, 0))",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binding_table="Order",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required_joins=[],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default_visual="kpi_card",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time_anchor="o.CreatedOnUtc",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44768" y="1737360"/>
            <a:ext cx="5120640" cy="2286000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Dimension(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id="order_status",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label="Order Status",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sql_expr="CASE o.OrderStatusId "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         "WHEN 10 THEN 'Pending' "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         "WHEN 20 THEN 'Processing' "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         "WHEN 30 THEN 'Complete' "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         "WHEN 40 THEN 'Cancelled' "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         "ELSE 'Unknown' END",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binding_table="Order",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datatype="string",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160520"/>
            <a:ext cx="10515600" cy="82296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600">
                <a:solidFill>
                  <a:srgbClr val="003366"/>
                </a:solidFill>
                <a:latin typeface="Times New Roman"/>
              </a:rPr>
              <a:t>The model may return the string "avg_order_value". It cannot return the expression, the table, or the join. Deploying AEGIS on another system means writing this file again — and nothing else.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This list is the whole vocabulary. Anything not written here cannot be asked for.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Appendix B: The Compiler Fills Blanks, It Does Not Write SQL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243584"/>
            <a:ext cx="10515600" cy="384048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600">
                <a:solidFill>
                  <a:srgbClr val="003366"/>
                </a:solidFill>
                <a:latin typeface="Times New Roman"/>
              </a:rPr>
              <a:t>aegis/server/compiler.py — the function that builds the SELECT clause: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737360"/>
            <a:ext cx="10515600" cy="2743200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t>def _assemble_select(self, metric, dimension, extra_metrics=None, plan=None) -&gt; str: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t>    measures = [f"{metric.sql_expr} AS value"]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t>    for extra in extra_metrics or []: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t>        measures.append(f"{extra.sql_expr} AS `{extra.id}`")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t>    projected = ", ".join(measures)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t>    if dimension: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t>        dim_expr = self._dimension_select_expr(dimension, plan)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t>        return f"SELECT {dim_expr} AS label, {projected}"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t>    return f"SELECT {projected}"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t># Every interpolated value is an attribute of a semantic-layer object.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t># No argument to this function carries user text.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17720"/>
            <a:ext cx="10515600" cy="86868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350">
                <a:solidFill>
                  <a:srgbClr val="003366"/>
                </a:solidFill>
                <a:latin typeface="Times New Roman"/>
              </a:rPr>
              <a:t>Literal values take a separate route:</a:t>
            </a:r>
            <a:r>
              <a:rPr b="0" i="0" sz="1250">
                <a:solidFill>
                  <a:srgbClr val="333333"/>
                </a:solidFill>
                <a:latin typeface="Times New Roman"/>
              </a:rPr>
              <a:t> a filter compiles to a placeholder and a bound parameter (p.StockQuantity &lt; @p0 with {p0: 10}), so a value never becomes part of the SQL text. After assembly, a forbidden-pattern scan rejects any non-SELECT construct before execution.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Appendix C: Why Templates Instead of Constrained Decoding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30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77240" y="1371600"/>
          <a:ext cx="105156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069080"/>
                <a:gridCol w="4069080"/>
              </a:tblGrid>
              <a:tr h="7086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PICARD [4] — constrained decoding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AEGIS — template compilation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What the model emits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SQL text, token by token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 typed Intent Object with no SQL field</a:t>
                      </a:r>
                    </a:p>
                  </a:txBody>
                  <a:tcPr marL="64008" marR="64008" marT="27432" marB="27432" anchor="ctr"/>
                </a:tc>
              </a:tr>
              <a:tr h="7086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What is checked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Each token against a parser, during generation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Each id against the semantic layer, before compilation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What we give up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Nothing — any valid SQL stays reachable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Flexibility: a question outside the semantic layer cannot be answered at all</a:t>
                      </a:r>
                    </a:p>
                  </a:txBody>
                  <a:tcPr marL="64008" marR="64008" marT="27432" marB="27432" anchor="ctr"/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77240" y="4343400"/>
            <a:ext cx="10515600" cy="12344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Constrained decoding guarantees the SQL parses. It does not guarantee the SQL is the query the administrator would have approved — a syntactically perfect query can still join the wrong grain, drop a soft-delete filter, or read a column nobody meant to expose.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250">
                <a:solidFill>
                  <a:srgbClr val="003366"/>
                </a:solidFill>
                <a:latin typeface="Times New Roman"/>
              </a:rPr>
              <a:t>The trade is real and worth stating plainly:</a:t>
            </a:r>
            <a:r>
              <a:rPr b="0" i="0" sz="1150">
                <a:solidFill>
                  <a:srgbClr val="333333"/>
                </a:solidFill>
                <a:latin typeface="Times New Roman"/>
              </a:rPr>
              <a:t> AEGIS buys auditability by giving up open-ended coverage. That is why 75 of the 500 evaluation questions are ones it must decline.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F65C7BDA-76C9-4226-9B1A-FE228012FD2F}" vid="{A434E4A6-0EAA-4E37-B99D-C00F0197FDC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FY Presentation Template</Template>
  <TotalTime>511</TotalTime>
  <Words>1129</Words>
  <Application>Microsoft Office PowerPoint</Application>
  <PresentationFormat>Widescreen</PresentationFormat>
  <Paragraphs>253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30" baseType="lpstr">
      <vt:lpstr>Agrandir Narrow Bold</vt:lpstr>
      <vt:lpstr>Aileron Bold</vt:lpstr>
      <vt:lpstr>Aileron Ultra-Bold</vt:lpstr>
      <vt:lpstr>Akzidenz-Grotesk Bold</vt:lpstr>
      <vt:lpstr>Arial</vt:lpstr>
      <vt:lpstr>Calibri</vt:lpstr>
      <vt:lpstr>Calibri Light</vt:lpstr>
      <vt:lpstr>Times New Roman</vt:lpstr>
      <vt:lpstr>Wingdings</vt:lpstr>
      <vt:lpstr>Office Theme</vt:lpstr>
      <vt:lpstr>        A Geo-Location-Based Platform for Connecting Users with Skilled Professionals Using Mobile Application</vt:lpstr>
      <vt:lpstr>A Geo-Location-Based Platform for Connecting Users with Skilled Professionals Using Mobile Application</vt:lpstr>
      <vt:lpstr>Outline</vt:lpstr>
      <vt:lpstr>Introduction </vt:lpstr>
      <vt:lpstr>Problem Statement</vt:lpstr>
      <vt:lpstr>Feasibility Study</vt:lpstr>
      <vt:lpstr>Existing Work</vt:lpstr>
      <vt:lpstr> Objectives</vt:lpstr>
      <vt:lpstr> Proposed Methodology</vt:lpstr>
      <vt:lpstr> Key Features</vt:lpstr>
      <vt:lpstr>  Activity Diagram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  Tools &amp; Technologies</vt:lpstr>
      <vt:lpstr>    Expected Outcomes</vt:lpstr>
      <vt:lpstr>     References</vt:lpstr>
      <vt:lpstr>  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AEGIS: A Constraint-Based Architecture for Safe LLM-Assisted Natural Language Analytics</dc:title>
  <dc:creator>Md. Riaz</dc:creator>
  <cp:lastModifiedBy>HP</cp:lastModifiedBy>
  <cp:revision>25</cp:revision>
  <dcterms:created xsi:type="dcterms:W3CDTF">2025-07-15T06:51:59Z</dcterms:created>
  <dcterms:modified xsi:type="dcterms:W3CDTF">2026-01-05T09:27:32Z</dcterms:modified>
  <dc:subject>Final Defense Presentation</dc:subject>
</cp:coreProperties>
</file>