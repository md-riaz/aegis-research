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শান্ত থাকুন, তাড়াহুড়ো করবেন না। শুরুর বাক্যটা:</a:t>
            </a:r>
          </a:p>
          <a:p>
            <a:r>
              <a:t>"Good morning, respected chairperson and committee members. I am presenting the final defense of AEGIS — a constraint-based architecture for safe LLM-assisted natural language analytics."</a:t>
            </a:r>
          </a:p>
          <a:p/>
          <a:p>
            <a:r>
              <a:t>নাম আর সুপারভাইজারের নাম পড়ে শোনাবেন না, স্লাইডেই আছে। সরাসরি আউটলাইনে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আউটলাইনটা পড়ে শোনাবেন না — এক নজর বুলিয়ে নিন।</a:t>
            </a:r>
          </a:p>
          <a:p>
            <a:r>
              <a:t>বলুন: "আজ তিনটা জিনিস দেখাব — সমস্যাটা কী, আমার আর্কিটেকচার কীভাবে সেটা সরায়,</a:t>
            </a:r>
          </a:p>
          <a:p>
            <a:r>
              <a:t>আর আমি কীভাবে মেপে দেখিয়েছি যে কাজ করে।"</a:t>
            </a:r>
          </a:p>
          <a:p>
            <a:r>
              <a:t>তারপর সরাসরি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মূল সুরটা এখানেই ঠিক করবেন।</a:t>
            </a:r>
          </a:p>
          <a:p>
            <a:r>
              <a:t>বলুন: "ই-কমার্স সিস্টেমে ডেটা আছে, কিন্তু ড্যাশবোর্ড শুধু আগে থেকে বানানো প্রশ্নের</a:t>
            </a:r>
          </a:p>
          <a:p>
            <a:r>
              <a:t>উত্তর দেয়। নতুন কম্বিনেশন লাগলেই ডেভেলপারের কাছে যেতে হয়।"</a:t>
            </a:r>
          </a:p>
          <a:p>
            <a:r>
              <a:t>তারপর টানটা টানুন: "LLM এই দেরিটা কমাতে পারে — কিন্তু সে যদি নিজে SQL লেখে,</a:t>
            </a:r>
          </a:p>
          <a:p>
            <a:r>
              <a:t>তাহলে ডেটাবেসে কোড লেখার অধিকার তাকে দিয়ে দেওয়া হলো।"</a:t>
            </a:r>
          </a:p>
          <a:p>
            <a:r>
              <a:t>শেষ করুন এক বাক্যে: "AEGIS-এ মডেল শুধু বোঝে, চালায়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ঝুঁকি — নাম ধরে বলুন, পড়বেন না।</a:t>
            </a:r>
          </a:p>
          <a:p>
            <a:r>
              <a:t>১. Injection — প্রম্পট ঘুরিয়ে DROP বা DELETE বের করে আনা যায়।</a:t>
            </a:r>
          </a:p>
          <a:p>
            <a:r>
              <a:t>২. Hallucination — না-থাকা টেবিল, না-থাকা join, না-থাকা কলাম।</a:t>
            </a:r>
          </a:p>
          <a:p>
            <a:r>
              <a:t>৩. Access control — generated query অ্যাপের row-level নিয়ম জানেই না।</a:t>
            </a:r>
          </a:p>
          <a:p>
            <a:r>
              <a:t>জোর দিন: "তিনটাই এক জায়গা থেকে আসে — মডেলকে SQL লেখার ক্ষমতা দেওয়া হয়েছে।</a:t>
            </a:r>
          </a:p>
          <a:p>
            <a:r>
              <a:t>তাই আমার সমাধান ওই ক্ষমতাটাই কেড়ে নেয়।"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পুরো থিসিসের সবচেয়ে সহজ স্লাইড — ধীরে বলুন।</a:t>
            </a:r>
          </a:p>
          <a:p>
            <a:r>
              <a:t>রেস্তোরাঁর উপমাটা বলুন: "ওয়েটার অর্ডার লেখে — কোন খাবার, কয় প্লেট।</a:t>
            </a:r>
          </a:p>
          <a:p>
            <a:r>
              <a:t>ওয়েটার কখনো রান্নাঘরে ঢুকে রান্না করে না।"</a:t>
            </a:r>
          </a:p>
          <a:p>
            <a:r>
              <a:t>তারপর টেবিলটা দেখিয়ে: ওয়েটার = মডেল, অর্ডার ফর্ম = Intent Object,</a:t>
            </a:r>
          </a:p>
          <a:p>
            <a:r>
              <a:t>রান্নাঘর = compiler।</a:t>
            </a:r>
          </a:p>
          <a:p>
            <a:r>
              <a:t>শেষ বাক্য: "মডেল অনুমোদিত তালিকা থেকে নাম বাছে। query সে লেখে না।"</a:t>
            </a:r>
          </a:p>
          <a:p>
            <a:r>
              <a:t>কমিটির কেউ টেকনিক্যাল না হলে তিনি এই স্লাইডটাই মনে রাখবেন।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পাঁচটা সারি এক এক করে পড়বেন না — "Gap for AEGIS" কলামটাই আসল।</a:t>
            </a:r>
          </a:p>
          <a:p>
            <a:r>
              <a:t>এগুলো প্রতিটা গবেষণা-ঘরানার একটা করে প্রতিনিধি; পূর্ণ পর্যালোচনা থিসিসের</a:t>
            </a:r>
          </a:p>
          <a:p>
            <a:r>
              <a:t>Chapter 2-তে (১১টা সিস্টেম, ১৬টা রেফারেন্স)।</a:t>
            </a:r>
          </a:p>
          <a:p>
            <a:r>
              <a:t>বলুন: "এই কাজগুলো SQL তৈরির নির্ভুলতা বাড়ায়। কিন্তু প্রতিটাতেই SQL-টা</a:t>
            </a:r>
          </a:p>
          <a:p>
            <a:r>
              <a:t>শেষ পর্যন্ত মডেলই লেখে।"</a:t>
            </a:r>
          </a:p>
          <a:p>
            <a:r>
              <a:t>PICARD আলাদা করে বলুন: "এটা benchmark নয়, constrained decoding —</a:t>
            </a:r>
          </a:p>
          <a:p>
            <a:r>
              <a:t>অবৈধ syntax আটকায়, কিন্তু মডেল তবু SQL-ই তৈরি করে, শুধু বৈধ SQL।"</a:t>
            </a:r>
          </a:p>
          <a:p>
            <a:r>
              <a:t>পরের স্লাইডে সেতু: "এই ফাঁকটাই AEGIS পূরণ করে — মডেলকে SQL তৈরির</a:t>
            </a:r>
          </a:p>
          <a:p>
            <a:r>
              <a:t>জায়গাতেই রাখে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সংক্ষেপে, তিন বাক্য।</a:t>
            </a:r>
          </a:p>
          <a:p>
            <a:r>
              <a:t>"অনেকে SQL-এর নির্ভুলতা বাড়িয়েছেন, কিন্তু লেখার অধিকার মডেলের কাছেই।"</a:t>
            </a:r>
          </a:p>
          <a:p>
            <a:r>
              <a:t>"Syntax ঠিক মানেই নিরাপদ বা অর্থে সঠিক নয়।"</a:t>
            </a:r>
          </a:p>
          <a:p>
            <a:r>
              <a:t>"যা দরকার — ভাষা গ্রহণ করা হবে, কিন্তু executable SQL আসবে শুধু একটা স্পষ্ট</a:t>
            </a:r>
          </a:p>
          <a:p>
            <a:r>
              <a:t>semantic layer আর deterministic compiler থেকে। সেটাই এই কাজ।"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সারি, প্রতিটায় এক বাক্য।</a:t>
            </a:r>
          </a:p>
          <a:p>
            <a:r>
              <a:t>ঝুঁকি কমানো — বোঝা আর চালানো আলাদা করে।</a:t>
            </a:r>
          </a:p>
          <a:p>
            <a:r>
              <a:t>Auditable করা — সংজ্ঞাগুলো ফাইলে লেখা, কোডে লুকানো নয়।</a:t>
            </a:r>
          </a:p>
          <a:p>
            <a:r>
              <a:t>বাস্তব রিপোর্ট — nopCommerce-এ চালিয়ে দেখানো।</a:t>
            </a:r>
          </a:p>
          <a:p>
            <a:r>
              <a:t>স্বাধীন reference রিপোর্টে মাপা — এটায় জোর দিন, কারণ পরের অংশে এটাই ফিরে আসবে।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 — চক্রটা দেখিয়ে বলুন।</a:t>
            </a:r>
          </a:p>
          <a:p>
            <a:r>
              <a:t>"সমস্যা চিহ্নিত করা, আর্টিফ্যাক্ট ডিজাইন, প্রদর্শন, মূল্যায়ন — আর মূল্যায়ন</a:t>
            </a:r>
          </a:p>
          <a:p>
            <a:r>
              <a:t>থেকে শেখা জিনিস ডিজাইনে ফিরে গেছে।"</a:t>
            </a:r>
          </a:p>
          <a:p>
            <a:r>
              <a:t>একটা উদাহরণ দিন: "যেমন রো-বাই-রো মিলিয়ে দেখায় ধরা পড়েছিল order-লেভেলের যোগফল</a:t>
            </a:r>
          </a:p>
          <a:p>
            <a:r>
              <a:t>line item-এ ছড়িয়ে যাচ্ছে — সেটা compiler-এ ফিরে গিয়ে ঠিক হয়েছে।"</a:t>
            </a:r>
          </a:p>
          <a:p>
            <a:r>
              <a:t>এতে চক্রটা কাগুজে না থেকে বাস্তব শোনায়।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সাতটা ধাপ — একটা একটা করে পড়বেন না।</a:t>
            </a:r>
          </a:p>
          <a:p>
            <a:r>
              <a:t>যেটা বলবেন: "সাতটা ধাপের মধ্যে মডেল আছে শুধু প্রথমটায়। বাকি ছয়টা সাধারণ</a:t>
            </a:r>
          </a:p>
          <a:p>
            <a:r>
              <a:t>deterministic কোড — LLM আসার আগেও যা লেখা যেত।"</a:t>
            </a:r>
          </a:p>
          <a:p>
            <a:r>
              <a:t>হাত দিয়ে ১ আর ২-এর মাঝের সীমাটা দেখান: "এই লাইনটা পার হয় শুধু একটা ছোট</a:t>
            </a:r>
          </a:p>
          <a:p>
            <a:r>
              <a:t>JSON — কোনো query না, কোনো টেবিলের নাম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 আপনার লেখা ফাইল — সেটাই জোর দেওয়ার জিনিস।</a:t>
            </a:r>
          </a:p>
          <a:p>
            <a:r>
              <a:t>বলুন: "metric, dimension, join policy, output contract — সবই আমি লিখেছি,</a:t>
            </a:r>
          </a:p>
          <a:p>
            <a:r>
              <a:t>মডেল নয়। 'revenue' মানে কী, সেই সংজ্ঞা একটাই, একটা ফাইলে।"</a:t>
            </a:r>
          </a:p>
          <a:p>
            <a:r>
              <a:t>যোগ করুন: "এখানে না থাকলে প্রশ্নটা করাই যাবে না — আর এটাই সুবিধা,</a:t>
            </a:r>
          </a:p>
          <a:p>
            <a:r>
              <a:t>কারণ এর ফলেই 'না' বলা বাগ না হয়ে সঠিক আচরণ হয়।"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তিনটা বাক্সে বাঁ থেকে ডানে যান।</a:t>
            </a:r>
          </a:p>
          <a:p>
            <a:r>
              <a:t>"ইউজার প্রশ্ন করল। প্রম্পটে আমরা অনুমোদিত শব্দভাণ্ডার দিলাম — সেটাও</a:t>
            </a:r>
          </a:p>
          <a:p>
            <a:r>
              <a:t>runtime-এ semantic layer থেকে বানানো। মডেল একটা JSON ফেরত দিল।"</a:t>
            </a:r>
          </a:p>
          <a:p>
            <a:r>
              <a:t>নিচের টেবিলটাই মূল: "মডেল পারে — তালিকা থেকে id বাছতে। পারে না — SQL,</a:t>
            </a:r>
          </a:p>
          <a:p>
            <a:r>
              <a:t>join, টেবিলের নাম, কোনো লেখার কাজ।"</a:t>
            </a:r>
          </a:p>
          <a:p>
            <a:r>
              <a:t>শেষ বাক্য: "সে টেবিলের নামই দেখে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কোডটা দেখান, আর শেষ কমেন্ট লাইনে আঙুল রাখুন।</a:t>
            </a:r>
          </a:p>
          <a:p>
            <a:r>
              <a:t>বলুন: "এই টাইপে কোনো sql ফিল্ড নেই। শুধু যে আমরা লিখিনি তা নয় — টাইপটা</a:t>
            </a:r>
          </a:p>
          <a:p>
            <a:r>
              <a:t>ওটা প্রকাশই করতে পারে না।"</a:t>
            </a:r>
          </a:p>
          <a:p>
            <a:r>
              <a:t>confidence ফিল্ডটা দেখিয়ে: "ডিফল্ট LOW। অনুপস্থিতি মানে আত্মবিশ্বাস নয়।"</a:t>
            </a:r>
          </a:p>
          <a:p>
            <a:r>
              <a:t>নিচের টেবিল: "intent_class ঠিক করে কোন compiler path যাবে — এগারোটা</a:t>
            </a:r>
          </a:p>
          <a:p>
            <a:r>
              <a:t>নির্দিষ্ট আকৃতি, প্রশ্ন অনুযায়ী বানানো নয়।"</a:t>
            </a:r>
          </a:p>
          <a:p>
            <a:r>
              <a:t>শেষে: "semantic layer যে id চেনে না, সেটা এখানেই বাতিল — কোনো SQL তৈরির আগেই।"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টেবিলের 'SQL expression' কলামটাই দেখার জিনিস।</a:t>
            </a:r>
          </a:p>
          <a:p>
            <a:r>
              <a:t>বলুন: "মডেল বলেছে avg_order_value। ওই নামের পেছনের সংজ্ঞাটা —</a:t>
            </a:r>
          </a:p>
          <a:p>
            <a:r>
              <a:t>AVG(COALESCE(o.OrderTotal, 0)) — প্রশাসক লিখেছেন, মডেল নয়।"</a:t>
            </a:r>
          </a:p>
          <a:p>
            <a:r>
              <a:t>তৃতীয় সারিটা আলাদা করে দেখান: "o.Deleted = 0 কেউ চায়নি। এটা সংজ্ঞার</a:t>
            </a:r>
          </a:p>
          <a:p>
            <a:r>
              <a:t>অবিচ্ছেদ্য অংশ, তাই সবসময় বসে।"</a:t>
            </a:r>
          </a:p>
          <a:p>
            <a:r>
              <a:t>শেষে পার্থক্যটা বলুন: "Intent Object হলো মডেল যা বলেছে। Analysis Plan হলো</a:t>
            </a:r>
          </a:p>
          <a:p>
            <a:r>
              <a:t>AEGIS যা বাঁধতে পেরেছে।"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বাঁ দিকের টেমপ্লেটে আঙুল রেখে শুরু করুন।</a:t>
            </a:r>
          </a:p>
          <a:p>
            <a:r>
              <a:t>"query-র আকৃতি আগে থেকে ঠিক করা। শুধু ফাঁকা জায়গাগুলো পূরণ হয়।"</a:t>
            </a:r>
          </a:p>
          <a:p>
            <a:r>
              <a:t>মাঝখানে: "কী দিয়ে পূরণ হয় — semantic layer-এর অনুমোদিত expression দিয়ে।"</a:t>
            </a:r>
          </a:p>
          <a:p>
            <a:r>
              <a:t>ডানে: "ফল — একটা read-only SELECT।"</a:t>
            </a:r>
          </a:p>
          <a:p>
            <a:r>
              <a:t>সবচেয়ে জরুরি বাক্যটা শেষে: "ইউজারের লেখা কোনো টেক্সট কখনো query-র</a:t>
            </a:r>
          </a:p>
          <a:p>
            <a:r>
              <a:t>কাঠামোর সাথে জোড়া লাগে না।" এটাই নিরাপত্তার যুক্তি।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এই স্লাইডটা সন্দেহ দূর করার জন্য — ধীরে যান।</a:t>
            </a:r>
          </a:p>
          <a:p>
            <a:r>
              <a:t>"কেউ ভাবতে পারেন সহজ প্রশ্নেই এটা কাজ করে। তাই এমন একটা নিলাম যেটায়</a:t>
            </a:r>
          </a:p>
          <a:p>
            <a:r>
              <a:t>চারটা টেবিল জোড়া লাগে।"</a:t>
            </a:r>
          </a:p>
          <a:p>
            <a:r>
              <a:t>মডেলের JSON দেখান: "মডেল দিয়েছে শুধু দুটো নাম। কোনো join বলেনি।"</a:t>
            </a:r>
          </a:p>
          <a:p>
            <a:r>
              <a:t>join path দেখিয়ে: "পথটা BFS বের করেছে আমার ঘোষিত join graph থেকে।"</a:t>
            </a:r>
          </a:p>
          <a:p>
            <a:r>
              <a:t>নিচের দুই সারি ভুলবেন না — এ দুটোই সবচেয়ে বেশি মনে থাকবে:</a:t>
            </a:r>
          </a:p>
          <a:p>
            <a:r>
              <a:t>"stock less than 10" — সংখ্যাটা bound parameter, query-তে পেস্ট হয়নি।</a:t>
            </a:r>
          </a:p>
          <a:p>
            <a:r>
              <a:t>"revenue from Google Ads" — না বলেছে, কারণ traffic_source মডেল করা নেই।</a:t>
            </a:r>
          </a:p>
          <a:p>
            <a:r>
              <a:t>কাছাকাছি কিছু ধরে নেয়নি।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সংক্ষেপে — এটা হালকা স্লাইড।</a:t>
            </a:r>
          </a:p>
          <a:p>
            <a:r>
              <a:t>"আউটপুটের ধরন ঠিক হয় result-এর আকৃতি থেকে, মডেলের বর্ণনা থেকে নয়।</a:t>
            </a:r>
          </a:p>
          <a:p>
            <a:r>
              <a:t>একটা সংখ্যা হলে KPI, সারি হলে টেবিল, সময় হলে চার্ট।"</a:t>
            </a:r>
          </a:p>
          <a:p>
            <a:r>
              <a:t>শেষ বাক্যে মূল্য যোগ করুন: "আর প্রোটোটাইপ শুধু উত্তর দেখায় না —</a:t>
            </a:r>
          </a:p>
          <a:p>
            <a:r>
              <a:t>কোন পথে উত্তরটা এলো সেটাও দেখায়।"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স্ট্যাকটা দ্রুত বলুন, সংখ্যাগুলোয় থামুন।</a:t>
            </a:r>
          </a:p>
          <a:p>
            <a:r>
              <a:t>"FastAPI, MySQL, OpenAI-compatible API, আর semantic-layer ফাইল।"</a:t>
            </a:r>
          </a:p>
          <a:p>
            <a:r>
              <a:t>সিড ডেটার সংখ্যাগুলো নিজে থেকে বলুন — ২,৫০০ অর্ডার, ৬,৩২০ order item,</a:t>
            </a:r>
          </a:p>
          <a:p>
            <a:r>
              <a:t>১,২০০ কাস্টমার, ১৭টা প্রোডাক্ট।</a:t>
            </a:r>
          </a:p>
          <a:p>
            <a:r>
              <a:t>১৭ সংখ্যাটা নিজেই তুলে ধরুন: "ক্যাটালগটা ছোট — এটা limitations-এ ফিরে আসবে।"</a:t>
            </a:r>
          </a:p>
          <a:p>
            <a:r>
              <a:t>আগে বললে পরে দুর্বলতা মনে হয় না।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শুরুতেই বাঁ কলামের সীমা বলুন — ধরা পড়ার অপেক্ষা করবেন না।</a:t>
            </a:r>
          </a:p>
          <a:p>
            <a:r>
              <a:t>"বাঁ কলামে কোনো মডেল নেই। committed intent annotation সরাসরি mapper-এ</a:t>
            </a:r>
          </a:p>
          <a:p>
            <a:r>
              <a:t>দেওয়া। ওটা end-to-end ফল নয়, ওটা compiler-এর regression gate।</a:t>
            </a:r>
          </a:p>
          <a:p>
            <a:r>
              <a:t>ডান কলামটাই আসল সিস্টেম।"</a:t>
            </a:r>
          </a:p>
          <a:p>
            <a:r>
              <a:t>তারপর দুটো সংখ্যা একসাথে বলুন, কখনো আলাদা নয়:</a:t>
            </a:r>
          </a:p>
          <a:p>
            <a:r>
              <a:t>"৪২৩/৪২৫ উত্তর দিয়েছে, আর ৭২/৭৫ না বলেছে।"</a:t>
            </a:r>
          </a:p>
          <a:p>
            <a:r>
              <a:t>কেন একসাথে: "সব প্রশ্নে না বললে রিজেকশনে ১০০% পাওয়া যায়।</a:t>
            </a:r>
          </a:p>
          <a:p>
            <a:r>
              <a:t>৯৯.৫% উত্তরের হারটাই ৯৬%-কে অর্থ দেয়।"</a:t>
            </a:r>
          </a:p>
          <a:p>
            <a:r>
              <a:t>৭৩.৬% নিজে থেকে ব্যাখ্যা করুন: "এটা সবচেয়ে কড়া মাপ — সাতটা slot হুবহু</a:t>
            </a:r>
          </a:p>
          <a:p>
            <a:r>
              <a:t>মিলতে হবে। শব্দ মেলানোটা আংশিক-মিল (fuzzy), তাই আচরণে ৯৯.৫%।"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এক বাক্যে সারসংক্ষেপ, তারপর থামুন।</a:t>
            </a:r>
          </a:p>
          <a:p>
            <a:r>
              <a:t>"পুরো সময়টাই মডেলের বাক্য পড়া। আমার বানানো সবকিছু ৩.৬ মিলিসেকেন্ড।"</a:t>
            </a:r>
          </a:p>
          <a:p>
            <a:r>
              <a:t>৯ সেকেন্ড শুনে কেউ যেন ধীর না ভাবেন — সেটা আগেই সামলান:</a:t>
            </a:r>
          </a:p>
          <a:p>
            <a:r>
              <a:t>"ওই ৯ সেকেন্ড gateway-র সম্পত্তি, আর্কিটেকচারের নয়। প্রোভাইডার বদলালে</a:t>
            </a:r>
          </a:p>
          <a:p>
            <a:r>
              <a:t>বদলাবে। ৩.৬ ms আর্কিটেকচারের — যেকোনো deployment-এ যাবে।"</a:t>
            </a:r>
          </a:p>
          <a:p>
            <a:r>
              <a:t>আর ব্যবহারিক ফলটা বলুন: "সেভ করা widget refresh করলে মডেল লাগে না,</a:t>
            </a:r>
          </a:p>
          <a:p>
            <a:r>
              <a:t>তাই ওটা কার্যত সাথে সাথে।"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এটাই আপনার সবচেয়ে শক্ত স্লাইড — সময় দিন।</a:t>
            </a:r>
          </a:p>
          <a:p>
            <a:r>
              <a:t>আগে পরীক্ষার ন্যায্যতা প্রতিষ্ঠা করুন: "একই মডেল, একই gateway, একই ৫০০</a:t>
            </a:r>
          </a:p>
          <a:p>
            <a:r>
              <a:t>প্রশ্ন, একই ডেটাবেস। পার্থক্য একটাই — query কে লেখে।"</a:t>
            </a:r>
          </a:p>
          <a:p>
            <a:r>
              <a:t>তারপর মাঝের সারিতে আঙুল রাখুন: "৪% বনাম ৩৩%। যে প্রশ্নের উত্তর ডেটায় নেই,</a:t>
            </a:r>
          </a:p>
          <a:p>
            <a:r>
              <a:t>অনিয়ন্ত্রিত মডেল প্রতি তিনবারে একবার তবু উত্তর দিয়েছে।"</a:t>
            </a:r>
          </a:p>
          <a:p>
            <a:r>
              <a:t>নিচের একটা উদাহরণ পড়ুন — forecast-এরটা সবচেয়ে ভালো: "অতীতের মাস যোগ</a:t>
            </a:r>
          </a:p>
          <a:p>
            <a:r>
              <a:t>করেছে। চলে, চার্ট হয়, কিন্তু forecast করে না।"</a:t>
            </a:r>
          </a:p>
          <a:p>
            <a:r>
              <a:t>শেষ বাক্যে দুটো শব্দে জোর দিন: "এটা আর্কিটেকচার কমায় না — সরিয়ে দেয়।"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কেন এটা ট্র্যাক ১-এর চেয়ে শক্ত — সেটাই প্রথমে।</a:t>
            </a:r>
          </a:p>
          <a:p>
            <a:r>
              <a:t>"৫০০ প্রশ্ন আমি লিখেছি। এই ২০টা আমি লিখিনি। তালিকাটা nopCommerce-এর নিজের</a:t>
            </a:r>
          </a:p>
          <a:p>
            <a:r>
              <a:t>admin menu, আর মিলিয়ে দেখার লক্ষ্য ওদের নিজের কোড, source থেকে পড়া।"</a:t>
            </a:r>
          </a:p>
          <a:p>
            <a:r>
              <a:t>দুটো চেকের পার্থক্য নিজে থেকে বলুন: "২০/২০ মানে শুধু SQL বেরিয়েছে —</a:t>
            </a:r>
          </a:p>
          <a:p>
            <a:r>
              <a:t>ওটা কোনো টেস্ট নয়। এই বিশটার কয়েকটা এক সময় ওই চেক পাস করেও ভুল ছিল।</a:t>
            </a:r>
          </a:p>
          <a:p>
            <a:r>
              <a:t>১৫/২০-টাই দাবি পরীক্ষা করে।"</a:t>
            </a:r>
          </a:p>
          <a:p>
            <a:r>
              <a:t>৭৫% নিয়ে প্রশ্নের অপেক্ষা করবেন না, আগেই বলুন: "পাঁচটা মেলেনি, কিন্তু</a:t>
            </a:r>
          </a:p>
          <a:p>
            <a:r>
              <a:t>কোনোটাই ভিন্ন মান দেয়নি। চারটার সারিসংখ্যা আলাদা — ওদের রিপোর্টে নিজস্ব</a:t>
            </a:r>
          </a:p>
          <a:p>
            <a:r>
              <a:t>limit বসানো; দুটোর লেবেল কলাম আলাদা — নাম বনাম ইমেইল।"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সারি দ্রুত, DBA-রটায় থামুন।</a:t>
            </a:r>
          </a:p>
          <a:p>
            <a:r>
              <a:t>"ব্যবসার লোক নিজেই প্রশ্ন করতে পারেন। ডেভেলপারের বারবার রিপোর্ট বানানো কমে।"</a:t>
            </a:r>
          </a:p>
          <a:p>
            <a:r>
              <a:t>DBA: "model-লেখা SQL audit করা কঠিন। এখানে শুধু অনুমোদিত metric, dimension</a:t>
            </a:r>
          </a:p>
          <a:p>
            <a:r>
              <a:t>আর join চলে — সবই version control-এ।"</a:t>
            </a:r>
          </a:p>
          <a:p>
            <a:r>
              <a:t>গবেষকদের জন্য: "ভাষা বোঝা আর query তৈরির অধিকার — দুটো আলাদা করা যায়,</a:t>
            </a:r>
          </a:p>
          <a:p>
            <a:r>
              <a:t>এটা দেখানো।"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আত্মরক্ষার সুরে নয়, স্পষ্ট করে বলুন।</a:t>
            </a:r>
          </a:p>
          <a:p>
            <a:r>
              <a:t>"nopCommerce, MySQL — semantic layer ইচ্ছে করেই সীমিত আর deployment-specific।"</a:t>
            </a:r>
          </a:p>
          <a:p>
            <a:r>
              <a:t>Spider/BIRD নিয়ে আগেই বলুন, কারণ প্রশ্নটা আসবেই:</a:t>
            </a:r>
          </a:p>
          <a:p>
            <a:r>
              <a:t>"ওগুলো অচেনা schema-তে generalisation মাপে। deployment-specific semantic</a:t>
            </a:r>
          </a:p>
          <a:p>
            <a:r>
              <a:t>layer সংজ্ঞাগতভাবেই তা করে না — তাই ওখানে মাপলে এমন জিনিস মাপা হতো</a:t>
            </a:r>
          </a:p>
          <a:p>
            <a:r>
              <a:t>যা এই আর্কিটেকচার দাবিই করে না।"</a:t>
            </a:r>
          </a:p>
          <a:p>
            <a:r>
              <a:t>model alias-এর কথাটাও নিজে বলুন: "gateway প্রতি রিকোয়েস্টে alias resolve</a:t>
            </a:r>
          </a:p>
          <a:p>
            <a:r>
              <a:t>করেছে, তাই রানটা এক মডেলে বাঁধা নয়। প্রতিটা সারিতে কোন মডেল দিয়েছে তা লেখা।"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স্লাইডের নামটাই আপনার ভঙ্গি — মাথা উঁচু রেখে বলুন।</a:t>
            </a:r>
          </a:p>
          <a:p>
            <a:r>
              <a:t>"পরীক্ষক জিজ্ঞেস করার আগে আমি নিজেই তুলছি।"</a:t>
            </a:r>
          </a:p>
          <a:p>
            <a:r>
              <a:t>পাঁচটা দ্রুত যান, দুটোয় থামুন:</a:t>
            </a:r>
          </a:p>
          <a:p>
            <a:r>
              <a:t>"correctness ২০টা রিপোর্টে মাপা, ৪২৫টা প্রশ্নে নয় — ওগুলোর জন্য দেখিয়েছি</a:t>
            </a:r>
          </a:p>
          <a:p>
            <a:r>
              <a:t>SQL চলে, প্রতিটা উত্তর সঠিক তা নয়।"</a:t>
            </a:r>
          </a:p>
          <a:p>
            <a:r>
              <a:t>"ক্যাটালগ ছোট — ১৭টা প্রোডাক্ট। অর্ডার-দিকের রিপোর্ট বাস্তব আয়তনে চলে,</a:t>
            </a:r>
          </a:p>
          <a:p>
            <a:r>
              <a:t>কিন্তু bestsellers-এর তালিকা ছোট ক্যাটালগে কম অর্থবহ।"</a:t>
            </a:r>
          </a:p>
          <a:p>
            <a:r>
              <a:t>এই স্লাইডটা দুর্বলতা নয় — এটাই দেখায় আপনি নিজের কাজ জানেন।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চারটা বুলেট পড়বেন না। তিন বাক্যে বলুন।</a:t>
            </a:r>
          </a:p>
          <a:p>
            <a:r>
              <a:t>"AEGIS মডেলকে ভাষা বোঝার কাজে রাখে, কিন্তু SQL লেখার অধিকার কেড়ে নেয়।"</a:t>
            </a:r>
          </a:p>
          <a:p>
            <a:r>
              <a:t>"সংজ্ঞাগুলো স্পষ্ট, auditable, আর পুনর্ব্যবহারযোগ্য।"</a:t>
            </a:r>
          </a:p>
          <a:p>
            <a:r>
              <a:t>"আর এটা শুধু ধারণা নয় — প্রোটোটাইপ, ৫০০ প্রশ্ন, আর প্ল্যাটফর্মের নিজের</a:t>
            </a:r>
          </a:p>
          <a:p>
            <a:r>
              <a:t>রিপোর্টের বিপরীতে রো-বাই-রো মিলিয়ে মেপে দেখানো।"</a:t>
            </a:r>
          </a:p>
          <a:p>
            <a:r>
              <a:t>মূল অবদান এক বাক্যে: "নিরাপদ LLM-সহায়ক ন্যাচারাল ল্যাঙ্গুয়েজ অ্যানালিটিক্সের</a:t>
            </a:r>
          </a:p>
          <a:p>
            <a:r>
              <a:t>জন্য একটা constraint-based আর্কিটেকচার।"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দ্রুত যান — এটা শেষের দিকের স্লাইড, কমিটি ততক্ষণে প্রশ্নের জন্য তৈরি।</a:t>
            </a:r>
          </a:p>
          <a:p>
            <a:r>
              <a:t>সবচেয়ে শক্ত পয়েন্টটা প্রথমে বলুন: "শুধু semantic layer বদলে অন্য একটা</a:t>
            </a:r>
          </a:p>
          <a:p>
            <a:r>
              <a:t>ই-কমার্স সিস্টেমে চালানো — এটাই পরবর্তী আসল পরীক্ষা, কারণ এতেই প্রমাণ হবে</a:t>
            </a:r>
          </a:p>
          <a:p>
            <a:r>
              <a:t>আর্কিটেকচারটা schema-নিরপেক্ষ।"</a:t>
            </a:r>
          </a:p>
          <a:p>
            <a:r>
              <a:t>বাকিগুলো এক নিঃশ্বাসে: আরও reference রিপোর্ট, PostgreSQL ও SQL Server,</a:t>
            </a:r>
          </a:p>
          <a:p>
            <a:r>
              <a:t>clarification আচরণ, চার্ট সুপারিশ।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থামবেন না, পড়বেন না।</a:t>
            </a:r>
          </a:p>
          <a:p>
            <a:r>
              <a:t>"রেফারেন্সগুলো এখানে আছে" বলে পরের স্লাইডে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ধন্যবাদ দিন, তারপর চুপ করুন।</a:t>
            </a:r>
          </a:p>
          <a:p>
            <a:r>
              <a:t>"শুনবার জন্য ধন্যবাদ। প্রশ্ন থাকলে করতে পারেন।"</a:t>
            </a:r>
          </a:p>
          <a:p>
            <a:r>
              <a:t>তারপর সত্যিই থামুন — নিজের কথায় ফাঁক ভরাট করবেন না।</a:t>
            </a:r>
          </a:p>
          <a:p>
            <a:r>
              <a:t>মনে রাখবেন: তিনটা appendix স্লাইড পেছনে আছে — semantic layer ফাইল,</a:t>
            </a:r>
          </a:p>
          <a:p>
            <a:r>
              <a:t>compiler কোড, আর constrained decoding-এর তুলনা। প্রশ্ন এলে ওগুলোয়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শুধু প্রশ্ন এলে দেখাবেন — "সংজ্ঞাগুলো কোথায়?" বা "কে ঠিক করে revenue মানে কী?"</a:t>
            </a:r>
          </a:p>
          <a:p>
            <a:r>
              <a:t>বলুন: "এটা আমার লেখা একটা ফাইল। মডেল এটা তৈরি করে না, বদলাতেও পারে না।</a:t>
            </a:r>
          </a:p>
          <a:p>
            <a:r>
              <a:t>নতুন metric লাগলে আমি এখানে লিখি — মডেলকে নতুন করে কিছু শেখাতে হয়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"compiler আসলে কী করে?" বা "SQL কোথা থেকে আসে?"</a:t>
            </a:r>
          </a:p>
          <a:p>
            <a:r>
              <a:t>কোডে আঙুল রেখে বলুন: "এই f-string-এ কী কী পরিবর্তনশীল দেখুন। expression</a:t>
            </a:r>
          </a:p>
          <a:p>
            <a:r>
              <a:t>আসে আমার config থেকে, join আসে আমার graph থেকে, আর ইউজারের প্রতিটা মান</a:t>
            </a:r>
          </a:p>
          <a:p>
            <a:r>
              <a:t>যায় bound parameter হিসেবে।"</a:t>
            </a:r>
          </a:p>
          <a:p>
            <a:r>
              <a:t>শেষ বাক্য: "ইউজার বা মডেলের কোনো স্ট্রিং কখনো SQL-এর কাঠামোয় জোড়া লাগে না।"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প্রশ্ন এলে দেখাবেন — "PICARD-এর মতো constrained decoding করলেন না কেন?"</a:t>
            </a:r>
          </a:p>
          <a:p>
            <a:r>
              <a:t>মূল পার্থক্যটা বলুন: "constrained decoding নিশ্চিত করে SQL-টা বৈধ।</a:t>
            </a:r>
          </a:p>
          <a:p>
            <a:r>
              <a:t>কিন্তু বৈধ SQL-ও ভুল টেবিল পড়তে পারে, ভুল সংজ্ঞা ব্যবহার করতে পারে,</a:t>
            </a:r>
          </a:p>
          <a:p>
            <a:r>
              <a:t>row-level নিয়ম অগ্রাহ্য করতে পারে।"</a:t>
            </a:r>
          </a:p>
          <a:p>
            <a:r>
              <a:t>তারপর: "টেমপ্লেট syntax নিয়ন্ত্রণ করে না — কোন প্রশ্নগুলো আদৌ জিজ্ঞেস করা</a:t>
            </a:r>
          </a:p>
          <a:p>
            <a:r>
              <a:t>যাবে সেটা নিয়ন্ত্রণ করে। ওটা ভিন্ন আর শক্ত গ্যারান্টি।"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285232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63931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968496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63931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3968496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72847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728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reference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coverage on 500 fixed natural-language questions, and accuracy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12801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809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516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8969"/>
            <a:ext cx="5166360" cy="2503424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IntentClass    # required, 11-enum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Optional[str]  # metric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Optional[str]  # dimension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Optional[str]  # phrase, not date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List[Filter]   # field/op/value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Optional[int]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Confidence=LOW # absence != high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List[str]      # unmatched words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516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18969"/>
          <a:ext cx="5166360" cy="2503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04460"/>
            <a:ext cx="10424160" cy="86481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38013"/>
            <a:ext cx="3886200" cy="225833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07687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85494"/>
            <a:ext cx="2331720" cy="2275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85494"/>
            <a:ext cx="4114800" cy="2538436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1540"/>
            <a:ext cx="10378440" cy="6477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482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question set is run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expected answer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saved expected intents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in the 500-question set.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1.25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0.21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2.54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12.87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5727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368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7680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7680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710256"/>
            <a:ext cx="10149840" cy="525951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of the Evaluation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layer is per-deployment, so cross-domain benchmarks such as Spider and BIRD do not apply: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The gateway resolves a model alias per request, so the run is not pinned to one model. Each result row records what served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Limitations I Would Raise First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 I show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17 products in 8 categories against 2,500 orders. Order-side reports run at realistic volume, but bestsellers and revenue-by-category agree with nopCommerce over short lists —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Three of the 75 boundary questions were not declined: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one malformed model reply, and the same carrier-comparison question phrased twice. The model flagged "DHL" and "FedEx" as unmapped and AEGIS answered by shipping method anyway — by design, because a model-reported gap is evidence, not a verdict. That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set, and the row-by-row comparison against the platform's own reports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reference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691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