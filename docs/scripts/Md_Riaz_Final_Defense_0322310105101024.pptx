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96012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82222" y="5413248"/>
            <a:ext cx="5627553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latin typeface="Times New Roman"/>
              </a:defRPr>
            </a:pPr>
            <a:r>
              <a:t>Department of Computer Science &amp; Engineering</a:t>
            </a:r>
          </a:p>
          <a:p>
            <a:pPr algn="ctr">
              <a:defRPr sz="1200">
                <a:latin typeface="Times New Roman"/>
              </a:defRPr>
            </a:pPr>
            <a:r>
              <a:t>Pundra University of Science &amp; Technology, Bogura - 5800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t>Final Defense Presentation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73075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Presented By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4041648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Md. Riaz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Program: B.Sc. in CSE (Diploma)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ID: 0322310105101024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Batch: 16th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8th Semester / 4th Year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Session: Spring - 2023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37673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Supervised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4133087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Mst. Sahela Rahman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Lecturer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 and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The Idea in One Picture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 and Research Gap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Objectives and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AEGIS Architecture (Stages 1-5)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Query-to-SQL Walkthrough, Including Joins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9. Evaluation: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500 Questions and 20 Admin Reports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Limitations, Conclusion, and Future Work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11. Appendix:</a:t>
            </a:r>
            <a:r>
              <a:rPr b="0" i="0" sz="1650">
                <a:solidFill>
                  <a:srgbClr val="333333"/>
                </a:solidFill>
                <a:latin typeface="Times New Roman"/>
              </a:rPr>
              <a:t> Schema, Semantic Layer, Compiler Code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81328"/>
            <a:ext cx="10058400" cy="47365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-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Idea in One Picture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371600"/>
            <a:ext cx="1014984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In a restaurant, the waiter writes down what you want — the dish, how many plates. The waiter never walks into the kitchen and cooks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2286000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Waiter</a:t>
            </a:r>
            <a:br/>
            <a:r>
              <a:t>takes the order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86000"/>
            <a:ext cx="2743200" cy="9144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Order form</a:t>
            </a:r>
            <a:br/>
            <a:r>
              <a:t>fixed fields 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286000"/>
            <a:ext cx="2743200" cy="9144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500" b="1">
                <a:solidFill>
                  <a:srgbClr val="003366"/>
                </a:solidFill>
                <a:latin typeface="Times New Roman"/>
              </a:defRPr>
            </a:pPr>
            <a:r>
              <a:t>Kitchen</a:t>
            </a:r>
            <a:br/>
            <a:r>
              <a:t>cooks the dish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86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2743200"/>
            <a:ext cx="68580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143000" y="3520440"/>
          <a:ext cx="96012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29000"/>
                <a:gridCol w="3429000"/>
              </a:tblGrid>
              <a:tr h="4686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the restaurant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 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cannot do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waiter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write or run SQL</a:t>
                      </a:r>
                    </a:p>
                  </a:txBody>
                  <a:tcPr marL="64008" marR="64008" marT="27432" marB="27432" anchor="ctr"/>
                </a:tc>
              </a:tr>
              <a:tr h="468629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order form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Intent Object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hold a table or column name of its own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6863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kitchen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SQL compiler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Cannot accept anything outside the approved list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20" name="Rounded Rectangle 19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chooses names from an approved list. It never writes the database query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417320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325880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database.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against an independent oracle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Measure breadth on 500 fixed natural-language questions, and fidelity against nopCommerce's own twenty admin reports.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57276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261" y="1097280"/>
            <a:ext cx="869986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-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335024"/>
            <a:ext cx="28803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1. User asks a business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048256"/>
            <a:ext cx="2651760" cy="786384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Example: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Show order average by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1335024"/>
            <a:ext cx="3337560" cy="56692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60" b="1">
                <a:solidFill>
                  <a:srgbClr val="003366"/>
                </a:solidFill>
                <a:latin typeface="Times New Roman"/>
              </a:defRPr>
            </a:pPr>
            <a:r>
              <a:t>2. Prompt exposes approved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011680"/>
            <a:ext cx="3154680" cy="12984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90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70">
                <a:solidFill>
                  <a:srgbClr val="003366"/>
                </a:solidFill>
                <a:latin typeface="Times New Roman"/>
              </a:rPr>
              <a:t>Vocabulary excerpt: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Metrics: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revenue, order_count, avg_order_value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Dimensions: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order_status, category, country</a:t>
            </a:r>
          </a:p>
          <a:p>
            <a:pPr marL="256032" indent="-256032">
              <a:lnSpc>
                <a:spcPct val="90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070">
                <a:solidFill>
                  <a:srgbClr val="003366"/>
                </a:solidFill>
                <a:latin typeface="Times New Roman"/>
              </a:rPr>
              <a:t>- Output:</a:t>
            </a:r>
            <a:r>
              <a:rPr b="0" i="0" sz="1070">
                <a:solidFill>
                  <a:srgbClr val="333333"/>
                </a:solidFill>
                <a:latin typeface="Times New Roman"/>
              </a:rPr>
              <a:t> kpi, table, matrix, chart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82127" y="1335024"/>
            <a:ext cx="3200400" cy="56692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80" b="1">
                <a:solidFill>
                  <a:srgbClr val="003366"/>
                </a:solidFill>
                <a:latin typeface="Times New Roman"/>
              </a:defRPr>
            </a:pPr>
            <a:r>
              <a:t>3. LLM returns an Intent Object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8" y="2011680"/>
            <a:ext cx="2971800" cy="153619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"metric_term": "avg_order_value",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"dimension_term": "order_status",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  "output_shape": "table"</a:t>
            </a:r>
          </a:p>
          <a:p>
            <a:pPr algn="l">
              <a:spcAft>
                <a:spcPts val="100"/>
              </a:spcAft>
              <a:defRPr sz="969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538728" y="1618488"/>
            <a:ext cx="34747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223760" y="1618488"/>
            <a:ext cx="65836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04672" y="4279392"/>
          <a:ext cx="10286999" cy="129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3749039"/>
                <a:gridCol w="4297680"/>
              </a:tblGrid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Not allowed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LLM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Choose approved ids from vocabulary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Raw SQL, joins, table names, writes</a:t>
                      </a:r>
                    </a:p>
                  </a:txBody>
                  <a:tcPr marL="36576" marR="36576" marT="13716" marB="13716" anchor="ctr"/>
                </a:tc>
              </a:tr>
              <a:tr h="4328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6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Bind ids to semantic definitions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6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Unknown ids, silent fallback, unsafe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picks names from a list we wrote. It never sees a table name, and never writes SQL.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The Intent Object, and What It Selects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1 to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80160"/>
            <a:ext cx="5029200" cy="457200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IntentObject  (aegis/server/models.py)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1828800"/>
            <a:ext cx="4937760" cy="25146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class IntentObject(BaseModel):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intent_class:    IntentClass      # required, 11-value enum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metric_term:     Optional[str]    # an approved metric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dimension_term:  Optional[str]    # an approved dimension id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time_term:       Optional[str]    # a phrase, not a date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filters:         List[Filter]     # field / operator / value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limit:           Optional[int]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confidence:      Confidence = LOW # absence is not confidence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    unmapped_terms:  List[str]        # what it could not account for</a:t>
            </a: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900">
                <a:solidFill>
                  <a:srgbClr val="505050"/>
                </a:solidFill>
                <a:latin typeface="Consolas"/>
              </a:defRPr>
            </a:pPr>
            <a:r>
              <a:t># There is no sql field. The type cannot express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80160"/>
            <a:ext cx="5212080" cy="457200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intent_class selects the compilation path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0" y="1828800"/>
          <a:ext cx="5166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2834640"/>
              </a:tblGrid>
              <a:tr h="4191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intent_class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Compiler path taken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kpi, summary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aggregate, no LIMIT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segment, ranking,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comparison, cohort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+ GROUP BY + ORDER BY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trend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date bucket; zero-filled when daily</a:t>
                      </a:r>
                    </a:p>
                  </a:txBody>
                  <a:tcPr marL="45720" marR="45720" marT="18288" marB="18288" anchor="ctr"/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tabular, exception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listing, no aggregation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funnel, correlate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aggregate over the stated relation</a:t>
                      </a:r>
                    </a:p>
                  </a:txBody>
                  <a:tcPr marL="45720" marR="45720" marT="18288" marB="18288" anchor="ctr"/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4526280"/>
            <a:ext cx="1042416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An id the semantic layer does not define is rejected here, before any SQL exists. There is no path from an unknown id to a query.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answer form is chosen from eleven fixed shapes, not invented per question.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Mapping Under the Hood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2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353312"/>
            <a:ext cx="283464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Object</a:t>
            </a:r>
            <a:br/>
            <a:r>
              <a:t>metric_term=avg_order_value</a:t>
            </a:r>
            <a:br/>
            <a:r>
              <a:t>dimension_term=order_status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353312"/>
            <a:ext cx="2834640" cy="841248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Lookup in semantic layer</a:t>
            </a:r>
            <a:br/>
            <a:r>
              <a:t>METRICS + DIMENSIONS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9327" y="1353312"/>
            <a:ext cx="2331720" cy="841248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Analysis Plan</a:t>
            </a:r>
            <a:br/>
            <a:r>
              <a:t>pattern=segment</a:t>
            </a:r>
            <a:br/>
            <a:r>
              <a:t>shape=table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84448" y="1773936"/>
            <a:ext cx="987552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06640" y="1773936"/>
            <a:ext cx="932687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85800" y="2606040"/>
          <a:ext cx="1083564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828800"/>
                <a:gridCol w="2834640"/>
                <a:gridCol w="2377440"/>
                <a:gridCol w="2286000"/>
              </a:tblGrid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Slot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Resolved id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Business meaning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SQL expression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Binding</a:t>
                      </a:r>
                    </a:p>
                  </a:txBody>
                  <a:tcPr marL="32004" marR="32004" marT="13716" marB="13716" anchor="ctr">
                    <a:solidFill>
                      <a:srgbClr val="003366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avg_order_value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Average revenue per order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AVG(COALESCE(o.OrderTotal, 0))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/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Dimension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order_status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Readable order status label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CASE o.OrderStatusId ... END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Order as o</a:t>
                      </a:r>
                    </a:p>
                  </a:txBody>
                  <a:tcPr marL="32004" marR="32004" marT="13716" marB="13716" anchor="ctr">
                    <a:solidFill>
                      <a:srgbClr val="F2F4F8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Rule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mandatory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Ignore soft-deleted orders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o.Deleted = 0</a:t>
                      </a:r>
                    </a:p>
                  </a:txBody>
                  <a:tcPr marL="32004" marR="32004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8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WHERE</a:t>
                      </a:r>
                    </a:p>
                  </a:txBody>
                  <a:tcPr marL="32004" marR="32004" marT="13716" marB="13716" anchor="ctr"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68680" y="4892040"/>
            <a:ext cx="10241280" cy="731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Intent Object vs Analysis Plan: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 Intent Object is what the model said. The Analysis Plan is what AEGIS was able to bind it to — it adds the pattern, the join path, the resolved SQL expressions, and the evidence for each binding. Only the Plan reaches the compiler.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model said 'average order value'. The definition behind that name was written by the administrator.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Template-Based SQL Compilation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 3 of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98448"/>
            <a:ext cx="315468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Compiler template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1993392"/>
            <a:ext cx="4526280" cy="2359152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SELECT {dimension_expr} AS label,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    {metric_expr} AS value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FROM {base_table}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{join_clauses}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WHERE {mandatory_predicates}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GROUP BY {dimension_group_expr}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96128" y="1298448"/>
            <a:ext cx="2606040" cy="53035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Filled from semantic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1938528"/>
            <a:ext cx="2697480" cy="1965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dimension_expr: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CASE order status mapping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metric_expr: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AVG(order total)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base_table: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Order o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joins: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none required here</a:t>
            </a:r>
          </a:p>
          <a:p>
            <a:pPr marL="256032" indent="-256032">
              <a:lnSpc>
                <a:spcPct val="92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120">
                <a:solidFill>
                  <a:srgbClr val="003366"/>
                </a:solidFill>
                <a:latin typeface="Times New Roman"/>
              </a:rPr>
              <a:t>- predicates:</a:t>
            </a:r>
            <a:r>
              <a:rPr b="0" i="0" sz="1120">
                <a:solidFill>
                  <a:srgbClr val="333333"/>
                </a:solidFill>
                <a:latin typeface="Times New Roman"/>
              </a:rPr>
              <a:t> o.Deleted =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13648" y="1298448"/>
            <a:ext cx="2560320" cy="53035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Compiled safe SELECT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94192" y="1938528"/>
            <a:ext cx="2880360" cy="265176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SELECT CASE o.OrderStatusId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10 THEN "Pending"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20 THEN "Processing"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30 THEN "Complete"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WHEN 40 THEN "Cancelled"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END AS label,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       AVG(COALESCE(o.OrderTotal, 0)) AS value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WHERE o.Deleted = 0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GROUP BY CASE o.OrderStatusId ... END</a:t>
            </a:r>
          </a:p>
          <a:p>
            <a:pPr algn="l">
              <a:spcAft>
                <a:spcPts val="100"/>
              </a:spcAft>
              <a:defRPr sz="720">
                <a:solidFill>
                  <a:srgbClr val="505050"/>
                </a:solidFill>
                <a:latin typeface="Consolas"/>
              </a:defRPr>
            </a:pPr>
            <a:r>
              <a:t>ORDER BY value DESC;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10378440" cy="56692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The template controls SQL structure; the semantic layer supplies approved identifiers and expressions; user text is never inserted into the query.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The query's shape is fixed in advance. Only approved names are dropped into the blanks.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Walkthrough: A Question That Needs Four Joins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475488"/>
            <a:ext cx="2103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i="1">
                <a:solidFill>
                  <a:srgbClr val="5F5F5F"/>
                </a:solidFill>
                <a:latin typeface="Times New Roman"/>
              </a:defRPr>
            </a:pPr>
            <a:r>
              <a:t>Stages 1 to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243584"/>
            <a:ext cx="10607040" cy="420624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NQ257  "Show product revenue by category."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1783080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Object from the model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249424"/>
            <a:ext cx="3840480" cy="1143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"metric_term": "line_item_revenue",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"dimension_term": "category_name"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520440"/>
            <a:ext cx="393192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150" b="1">
                <a:solidFill>
                  <a:srgbClr val="003366"/>
                </a:solidFill>
                <a:latin typeface="Times New Roman"/>
              </a:defRPr>
            </a:pPr>
            <a:r>
              <a:t>Join path resolved by BFS, not by the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986784"/>
            <a:ext cx="3840480" cy="84124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Product -&gt; OrderItem -&gt; Order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-&gt; Product_Category_Mapping</a:t>
            </a:r>
          </a:p>
          <a:p>
            <a:pPr algn="l">
              <a:spcAft>
                <a:spcPts val="100"/>
              </a:spcAft>
              <a:defRPr sz="930">
                <a:solidFill>
                  <a:srgbClr val="505050"/>
                </a:solidFill>
                <a:latin typeface="Consolas"/>
              </a:defRPr>
            </a:pPr>
            <a:r>
              <a:t>   -&gt; Category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1783080"/>
            <a:ext cx="6373368" cy="402336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Compiled SQL, executed read-only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249424"/>
            <a:ext cx="6309360" cy="2578608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SELECT c.Name AS label, SUM(oi.PriceExclTax) AS value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FROM `Order` o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`OrderItem` oi ON o.Id = oi.OrderId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`Product` p   ON oi.ProductId = p.Id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`Product_Category_Mapping` pcm ON p.Id = pcm.ProductId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LEFT JOIN `Category` c  ON pcm.CategoryId = c.Id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WHERE 1=1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  AND o.Deleted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  AND p.Deleted = 0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GROUP BY c.Name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ORDER BY value DESC</a:t>
            </a:r>
          </a:p>
          <a:p>
            <a:pPr algn="l">
              <a:spcAft>
                <a:spcPts val="100"/>
              </a:spcAft>
              <a:defRPr sz="860">
                <a:solidFill>
                  <a:srgbClr val="505050"/>
                </a:solidFill>
                <a:latin typeface="Consolas"/>
              </a:defRPr>
            </a:pPr>
            <a:r>
              <a:t>LIMIT 100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" y="4956048"/>
          <a:ext cx="1060704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17720"/>
                <a:gridCol w="3703320"/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Also worth seeing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actually happens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Why it matters</a:t>
                      </a:r>
                    </a:p>
                  </a:txBody>
                  <a:tcPr marL="45720" marR="45720" marT="18288" marB="18288" anchor="ctr"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"stock less than 10"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compiles to  p.StockQuantity &lt; @p0   with params {p0: 10}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number is bound, never pasted into the SQL text</a:t>
                      </a:r>
                    </a:p>
                  </a:txBody>
                  <a:tcPr marL="45720" marR="45720" marT="18288" marB="18288" anchor="ctr"/>
                </a:tc>
              </a:tr>
              <a:tr h="3048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"revenue from Google Ads"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declined: traffic_source is not in the semantic layer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guess, no nearest-match substitution</a:t>
                      </a:r>
                    </a:p>
                  </a:txBody>
                  <a:tcPr marL="45720" marR="45720" marT="18288" marB="18288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-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-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1984248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002536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1984248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7403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592324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57403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6382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182112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16382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5361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771900"/>
            <a:ext cx="8438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1382" y="375361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36592"/>
            <a:ext cx="10241280" cy="914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- Local health test verified database connection and seeded counts.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1: 500 Natural-Language Questions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80160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425 questions the semantic layer should answer, 75 realistic e-commerce questions it should decline. The same corpus is executed two ways, and they answer different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920240"/>
          <a:ext cx="10515599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3108960"/>
                <a:gridCol w="3429000"/>
              </a:tblGrid>
              <a:tr h="3886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Deterministic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(no model in the loop)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End-to-end run</a:t>
                      </a:r>
                    </a:p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(live parser)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 produced an intent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499/500 (99.8%)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answered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423/425 (99.5%)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Compiled SQL executed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425/425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54864" marR="54864" marT="22860" marB="22860" anchor="ctr"/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matched the annotation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 applicable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313/425 (73.6%)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declined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75/75 (100.0%)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72/75 (96.0%)</a:t>
                      </a:r>
                    </a:p>
                  </a:txBody>
                  <a:tcPr marL="54864" marR="54864" marT="22860" marB="22860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389120"/>
            <a:ext cx="10515600" cy="10515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The left column has no model in it: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committed intent annotations are fed straight to the mapper, so it tests the compiler, not the pipeline. Only the right column is an end-to-end result, and it is the one to quote.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Declining is only meaningful next to answering: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system that refuses everything scores 100% on the last row.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It answers the questions it was built for, and says no to the ones it was not — on purpose.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Where the Time Goes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80160"/>
            <a:ext cx="1051560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Median and 95th-percentile time per question, measured on the supported questions of the 500-question corpus.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810512"/>
          <a:ext cx="10515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286000"/>
                <a:gridCol w="2286000"/>
                <a:gridCol w="2286000"/>
              </a:tblGrid>
              <a:tr h="3962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Stage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Who runs it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Median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95th percentile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 Intent extraction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language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9,029.89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19,460.15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 Semantic resolution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0.96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1.46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 SQL compilation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0.13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0.22 ms</a:t>
                      </a:r>
                    </a:p>
                  </a:txBody>
                  <a:tcPr marL="64008" marR="64008" marT="27432" marB="27432" anchor="ctr"/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4. Database execution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MySQL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2.89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20.41 ms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Stages 2-4 combined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Everything after the model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3.62 ms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14.02 ms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77240" y="4343400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Almost all of the wall clock is the model reading the question. The part that decides which tables to join, writes the SQL, and runs it takes a few milliseconds — and the model has no influence over any of it.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model figure is a property of the gateway used here, not of the architecture; the deterministic figures are the ones that would follow AEGIS to another deployment.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Without the Semantic Layer: the Same Model, Unconstrained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50">
                <a:solidFill>
                  <a:srgbClr val="003366"/>
                </a:solidFill>
                <a:latin typeface="Times New Roman"/>
              </a:rPr>
              <a:t>The identical model through the identical gateway, asked to write MySQL directly for the same 500 questions.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737360"/>
          <a:ext cx="105156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880360"/>
                <a:gridCol w="2880360"/>
              </a:tblGrid>
              <a:tr h="40005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Measure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Direct LLM-to-SQL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Supported questions whose SQL executed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422/425 (99.3%)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365/425 (85.9%)</a:t>
                      </a:r>
                    </a:p>
                  </a:txBody>
                  <a:tcPr marL="64008" marR="64008" marT="27432" marB="27432" anchor="ctr"/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Out-of-scope questions answered anyway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3/75 (4.0%)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25/75 (33.3%)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Queries containing a forbidden construct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0 — the compiler cannot emit one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2/500 (0.4%)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493008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What answering an unanswerable question looks like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3986784"/>
          <a:ext cx="105156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400800"/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 question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the unconstrained model returned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"Forecast next month's total sales."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summing past months. It runs, returns a number, and forecasts nothing.</a:t>
                      </a:r>
                    </a:p>
                  </a:txBody>
                  <a:tcPr marL="54864" marR="54864" marT="18288" marB="18288" anchor="ctr"/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"Which customers are likely to churn?"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query counting each customer's past orders. No prediction is possible from it.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"Summarize the top complaints in reviews."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Keyword matching over review text, joined with UNION — rejected by the safety scan.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Asked something the data cannot answer, the unconstrained model answers anyway — and the answer looks right.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Evaluation Track 2: nopCommerce's Own 20 Admin Reports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61872"/>
            <a:ext cx="1051560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The report list is nopCommerce's own admin menu, and the comparison target is nopCommerce's own report code, read from source at commit 64bdf2ff. Neither was chosen by this project.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77240" y="1901952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Check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it does and does not show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Report reached an answer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compiled to SQL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20/20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Coverage of the report shape. Not correctness — several once passed this while silently wrong.</a:t>
                      </a:r>
                    </a:p>
                  </a:txBody>
                  <a:tcPr marL="54864" marR="54864" marT="22860" marB="22860" anchor="ctr"/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Result set matched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own query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15/20 (75.0%)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 check that tests the claim: same database, same rows, same values.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777240" y="3310128"/>
            <a:ext cx="10515600" cy="402336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50" b="1">
                <a:solidFill>
                  <a:srgbClr val="003366"/>
                </a:solidFill>
                <a:latin typeface="Times New Roman"/>
              </a:defRPr>
            </a:pPr>
            <a:r>
              <a:t>The five reports that did not match, and why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77240" y="3803904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309360"/>
              </a:tblGrid>
              <a:tr h="3429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Difference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1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Reports affected</a:t>
                      </a:r>
                    </a:p>
                  </a:txBody>
                  <a:tcPr marL="54864" marR="54864" marT="18288" marB="18288" anchor="ctr">
                    <a:solidFill>
                      <a:srgbClr val="0033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Row count only — the platform's report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carries its own LIMIT (5, 15, 100)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Bestsellers by quantity, Bestsellers by amount, Latest orders, Best customers by order count</a:t>
                      </a:r>
                    </a:p>
                  </a:txBody>
                  <a:tcPr marL="54864" marR="54864" marT="18288" marB="18288" anchor="ctr"/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Label column — customer name where the</a:t>
                      </a:r>
                    </a:p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platform's query labels by email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Best customers by order total, Best customers by order count</a:t>
                      </a:r>
                    </a:p>
                  </a:txBody>
                  <a:tcPr marL="54864" marR="54864" marT="18288" marB="18288" anchor="ctr">
                    <a:solidFill>
                      <a:srgbClr val="F2F4F8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Wrong value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None. Every overlapping row agrees to the last decimal.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Where the numbers differ from nopCommerce's own reports, they do not — only how many rows and which label.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417320"/>
          <a:ext cx="10561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50992"/>
            <a:ext cx="1014984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and Limitations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5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Implemented and evaluated for nopCommerce [7] analytics on MySQL; the semantic layer is deliberately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250">
                <a:solidFill>
                  <a:srgbClr val="003366"/>
                </a:solidFill>
                <a:latin typeface="Times New Roman"/>
              </a:rPr>
              <a:t>- Because the layer is per-deployment, cross-domain benchmarks such as Spider and BIRD do not apply: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they test generalisation to unseen schemas, which this architecture does not attempt.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50">
                <a:solidFill>
                  <a:srgbClr val="003366"/>
                </a:solidFill>
                <a:latin typeface="Times New Roman"/>
              </a:rPr>
              <a:t>Limitations I would raise before the committee does: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Correctness at scale is measured on the 20 reports, not on all 425 supported questions. For those, I show that the SQL runs — not that every answer is right.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Three of the 75 boundary questions were not declined. One was a malformed model reply; the other two are the same question phrased twice, asking to compare two named carriers. The model flagged "DHL" and "FedEx" as unmapped, and AEGIS answered by shipping method anyway — by design, because a model-reported gap is treated as evidence, not a verdict. That choice keeps false refusals low and costs exactly this.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The gateway used for intent extraction resolves a model alias per request, so the run is not pinned to a single model. Each result row records what actually served it.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Five reports differ from the platform's own output in row count or label column. No report differs in value.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Other SQL dialects require compiler extensions.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5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250">
                <a:solidFill>
                  <a:srgbClr val="333333"/>
                </a:solidFill>
                <a:latin typeface="Times New Roman"/>
              </a:rPr>
              <a:t>- Multi-turn conversation is out of scope because the work evaluates single-request analytics.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08760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The nopCommerce [7] prototype, the 500-question corpus, and the differential against the platform's own report logic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-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-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t>Questions &amp; Final Defense Discussion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A: The Semantic Layer Is a File I Wrote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aegis/server/semantic_layer.py — two of the objects the model is allowed to name: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737360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Metric(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id="avg_order_value",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label="Average Order Value",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description="Average revenue per 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sql_expr="AVG(COALESCE(o.OrderTotal, 0))",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required_joins=[],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default_visual="kpi_card",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time_anchor="o.CreatedOnUtc",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4768" y="1737360"/>
            <a:ext cx="5120640" cy="22860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Dimension(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id="order_status",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label="Order Status",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sql_expr="CASE o.OrderStatusId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10 THEN 'Pending'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20 THEN 'Processing'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30 THEN 'Complete'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"WHEN 40 THEN 'Cancelled' "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         "ELSE 'Unknown' END",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binding_table="Order",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    datatype="string",</a:t>
            </a:r>
          </a:p>
          <a:p>
            <a:pPr algn="l">
              <a:spcAft>
                <a:spcPts val="100"/>
              </a:spcAft>
              <a:defRPr sz="950">
                <a:solidFill>
                  <a:srgbClr val="505050"/>
                </a:solidFill>
                <a:latin typeface="Consolas"/>
              </a:defRPr>
            </a:pPr>
            <a: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10515600" cy="822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The model may return the string "avg_order_value". It cannot return the expression, the table, or the join. Deploying AEGIS on another system means writing this file again — and nothing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742432"/>
            <a:ext cx="10515600" cy="475488"/>
          </a:xfrm>
          <a:prstGeom prst="roundRect">
            <a:avLst/>
          </a:prstGeom>
          <a:solidFill>
            <a:srgbClr val="F3F6FB"/>
          </a:solidFill>
          <a:ln w="9525">
            <a:solidFill>
              <a:srgbClr val="C9D6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l"/>
            <a:r>
              <a:rPr b="1" sz="1300">
                <a:solidFill>
                  <a:srgbClr val="333333"/>
                </a:solidFill>
                <a:latin typeface="Times New Roman"/>
              </a:rPr>
              <a:t>In plain terms:  </a:t>
            </a:r>
            <a:r>
              <a:rPr sz="1300">
                <a:solidFill>
                  <a:srgbClr val="333333"/>
                </a:solidFill>
                <a:latin typeface="Times New Roman"/>
              </a:rPr>
              <a:t>This list is the whole vocabulary. Anything not written here cannot be asked for.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B: The Compiler Fills Blanks, It Does Not Write SQL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243584"/>
            <a:ext cx="10515600" cy="38404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aegis/server/compiler.py — the function that builds the SELECT clause: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1737360"/>
            <a:ext cx="10515600" cy="27432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tIns="73152"/>
          <a:lstStyle/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def _assemble_select(self, metric, dimension, extra_metrics=None, plan=None) -&gt; str: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measures = [f"{metric.sql_expr} AS value"]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for extra in extra_metrics or []: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measures.append(f"{extra.sql_expr} AS `{extra.id}`")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projected = ", ".join(measures)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if dimension: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dim_expr = self._dimension_select_expr(dimension, plan)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    return f"SELECT {dim_expr} AS label,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    return f"SELECT {projected}"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# Every interpolated value is an attribute of a semantic-layer object.</a:t>
            </a:r>
          </a:p>
          <a:p>
            <a:pPr algn="l">
              <a:spcAft>
                <a:spcPts val="100"/>
              </a:spcAft>
              <a:defRPr sz="1000">
                <a:solidFill>
                  <a:srgbClr val="505050"/>
                </a:solidFill>
                <a:latin typeface="Consolas"/>
              </a:defRPr>
            </a:pPr>
            <a:r>
              <a:t># No argument to this function carries user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17720"/>
            <a:ext cx="10515600" cy="8686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Literal values take a separate route: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a filter compiles to a placeholder and a bound parameter (p.StockQuantity &lt; @p0 with {p0: 10}), so a value never becomes part of the SQL text. After assembly, a forbidden-pattern scan rejects any non-SELECT construct before execution.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Appendix C: Why Templates Instead of Constrained Decoding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1371600"/>
          <a:ext cx="10515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69080"/>
                <a:gridCol w="4069080"/>
              </a:tblGrid>
              <a:tr h="7086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PICARD [4] — constrained decoding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— template compilation</a:t>
                      </a:r>
                    </a:p>
                  </a:txBody>
                  <a:tcPr marL="64008" marR="64008" marT="27432" marB="27432" anchor="ctr">
                    <a:solidFill>
                      <a:srgbClr val="003366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the model emits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SQL text, token by token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 typed Intent Object with no SQL field</a:t>
                      </a:r>
                    </a:p>
                  </a:txBody>
                  <a:tcPr marL="64008" marR="64008" marT="27432" marB="27432" anchor="ctr"/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is checked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token against a parser, during generation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Each id against the semantic layer, before compilation</a:t>
                      </a:r>
                    </a:p>
                  </a:txBody>
                  <a:tcPr marL="64008" marR="64008" marT="27432" marB="27432" anchor="ctr">
                    <a:solidFill>
                      <a:srgbClr val="F2F4F8"/>
                    </a:solidFill>
                  </a:tcPr>
                </a:tc>
              </a:tr>
              <a:tr h="7086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What we give up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Nothing — any valid SQL stays reachable</a:t>
                      </a:r>
                    </a:p>
                  </a:txBody>
                  <a:tcPr marL="64008" marR="64008" marT="27432" marB="27432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Flexibility: a question outside the semantic layer cannot be answered at all</a:t>
                      </a:r>
                    </a:p>
                  </a:txBody>
                  <a:tcPr marL="64008" marR="64008" marT="27432" marB="27432" anchor="ctr"/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343400"/>
            <a:ext cx="10515600" cy="12344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Constrained decoding guarantees the SQL parses. It does not guarantee the SQL is the query the administrator would have approved — a syntactically perfect query can still join the wrong grain, drop a soft-delete filter, or read a column nobody meant to expose.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250">
                <a:solidFill>
                  <a:srgbClr val="003366"/>
                </a:solidFill>
                <a:latin typeface="Times New Roman"/>
              </a:rPr>
              <a:t>The trade is real and worth stating plainly:</a:t>
            </a:r>
            <a:r>
              <a:rPr b="0" i="0" sz="1150">
                <a:solidFill>
                  <a:srgbClr val="333333"/>
                </a:solidFill>
                <a:latin typeface="Times New Roman"/>
              </a:rPr>
              <a:t> AEGIS buys auditability by giving up open-ended coverage. That is why 75 of the 500 evaluation questions are ones it must decline.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