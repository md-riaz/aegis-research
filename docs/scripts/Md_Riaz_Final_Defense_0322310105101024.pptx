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2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6"/>
    <p:sldId id="272" r:id="rId5"/>
    <p:sldId id="273" r:id="rId4"/>
    <p:sldId id="274" r:id="rId3"/>
    <p:sldId id="275" r:id="rId2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DF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68" d="100"/>
          <a:sy n="68" d="100"/>
        </p:scale>
        <p:origin x="816" y="-2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20.xml"/><Relationship Id="rId3" Type="http://schemas.openxmlformats.org/officeDocument/2006/relationships/slide" Target="slides/slide19.xml"/><Relationship Id="rId4" Type="http://schemas.openxmlformats.org/officeDocument/2006/relationships/slide" Target="slides/slide18.xml"/><Relationship Id="rId5" Type="http://schemas.openxmlformats.org/officeDocument/2006/relationships/slide" Target="slides/slide17.xml"/><Relationship Id="rId6" Type="http://schemas.openxmlformats.org/officeDocument/2006/relationships/slide" Target="slides/slide16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89ED17C-F12B-40CB-B332-C6480DB8E7F0}" type="datetimeFigureOut">
              <a:rPr lang="en-US" smtClean="0"/>
              <a:t>1/5/2026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CA46629-DDE9-4049-9809-56964DD20E0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866181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শান্ত থাকুন, তাড়াহুড়ো করবেন না। শুরুর বাক্যটা:</a:t>
            </a:r>
          </a:p>
          <a:p>
            <a:r>
              <a:t>"Good morning, respected chairperson and committee members. I am presenting the final defense of AEGIS — a constraint-based architecture for safe LLM-assisted natural language analytics."</a:t>
            </a:r>
          </a:p>
          <a:p/>
          <a:p>
            <a:r>
              <a:t>নাম আর সুপারভাইজারের নাম পড়ে শোনাবেন না, স্লাইডেই আছে। সরাসরি আউটলাইনে যান।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আউটলাইনটা পড়ে শোনাবেন না — এক নজর বুলিয়ে নিন।</a:t>
            </a:r>
          </a:p>
          <a:p>
            <a:r>
              <a:t>বলুন: "আজ তিনটা জিনিস দেখাব — সমস্যাটা কী, আমার আর্কিটেকচার কীভাবে সেটা সরায়,</a:t>
            </a:r>
          </a:p>
          <a:p>
            <a:r>
              <a:t>আর আমি কীভাবে মেপে দেখিয়েছি যে কাজ করে।"</a:t>
            </a:r>
          </a:p>
          <a:p>
            <a:r>
              <a:t>তারপর সরাসরি পরের স্লাইডে যান।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মূল সুরটা এখানেই ঠিক করবেন।</a:t>
            </a:r>
          </a:p>
          <a:p>
            <a:r>
              <a:t>বলুন: "ই-কমার্স সিস্টেমে ডেটা আছে, কিন্তু ড্যাশবোর্ড শুধু আগে থেকে বানানো প্রশ্নের</a:t>
            </a:r>
          </a:p>
          <a:p>
            <a:r>
              <a:t>উত্তর দেয়। নতুন কম্বিনেশন লাগলেই ডেভেলপারের কাছে যেতে হয়।"</a:t>
            </a:r>
          </a:p>
          <a:p>
            <a:r>
              <a:t>তারপর টানটা টানুন: "LLM এই দেরিটা কমাতে পারে — কিন্তু সে যদি নিজে SQL লেখে,</a:t>
            </a:r>
          </a:p>
          <a:p>
            <a:r>
              <a:t>তাহলে ডেটাবেসে কোড লেখার অধিকার তাকে দিয়ে দেওয়া হলো।"</a:t>
            </a:r>
          </a:p>
          <a:p>
            <a:r>
              <a:t>শেষ করুন এক বাক্যে: "AEGIS-এ মডেল শুধু বোঝে, চালায় না।"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তিনটা ঝুঁকি — নাম ধরে বলুন, পড়বেন না।</a:t>
            </a:r>
          </a:p>
          <a:p>
            <a:r>
              <a:t>১. Injection — প্রম্পট ঘুরিয়ে DROP বা DELETE বের করে আনা যায়।</a:t>
            </a:r>
          </a:p>
          <a:p>
            <a:r>
              <a:t>২. Hallucination — না-থাকা টেবিল, না-থাকা join, না-থাকা কলাম।</a:t>
            </a:r>
          </a:p>
          <a:p>
            <a:r>
              <a:t>৩. Access control — generated query অ্যাপের row-level নিয়ম জানেই না।</a:t>
            </a:r>
          </a:p>
          <a:p>
            <a:r>
              <a:t>জোর দিন: "তিনটাই এক জায়গা থেকে আসে — মডেলকে SQL লেখার ক্ষমতা দেওয়া হয়েছে।</a:t>
            </a:r>
          </a:p>
          <a:p>
            <a:r>
              <a:t>তাই আমার সমাধান ওই ক্ষমতাটাই কেড়ে নেয়।"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এটাই পুরো থিসিসের সবচেয়ে সহজ স্লাইড — ধীরে বলুন।</a:t>
            </a:r>
          </a:p>
          <a:p>
            <a:r>
              <a:t>রেস্তোরাঁর উপমাটা বলুন: "ওয়েটার অর্ডার লেখে — কোন খাবার, কয় প্লেট।</a:t>
            </a:r>
          </a:p>
          <a:p>
            <a:r>
              <a:t>ওয়েটার কখনো রান্নাঘরে ঢুকে রান্না করে না।"</a:t>
            </a:r>
          </a:p>
          <a:p>
            <a:r>
              <a:t>তারপর টেবিলটা দেখিয়ে: ওয়েটার = মডেল, অর্ডার ফর্ম = Intent Object,</a:t>
            </a:r>
          </a:p>
          <a:p>
            <a:r>
              <a:t>রান্নাঘর = compiler।</a:t>
            </a:r>
          </a:p>
          <a:p>
            <a:r>
              <a:t>শেষ বাক্য: "মডেল অনুমোদিত তালিকা থেকে নাম বাছে। query সে লেখে না।"</a:t>
            </a:r>
          </a:p>
          <a:p>
            <a:r>
              <a:t>কমিটির কেউ টেকনিক্যাল না হলে তিনি এই স্লাইডটাই মনে রাখবেন।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ছয়টা সারি পড়বেন না — শেষ কলামটাই আসল।</a:t>
            </a:r>
          </a:p>
          <a:p>
            <a:r>
              <a:t>বলুন: "এই কাজগুলো SQL তৈরির নির্ভুলতা বাড়ায়। কিন্তু প্রতিটাতেই SQL-টা</a:t>
            </a:r>
          </a:p>
          <a:p>
            <a:r>
              <a:t>শেষ পর্যন্ত মডেলই লেখে।"</a:t>
            </a:r>
          </a:p>
          <a:p>
            <a:r>
              <a:t>PICARD আলাদা করে বলুন: "constrained decoding অবৈধ syntax আটকায়,</a:t>
            </a:r>
          </a:p>
          <a:p>
            <a:r>
              <a:t>কিন্তু মডেল তবু SQL-ই তৈরি করে — শুধু বৈধ SQL।"</a:t>
            </a:r>
          </a:p>
          <a:p>
            <a:r>
              <a:t>শেষ সারিতে এসে: "AEGIS-এ মডেল SQL তৈরির জায়গাতেই নেই।"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সংক্ষেপে, তিন বাক্য।</a:t>
            </a:r>
          </a:p>
          <a:p>
            <a:r>
              <a:t>"অনেকে SQL-এর নির্ভুলতা বাড়িয়েছেন, কিন্তু লেখার অধিকার মডেলের কাছেই।"</a:t>
            </a:r>
          </a:p>
          <a:p>
            <a:r>
              <a:t>"Syntax ঠিক মানেই নিরাপদ বা অর্থে সঠিক নয়।"</a:t>
            </a:r>
          </a:p>
          <a:p>
            <a:r>
              <a:t>"যা দরকার — ভাষা গ্রহণ করা হবে, কিন্তু executable SQL আসবে শুধু একটা স্পষ্ট</a:t>
            </a:r>
          </a:p>
          <a:p>
            <a:r>
              <a:t>semantic layer আর deterministic compiler থেকে। সেটাই এই কাজ।"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চারটা সারি, প্রতিটায় এক বাক্য।</a:t>
            </a:r>
          </a:p>
          <a:p>
            <a:r>
              <a:t>ঝুঁকি কমানো — বোঝা আর চালানো আলাদা করে।</a:t>
            </a:r>
          </a:p>
          <a:p>
            <a:r>
              <a:t>Auditable করা — সংজ্ঞাগুলো ফাইলে লেখা, কোডে লুকানো নয়।</a:t>
            </a:r>
          </a:p>
          <a:p>
            <a:r>
              <a:t>বাস্তব রিপোর্ট — nopCommerce-এ চালিয়ে দেখানো।</a:t>
            </a:r>
          </a:p>
          <a:p>
            <a:r>
              <a:t>স্বাধীন oracle-এ মাপা — এটায় জোর দিন, কারণ পরের অংশে এটাই ফিরে আসবে।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Design Science Research — চক্রটা দেখিয়ে বলুন।</a:t>
            </a:r>
          </a:p>
          <a:p>
            <a:r>
              <a:t>"সমস্যা চিহ্নিত করা, আর্টিফ্যাক্ট ডিজাইন, প্রদর্শন, মূল্যায়ন — আর মূল্যায়ন</a:t>
            </a:r>
          </a:p>
          <a:p>
            <a:r>
              <a:t>থেকে শেখা জিনিস ডিজাইনে ফিরে গেছে।"</a:t>
            </a:r>
          </a:p>
          <a:p>
            <a:r>
              <a:t>একটা উদাহরণ দিন: "যেমন differential টেস্টে ধরা পড়েছিল order-লেভেলের যোগফল</a:t>
            </a:r>
          </a:p>
          <a:p>
            <a:r>
              <a:t>line item-এ ছড়িয়ে যাচ্ছে — সেটা compiler-এ ফিরে গিয়ে ঠিক হয়েছে।"</a:t>
            </a:r>
          </a:p>
          <a:p>
            <a:r>
              <a:t>এতে চক্রটা কাগুজে না থেকে বাস্তব শোনায়।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সাতটা ধাপ — একটা একটা করে পড়বেন না।</a:t>
            </a:r>
          </a:p>
          <a:p>
            <a:r>
              <a:t>যেটা বলবেন: "সাতটা ধাপের মধ্যে মডেল আছে শুধু প্রথমটায়। বাকি ছয়টা সাধারণ</a:t>
            </a:r>
          </a:p>
          <a:p>
            <a:r>
              <a:t>deterministic কোড — LLM আসার আগেও যা লেখা যেত।"</a:t>
            </a:r>
          </a:p>
          <a:p>
            <a:r>
              <a:t>হাত দিয়ে ১ আর ২-এর মাঝের সীমাটা দেখান: "এই লাইনটা পার হয় শুধু একটা ছোট</a:t>
            </a:r>
          </a:p>
          <a:p>
            <a:r>
              <a:t>JSON — কোনো query না, কোনো টেবিলের নাম না।"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এটা আপনার লেখা ফাইল — সেটাই জোর দেওয়ার জিনিস।</a:t>
            </a:r>
          </a:p>
          <a:p>
            <a:r>
              <a:t>বলুন: "metric, dimension, join policy, output contract — সবই আমি লিখেছি,</a:t>
            </a:r>
          </a:p>
          <a:p>
            <a:r>
              <a:t>মডেল নয়। 'revenue' মানে কী, সেই সংজ্ঞা একটাই, একটা ফাইলে।"</a:t>
            </a:r>
          </a:p>
          <a:p>
            <a:r>
              <a:t>যোগ করুন: "এখানে না থাকলে প্রশ্নটা করাই যাবে না — আর এটাই সুবিধা,</a:t>
            </a:r>
          </a:p>
          <a:p>
            <a:r>
              <a:t>কারণ এর ফলেই 'না' বলা বাগ না হয়ে সঠিক আচরণ হয়।"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তিনটা বাক্সে বাঁ থেকে ডানে যান।</a:t>
            </a:r>
          </a:p>
          <a:p>
            <a:r>
              <a:t>"ইউজার প্রশ্ন করল। প্রম্পটে আমরা অনুমোদিত শব্দভাণ্ডার দিলাম — সেটাও</a:t>
            </a:r>
          </a:p>
          <a:p>
            <a:r>
              <a:t>runtime-এ semantic layer থেকে বানানো। মডেল একটা JSON ফেরত দিল।"</a:t>
            </a:r>
          </a:p>
          <a:p>
            <a:r>
              <a:t>নিচের টেবিলটাই মূল: "মডেল পারে — তালিকা থেকে id বাছতে। পারে না — SQL,</a:t>
            </a:r>
          </a:p>
          <a:p>
            <a:r>
              <a:t>join, টেবিলের নাম, কোনো লেখার কাজ।"</a:t>
            </a:r>
          </a:p>
          <a:p>
            <a:r>
              <a:t>শেষ বাক্য: "সে টেবিলের নামই দেখে না।"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কোডটা দেখান, আর শেষ কমেন্ট লাইনে আঙুল রাখুন।</a:t>
            </a:r>
          </a:p>
          <a:p>
            <a:r>
              <a:t>বলুন: "এই টাইপে কোনো sql ফিল্ড নেই। শুধু যে আমরা লিখিনি তা নয় — টাইপটা</a:t>
            </a:r>
          </a:p>
          <a:p>
            <a:r>
              <a:t>ওটা প্রকাশই করতে পারে না।"</a:t>
            </a:r>
          </a:p>
          <a:p>
            <a:r>
              <a:t>confidence ফিল্ডটা দেখিয়ে: "ডিফল্ট LOW। অনুপস্থিতি মানে আত্মবিশ্বাস নয়।"</a:t>
            </a:r>
          </a:p>
          <a:p>
            <a:r>
              <a:t>নিচের টেবিল: "intent_class ঠিক করে কোন compiler path যাবে — এগারোটা</a:t>
            </a:r>
          </a:p>
          <a:p>
            <a:r>
              <a:t>নির্দিষ্ট আকৃতি, প্রশ্ন অনুযায়ী বানানো নয়।"</a:t>
            </a:r>
          </a:p>
          <a:p>
            <a:r>
              <a:t>শেষে: "semantic layer যে id চেনে না, সেটা এখানেই বাতিল — কোনো SQL তৈরির আগেই।"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টেবিলের 'SQL expression' কলামটাই দেখার জিনিস।</a:t>
            </a:r>
          </a:p>
          <a:p>
            <a:r>
              <a:t>বলুন: "মডেল বলেছে avg_order_value। ওই নামের পেছনের সংজ্ঞাটা —</a:t>
            </a:r>
          </a:p>
          <a:p>
            <a:r>
              <a:t>AVG(COALESCE(o.OrderTotal, 0)) — প্রশাসক লিখেছেন, মডেল নয়।"</a:t>
            </a:r>
          </a:p>
          <a:p>
            <a:r>
              <a:t>তৃতীয় সারিটা আলাদা করে দেখান: "o.Deleted = 0 কেউ চায়নি। এটা সংজ্ঞার</a:t>
            </a:r>
          </a:p>
          <a:p>
            <a:r>
              <a:t>অবিচ্ছেদ্য অংশ, তাই সবসময় বসে।"</a:t>
            </a:r>
          </a:p>
          <a:p>
            <a:r>
              <a:t>শেষে পার্থক্যটা বলুন: "Intent Object হলো মডেল যা বলেছে। Analysis Plan হলো</a:t>
            </a:r>
          </a:p>
          <a:p>
            <a:r>
              <a:t>AEGIS যা বাঁধতে পেরেছে।"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বাঁ দিকের টেমপ্লেটে আঙুল রেখে শুরু করুন।</a:t>
            </a:r>
          </a:p>
          <a:p>
            <a:r>
              <a:t>"query-র আকৃতি আগে থেকে ঠিক করা। শুধু ফাঁকা জায়গাগুলো পূরণ হয়।"</a:t>
            </a:r>
          </a:p>
          <a:p>
            <a:r>
              <a:t>মাঝখানে: "কী দিয়ে পূরণ হয় — semantic layer-এর অনুমোদিত expression দিয়ে।"</a:t>
            </a:r>
          </a:p>
          <a:p>
            <a:r>
              <a:t>ডানে: "ফল — একটা read-only SELECT।"</a:t>
            </a:r>
          </a:p>
          <a:p>
            <a:r>
              <a:t>সবচেয়ে জরুরি বাক্যটা শেষে: "ইউজারের লেখা কোনো টেক্সট কখনো query-র</a:t>
            </a:r>
          </a:p>
          <a:p>
            <a:r>
              <a:t>কাঠামোর সাথে জোড়া লাগে না।" এটাই নিরাপত্তার যুক্তি।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এই স্লাইডটা সন্দেহ দূর করার জন্য — ধীরে যান।</a:t>
            </a:r>
          </a:p>
          <a:p>
            <a:r>
              <a:t>"কেউ ভাবতে পারেন সহজ প্রশ্নেই এটা কাজ করে। তাই এমন একটা নিলাম যেটায়</a:t>
            </a:r>
          </a:p>
          <a:p>
            <a:r>
              <a:t>চারটা টেবিল জোড়া লাগে।"</a:t>
            </a:r>
          </a:p>
          <a:p>
            <a:r>
              <a:t>মডেলের JSON দেখান: "মডেল দিয়েছে শুধু দুটো নাম। কোনো join বলেনি।"</a:t>
            </a:r>
          </a:p>
          <a:p>
            <a:r>
              <a:t>join path দেখিয়ে: "পথটা BFS বের করেছে আমার ঘোষিত join graph থেকে।"</a:t>
            </a:r>
          </a:p>
          <a:p>
            <a:r>
              <a:t>নিচের দুই সারি ভুলবেন না — এ দুটোই সবচেয়ে বেশি মনে থাকবে:</a:t>
            </a:r>
          </a:p>
          <a:p>
            <a:r>
              <a:t>"stock less than 10" — সংখ্যাটা bound parameter, query-তে পেস্ট হয়নি।</a:t>
            </a:r>
          </a:p>
          <a:p>
            <a:r>
              <a:t>"revenue from Google Ads" — না বলেছে, কারণ traffic_source মডেল করা নেই।</a:t>
            </a:r>
          </a:p>
          <a:p>
            <a:r>
              <a:t>কাছাকাছি কিছু ধরে নেয়নি।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সংক্ষেপে — এটা হালকা স্লাইড।</a:t>
            </a:r>
          </a:p>
          <a:p>
            <a:r>
              <a:t>"আউটপুটের ধরন ঠিক হয় result-এর আকৃতি থেকে, মডেলের বর্ণনা থেকে নয়।</a:t>
            </a:r>
          </a:p>
          <a:p>
            <a:r>
              <a:t>একটা সংখ্যা হলে KPI, সারি হলে টেবিল, সময় হলে চার্ট।"</a:t>
            </a:r>
          </a:p>
          <a:p>
            <a:r>
              <a:t>শেষ বাক্যে মূল্য যোগ করুন: "আর প্রোটোটাইপ শুধু উত্তর দেখায় না —</a:t>
            </a:r>
          </a:p>
          <a:p>
            <a:r>
              <a:t>কোন পথে উত্তরটা এলো সেটাও দেখায়।"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স্ট্যাকটা দ্রুত বলুন, সংখ্যাগুলোয় থামুন।</a:t>
            </a:r>
          </a:p>
          <a:p>
            <a:r>
              <a:t>"FastAPI, MySQL, OpenAI-compatible API, আর semantic-layer ফাইল।"</a:t>
            </a:r>
          </a:p>
          <a:p>
            <a:r>
              <a:t>সিড ডেটার সংখ্যাগুলো নিজে থেকে বলুন — ২,৫০০ অর্ডার, ৬,৩২০ order item,</a:t>
            </a:r>
          </a:p>
          <a:p>
            <a:r>
              <a:t>১,২০০ কাস্টমার, ১৭টা প্রোডাক্ট।</a:t>
            </a:r>
          </a:p>
          <a:p>
            <a:r>
              <a:t>১৭ সংখ্যাটা নিজেই তুলে ধরুন: "ক্যাটালগটা ছোট — এটা limitations-এ ফিরে আসবে।"</a:t>
            </a:r>
          </a:p>
          <a:p>
            <a:r>
              <a:t>আগে বললে পরে দুর্বলতা মনে হয় না।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শুরুতেই বাঁ কলামের সীমা বলুন — ধরা পড়ার অপেক্ষা করবেন না।</a:t>
            </a:r>
          </a:p>
          <a:p>
            <a:r>
              <a:t>"বাঁ কলামে কোনো মডেল নেই। committed intent annotation সরাসরি mapper-এ</a:t>
            </a:r>
          </a:p>
          <a:p>
            <a:r>
              <a:t>দেওয়া। ওটা end-to-end ফল নয়, ওটা compiler-এর regression gate।</a:t>
            </a:r>
          </a:p>
          <a:p>
            <a:r>
              <a:t>ডান কলামটাই আসল সিস্টেম।"</a:t>
            </a:r>
          </a:p>
          <a:p>
            <a:r>
              <a:t>তারপর দুটো সংখ্যা একসাথে বলুন, কখনো আলাদা নয়:</a:t>
            </a:r>
          </a:p>
          <a:p>
            <a:r>
              <a:t>"৪২৩/৪২৫ উত্তর দিয়েছে, আর ৭২/৭৫ না বলেছে।"</a:t>
            </a:r>
          </a:p>
          <a:p>
            <a:r>
              <a:t>কেন একসাথে: "সব প্রশ্নে না বললে রিজেকশনে ১০০% পাওয়া যায়।</a:t>
            </a:r>
          </a:p>
          <a:p>
            <a:r>
              <a:t>৯৯.৫% উত্তরের হারটাই ৯৬%-কে অর্থ দেয়।"</a:t>
            </a:r>
          </a:p>
          <a:p>
            <a:r>
              <a:t>৭৩.৬% নিজে থেকে ব্যাখ্যা করুন: "এটা সবচেয়ে কড়া মাপ — সাতটা slot হুবহু</a:t>
            </a:r>
          </a:p>
          <a:p>
            <a:r>
              <a:t>মিলতে হবে। grounding fuzzy matching, তাই আচরণে ৯৯.৫%।"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এক বাক্যে সারসংক্ষেপ, তারপর থামুন।</a:t>
            </a:r>
          </a:p>
          <a:p>
            <a:r>
              <a:t>"পুরো সময়টাই মডেলের বাক্য পড়া। আমার বানানো সবকিছু ৩.৬ মিলিসেকেন্ড।"</a:t>
            </a:r>
          </a:p>
          <a:p>
            <a:r>
              <a:t>৯ সেকেন্ড শুনে কেউ যেন ধীর না ভাবেন — সেটা আগেই সামলান:</a:t>
            </a:r>
          </a:p>
          <a:p>
            <a:r>
              <a:t>"ওই ৯ সেকেন্ড gateway-র সম্পত্তি, আর্কিটেকচারের নয়। প্রোভাইডার বদলালে</a:t>
            </a:r>
          </a:p>
          <a:p>
            <a:r>
              <a:t>বদলাবে। ৩.৬ ms আর্কিটেকচারের — যেকোনো deployment-এ যাবে।"</a:t>
            </a:r>
          </a:p>
          <a:p>
            <a:r>
              <a:t>আর ব্যবহারিক ফলটা বলুন: "সেভ করা widget refresh করলে মডেল লাগে না,</a:t>
            </a:r>
          </a:p>
          <a:p>
            <a:r>
              <a:t>তাই ওটা কার্যত সাথে সাথে।"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এটাই আপনার সবচেয়ে শক্ত স্লাইড — সময় দিন।</a:t>
            </a:r>
          </a:p>
          <a:p>
            <a:r>
              <a:t>আগে পরীক্ষার ন্যায্যতা প্রতিষ্ঠা করুন: "একই মডেল, একই gateway, একই ৫০০</a:t>
            </a:r>
          </a:p>
          <a:p>
            <a:r>
              <a:t>প্রশ্ন, একই ডেটাবেস। পার্থক্য একটাই — query কে লেখে।"</a:t>
            </a:r>
          </a:p>
          <a:p>
            <a:r>
              <a:t>তারপর মাঝের সারিতে আঙুল রাখুন: "৪% বনাম ৩৩%। যে প্রশ্নের উত্তর ডেটায় নেই,</a:t>
            </a:r>
          </a:p>
          <a:p>
            <a:r>
              <a:t>অনিয়ন্ত্রিত মডেল প্রতি তিনবারে একবার তবু উত্তর দিয়েছে।"</a:t>
            </a:r>
          </a:p>
          <a:p>
            <a:r>
              <a:t>নিচের একটা উদাহরণ পড়ুন — forecast-এরটা সবচেয়ে ভালো: "অতীতের মাস যোগ</a:t>
            </a:r>
          </a:p>
          <a:p>
            <a:r>
              <a:t>করেছে। চলে, চার্ট হয়, কিন্তু forecast করে না।"</a:t>
            </a:r>
          </a:p>
          <a:p>
            <a:r>
              <a:t>শেষ বাক্যে দুটো শব্দে জোর দিন: "এটা আর্কিটেকচার কমায় না — সরিয়ে দেয়।"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কেন এটা ট্র্যাক ১-এর চেয়ে শক্ত — সেটাই প্রথমে।</a:t>
            </a:r>
          </a:p>
          <a:p>
            <a:r>
              <a:t>"৫০০ প্রশ্ন আমি লিখেছি। এই ২০টা আমি লিখিনি। তালিকাটা nopCommerce-এর নিজের</a:t>
            </a:r>
          </a:p>
          <a:p>
            <a:r>
              <a:t>admin menu, আর মিলিয়ে দেখার লক্ষ্য ওদের নিজের কোড, source থেকে পড়া।"</a:t>
            </a:r>
          </a:p>
          <a:p>
            <a:r>
              <a:t>দুটো চেকের পার্থক্য নিজে থেকে বলুন: "২০/২০ মানে শুধু SQL বেরিয়েছে —</a:t>
            </a:r>
          </a:p>
          <a:p>
            <a:r>
              <a:t>ওটা কোনো টেস্ট নয়। এই বিশটার কয়েকটা এক সময় ওই চেক পাস করেও ভুল ছিল।</a:t>
            </a:r>
          </a:p>
          <a:p>
            <a:r>
              <a:t>১৫/২০-টাই দাবি পরীক্ষা করে।"</a:t>
            </a:r>
          </a:p>
          <a:p>
            <a:r>
              <a:t>৭৫% নিয়ে প্রশ্নের অপেক্ষা করবেন না, আগেই বলুন: "পাঁচটা মেলেনি, কিন্তু</a:t>
            </a:r>
          </a:p>
          <a:p>
            <a:r>
              <a:t>কোনোটাই ভিন্ন মান দেয়নি। চারটার সারিসংখ্যা আলাদা — ওদের রিপোর্টে নিজস্ব</a:t>
            </a:r>
          </a:p>
          <a:p>
            <a:r>
              <a:t>limit বসানো; দুটোর লেবেল কলাম আলাদা — নাম বনাম ইমেইল।"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চারটা সারি দ্রুত, DBA-রটায় থামুন।</a:t>
            </a:r>
          </a:p>
          <a:p>
            <a:r>
              <a:t>"ব্যবসার লোক নিজেই প্রশ্ন করতে পারেন। ডেভেলপারের বারবার রিপোর্ট বানানো কমে।"</a:t>
            </a:r>
          </a:p>
          <a:p>
            <a:r>
              <a:t>DBA: "model-লেখা SQL audit করা কঠিন। এখানে শুধু অনুমোদিত metric, dimension</a:t>
            </a:r>
          </a:p>
          <a:p>
            <a:r>
              <a:t>আর join চলে — সবই version control-এ।"</a:t>
            </a:r>
          </a:p>
          <a:p>
            <a:r>
              <a:t>গবেষকদের জন্য: "ভাষা বোঝা আর query তৈরির অধিকার — দুটো আলাদা করা যায়,</a:t>
            </a:r>
          </a:p>
          <a:p>
            <a:r>
              <a:t>এটা দেখানো।"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আত্মরক্ষার সুরে নয়, স্পষ্ট করে বলুন।</a:t>
            </a:r>
          </a:p>
          <a:p>
            <a:r>
              <a:t>"nopCommerce, MySQL — semantic layer ইচ্ছে করেই সীমিত আর deployment-specific।"</a:t>
            </a:r>
          </a:p>
          <a:p>
            <a:r>
              <a:t>Spider/BIRD নিয়ে আগেই বলুন, কারণ প্রশ্নটা আসবেই:</a:t>
            </a:r>
          </a:p>
          <a:p>
            <a:r>
              <a:t>"ওগুলো অচেনা schema-তে generalisation মাপে। deployment-specific semantic</a:t>
            </a:r>
          </a:p>
          <a:p>
            <a:r>
              <a:t>layer সংজ্ঞাগতভাবেই তা করে না — তাই ওখানে মাপলে এমন জিনিস মাপা হতো</a:t>
            </a:r>
          </a:p>
          <a:p>
            <a:r>
              <a:t>যা এই আর্কিটেকচার দাবিই করে না।"</a:t>
            </a:r>
          </a:p>
          <a:p>
            <a:r>
              <a:t>model alias-এর কথাটাও নিজে বলুন: "gateway প্রতি রিকোয়েস্টে alias resolve</a:t>
            </a:r>
          </a:p>
          <a:p>
            <a:r>
              <a:t>করেছে, তাই রানটা এক মডেলে বাঁধা নয়। প্রতিটা সারিতে কোন মডেল দিয়েছে তা লেখা।"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স্লাইডের নামটাই আপনার ভঙ্গি — মাথা উঁচু রেখে বলুন।</a:t>
            </a:r>
          </a:p>
          <a:p>
            <a:r>
              <a:t>"পরীক্ষক জিজ্ঞেস করার আগে আমি নিজেই তুলছি।"</a:t>
            </a:r>
          </a:p>
          <a:p>
            <a:r>
              <a:t>পাঁচটা দ্রুত যান, দুটোয় থামুন:</a:t>
            </a:r>
          </a:p>
          <a:p>
            <a:r>
              <a:t>"correctness ২০টা রিপোর্টে মাপা, ৪২৫টা প্রশ্নে নয় — ওগুলোর জন্য দেখিয়েছি</a:t>
            </a:r>
          </a:p>
          <a:p>
            <a:r>
              <a:t>SQL চলে, প্রতিটা উত্তর সঠিক তা নয়।"</a:t>
            </a:r>
          </a:p>
          <a:p>
            <a:r>
              <a:t>"ক্যাটালগ ছোট — ১৭টা প্রোডাক্ট। অর্ডার-দিকের রিপোর্ট বাস্তব আয়তনে চলে,</a:t>
            </a:r>
          </a:p>
          <a:p>
            <a:r>
              <a:t>কিন্তু bestsellers-এর তালিকা ছোট ক্যাটালগে কম অর্থবহ।"</a:t>
            </a:r>
          </a:p>
          <a:p>
            <a:r>
              <a:t>এই স্লাইডটা দুর্বলতা নয় — এটাই দেখায় আপনি নিজের কাজ জানেন।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চারটা বুলেট পড়বেন না। তিন বাক্যে বলুন।</a:t>
            </a:r>
          </a:p>
          <a:p>
            <a:r>
              <a:t>"AEGIS মডেলকে ভাষা বোঝার কাজে রাখে, কিন্তু SQL লেখার অধিকার কেড়ে নেয়।"</a:t>
            </a:r>
          </a:p>
          <a:p>
            <a:r>
              <a:t>"সংজ্ঞাগুলো স্পষ্ট, auditable, আর পুনর্ব্যবহারযোগ্য।"</a:t>
            </a:r>
          </a:p>
          <a:p>
            <a:r>
              <a:t>"আর এটা শুধু ধারণা নয় — প্রোটোটাইপ, ৫০০ প্রশ্ন, আর প্ল্যাটফর্মের নিজের</a:t>
            </a:r>
          </a:p>
          <a:p>
            <a:r>
              <a:t>রিপোর্টের বিপরীতে differential দিয়ে মেপে দেখানো।"</a:t>
            </a:r>
          </a:p>
          <a:p>
            <a:r>
              <a:t>মূল অবদান এক বাক্যে: "নিরাপদ LLM-সহায়ক ন্যাচারাল ল্যাঙ্গুয়েজ অ্যানালিটিক্সের</a:t>
            </a:r>
          </a:p>
          <a:p>
            <a:r>
              <a:t>জন্য একটা constraint-based আর্কিটেকচার।"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দ্রুত যান — এটা শেষের দিকের স্লাইড, কমিটি ততক্ষণে প্রশ্নের জন্য তৈরি।</a:t>
            </a:r>
          </a:p>
          <a:p>
            <a:r>
              <a:t>সবচেয়ে শক্ত পয়েন্টটা প্রথমে বলুন: "শুধু semantic layer বদলে অন্য একটা</a:t>
            </a:r>
          </a:p>
          <a:p>
            <a:r>
              <a:t>ই-কমার্স সিস্টেমে চালানো — এটাই পরবর্তী আসল পরীক্ষা, কারণ এতেই প্রমাণ হবে</a:t>
            </a:r>
          </a:p>
          <a:p>
            <a:r>
              <a:t>আর্কিটেকচারটা schema-নিরপেক্ষ।"</a:t>
            </a:r>
          </a:p>
          <a:p>
            <a:r>
              <a:t>বাকিগুলো এক নিঃশ্বাসে: আরও oracle রিপোর্ট, PostgreSQL ও SQL Server,</a:t>
            </a:r>
          </a:p>
          <a:p>
            <a:r>
              <a:t>clarification আচরণ, চার্ট সুপারিশ।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থামবেন না, পড়বেন না।</a:t>
            </a:r>
          </a:p>
          <a:p>
            <a:r>
              <a:t>"রেফারেন্সগুলো এখানে আছে" বলে পরের স্লাইডে যান।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ধন্যবাদ দিন, তারপর চুপ করুন।</a:t>
            </a:r>
          </a:p>
          <a:p>
            <a:r>
              <a:t>"শুনবার জন্য ধন্যবাদ। প্রশ্ন থাকলে করতে পারেন।"</a:t>
            </a:r>
          </a:p>
          <a:p>
            <a:r>
              <a:t>তারপর সত্যিই থামুন — নিজের কথায় ফাঁক ভরাট করবেন না।</a:t>
            </a:r>
          </a:p>
          <a:p>
            <a:r>
              <a:t>মনে রাখবেন: তিনটা appendix স্লাইড পেছনে আছে — semantic layer ফাইল,</a:t>
            </a:r>
          </a:p>
          <a:p>
            <a:r>
              <a:t>compiler কোড, আর constrained decoding-এর তুলনা। প্রশ্ন এলে ওগুলোয় যান।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শুধু প্রশ্ন এলে দেখাবেন — "সংজ্ঞাগুলো কোথায়?" বা "কে ঠিক করে revenue মানে কী?"</a:t>
            </a:r>
          </a:p>
          <a:p>
            <a:r>
              <a:t>বলুন: "এটা আমার লেখা একটা ফাইল। মডেল এটা তৈরি করে না, বদলাতেও পারে না।</a:t>
            </a:r>
          </a:p>
          <a:p>
            <a:r>
              <a:t>নতুন metric লাগলে আমি এখানে লিখি — মডেলকে নতুন করে কিছু শেখাতে হয় না।"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প্রশ্ন এলে দেখাবেন — "compiler আসলে কী করে?" বা "SQL কোথা থেকে আসে?"</a:t>
            </a:r>
          </a:p>
          <a:p>
            <a:r>
              <a:t>কোডে আঙুল রেখে বলুন: "এই f-string-এ কী কী পরিবর্তনশীল দেখুন। expression</a:t>
            </a:r>
          </a:p>
          <a:p>
            <a:r>
              <a:t>আসে আমার config থেকে, join আসে আমার graph থেকে, আর ইউজারের প্রতিটা মান</a:t>
            </a:r>
          </a:p>
          <a:p>
            <a:r>
              <a:t>যায় bound parameter হিসেবে।"</a:t>
            </a:r>
          </a:p>
          <a:p>
            <a:r>
              <a:t>শেষ বাক্য: "ইউজার বা মডেলের কোনো স্ট্রিং কখনো SQL-এর কাঠামোয় জোড়া লাগে না।"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প্রশ্ন এলে দেখাবেন — "PICARD-এর মতো constrained decoding করলেন না কেন?"</a:t>
            </a:r>
          </a:p>
          <a:p>
            <a:r>
              <a:t>মূল পার্থক্যটা বলুন: "constrained decoding নিশ্চিত করে SQL-টা বৈধ।</a:t>
            </a:r>
          </a:p>
          <a:p>
            <a:r>
              <a:t>কিন্তু বৈধ SQL-ও ভুল টেবিল পড়তে পারে, ভুল সংজ্ঞা ব্যবহার করতে পারে,</a:t>
            </a:r>
          </a:p>
          <a:p>
            <a:r>
              <a:t>row-level নিয়ম অগ্রাহ্য করতে পারে।"</a:t>
            </a:r>
          </a:p>
          <a:p>
            <a:r>
              <a:t>তারপর: "টেমপ্লেট syntax নিয়ন্ত্রণ করে না — কোন প্রশ্নগুলো আদৌ জিজ্ঞেস করা</a:t>
            </a:r>
          </a:p>
          <a:p>
            <a:r>
              <a:t>যাবে সেটা নিয়ন্ত্রণ করে। ওটা ভিন্ন আর শক্ত গ্যারান্টি।"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9010A2-2799-FE5F-7ED3-EB6017D4A16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DFDB441-FC1F-DE44-F6CE-9071CC1BB9B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399C45D-883E-7779-00CB-DBC9446D19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B26F32-91A8-4340-868D-5E0A85BEE796}" type="datetime2">
              <a:rPr lang="en-US" smtClean="0"/>
              <a:t>Monday, January 5, 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AD1568B-516F-8789-445D-64FD01EABD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691F1F7-A3B0-7732-298C-5AA7838DF9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B5837F-C97E-4545-805A-A81BC2BC5EE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457909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B5FF4E-617C-962C-941E-340049DCD5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D138BE-F1A8-1373-5286-AABA55AAB9A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6910DC0-4A9D-C5CF-F3D5-178353D0CA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5A2554-468B-44E7-959E-8F3376471EAD}" type="datetime2">
              <a:rPr lang="en-US" smtClean="0"/>
              <a:t>Monday, January 5, 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56BBE8E-91E4-ED3B-758D-71E53DC605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1F98918-B618-D501-E52B-6715935ACB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B5837F-C97E-4545-805A-A81BC2BC5EE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06200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A0F9C9-C56B-F97A-7A67-5F80EF6599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7DD72EF-0371-4EF3-F13B-00B9A9A2888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422793C-09E8-86E9-6545-F087C62A7C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B59EFF-22CB-4D13-B295-F8753D08A73B}" type="datetime2">
              <a:rPr lang="en-US" smtClean="0"/>
              <a:t>Monday, January 5, 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4A0B9DE-F9AF-C044-B742-EE46DA54C5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532D79C-9841-FDA0-404A-39F5A0A2B6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B5837F-C97E-4545-805A-A81BC2BC5EE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315960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54FE28-B718-D71C-2EA9-1B632A6367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C8EE841-31A1-54CE-183E-5A44AAFA392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573B3D6-8DC7-44CC-9B9B-B93034578A9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54ECBA-B5CC-A31F-146E-6A782EECF5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55A188-44D0-4F09-95D3-72A118F02586}" type="datetime2">
              <a:rPr lang="en-US" smtClean="0"/>
              <a:t>Monday, January 5, 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0FC95A0-8502-DDB7-350B-6903964052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Computer Science &amp; Engineering, PUB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8C0FE03-C2CF-FF0D-DA8E-6C168AD822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B5837F-C97E-4545-805A-A81BC2BC5EE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85692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B391A6-EBFE-2902-D783-CC57008B1D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DDF28CB-12B2-F1D2-C8B6-22F92B2B71D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C6B5252-2284-738C-D8D3-FDA5C61CFC1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061ED42-0717-CEDF-F130-83B329241A5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1E235ED-66DF-805B-6261-6000A6BB05A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0E731C4-35E1-2943-49BF-A9F49F00C5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53173E-BCA8-4A3A-AC75-A00FF2F39098}" type="datetime2">
              <a:rPr lang="en-US" smtClean="0"/>
              <a:t>Monday, January 5, 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578AF73-A3F6-154D-BBC0-390E586539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Computer Science &amp; Engineering, PUB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E319234-EC89-C0B4-E246-54794909DD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B5837F-C97E-4545-805A-A81BC2BC5EE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961424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D0A47B-3B21-F564-4C44-F3F39C8CDF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948F16C-025D-E8CF-C55B-9A48EA5D02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8D53B1-6CA6-43AD-AFC7-3BAAD7905353}" type="datetime2">
              <a:rPr lang="en-US" smtClean="0"/>
              <a:t>Monday, January 5, 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086437C-4EC8-2BEE-1B01-39179C281B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Computer Science &amp; Engineering, PUB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529B9CD-31B6-F216-04D7-2D8490988F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B5837F-C97E-4545-805A-A81BC2BC5EE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197879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C5D2B2E-62E1-D996-0F7D-965298FD88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161911-596A-4E6F-AD9C-B71EEA0CF3A6}" type="datetime2">
              <a:rPr lang="en-US" smtClean="0"/>
              <a:t>Monday, January 5, 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5718A65-0619-BBB3-D0F3-1A04A23521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Computer Science &amp; Engineering, PUB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62E0F82-47F7-3C1D-3991-A97DD02212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B5837F-C97E-4545-805A-A81BC2BC5EE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132188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8AFD86-268A-E8B1-DF2B-67C9077B41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599890-208F-07F8-6D61-A8A5E54507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865E985-C31A-EC84-643D-A298C147F68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988AD1E-D15F-13DF-D0EE-3045E9BD97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C82B00-7004-42D2-934B-515D1C4746E6}" type="datetime2">
              <a:rPr lang="en-US" smtClean="0"/>
              <a:t>Monday, January 5, 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8A0CA75-AA80-CA9F-0583-3D76A1D1EB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Computer Science &amp; Engineering, PUB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873539F-6D07-DFE8-9D8E-4D0C9B7DFA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B5837F-C97E-4545-805A-A81BC2BC5EE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505109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E43D71-67DB-BE48-8413-73578AF97B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C5F6471-82C4-C1F2-457E-5700D30BEAA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DEDCB74-DE1A-64CE-E074-6211862034E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E2EFCFA-3DB2-F7EC-E730-4AAEBE53AE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C2A020-4EAE-4E4F-8C9E-951F4F971C76}" type="datetime2">
              <a:rPr lang="en-US" smtClean="0"/>
              <a:t>Monday, January 5, 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BDC0783-E417-3900-5A15-F51D98BC1B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Computer Science &amp; Engineering, PUB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F6B4EA3-183F-C894-634E-C87BFD3063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B5837F-C97E-4545-805A-A81BC2BC5EE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62460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D1E11E-BBAC-E306-F0F6-8C56428592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05E9375-E4F8-5E47-F749-0E43582A325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CD69470-97B2-066F-3D3E-E9A4FB0264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1C06AA-0BDC-429B-AE85-E36D6466E38F}" type="datetime2">
              <a:rPr lang="en-US" smtClean="0"/>
              <a:t>Monday, January 5, 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0706243-198A-3AF4-6167-B23E62CC72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F4819B-7F1A-1712-57FD-A38659BB87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B5837F-C97E-4545-805A-A81BC2BC5EE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401684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32B1DF7-140F-18DE-6C89-ED937C3F58D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5AED161-72AA-0748-E7D9-A9002D3E617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D42EE77-787F-8250-D203-870E3BDCC6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11CE58-21A7-48A7-8899-442DC8E1F8DD}" type="datetime2">
              <a:rPr lang="en-US" smtClean="0"/>
              <a:t>Monday, January 5, 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55A889-6AB3-60FB-051F-B1DD3B910B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C774A74-18F7-DE41-0F12-EABFBBB6F4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B5837F-C97E-4545-805A-A81BC2BC5EE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829924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0ED10EF-3C6F-5653-1C40-257FA515FA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FF79F23-7CA2-A3B1-C6F7-BBA7DE0077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B6A714A-5F1A-95E3-6CA0-47E2358F4C5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2E878E-58C3-45D4-9533-4D4E368A52BC}" type="datetime2">
              <a:rPr lang="en-US" smtClean="0"/>
              <a:t>Monday, January 5, 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217EFD6-72B9-7DEE-473C-C500D5DC1AF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D0DB06F-F648-F322-F9B5-75140107461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4B5837F-C97E-4545-805A-A81BC2BC5EE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583857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9.xml"/><Relationship Id="rId4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0.xml"/><Relationship Id="rId4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1.xml"/><Relationship Id="rId4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7.xml"/><Relationship Id="rId4" Type="http://schemas.openxmlformats.org/officeDocument/2006/relationships/image" Target="../media/image5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7" name="Rectangle 6">
            <a:extLst>
              <a:ext uri="{FF2B5EF4-FFF2-40B4-BE49-F238E27FC236}">
                <a16:creationId xmlns:a16="http://schemas.microsoft.com/office/drawing/2014/main" id="{86E891FF-ACD8-A286-1B16-C741C516BE9D}"/>
              </a:ext>
            </a:extLst>
          </p:cNvPr>
          <p:cNvSpPr/>
          <p:nvPr/>
        </p:nvSpPr>
        <p:spPr>
          <a:xfrm>
            <a:off x="0" y="5946468"/>
            <a:ext cx="12192000" cy="931409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23E7505-B103-38D8-46D8-4E396DB4C8E4}"/>
              </a:ext>
            </a:extLst>
          </p:cNvPr>
          <p:cNvSpPr/>
          <p:nvPr/>
        </p:nvSpPr>
        <p:spPr>
          <a:xfrm>
            <a:off x="0" y="0"/>
            <a:ext cx="12192000" cy="3655326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3939" y="2331720"/>
            <a:ext cx="9144000" cy="1097280"/>
          </a:xfrm>
        </p:spPr>
        <p:txBody>
          <a:bodyPr/>
          <a:lstStyle/>
          <a:p>
            <a:pPr algn="ctr">
              <a:lnSpc>
                <a:spcPct val="112000"/>
              </a:lnSpc>
              <a:defRPr b="1" sz="3100">
                <a:solidFill>
                  <a:srgbClr val="003366"/>
                </a:solidFill>
                <a:latin typeface="Times New Roman"/>
              </a:defRPr>
            </a:pPr>
            <a:r>
              <a:rPr/>
              <a:t>AEGIS: A Constraint-Based Architecture for Safe</a:t>
            </a:r>
          </a:p>
          <a:p>
            <a:pPr algn="ctr">
              <a:lnSpc>
                <a:spcPct val="112000"/>
              </a:lnSpc>
              <a:defRPr b="1" sz="3100">
                <a:solidFill>
                  <a:srgbClr val="003366"/>
                </a:solidFill>
                <a:latin typeface="Times New Roman"/>
              </a:defRPr>
            </a:pPr>
            <a:r>
              <a:rPr/>
              <a:t>LLM-Assisted Natural Language Analytics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/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9203" y="641463"/>
            <a:ext cx="753594" cy="74608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282222" y="5504688"/>
            <a:ext cx="5627553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>
                <a:latin typeface="Times New Roman"/>
              </a:defRPr>
            </a:pPr>
            <a:r>
              <a:rPr/>
              <a:t>Department of Computer Science &amp; Engineering</a:t>
            </a:r>
          </a:p>
          <a:p>
            <a:pPr algn="ctr">
              <a:defRPr sz="1200">
                <a:latin typeface="Times New Roman"/>
              </a:defRPr>
            </a:pPr>
            <a:r>
              <a:rPr/>
              <a:t>Pundra University of Science &amp; Technology, Bogura - 5800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23939" y="1671980"/>
            <a:ext cx="9144000" cy="40498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>
                <a:latin typeface="Times New Roman"/>
              </a:defRPr>
            </a:pPr>
            <a:r>
              <a:rPr/>
              <a:t>Final Defense Presentation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27048" y="3712463"/>
            <a:ext cx="3886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i="1">
                <a:latin typeface="Times New Roman"/>
              </a:defRPr>
            </a:pPr>
            <a:r>
              <a:rPr/>
              <a:t>Presented By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7048" y="4041648"/>
            <a:ext cx="3886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defRPr sz="2000" b="1">
                <a:latin typeface="Times New Roman"/>
              </a:defRPr>
            </a:pPr>
            <a:r>
              <a:rPr/>
              <a:t>Md. Riaz</a:t>
            </a:r>
          </a:p>
          <a:p>
            <a:pPr>
              <a:lnSpc>
                <a:spcPct val="105000"/>
              </a:lnSpc>
              <a:defRPr sz="1400" b="0">
                <a:latin typeface="Times New Roman"/>
              </a:defRPr>
            </a:pPr>
            <a:r>
              <a:rPr/>
              <a:t>Program: B.Sc. in CSE (Diploma)</a:t>
            </a:r>
          </a:p>
          <a:p>
            <a:pPr>
              <a:lnSpc>
                <a:spcPct val="105000"/>
              </a:lnSpc>
              <a:defRPr sz="1400" b="0">
                <a:latin typeface="Times New Roman"/>
              </a:defRPr>
            </a:pPr>
            <a:r>
              <a:rPr/>
              <a:t>ID: 0322310105101024</a:t>
            </a:r>
          </a:p>
          <a:p>
            <a:pPr>
              <a:lnSpc>
                <a:spcPct val="105000"/>
              </a:lnSpc>
              <a:defRPr sz="1400" b="0">
                <a:latin typeface="Times New Roman"/>
              </a:defRPr>
            </a:pPr>
            <a:r>
              <a:rPr/>
              <a:t>Batch: 16th</a:t>
            </a:r>
          </a:p>
          <a:p>
            <a:pPr>
              <a:lnSpc>
                <a:spcPct val="105000"/>
              </a:lnSpc>
              <a:defRPr sz="1400" b="0">
                <a:latin typeface="Times New Roman"/>
              </a:defRPr>
            </a:pPr>
            <a:r>
              <a:rPr/>
              <a:t>8th Semester / 4th Year</a:t>
            </a:r>
          </a:p>
          <a:p>
            <a:pPr>
              <a:lnSpc>
                <a:spcPct val="105000"/>
              </a:lnSpc>
              <a:defRPr sz="1400" b="0">
                <a:latin typeface="Times New Roman"/>
              </a:defRPr>
            </a:pPr>
            <a:r>
              <a:rPr/>
              <a:t>Session: Spring - 2023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69480" y="3712463"/>
            <a:ext cx="3886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i="1">
                <a:latin typeface="Times New Roman"/>
              </a:defRPr>
            </a:pPr>
            <a:r>
              <a:rPr/>
              <a:t>Supervised By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69480" y="4041648"/>
            <a:ext cx="3886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defRPr sz="2000" b="1">
                <a:latin typeface="Times New Roman"/>
              </a:defRPr>
            </a:pPr>
            <a:r>
              <a:rPr/>
              <a:t>Mst. Sahela Rahman</a:t>
            </a:r>
          </a:p>
          <a:p>
            <a:pPr>
              <a:lnSpc>
                <a:spcPct val="105000"/>
              </a:lnSpc>
              <a:defRPr sz="1400" b="0">
                <a:latin typeface="Times New Roman"/>
              </a:defRPr>
            </a:pPr>
            <a:r>
              <a:rPr/>
              <a:t>Lecturer</a:t>
            </a:r>
          </a:p>
          <a:p>
            <a:pPr>
              <a:lnSpc>
                <a:spcPct val="105000"/>
              </a:lnSpc>
              <a:defRPr sz="1400" b="0">
                <a:latin typeface="Times New Roman"/>
              </a:defRPr>
            </a:pPr>
            <a:r>
              <a:rPr/>
              <a:t>Dept. of CSE, PUB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1" name="Rectangle 10">
            <a:extLst>
              <a:ext uri="{FF2B5EF4-FFF2-40B4-BE49-F238E27FC236}">
                <a16:creationId xmlns:a16="http://schemas.microsoft.com/office/drawing/2014/main" id="{D059D760-A365-91EB-B942-587B657A477E}"/>
              </a:ext>
            </a:extLst>
          </p:cNvPr>
          <p:cNvSpPr/>
          <p:nvPr/>
        </p:nvSpPr>
        <p:spPr>
          <a:xfrm>
            <a:off x="-1" y="1500807"/>
            <a:ext cx="12191999" cy="18288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40000"/>
                  <a:lumOff val="60000"/>
                </a:schemeClr>
              </a:gs>
              <a:gs pos="36000">
                <a:schemeClr val="accent1">
                  <a:lumMod val="95000"/>
                  <a:lumOff val="5000"/>
                </a:schemeClr>
              </a:gs>
              <a:gs pos="100000">
                <a:schemeClr val="tx2">
                  <a:lumMod val="50000"/>
                </a:schemeClr>
              </a:gs>
            </a:gsLst>
            <a:path path="circle">
              <a:fillToRect l="50000" t="130000" r="50000" b="-3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7F49795-9FC6-D65C-AAE9-247F6DF3DA3F}"/>
              </a:ext>
            </a:extLst>
          </p:cNvPr>
          <p:cNvSpPr/>
          <p:nvPr/>
        </p:nvSpPr>
        <p:spPr>
          <a:xfrm>
            <a:off x="0" y="6291468"/>
            <a:ext cx="12192000" cy="586409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27AE48-C47C-33FE-8F56-0AA4260C9B62}"/>
              </a:ext>
            </a:extLst>
          </p:cNvPr>
          <p:cNvSpPr/>
          <p:nvPr/>
        </p:nvSpPr>
        <p:spPr>
          <a:xfrm>
            <a:off x="0" y="0"/>
            <a:ext cx="12192000" cy="150080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8720" y="365760"/>
            <a:ext cx="9601200" cy="731520"/>
          </a:xfrm>
        </p:spPr>
        <p:txBody>
          <a:bodyPr/>
          <a:lstStyle/>
          <a:p>
            <a:pPr>
              <a:defRPr b="1" sz="2400">
                <a:solidFill>
                  <a:srgbClr val="003366"/>
                </a:solidFill>
                <a:latin typeface="Times New Roman"/>
              </a:defRPr>
            </a:pPr>
            <a:r>
              <a:t>Outline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874" y="457199"/>
            <a:ext cx="592309" cy="586409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2A3C15-2DFB-89FB-3AD7-611F4E0BA4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Tuesday, August 18,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B89723-33F1-15E2-783B-D602C9620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04B3F8-8A1A-BE19-5C71-AE319E3DCF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17320" y="1600200"/>
            <a:ext cx="9418320" cy="4389120"/>
          </a:xfrm>
          <a:prstGeom prst="rect">
            <a:avLst/>
          </a:prstGeom>
          <a:noFill/>
        </p:spPr>
        <p:txBody>
          <a:bodyPr wrap="square" anchor="t" lIns="0" tIns="0" rIns="0">
            <a:spAutoFit/>
          </a:bodyPr>
          <a:lstStyle/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650">
                <a:solidFill>
                  <a:srgbClr val="333333"/>
                </a:solidFill>
                <a:latin typeface="Times New Roman"/>
              </a:rPr>
              <a:t>1. Introduction and Problem Statement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650">
                <a:solidFill>
                  <a:srgbClr val="333333"/>
                </a:solidFill>
                <a:latin typeface="Times New Roman"/>
              </a:rPr>
              <a:t>2. The Idea in One Picture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650">
                <a:solidFill>
                  <a:srgbClr val="333333"/>
                </a:solidFill>
                <a:latin typeface="Times New Roman"/>
              </a:rPr>
              <a:t>3. Literature Review and Research Gap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650">
                <a:solidFill>
                  <a:srgbClr val="333333"/>
                </a:solidFill>
                <a:latin typeface="Times New Roman"/>
              </a:rPr>
              <a:t>4. Objectives and Methodology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650">
                <a:solidFill>
                  <a:srgbClr val="333333"/>
                </a:solidFill>
                <a:latin typeface="Times New Roman"/>
              </a:rPr>
              <a:t>5. AEGIS Architecture (Stages 1-7)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650">
                <a:solidFill>
                  <a:srgbClr val="333333"/>
                </a:solidFill>
                <a:latin typeface="Times New Roman"/>
              </a:rPr>
              <a:t>6. Semantic Layer and Compiler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650">
                <a:solidFill>
                  <a:srgbClr val="333333"/>
                </a:solidFill>
                <a:latin typeface="Times New Roman"/>
              </a:rPr>
              <a:t>7. Query-to-SQL Walkthrough, Including Joins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650">
                <a:solidFill>
                  <a:srgbClr val="333333"/>
                </a:solidFill>
                <a:latin typeface="Times New Roman"/>
              </a:rPr>
              <a:t>8. Prototype Implementation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1" i="0" sz="1650">
                <a:solidFill>
                  <a:srgbClr val="003366"/>
                </a:solidFill>
                <a:latin typeface="Times New Roman"/>
              </a:rPr>
              <a:t>9. Evaluation:</a:t>
            </a:r>
            <a:r>
              <a:rPr b="0" i="0" sz="1650">
                <a:solidFill>
                  <a:srgbClr val="333333"/>
                </a:solidFill>
                <a:latin typeface="Times New Roman"/>
              </a:rPr>
              <a:t> 500 Questions and 20 Admin Reports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650">
                <a:solidFill>
                  <a:srgbClr val="333333"/>
                </a:solidFill>
                <a:latin typeface="Times New Roman"/>
              </a:rPr>
              <a:t>10. Limitations, Conclusion, and Future Work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1" i="0" sz="1650">
                <a:solidFill>
                  <a:srgbClr val="003366"/>
                </a:solidFill>
                <a:latin typeface="Times New Roman"/>
              </a:rPr>
              <a:t>11. Appendix:</a:t>
            </a:r>
            <a:r>
              <a:rPr b="0" i="0" sz="1650">
                <a:solidFill>
                  <a:srgbClr val="333333"/>
                </a:solidFill>
                <a:latin typeface="Times New Roman"/>
              </a:rPr>
              <a:t> Schema, Semantic Layer, Compiler Code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1" name="Rectangle 10">
            <a:extLst>
              <a:ext uri="{FF2B5EF4-FFF2-40B4-BE49-F238E27FC236}">
                <a16:creationId xmlns:a16="http://schemas.microsoft.com/office/drawing/2014/main" id="{D059D760-A365-91EB-B942-587B657A477E}"/>
              </a:ext>
            </a:extLst>
          </p:cNvPr>
          <p:cNvSpPr/>
          <p:nvPr/>
        </p:nvSpPr>
        <p:spPr>
          <a:xfrm>
            <a:off x="-1" y="1500807"/>
            <a:ext cx="12191999" cy="18288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40000"/>
                  <a:lumOff val="60000"/>
                </a:schemeClr>
              </a:gs>
              <a:gs pos="36000">
                <a:schemeClr val="accent1">
                  <a:lumMod val="95000"/>
                  <a:lumOff val="5000"/>
                </a:schemeClr>
              </a:gs>
              <a:gs pos="100000">
                <a:schemeClr val="tx2">
                  <a:lumMod val="50000"/>
                </a:schemeClr>
              </a:gs>
            </a:gsLst>
            <a:path path="circle">
              <a:fillToRect l="50000" t="130000" r="50000" b="-3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7F49795-9FC6-D65C-AAE9-247F6DF3DA3F}"/>
              </a:ext>
            </a:extLst>
          </p:cNvPr>
          <p:cNvSpPr/>
          <p:nvPr/>
        </p:nvSpPr>
        <p:spPr>
          <a:xfrm>
            <a:off x="0" y="6291468"/>
            <a:ext cx="12192000" cy="586409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27AE48-C47C-33FE-8F56-0AA4260C9B62}"/>
              </a:ext>
            </a:extLst>
          </p:cNvPr>
          <p:cNvSpPr/>
          <p:nvPr/>
        </p:nvSpPr>
        <p:spPr>
          <a:xfrm>
            <a:off x="0" y="0"/>
            <a:ext cx="12192000" cy="150080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8720" y="365760"/>
            <a:ext cx="9601200" cy="731520"/>
          </a:xfrm>
        </p:spPr>
        <p:txBody>
          <a:bodyPr/>
          <a:lstStyle/>
          <a:p>
            <a:pPr>
              <a:defRPr b="1" sz="2400">
                <a:solidFill>
                  <a:srgbClr val="003366"/>
                </a:solidFill>
                <a:latin typeface="Times New Roman"/>
              </a:defRPr>
            </a:pPr>
            <a:r>
              <a:t>Introduction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874" y="457199"/>
            <a:ext cx="592309" cy="586409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2A3C15-2DFB-89FB-3AD7-611F4E0BA4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Tuesday, August 18,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B89723-33F1-15E2-783B-D602C9620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04B3F8-8A1A-BE19-5C71-AE319E3DCF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1572768"/>
            <a:ext cx="10058400" cy="4663440"/>
          </a:xfrm>
          <a:prstGeom prst="rect">
            <a:avLst/>
          </a:prstGeom>
          <a:noFill/>
        </p:spPr>
        <p:txBody>
          <a:bodyPr wrap="square" anchor="t" lIns="0" tIns="0" rIns="0">
            <a:spAutoFit/>
          </a:bodyPr>
          <a:lstStyle/>
          <a:p>
            <a:pPr marL="0" indent="0">
              <a:lnSpc>
                <a:spcPct val="108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1900">
                <a:solidFill>
                  <a:srgbClr val="003366"/>
                </a:solidFill>
                <a:latin typeface="Times New Roman"/>
              </a:rPr>
              <a:t>Motivation: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600">
                <a:solidFill>
                  <a:srgbClr val="333333"/>
                </a:solidFill>
                <a:latin typeface="Times New Roman"/>
              </a:rPr>
              <a:t>- E-commerce systems store rich operational data, but built-in dashboards answer only a fixed set of questions.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600">
                <a:solidFill>
                  <a:srgbClr val="333333"/>
                </a:solidFill>
                <a:latin typeface="Times New Roman"/>
              </a:rPr>
              <a:t>- When users need new analytical combinations, the request usually depends on a developer or BI person to translate it into report logic.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600">
                <a:solidFill>
                  <a:srgbClr val="333333"/>
                </a:solidFill>
                <a:latin typeface="Times New Roman"/>
              </a:rPr>
              <a:t>- Natural language analytics can reduce that delay for managers, sales teams, and administrators.</a:t>
            </a:r>
          </a:p>
          <a:p>
            <a:pPr marL="0" indent="0">
              <a:lnSpc>
                <a:spcPct val="108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1900">
                <a:solidFill>
                  <a:srgbClr val="003366"/>
                </a:solidFill>
                <a:latin typeface="Times New Roman"/>
              </a:rPr>
              <a:t>Central Tension: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600">
                <a:solidFill>
                  <a:srgbClr val="333333"/>
                </a:solidFill>
                <a:latin typeface="Times New Roman"/>
              </a:rPr>
              <a:t>- Direct LLM-to-SQL systems are flexible, but the model writes executable database code.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600">
                <a:solidFill>
                  <a:srgbClr val="333333"/>
                </a:solidFill>
                <a:latin typeface="Times New Roman"/>
              </a:rPr>
              <a:t>- A safe analytics system should understand the question without giving the model authority to create arbitrary SQL.</a:t>
            </a:r>
          </a:p>
          <a:p>
            <a:pPr marL="0" indent="0">
              <a:lnSpc>
                <a:spcPct val="108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1900">
                <a:solidFill>
                  <a:srgbClr val="003366"/>
                </a:solidFill>
                <a:latin typeface="Times New Roman"/>
              </a:rPr>
              <a:t>AEGIS Direction: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600">
                <a:solidFill>
                  <a:srgbClr val="333333"/>
                </a:solidFill>
                <a:latin typeface="Times New Roman"/>
              </a:rPr>
              <a:t>- Use the LLM for intent extraction only.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600">
                <a:solidFill>
                  <a:srgbClr val="333333"/>
                </a:solidFill>
                <a:latin typeface="Times New Roman"/>
              </a:rPr>
              <a:t>- Use deterministic semantic mapping and SQL compilation for execution.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1" name="Rectangle 10">
            <a:extLst>
              <a:ext uri="{FF2B5EF4-FFF2-40B4-BE49-F238E27FC236}">
                <a16:creationId xmlns:a16="http://schemas.microsoft.com/office/drawing/2014/main" id="{D059D760-A365-91EB-B942-587B657A477E}"/>
              </a:ext>
            </a:extLst>
          </p:cNvPr>
          <p:cNvSpPr/>
          <p:nvPr/>
        </p:nvSpPr>
        <p:spPr>
          <a:xfrm>
            <a:off x="-1" y="1500807"/>
            <a:ext cx="12191999" cy="18288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40000"/>
                  <a:lumOff val="60000"/>
                </a:schemeClr>
              </a:gs>
              <a:gs pos="36000">
                <a:schemeClr val="accent1">
                  <a:lumMod val="95000"/>
                  <a:lumOff val="5000"/>
                </a:schemeClr>
              </a:gs>
              <a:gs pos="100000">
                <a:schemeClr val="tx2">
                  <a:lumMod val="50000"/>
                </a:schemeClr>
              </a:gs>
            </a:gsLst>
            <a:path path="circle">
              <a:fillToRect l="50000" t="130000" r="50000" b="-3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7F49795-9FC6-D65C-AAE9-247F6DF3DA3F}"/>
              </a:ext>
            </a:extLst>
          </p:cNvPr>
          <p:cNvSpPr/>
          <p:nvPr/>
        </p:nvSpPr>
        <p:spPr>
          <a:xfrm>
            <a:off x="0" y="6291468"/>
            <a:ext cx="12192000" cy="586409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27AE48-C47C-33FE-8F56-0AA4260C9B62}"/>
              </a:ext>
            </a:extLst>
          </p:cNvPr>
          <p:cNvSpPr/>
          <p:nvPr/>
        </p:nvSpPr>
        <p:spPr>
          <a:xfrm>
            <a:off x="0" y="0"/>
            <a:ext cx="12192000" cy="150080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8720" y="365760"/>
            <a:ext cx="9601200" cy="731520"/>
          </a:xfrm>
        </p:spPr>
        <p:txBody>
          <a:bodyPr/>
          <a:lstStyle/>
          <a:p>
            <a:pPr>
              <a:defRPr b="1" sz="2400">
                <a:solidFill>
                  <a:srgbClr val="003366"/>
                </a:solidFill>
                <a:latin typeface="Times New Roman"/>
              </a:defRPr>
            </a:pPr>
            <a:r>
              <a:t>Problem Statement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874" y="457199"/>
            <a:ext cx="592309" cy="586409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2A3C15-2DFB-89FB-3AD7-611F4E0BA4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Tuesday, August 18,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B89723-33F1-15E2-783B-D602C9620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04B3F8-8A1A-BE19-5C71-AE319E3DCF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1755648"/>
            <a:ext cx="10058400" cy="4005072"/>
          </a:xfrm>
          <a:prstGeom prst="rect">
            <a:avLst/>
          </a:prstGeom>
          <a:noFill/>
        </p:spPr>
        <p:txBody>
          <a:bodyPr wrap="square" anchor="t" lIns="0" tIns="0" rIns="0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b="1" i="0" sz="1700">
                <a:solidFill>
                  <a:srgbClr val="333333"/>
                </a:solidFill>
                <a:latin typeface="Times New Roman"/>
              </a:rPr>
              <a:t>Current Generative NL2SQL approaches have 3 structural vulnerability classes:</a:t>
            </a:r>
          </a:p>
          <a:p>
            <a:pPr>
              <a:lnSpc>
                <a:spcPct val="108000"/>
              </a:lnSpc>
              <a:spcBef>
                <a:spcPts val="800"/>
              </a:spcBef>
              <a:spcAft>
                <a:spcPts val="500"/>
              </a:spcAft>
            </a:pPr>
            <a:r>
              <a:rPr b="1" i="0" sz="1600">
                <a:solidFill>
                  <a:srgbClr val="333333"/>
                </a:solidFill>
                <a:latin typeface="Times New Roman"/>
              </a:rPr>
              <a:t>1. Structural Injection Risk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900"/>
              </a:spcAft>
            </a:pPr>
            <a:r>
              <a:rPr b="0" i="0" sz="1600">
                <a:solidFill>
                  <a:srgbClr val="333333"/>
                </a:solidFill>
                <a:latin typeface="Times New Roman"/>
              </a:rPr>
              <a:t>Adversarial prompt manipulation can bypass model instructions, causing neural models to output data-modifying DML/DDL statements (DROP, DELETE, UPDATE).</a:t>
            </a:r>
          </a:p>
          <a:p>
            <a:pPr>
              <a:lnSpc>
                <a:spcPct val="108000"/>
              </a:lnSpc>
              <a:spcBef>
                <a:spcPts val="800"/>
              </a:spcBef>
              <a:spcAft>
                <a:spcPts val="500"/>
              </a:spcAft>
            </a:pPr>
            <a:r>
              <a:rPr b="1" i="0" sz="1600">
                <a:solidFill>
                  <a:srgbClr val="333333"/>
                </a:solidFill>
                <a:latin typeface="Times New Roman"/>
              </a:rPr>
              <a:t>2. Unbounded Schema Hallucination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900"/>
              </a:spcAft>
            </a:pPr>
            <a:r>
              <a:rPr b="0" i="0" sz="1600">
                <a:solidFill>
                  <a:srgbClr val="333333"/>
                </a:solidFill>
                <a:latin typeface="Times New Roman"/>
              </a:rPr>
              <a:t>Probabilistic token generation leads to hallucinated table joins, non-existent entity relations, and invalid column attributes.</a:t>
            </a:r>
          </a:p>
          <a:p>
            <a:pPr>
              <a:lnSpc>
                <a:spcPct val="108000"/>
              </a:lnSpc>
              <a:spcBef>
                <a:spcPts val="800"/>
              </a:spcBef>
              <a:spcAft>
                <a:spcPts val="500"/>
              </a:spcAft>
            </a:pPr>
            <a:r>
              <a:rPr b="1" i="0" sz="1600">
                <a:solidFill>
                  <a:srgbClr val="333333"/>
                </a:solidFill>
                <a:latin typeface="Times New Roman"/>
              </a:rPr>
              <a:t>3. Access Control &amp; Context Bypass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900"/>
              </a:spcAft>
            </a:pPr>
            <a:r>
              <a:rPr b="0" i="0" sz="1600">
                <a:solidFill>
                  <a:srgbClr val="333333"/>
                </a:solidFill>
                <a:latin typeface="Times New Roman"/>
              </a:rPr>
              <a:t>Direct query generation bypasses application-level multi-tenant boundaries and row-level security scopes.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1" name="Rectangle 10">
            <a:extLst>
              <a:ext uri="{FF2B5EF4-FFF2-40B4-BE49-F238E27FC236}">
                <a16:creationId xmlns:a16="http://schemas.microsoft.com/office/drawing/2014/main" id="{D059D760-A365-91EB-B942-587B657A477E}"/>
              </a:ext>
            </a:extLst>
          </p:cNvPr>
          <p:cNvSpPr/>
          <p:nvPr/>
        </p:nvSpPr>
        <p:spPr>
          <a:xfrm>
            <a:off x="-1" y="1500807"/>
            <a:ext cx="12191999" cy="18288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40000"/>
                  <a:lumOff val="60000"/>
                </a:schemeClr>
              </a:gs>
              <a:gs pos="36000">
                <a:schemeClr val="accent1">
                  <a:lumMod val="95000"/>
                  <a:lumOff val="5000"/>
                </a:schemeClr>
              </a:gs>
              <a:gs pos="100000">
                <a:schemeClr val="tx2">
                  <a:lumMod val="50000"/>
                </a:schemeClr>
              </a:gs>
            </a:gsLst>
            <a:path path="circle">
              <a:fillToRect l="50000" t="130000" r="50000" b="-3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7F49795-9FC6-D65C-AAE9-247F6DF3DA3F}"/>
              </a:ext>
            </a:extLst>
          </p:cNvPr>
          <p:cNvSpPr/>
          <p:nvPr/>
        </p:nvSpPr>
        <p:spPr>
          <a:xfrm>
            <a:off x="0" y="6291468"/>
            <a:ext cx="12192000" cy="586409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27AE48-C47C-33FE-8F56-0AA4260C9B62}"/>
              </a:ext>
            </a:extLst>
          </p:cNvPr>
          <p:cNvSpPr/>
          <p:nvPr/>
        </p:nvSpPr>
        <p:spPr>
          <a:xfrm>
            <a:off x="0" y="0"/>
            <a:ext cx="12192000" cy="150080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8720" y="365760"/>
            <a:ext cx="9601200" cy="731520"/>
          </a:xfrm>
        </p:spPr>
        <p:txBody>
          <a:bodyPr/>
          <a:lstStyle/>
          <a:p>
            <a:pPr>
              <a:defRPr b="1" sz="2400">
                <a:solidFill>
                  <a:srgbClr val="003366"/>
                </a:solidFill>
                <a:latin typeface="Times New Roman"/>
              </a:defRPr>
            </a:pPr>
            <a:r>
              <a:t>The Idea in One Picture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874" y="457199"/>
            <a:ext cx="592309" cy="586409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2A3C15-2DFB-89FB-3AD7-611F4E0BA4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Tuesday, August 18,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B89723-33F1-15E2-783B-D602C9620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04B3F8-8A1A-BE19-5C71-AE319E3DCF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1572768"/>
            <a:ext cx="10149840" cy="731520"/>
          </a:xfrm>
          <a:prstGeom prst="rect">
            <a:avLst/>
          </a:prstGeom>
          <a:noFill/>
        </p:spPr>
        <p:txBody>
          <a:bodyPr wrap="square" anchor="t" lIns="0" tIns="0" rIns="0">
            <a:spAutoFit/>
          </a:bodyPr>
          <a:lstStyle/>
          <a:p>
            <a:pPr marL="0" indent="0">
              <a:lnSpc>
                <a:spcPct val="108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2000">
                <a:solidFill>
                  <a:srgbClr val="003366"/>
                </a:solidFill>
                <a:latin typeface="Times New Roman"/>
              </a:rPr>
              <a:t>In a restaurant, the waiter writes down what you want — the dish, how many plates. The waiter never walks into the kitchen and cooks it.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2487168"/>
            <a:ext cx="2743200" cy="914400"/>
          </a:xfrm>
          <a:prstGeom prst="roundRect">
            <a:avLst/>
          </a:prstGeom>
          <a:solidFill>
            <a:srgbClr val="E9F1FA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/>
          <a:lstStyle/>
          <a:p>
            <a:pPr algn="ctr">
              <a:defRPr sz="1500" b="1">
                <a:solidFill>
                  <a:srgbClr val="003366"/>
                </a:solidFill>
                <a:latin typeface="Times New Roman"/>
              </a:defRPr>
            </a:pPr>
            <a:r>
              <a:rPr/>
              <a:t>Waiter</a:t>
            </a:r>
            <a:br/>
            <a:r>
              <a:rPr/>
              <a:t>takes the order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0" y="2487168"/>
            <a:ext cx="2743200" cy="914400"/>
          </a:xfrm>
          <a:prstGeom prst="roundRect">
            <a:avLst/>
          </a:prstGeom>
          <a:solidFill>
            <a:srgbClr val="E2F0D9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/>
          <a:lstStyle/>
          <a:p>
            <a:pPr algn="ctr">
              <a:defRPr sz="1500" b="1">
                <a:solidFill>
                  <a:srgbClr val="003366"/>
                </a:solidFill>
                <a:latin typeface="Times New Roman"/>
              </a:defRPr>
            </a:pPr>
            <a:r>
              <a:rPr/>
              <a:t>Order form</a:t>
            </a:r>
            <a:br/>
            <a:r>
              <a:rPr/>
              <a:t>fixed fields only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01000" y="2487168"/>
            <a:ext cx="2743200" cy="914400"/>
          </a:xfrm>
          <a:prstGeom prst="roundRect">
            <a:avLst/>
          </a:prstGeom>
          <a:solidFill>
            <a:srgbClr val="E9F1FA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/>
          <a:lstStyle/>
          <a:p>
            <a:pPr algn="ctr">
              <a:defRPr sz="1500" b="1">
                <a:solidFill>
                  <a:srgbClr val="003366"/>
                </a:solidFill>
                <a:latin typeface="Times New Roman"/>
              </a:defRPr>
            </a:pPr>
            <a:r>
              <a:rPr/>
              <a:t>Kitchen</a:t>
            </a:r>
            <a:br/>
            <a:r>
              <a:rPr/>
              <a:t>cooks the dish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3886200" y="2743200"/>
            <a:ext cx="685800" cy="0"/>
          </a:xfrm>
          <a:prstGeom prst="line">
            <a:avLst/>
          </a:prstGeom>
          <a:ln w="25400">
            <a:solidFill>
              <a:srgbClr val="00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7315200" y="2743200"/>
            <a:ext cx="685800" cy="0"/>
          </a:xfrm>
          <a:prstGeom prst="line">
            <a:avLst/>
          </a:prstGeom>
          <a:ln w="25400">
            <a:solidFill>
              <a:srgbClr val="00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1143000" y="3721608"/>
          <a:ext cx="9601200" cy="18745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3429000"/>
                <a:gridCol w="3429000"/>
              </a:tblGrid>
              <a:tr h="468629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5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In the restaurant</a:t>
                      </a:r>
                    </a:p>
                  </a:txBody>
                  <a:tcPr marL="64008" marR="64008" marT="27432" marB="27432"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5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In AEGIS</a:t>
                      </a:r>
                    </a:p>
                  </a:txBody>
                  <a:tcPr marL="64008" marR="64008" marT="27432" marB="27432"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5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What it cannot do</a:t>
                      </a:r>
                    </a:p>
                  </a:txBody>
                  <a:tcPr marL="64008" marR="64008" marT="27432" marB="27432" anchor="ctr">
                    <a:solidFill>
                      <a:srgbClr val="003366"/>
                    </a:solidFill>
                  </a:tcPr>
                </a:tc>
              </a:tr>
              <a:tr h="468629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5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The waiter</a:t>
                      </a:r>
                    </a:p>
                  </a:txBody>
                  <a:tcPr marL="64008" marR="64008" marT="27432" marB="27432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5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The language model</a:t>
                      </a:r>
                    </a:p>
                  </a:txBody>
                  <a:tcPr marL="64008" marR="64008" marT="27432" marB="27432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5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Cannot write or run SQL</a:t>
                      </a:r>
                    </a:p>
                  </a:txBody>
                  <a:tcPr marL="64008" marR="64008" marT="27432" marB="27432" anchor="ctr"/>
                </a:tc>
              </a:tr>
              <a:tr h="468629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5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The order form</a:t>
                      </a:r>
                    </a:p>
                  </a:txBody>
                  <a:tcPr marL="64008" marR="64008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5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The Intent Object</a:t>
                      </a:r>
                    </a:p>
                  </a:txBody>
                  <a:tcPr marL="64008" marR="64008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5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Cannot hold a table or column name of its own</a:t>
                      </a:r>
                    </a:p>
                  </a:txBody>
                  <a:tcPr marL="64008" marR="64008" marT="27432" marB="27432" anchor="ctr">
                    <a:solidFill>
                      <a:srgbClr val="F2F4F8"/>
                    </a:solidFill>
                  </a:tcPr>
                </a:tc>
              </a:tr>
              <a:tr h="468632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5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The kitchen</a:t>
                      </a:r>
                    </a:p>
                  </a:txBody>
                  <a:tcPr marL="64008" marR="64008" marT="27432" marB="27432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5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The SQL compiler</a:t>
                      </a:r>
                    </a:p>
                  </a:txBody>
                  <a:tcPr marL="64008" marR="64008" marT="27432" marB="27432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5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Cannot accept anything outside the approved list</a:t>
                      </a:r>
                    </a:p>
                  </a:txBody>
                  <a:tcPr marL="64008" marR="64008" marT="27432" marB="27432" anchor="ctr"/>
                </a:tc>
              </a:tr>
            </a:tbl>
          </a:graphicData>
        </a:graphic>
      </p:graphicFrame>
      <p:sp>
        <p:nvSpPr>
          <p:cNvPr id="20" name="Rounded Rectangle 19"/>
          <p:cNvSpPr/>
          <p:nvPr/>
        </p:nvSpPr>
        <p:spPr>
          <a:xfrm>
            <a:off x="777240" y="5742432"/>
            <a:ext cx="10515600" cy="475488"/>
          </a:xfrm>
          <a:prstGeom prst="roundRect">
            <a:avLst/>
          </a:prstGeom>
          <a:solidFill>
            <a:srgbClr val="F3F6FB"/>
          </a:solidFill>
          <a:ln w="9525">
            <a:solidFill>
              <a:srgbClr val="C9D6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/>
          <a:lstStyle/>
          <a:p>
            <a:pPr algn="l"/>
            <a:r>
              <a:rPr b="1" sz="1300">
                <a:solidFill>
                  <a:srgbClr val="333333"/>
                </a:solidFill>
                <a:latin typeface="Times New Roman"/>
              </a:rPr>
              <a:t>In plain terms:  </a:t>
            </a:r>
            <a:r>
              <a:rPr sz="1300">
                <a:solidFill>
                  <a:srgbClr val="333333"/>
                </a:solidFill>
                <a:latin typeface="Times New Roman"/>
              </a:rPr>
              <a:t>The model chooses names from an approved list. It never writes the database query itself.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1" name="Rectangle 10">
            <a:extLst>
              <a:ext uri="{FF2B5EF4-FFF2-40B4-BE49-F238E27FC236}">
                <a16:creationId xmlns:a16="http://schemas.microsoft.com/office/drawing/2014/main" id="{D059D760-A365-91EB-B942-587B657A477E}"/>
              </a:ext>
            </a:extLst>
          </p:cNvPr>
          <p:cNvSpPr/>
          <p:nvPr/>
        </p:nvSpPr>
        <p:spPr>
          <a:xfrm>
            <a:off x="-1" y="1500807"/>
            <a:ext cx="12191999" cy="18288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40000"/>
                  <a:lumOff val="60000"/>
                </a:schemeClr>
              </a:gs>
              <a:gs pos="36000">
                <a:schemeClr val="accent1">
                  <a:lumMod val="95000"/>
                  <a:lumOff val="5000"/>
                </a:schemeClr>
              </a:gs>
              <a:gs pos="100000">
                <a:schemeClr val="tx2">
                  <a:lumMod val="50000"/>
                </a:schemeClr>
              </a:gs>
            </a:gsLst>
            <a:path path="circle">
              <a:fillToRect l="50000" t="130000" r="50000" b="-3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7F49795-9FC6-D65C-AAE9-247F6DF3DA3F}"/>
              </a:ext>
            </a:extLst>
          </p:cNvPr>
          <p:cNvSpPr/>
          <p:nvPr/>
        </p:nvSpPr>
        <p:spPr>
          <a:xfrm>
            <a:off x="0" y="6291468"/>
            <a:ext cx="12192000" cy="586409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27AE48-C47C-33FE-8F56-0AA4260C9B62}"/>
              </a:ext>
            </a:extLst>
          </p:cNvPr>
          <p:cNvSpPr/>
          <p:nvPr/>
        </p:nvSpPr>
        <p:spPr>
          <a:xfrm>
            <a:off x="0" y="0"/>
            <a:ext cx="12192000" cy="150080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8720" y="365760"/>
            <a:ext cx="9601200" cy="731520"/>
          </a:xfrm>
        </p:spPr>
        <p:txBody>
          <a:bodyPr/>
          <a:lstStyle/>
          <a:p>
            <a:pPr>
              <a:defRPr b="1" sz="2400">
                <a:solidFill>
                  <a:srgbClr val="003366"/>
                </a:solidFill>
                <a:latin typeface="Times New Roman"/>
              </a:defRPr>
            </a:pPr>
            <a:r>
              <a:t>Literature Review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874" y="457199"/>
            <a:ext cx="592309" cy="586409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2A3C15-2DFB-89FB-3AD7-611F4E0BA4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Tuesday, August 18,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B89723-33F1-15E2-783B-D602C9620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04B3F8-8A1A-BE19-5C71-AE319E3DCF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6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713232" y="1572768"/>
          <a:ext cx="10744199" cy="4370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4519"/>
                <a:gridCol w="2423160"/>
                <a:gridCol w="2926080"/>
                <a:gridCol w="3520440"/>
              </a:tblGrid>
              <a:tr h="624404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Work</a:t>
                      </a:r>
                    </a:p>
                  </a:txBody>
                  <a:tcPr marL="36576" marR="36576" marT="13716" marB="13716"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Main focus</a:t>
                      </a:r>
                    </a:p>
                  </a:txBody>
                  <a:tcPr marL="36576" marR="36576" marT="13716" marB="13716"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Control approach</a:t>
                      </a:r>
                    </a:p>
                  </a:txBody>
                  <a:tcPr marL="36576" marR="36576" marT="13716" marB="13716"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Gap for AEGIS</a:t>
                      </a:r>
                    </a:p>
                  </a:txBody>
                  <a:tcPr marL="36576" marR="36576" marT="13716" marB="13716" anchor="ctr">
                    <a:solidFill>
                      <a:srgbClr val="003366"/>
                    </a:solidFill>
                  </a:tcPr>
                </a:tc>
              </a:tr>
              <a:tr h="624404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NaLIR [1]</a:t>
                      </a:r>
                    </a:p>
                  </a:txBody>
                  <a:tcPr marL="36576" marR="36576" marT="13716" marB="13716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Interactive NLIDB</a:t>
                      </a:r>
                    </a:p>
                  </a:txBody>
                  <a:tcPr marL="36576" marR="36576" marT="13716" marB="13716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Parse and refine intent with grammar and DB mapping</a:t>
                      </a:r>
                    </a:p>
                  </a:txBody>
                  <a:tcPr marL="36576" marR="36576" marT="13716" marB="13716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Limited dashboard and modern LLM risk handling</a:t>
                      </a:r>
                    </a:p>
                  </a:txBody>
                  <a:tcPr marL="36576" marR="36576" marT="13716" marB="13716" anchor="ctr"/>
                </a:tc>
              </a:tr>
              <a:tr h="624404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nl4dv [2]</a:t>
                      </a:r>
                    </a:p>
                  </a:txBody>
                  <a:tcPr marL="36576" marR="36576" marT="13716" marB="13716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NL to visualization specs</a:t>
                      </a:r>
                    </a:p>
                  </a:txBody>
                  <a:tcPr marL="36576" marR="36576" marT="13716" marB="13716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Extract analytic attributes; not SQL-centered</a:t>
                      </a:r>
                    </a:p>
                  </a:txBody>
                  <a:tcPr marL="36576" marR="36576" marT="13716" marB="13716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Visualization focus, not safe database execution</a:t>
                      </a:r>
                    </a:p>
                  </a:txBody>
                  <a:tcPr marL="36576" marR="36576" marT="13716" marB="13716" anchor="ctr">
                    <a:solidFill>
                      <a:srgbClr val="F2F4F8"/>
                    </a:solidFill>
                  </a:tcPr>
                </a:tc>
              </a:tr>
              <a:tr h="624404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DashBot [3]</a:t>
                      </a:r>
                    </a:p>
                  </a:txBody>
                  <a:tcPr marL="36576" marR="36576" marT="13716" marB="13716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Dashboard generation</a:t>
                      </a:r>
                    </a:p>
                  </a:txBody>
                  <a:tcPr marL="36576" marR="36576" marT="13716" marB="13716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Insight-driven dashboard selection</a:t>
                      </a:r>
                    </a:p>
                  </a:txBody>
                  <a:tcPr marL="36576" marR="36576" marT="13716" marB="13716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Does not solve arbitrary SQL authority risk</a:t>
                      </a:r>
                    </a:p>
                  </a:txBody>
                  <a:tcPr marL="36576" marR="36576" marT="13716" marB="13716" anchor="ctr"/>
                </a:tc>
              </a:tr>
              <a:tr h="624404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PICARD [4]</a:t>
                      </a:r>
                    </a:p>
                  </a:txBody>
                  <a:tcPr marL="36576" marR="36576" marT="13716" marB="13716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Constrained decoding</a:t>
                      </a:r>
                    </a:p>
                  </a:txBody>
                  <a:tcPr marL="36576" marR="36576" marT="13716" marB="13716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Parser-level SQL validity during token generation</a:t>
                      </a:r>
                    </a:p>
                  </a:txBody>
                  <a:tcPr marL="36576" marR="36576" marT="13716" marB="13716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Model still generates SQL text</a:t>
                      </a:r>
                    </a:p>
                  </a:txBody>
                  <a:tcPr marL="36576" marR="36576" marT="13716" marB="13716" anchor="ctr">
                    <a:solidFill>
                      <a:srgbClr val="F2F4F8"/>
                    </a:solidFill>
                  </a:tcPr>
                </a:tc>
              </a:tr>
              <a:tr h="624404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G-SQL [5] / TriSQL [6]</a:t>
                      </a:r>
                    </a:p>
                  </a:txBody>
                  <a:tcPr marL="36576" marR="36576" marT="13716" marB="13716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Robust Text-to-SQL</a:t>
                      </a:r>
                    </a:p>
                  </a:txBody>
                  <a:tcPr marL="36576" marR="36576" marT="13716" marB="13716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Schema-aware generation with rules, repair, and refinement</a:t>
                      </a:r>
                    </a:p>
                  </a:txBody>
                  <a:tcPr marL="36576" marR="36576" marT="13716" marB="13716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Safety depends on controlling generated SQL</a:t>
                      </a:r>
                    </a:p>
                  </a:txBody>
                  <a:tcPr marL="36576" marR="36576" marT="13716" marB="13716" anchor="ctr"/>
                </a:tc>
              </a:tr>
              <a:tr h="62440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AEGIS</a:t>
                      </a:r>
                    </a:p>
                  </a:txBody>
                  <a:tcPr marL="36576" marR="36576" marT="13716" marB="13716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Safe NL analytics</a:t>
                      </a:r>
                    </a:p>
                  </a:txBody>
                  <a:tcPr marL="36576" marR="36576" marT="13716" marB="13716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Intent extraction only; SQL compiled from semantic layer</a:t>
                      </a:r>
                    </a:p>
                  </a:txBody>
                  <a:tcPr marL="36576" marR="36576" marT="13716" marB="13716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Trades open SQL for auditable analytics intent validation</a:t>
                      </a:r>
                    </a:p>
                  </a:txBody>
                  <a:tcPr marL="36576" marR="36576" marT="13716" marB="13716" anchor="ctr"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1" name="Rectangle 10">
            <a:extLst>
              <a:ext uri="{FF2B5EF4-FFF2-40B4-BE49-F238E27FC236}">
                <a16:creationId xmlns:a16="http://schemas.microsoft.com/office/drawing/2014/main" id="{D059D760-A365-91EB-B942-587B657A477E}"/>
              </a:ext>
            </a:extLst>
          </p:cNvPr>
          <p:cNvSpPr/>
          <p:nvPr/>
        </p:nvSpPr>
        <p:spPr>
          <a:xfrm>
            <a:off x="-1" y="1500807"/>
            <a:ext cx="12191999" cy="18288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40000"/>
                  <a:lumOff val="60000"/>
                </a:schemeClr>
              </a:gs>
              <a:gs pos="36000">
                <a:schemeClr val="accent1">
                  <a:lumMod val="95000"/>
                  <a:lumOff val="5000"/>
                </a:schemeClr>
              </a:gs>
              <a:gs pos="100000">
                <a:schemeClr val="tx2">
                  <a:lumMod val="50000"/>
                </a:schemeClr>
              </a:gs>
            </a:gsLst>
            <a:path path="circle">
              <a:fillToRect l="50000" t="130000" r="50000" b="-3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7F49795-9FC6-D65C-AAE9-247F6DF3DA3F}"/>
              </a:ext>
            </a:extLst>
          </p:cNvPr>
          <p:cNvSpPr/>
          <p:nvPr/>
        </p:nvSpPr>
        <p:spPr>
          <a:xfrm>
            <a:off x="0" y="6291468"/>
            <a:ext cx="12192000" cy="586409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27AE48-C47C-33FE-8F56-0AA4260C9B62}"/>
              </a:ext>
            </a:extLst>
          </p:cNvPr>
          <p:cNvSpPr/>
          <p:nvPr/>
        </p:nvSpPr>
        <p:spPr>
          <a:xfrm>
            <a:off x="0" y="0"/>
            <a:ext cx="12192000" cy="150080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8720" y="365760"/>
            <a:ext cx="9601200" cy="731520"/>
          </a:xfrm>
        </p:spPr>
        <p:txBody>
          <a:bodyPr/>
          <a:lstStyle/>
          <a:p>
            <a:pPr>
              <a:defRPr b="1" sz="2400">
                <a:solidFill>
                  <a:srgbClr val="003366"/>
                </a:solidFill>
                <a:latin typeface="Times New Roman"/>
              </a:defRPr>
            </a:pPr>
            <a:r>
              <a:t>Research Gap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874" y="457199"/>
            <a:ext cx="592309" cy="586409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2A3C15-2DFB-89FB-3AD7-611F4E0BA4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Tuesday, August 18,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B89723-33F1-15E2-783B-D602C9620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04B3F8-8A1A-BE19-5C71-AE319E3DCF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1600200"/>
            <a:ext cx="9966960" cy="4343400"/>
          </a:xfrm>
          <a:prstGeom prst="rect">
            <a:avLst/>
          </a:prstGeom>
          <a:noFill/>
        </p:spPr>
        <p:txBody>
          <a:bodyPr wrap="square" anchor="t" lIns="0" tIns="0" rIns="0">
            <a:spAutoFit/>
          </a:bodyPr>
          <a:lstStyle/>
          <a:p>
            <a:pPr marL="0" indent="0">
              <a:lnSpc>
                <a:spcPct val="108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2100">
                <a:solidFill>
                  <a:srgbClr val="003366"/>
                </a:solidFill>
                <a:latin typeface="Times New Roman"/>
              </a:rPr>
              <a:t>Observed Gap in Existing Systems: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800">
                <a:solidFill>
                  <a:srgbClr val="333333"/>
                </a:solidFill>
                <a:latin typeface="Times New Roman"/>
              </a:rPr>
              <a:t>- Many systems improve SQL generation accuracy, but still let executable SQL be authored by the model.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800">
                <a:solidFill>
                  <a:srgbClr val="333333"/>
                </a:solidFill>
                <a:latin typeface="Times New Roman"/>
              </a:rPr>
              <a:t>- Visualization systems help users express analysis, but do not fully address database execution safety.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800">
                <a:solidFill>
                  <a:srgbClr val="333333"/>
                </a:solidFill>
                <a:latin typeface="Times New Roman"/>
              </a:rPr>
              <a:t>- Parser and repair methods can reject invalid syntax, yet syntactically valid SQL can still be unsafe or semantically wrong.</a:t>
            </a:r>
          </a:p>
          <a:p>
            <a:pPr marL="0" indent="0">
              <a:lnSpc>
                <a:spcPct val="108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2100">
                <a:solidFill>
                  <a:srgbClr val="003366"/>
                </a:solidFill>
                <a:latin typeface="Times New Roman"/>
              </a:rPr>
              <a:t>AEGIS Research Gap: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800">
                <a:solidFill>
                  <a:srgbClr val="333333"/>
                </a:solidFill>
                <a:latin typeface="Times New Roman"/>
              </a:rPr>
              <a:t>- A practical architecture is needed where natural language is accepted, but executable SQL is produced only from an explicit semantic layer and deterministic compiler.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1" name="Rectangle 10">
            <a:extLst>
              <a:ext uri="{FF2B5EF4-FFF2-40B4-BE49-F238E27FC236}">
                <a16:creationId xmlns:a16="http://schemas.microsoft.com/office/drawing/2014/main" id="{D059D760-A365-91EB-B942-587B657A477E}"/>
              </a:ext>
            </a:extLst>
          </p:cNvPr>
          <p:cNvSpPr/>
          <p:nvPr/>
        </p:nvSpPr>
        <p:spPr>
          <a:xfrm>
            <a:off x="-1" y="1500807"/>
            <a:ext cx="12191999" cy="18288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40000"/>
                  <a:lumOff val="60000"/>
                </a:schemeClr>
              </a:gs>
              <a:gs pos="36000">
                <a:schemeClr val="accent1">
                  <a:lumMod val="95000"/>
                  <a:lumOff val="5000"/>
                </a:schemeClr>
              </a:gs>
              <a:gs pos="100000">
                <a:schemeClr val="tx2">
                  <a:lumMod val="50000"/>
                </a:schemeClr>
              </a:gs>
            </a:gsLst>
            <a:path path="circle">
              <a:fillToRect l="50000" t="130000" r="50000" b="-3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7F49795-9FC6-D65C-AAE9-247F6DF3DA3F}"/>
              </a:ext>
            </a:extLst>
          </p:cNvPr>
          <p:cNvSpPr/>
          <p:nvPr/>
        </p:nvSpPr>
        <p:spPr>
          <a:xfrm>
            <a:off x="0" y="6291468"/>
            <a:ext cx="12192000" cy="586409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27AE48-C47C-33FE-8F56-0AA4260C9B62}"/>
              </a:ext>
            </a:extLst>
          </p:cNvPr>
          <p:cNvSpPr/>
          <p:nvPr/>
        </p:nvSpPr>
        <p:spPr>
          <a:xfrm>
            <a:off x="0" y="0"/>
            <a:ext cx="12192000" cy="150080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8720" y="365760"/>
            <a:ext cx="9601200" cy="731520"/>
          </a:xfrm>
        </p:spPr>
        <p:txBody>
          <a:bodyPr/>
          <a:lstStyle/>
          <a:p>
            <a:pPr>
              <a:defRPr b="1" sz="2400">
                <a:solidFill>
                  <a:srgbClr val="003366"/>
                </a:solidFill>
                <a:latin typeface="Times New Roman"/>
              </a:defRPr>
            </a:pPr>
            <a:r>
              <a:t>Objectives and Contributions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874" y="457199"/>
            <a:ext cx="592309" cy="586409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2A3C15-2DFB-89FB-3AD7-611F4E0BA4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Tuesday, August 18,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B89723-33F1-15E2-783B-D602C9620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04B3F8-8A1A-BE19-5C71-AE319E3DCF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8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822960" y="1572768"/>
          <a:ext cx="1056132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/>
                <a:gridCol w="7543800"/>
              </a:tblGrid>
              <a:tr h="9144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3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Objective</a:t>
                      </a:r>
                    </a:p>
                  </a:txBody>
                  <a:tcPr marL="91440" marR="91440" marT="45720" marB="45720"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3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Contribution</a:t>
                      </a:r>
                    </a:p>
                  </a:txBody>
                  <a:tcPr marL="91440" marR="91440" marT="45720" marB="45720" anchor="ctr">
                    <a:solidFill>
                      <a:srgbClr val="003366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3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Reduce execution risk</a:t>
                      </a:r>
                    </a:p>
                  </a:txBody>
                  <a:tcPr marL="91440" marR="91440" marT="45720" marB="4572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3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Separate natural-language understanding from SQL creation.</a:t>
                      </a:r>
                    </a:p>
                  </a:txBody>
                  <a:tcPr marL="91440" marR="91440" marT="45720" marB="45720" anchor="ctr"/>
                </a:tc>
              </a:tr>
              <a:tr h="9144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3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Make analytics auditable</a:t>
                      </a:r>
                    </a:p>
                  </a:txBody>
                  <a:tcPr marL="91440" marR="91440" marT="45720" marB="45720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3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Define metrics, dimensions, filters, join paths, and output shapes in a semantic layer.</a:t>
                      </a:r>
                    </a:p>
                  </a:txBody>
                  <a:tcPr marL="91440" marR="91440" marT="45720" marB="45720" anchor="ctr">
                    <a:solidFill>
                      <a:srgbClr val="F2F4F8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3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Support real e-commerce reports</a:t>
                      </a:r>
                    </a:p>
                  </a:txBody>
                  <a:tcPr marL="91440" marR="91440" marT="45720" marB="4572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3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Implement AEGIS over a seeded nopCommerce [7] MySQL database.</a:t>
                      </a:r>
                    </a:p>
                  </a:txBody>
                  <a:tcPr marL="91440" marR="91440" marT="45720" marB="45720" anchor="ctr"/>
                </a:tc>
              </a:tr>
              <a:tr h="9144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3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Evaluate against an independent oracle</a:t>
                      </a:r>
                    </a:p>
                  </a:txBody>
                  <a:tcPr marL="91440" marR="91440" marT="45720" marB="45720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3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Measure breadth on 500 fixed natural-language questions, and fidelity against nopCommerce's own twenty admin reports.</a:t>
                      </a:r>
                    </a:p>
                  </a:txBody>
                  <a:tcPr marL="91440" marR="91440" marT="45720" marB="45720" anchor="ctr"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1" name="Rectangle 10">
            <a:extLst>
              <a:ext uri="{FF2B5EF4-FFF2-40B4-BE49-F238E27FC236}">
                <a16:creationId xmlns:a16="http://schemas.microsoft.com/office/drawing/2014/main" id="{D059D760-A365-91EB-B942-587B657A477E}"/>
              </a:ext>
            </a:extLst>
          </p:cNvPr>
          <p:cNvSpPr/>
          <p:nvPr/>
        </p:nvSpPr>
        <p:spPr>
          <a:xfrm>
            <a:off x="-1" y="1500807"/>
            <a:ext cx="12191999" cy="18288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40000"/>
                  <a:lumOff val="60000"/>
                </a:schemeClr>
              </a:gs>
              <a:gs pos="36000">
                <a:schemeClr val="accent1">
                  <a:lumMod val="95000"/>
                  <a:lumOff val="5000"/>
                </a:schemeClr>
              </a:gs>
              <a:gs pos="100000">
                <a:schemeClr val="tx2">
                  <a:lumMod val="50000"/>
                </a:schemeClr>
              </a:gs>
            </a:gsLst>
            <a:path path="circle">
              <a:fillToRect l="50000" t="130000" r="50000" b="-3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7F49795-9FC6-D65C-AAE9-247F6DF3DA3F}"/>
              </a:ext>
            </a:extLst>
          </p:cNvPr>
          <p:cNvSpPr/>
          <p:nvPr/>
        </p:nvSpPr>
        <p:spPr>
          <a:xfrm>
            <a:off x="0" y="6291468"/>
            <a:ext cx="12192000" cy="586409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27AE48-C47C-33FE-8F56-0AA4260C9B62}"/>
              </a:ext>
            </a:extLst>
          </p:cNvPr>
          <p:cNvSpPr/>
          <p:nvPr/>
        </p:nvSpPr>
        <p:spPr>
          <a:xfrm>
            <a:off x="0" y="0"/>
            <a:ext cx="12192000" cy="150080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8720" y="365760"/>
            <a:ext cx="9601200" cy="731520"/>
          </a:xfrm>
        </p:spPr>
        <p:txBody>
          <a:bodyPr/>
          <a:lstStyle/>
          <a:p>
            <a:pPr>
              <a:defRPr b="1" sz="2400">
                <a:solidFill>
                  <a:srgbClr val="003366"/>
                </a:solidFill>
                <a:latin typeface="Times New Roman"/>
              </a:defRPr>
            </a:pPr>
            <a:r>
              <a:t>Research Methodology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874" y="457199"/>
            <a:ext cx="592309" cy="586409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2A3C15-2DFB-89FB-3AD7-611F4E0BA4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Tuesday, August 18,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B89723-33F1-15E2-783B-D602C9620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04B3F8-8A1A-BE19-5C71-AE319E3DCF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9</a:t>
            </a:r>
          </a:p>
        </p:txBody>
      </p:sp>
      <p:pic>
        <p:nvPicPr>
          <p:cNvPr id="13" name="Picture 12" descr="thesis-figure-01-dsr-workflo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77340" y="1572768"/>
            <a:ext cx="9052560" cy="452628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1" name="Rectangle 10">
            <a:extLst>
              <a:ext uri="{FF2B5EF4-FFF2-40B4-BE49-F238E27FC236}">
                <a16:creationId xmlns:a16="http://schemas.microsoft.com/office/drawing/2014/main" id="{D059D760-A365-91EB-B942-587B657A477E}"/>
              </a:ext>
            </a:extLst>
          </p:cNvPr>
          <p:cNvSpPr/>
          <p:nvPr/>
        </p:nvSpPr>
        <p:spPr>
          <a:xfrm>
            <a:off x="-1" y="1500807"/>
            <a:ext cx="12191999" cy="18288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40000"/>
                  <a:lumOff val="60000"/>
                </a:schemeClr>
              </a:gs>
              <a:gs pos="36000">
                <a:schemeClr val="accent1">
                  <a:lumMod val="95000"/>
                  <a:lumOff val="5000"/>
                </a:schemeClr>
              </a:gs>
              <a:gs pos="100000">
                <a:schemeClr val="tx2">
                  <a:lumMod val="50000"/>
                </a:schemeClr>
              </a:gs>
            </a:gsLst>
            <a:path path="circle">
              <a:fillToRect l="50000" t="130000" r="50000" b="-3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7F49795-9FC6-D65C-AAE9-247F6DF3DA3F}"/>
              </a:ext>
            </a:extLst>
          </p:cNvPr>
          <p:cNvSpPr/>
          <p:nvPr/>
        </p:nvSpPr>
        <p:spPr>
          <a:xfrm>
            <a:off x="0" y="6291468"/>
            <a:ext cx="12192000" cy="586409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27AE48-C47C-33FE-8F56-0AA4260C9B62}"/>
              </a:ext>
            </a:extLst>
          </p:cNvPr>
          <p:cNvSpPr/>
          <p:nvPr/>
        </p:nvSpPr>
        <p:spPr>
          <a:xfrm>
            <a:off x="0" y="0"/>
            <a:ext cx="12192000" cy="150080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8720" y="365760"/>
            <a:ext cx="9601200" cy="731520"/>
          </a:xfrm>
        </p:spPr>
        <p:txBody>
          <a:bodyPr/>
          <a:lstStyle/>
          <a:p>
            <a:pPr>
              <a:defRPr b="1" sz="2400">
                <a:solidFill>
                  <a:srgbClr val="003366"/>
                </a:solidFill>
                <a:latin typeface="Times New Roman"/>
              </a:defRPr>
            </a:pPr>
            <a:r>
              <a:t>Proposed AEGIS Architecture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874" y="457199"/>
            <a:ext cx="592309" cy="586409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2A3C15-2DFB-89FB-3AD7-611F4E0BA4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Tuesday, August 18,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B89723-33F1-15E2-783B-D602C9620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04B3F8-8A1A-BE19-5C71-AE319E3DCF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10</a:t>
            </a:r>
          </a:p>
        </p:txBody>
      </p:sp>
      <p:pic>
        <p:nvPicPr>
          <p:cNvPr id="13" name="Picture 12" descr="figure-03-architecture-pipelin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58261" y="1572768"/>
            <a:ext cx="8699862" cy="466344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1" name="Rectangle 10">
            <a:extLst>
              <a:ext uri="{FF2B5EF4-FFF2-40B4-BE49-F238E27FC236}">
                <a16:creationId xmlns:a16="http://schemas.microsoft.com/office/drawing/2014/main" id="{D059D760-A365-91EB-B942-587B657A477E}"/>
              </a:ext>
            </a:extLst>
          </p:cNvPr>
          <p:cNvSpPr/>
          <p:nvPr/>
        </p:nvSpPr>
        <p:spPr>
          <a:xfrm>
            <a:off x="-1" y="1500807"/>
            <a:ext cx="12191999" cy="18288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40000"/>
                  <a:lumOff val="60000"/>
                </a:schemeClr>
              </a:gs>
              <a:gs pos="36000">
                <a:schemeClr val="accent1">
                  <a:lumMod val="95000"/>
                  <a:lumOff val="5000"/>
                </a:schemeClr>
              </a:gs>
              <a:gs pos="100000">
                <a:schemeClr val="tx2">
                  <a:lumMod val="50000"/>
                </a:schemeClr>
              </a:gs>
            </a:gsLst>
            <a:path path="circle">
              <a:fillToRect l="50000" t="130000" r="50000" b="-3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7F49795-9FC6-D65C-AAE9-247F6DF3DA3F}"/>
              </a:ext>
            </a:extLst>
          </p:cNvPr>
          <p:cNvSpPr/>
          <p:nvPr/>
        </p:nvSpPr>
        <p:spPr>
          <a:xfrm>
            <a:off x="0" y="6291468"/>
            <a:ext cx="12192000" cy="586409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27AE48-C47C-33FE-8F56-0AA4260C9B62}"/>
              </a:ext>
            </a:extLst>
          </p:cNvPr>
          <p:cNvSpPr/>
          <p:nvPr/>
        </p:nvSpPr>
        <p:spPr>
          <a:xfrm>
            <a:off x="0" y="0"/>
            <a:ext cx="12192000" cy="150080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8720" y="365760"/>
            <a:ext cx="9601200" cy="731520"/>
          </a:xfrm>
        </p:spPr>
        <p:txBody>
          <a:bodyPr/>
          <a:lstStyle/>
          <a:p>
            <a:pPr>
              <a:defRPr b="1" sz="2400">
                <a:solidFill>
                  <a:srgbClr val="003366"/>
                </a:solidFill>
                <a:latin typeface="Times New Roman"/>
              </a:defRPr>
            </a:pPr>
            <a:r>
              <a:t>Semantic Layer Implementation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874" y="457199"/>
            <a:ext cx="592309" cy="586409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2A3C15-2DFB-89FB-3AD7-611F4E0BA4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Tuesday, August 18,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B89723-33F1-15E2-783B-D602C9620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04B3F8-8A1A-BE19-5C71-AE319E3DCF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11</a:t>
            </a:r>
          </a:p>
        </p:txBody>
      </p:sp>
      <p:pic>
        <p:nvPicPr>
          <p:cNvPr id="13" name="Picture 12" descr="figure-04-semantic-layer-modularit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1859280"/>
            <a:ext cx="5303520" cy="30937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172200" y="1627632"/>
            <a:ext cx="5029200" cy="4160520"/>
          </a:xfrm>
          <a:prstGeom prst="rect">
            <a:avLst/>
          </a:prstGeom>
          <a:noFill/>
        </p:spPr>
        <p:txBody>
          <a:bodyPr wrap="square" anchor="t" lIns="0" tIns="0" rIns="0">
            <a:spAutoFit/>
          </a:bodyPr>
          <a:lstStyle/>
          <a:p>
            <a:pPr marL="0" indent="0">
              <a:lnSpc>
                <a:spcPct val="108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1750">
                <a:solidFill>
                  <a:srgbClr val="003366"/>
                </a:solidFill>
                <a:latin typeface="Times New Roman"/>
              </a:rPr>
              <a:t>Implemented per target system: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1" i="0" sz="1450">
                <a:solidFill>
                  <a:srgbClr val="003366"/>
                </a:solidFill>
                <a:latin typeface="Times New Roman"/>
              </a:rPr>
              <a:t>- Business vocabulary:</a:t>
            </a:r>
            <a:r>
              <a:rPr b="0" i="0" sz="1450">
                <a:solidFill>
                  <a:srgbClr val="333333"/>
                </a:solidFill>
                <a:latin typeface="Times New Roman"/>
              </a:rPr>
              <a:t> synonyms for metrics, dimensions, filters, and time periods.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1" i="0" sz="1450">
                <a:solidFill>
                  <a:srgbClr val="003366"/>
                </a:solidFill>
                <a:latin typeface="Times New Roman"/>
              </a:rPr>
              <a:t>- Metric definitions:</a:t>
            </a:r>
            <a:r>
              <a:rPr b="0" i="0" sz="1450">
                <a:solidFill>
                  <a:srgbClr val="333333"/>
                </a:solidFill>
                <a:latin typeface="Times New Roman"/>
              </a:rPr>
              <a:t> SQL expressions such as order count, revenue, average order value, and customer count.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1" i="0" sz="1450">
                <a:solidFill>
                  <a:srgbClr val="003366"/>
                </a:solidFill>
                <a:latin typeface="Times New Roman"/>
              </a:rPr>
              <a:t>- Dimension definitions:</a:t>
            </a:r>
            <a:r>
              <a:rPr b="0" i="0" sz="1450">
                <a:solidFill>
                  <a:srgbClr val="333333"/>
                </a:solidFill>
                <a:latin typeface="Times New Roman"/>
              </a:rPr>
              <a:t> status, customer, product, manufacturer, category, date, and geography.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1" i="0" sz="1450">
                <a:solidFill>
                  <a:srgbClr val="003366"/>
                </a:solidFill>
                <a:latin typeface="Times New Roman"/>
              </a:rPr>
              <a:t>- Join policy:</a:t>
            </a:r>
            <a:r>
              <a:rPr b="0" i="0" sz="1450">
                <a:solidFill>
                  <a:srgbClr val="333333"/>
                </a:solidFill>
                <a:latin typeface="Times New Roman"/>
              </a:rPr>
              <a:t> allowed tables and join paths from the nopCommerce [7] schema.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1" i="0" sz="1450">
                <a:solidFill>
                  <a:srgbClr val="003366"/>
                </a:solidFill>
                <a:latin typeface="Times New Roman"/>
              </a:rPr>
              <a:t>- Output contracts:</a:t>
            </a:r>
            <a:r>
              <a:rPr b="0" i="0" sz="1450">
                <a:solidFill>
                  <a:srgbClr val="333333"/>
                </a:solidFill>
                <a:latin typeface="Times New Roman"/>
              </a:rPr>
              <a:t> table, matrix, KPI, and chart-ready shapes.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1" name="Rectangle 10">
            <a:extLst>
              <a:ext uri="{FF2B5EF4-FFF2-40B4-BE49-F238E27FC236}">
                <a16:creationId xmlns:a16="http://schemas.microsoft.com/office/drawing/2014/main" id="{D059D760-A365-91EB-B942-587B657A477E}"/>
              </a:ext>
            </a:extLst>
          </p:cNvPr>
          <p:cNvSpPr/>
          <p:nvPr/>
        </p:nvSpPr>
        <p:spPr>
          <a:xfrm>
            <a:off x="-1" y="1500807"/>
            <a:ext cx="12191999" cy="18288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40000"/>
                  <a:lumOff val="60000"/>
                </a:schemeClr>
              </a:gs>
              <a:gs pos="36000">
                <a:schemeClr val="accent1">
                  <a:lumMod val="95000"/>
                  <a:lumOff val="5000"/>
                </a:schemeClr>
              </a:gs>
              <a:gs pos="100000">
                <a:schemeClr val="tx2">
                  <a:lumMod val="50000"/>
                </a:schemeClr>
              </a:gs>
            </a:gsLst>
            <a:path path="circle">
              <a:fillToRect l="50000" t="130000" r="50000" b="-3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7F49795-9FC6-D65C-AAE9-247F6DF3DA3F}"/>
              </a:ext>
            </a:extLst>
          </p:cNvPr>
          <p:cNvSpPr/>
          <p:nvPr/>
        </p:nvSpPr>
        <p:spPr>
          <a:xfrm>
            <a:off x="0" y="6291468"/>
            <a:ext cx="12192000" cy="586409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27AE48-C47C-33FE-8F56-0AA4260C9B62}"/>
              </a:ext>
            </a:extLst>
          </p:cNvPr>
          <p:cNvSpPr/>
          <p:nvPr/>
        </p:nvSpPr>
        <p:spPr>
          <a:xfrm>
            <a:off x="0" y="0"/>
            <a:ext cx="12192000" cy="150080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8720" y="365760"/>
            <a:ext cx="9601200" cy="731520"/>
          </a:xfrm>
        </p:spPr>
        <p:txBody>
          <a:bodyPr/>
          <a:lstStyle/>
          <a:p>
            <a:pPr>
              <a:defRPr b="1" sz="2400">
                <a:solidFill>
                  <a:srgbClr val="003366"/>
                </a:solidFill>
                <a:latin typeface="Times New Roman"/>
              </a:defRPr>
            </a:pPr>
            <a:r>
              <a:t>Intent Extraction Boundary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874" y="457199"/>
            <a:ext cx="592309" cy="586409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2A3C15-2DFB-89FB-3AD7-611F4E0BA4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Tuesday, August 18,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B89723-33F1-15E2-783B-D602C9620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04B3F8-8A1A-BE19-5C71-AE319E3DCF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12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89720" y="475488"/>
            <a:ext cx="210312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i="1">
                <a:solidFill>
                  <a:srgbClr val="5F5F5F"/>
                </a:solidFill>
                <a:latin typeface="Times New Roman"/>
              </a:defRPr>
            </a:pPr>
            <a:r>
              <a:t>Stage 1 of 7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1572768"/>
            <a:ext cx="2880360" cy="547378"/>
          </a:xfrm>
          <a:prstGeom prst="roundRect">
            <a:avLst/>
          </a:prstGeom>
          <a:solidFill>
            <a:srgbClr val="E9F1FA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/>
          <a:lstStyle/>
          <a:p>
            <a:pPr algn="ctr">
              <a:defRPr sz="1300" b="1">
                <a:solidFill>
                  <a:srgbClr val="003366"/>
                </a:solidFill>
                <a:latin typeface="Times New Roman"/>
              </a:defRPr>
            </a:pPr>
            <a:r>
              <a:rPr/>
              <a:t>1. User asks a business question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2261405"/>
            <a:ext cx="2651760" cy="1280160"/>
          </a:xfrm>
          <a:prstGeom prst="rect">
            <a:avLst/>
          </a:prstGeom>
          <a:noFill/>
        </p:spPr>
        <p:txBody>
          <a:bodyPr wrap="square" anchor="t" lIns="0" tIns="0" rIns="0">
            <a:spAutoFit/>
          </a:bodyPr>
          <a:lstStyle/>
          <a:p>
            <a:pPr marL="0" indent="0">
              <a:lnSpc>
                <a:spcPct val="100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1800">
                <a:solidFill>
                  <a:srgbClr val="003366"/>
                </a:solidFill>
                <a:latin typeface="Times New Roman"/>
              </a:rPr>
              <a:t>Example: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1800">
                <a:solidFill>
                  <a:srgbClr val="003366"/>
                </a:solidFill>
                <a:latin typeface="Times New Roman"/>
              </a:rPr>
              <a:t>Show order average by status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886200" y="1572768"/>
            <a:ext cx="3337560" cy="547378"/>
          </a:xfrm>
          <a:prstGeom prst="roundRect">
            <a:avLst/>
          </a:prstGeom>
          <a:solidFill>
            <a:srgbClr val="E9F1FA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/>
          <a:lstStyle/>
          <a:p>
            <a:pPr algn="ctr">
              <a:defRPr sz="1260" b="1">
                <a:solidFill>
                  <a:srgbClr val="003366"/>
                </a:solidFill>
                <a:latin typeface="Times New Roman"/>
              </a:defRPr>
            </a:pPr>
            <a:r>
              <a:rPr/>
              <a:t>2. Prompt exposes approved vocabulary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50208" y="2226091"/>
            <a:ext cx="3154680" cy="1809880"/>
          </a:xfrm>
          <a:prstGeom prst="rect">
            <a:avLst/>
          </a:prstGeom>
          <a:noFill/>
        </p:spPr>
        <p:txBody>
          <a:bodyPr wrap="square" anchor="t" lIns="0" tIns="0" rIns="0">
            <a:spAutoFit/>
          </a:bodyPr>
          <a:lstStyle/>
          <a:p>
            <a:pPr marL="0" indent="0">
              <a:lnSpc>
                <a:spcPct val="90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1700">
                <a:solidFill>
                  <a:srgbClr val="003366"/>
                </a:solidFill>
                <a:latin typeface="Times New Roman"/>
              </a:rPr>
              <a:t>Vocabulary excerpt:</a:t>
            </a:r>
          </a:p>
          <a:p>
            <a:pPr marL="256032" indent="-256032">
              <a:lnSpc>
                <a:spcPct val="90000"/>
              </a:lnSpc>
              <a:spcBef>
                <a:spcPts val="300"/>
              </a:spcBef>
              <a:spcAft>
                <a:spcPts val="700"/>
              </a:spcAft>
            </a:pPr>
            <a:r>
              <a:rPr b="1" i="0" sz="1400">
                <a:solidFill>
                  <a:srgbClr val="003366"/>
                </a:solidFill>
                <a:latin typeface="Times New Roman"/>
              </a:rPr>
              <a:t>- Metrics:</a:t>
            </a:r>
            <a:r>
              <a:rPr b="0" i="0" sz="1400">
                <a:solidFill>
                  <a:srgbClr val="333333"/>
                </a:solidFill>
                <a:latin typeface="Times New Roman"/>
              </a:rPr>
              <a:t> revenue, order_count, avg_order_value</a:t>
            </a:r>
          </a:p>
          <a:p>
            <a:pPr marL="256032" indent="-256032">
              <a:lnSpc>
                <a:spcPct val="90000"/>
              </a:lnSpc>
              <a:spcBef>
                <a:spcPts val="300"/>
              </a:spcBef>
              <a:spcAft>
                <a:spcPts val="700"/>
              </a:spcAft>
            </a:pPr>
            <a:r>
              <a:rPr b="1" i="0" sz="1400">
                <a:solidFill>
                  <a:srgbClr val="003366"/>
                </a:solidFill>
                <a:latin typeface="Times New Roman"/>
              </a:rPr>
              <a:t>- Dimensions:</a:t>
            </a:r>
            <a:r>
              <a:rPr b="0" i="0" sz="1400">
                <a:solidFill>
                  <a:srgbClr val="333333"/>
                </a:solidFill>
                <a:latin typeface="Times New Roman"/>
              </a:rPr>
              <a:t> order_status, category, country</a:t>
            </a:r>
          </a:p>
          <a:p>
            <a:pPr marL="256032" indent="-256032">
              <a:lnSpc>
                <a:spcPct val="90000"/>
              </a:lnSpc>
              <a:spcBef>
                <a:spcPts val="300"/>
              </a:spcBef>
              <a:spcAft>
                <a:spcPts val="700"/>
              </a:spcAft>
            </a:pPr>
            <a:r>
              <a:rPr b="1" i="0" sz="1400">
                <a:solidFill>
                  <a:srgbClr val="003366"/>
                </a:solidFill>
                <a:latin typeface="Times New Roman"/>
              </a:rPr>
              <a:t>- Output:</a:t>
            </a:r>
            <a:r>
              <a:rPr b="0" i="0" sz="1400">
                <a:solidFill>
                  <a:srgbClr val="333333"/>
                </a:solidFill>
                <a:latin typeface="Times New Roman"/>
              </a:rPr>
              <a:t> kpi, table, matrix, chart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882127" y="1572768"/>
            <a:ext cx="3200400" cy="547378"/>
          </a:xfrm>
          <a:prstGeom prst="roundRect">
            <a:avLst/>
          </a:prstGeom>
          <a:solidFill>
            <a:srgbClr val="E2F0D9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/>
          <a:lstStyle/>
          <a:p>
            <a:pPr algn="ctr">
              <a:defRPr sz="1280" b="1">
                <a:solidFill>
                  <a:srgbClr val="003366"/>
                </a:solidFill>
                <a:latin typeface="Times New Roman"/>
              </a:defRPr>
            </a:pPr>
            <a:r>
              <a:rPr/>
              <a:t>3. LLM returns an Intent Object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973568" y="2226091"/>
            <a:ext cx="2971800" cy="1483219"/>
          </a:xfrm>
          <a:prstGeom prst="rect">
            <a:avLst/>
          </a:prstGeom>
          <a:solidFill>
            <a:srgbClr val="F7F7F7"/>
          </a:solidFill>
          <a:ln>
            <a:solidFill>
              <a:srgbClr val="B7B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576" tIns="73152"/>
          <a:lstStyle/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{</a:t>
            </a: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  "intent_class": "segment",</a:t>
            </a: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  "metric_term": "avg_order_value",</a:t>
            </a: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  "dimension_term": "order_status",</a:t>
            </a: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  "output_shape": "table"</a:t>
            </a: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}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3538728" y="1618488"/>
            <a:ext cx="347472" cy="0"/>
          </a:xfrm>
          <a:prstGeom prst="line">
            <a:avLst/>
          </a:prstGeom>
          <a:ln w="25400">
            <a:solidFill>
              <a:srgbClr val="00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7223760" y="1618488"/>
            <a:ext cx="658367" cy="0"/>
          </a:xfrm>
          <a:prstGeom prst="line">
            <a:avLst/>
          </a:prstGeom>
          <a:ln w="25400">
            <a:solidFill>
              <a:srgbClr val="00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804672" y="4415606"/>
          <a:ext cx="10286999" cy="125367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40280"/>
                <a:gridCol w="3749039"/>
                <a:gridCol w="4297680"/>
              </a:tblGrid>
              <a:tr h="4328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Stage</a:t>
                      </a:r>
                    </a:p>
                  </a:txBody>
                  <a:tcPr marL="36576" marR="36576" marT="13716" marB="13716"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Allowed</a:t>
                      </a:r>
                    </a:p>
                  </a:txBody>
                  <a:tcPr marL="36576" marR="36576" marT="13716" marB="13716"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Not allowed</a:t>
                      </a:r>
                    </a:p>
                  </a:txBody>
                  <a:tcPr marL="36576" marR="36576" marT="13716" marB="13716" anchor="ctr">
                    <a:solidFill>
                      <a:srgbClr val="003366"/>
                    </a:solidFill>
                  </a:tcPr>
                </a:tc>
              </a:tr>
              <a:tr h="4328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LLM</a:t>
                      </a:r>
                    </a:p>
                  </a:txBody>
                  <a:tcPr marL="36576" marR="36576" marT="13716" marB="13716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Choose approved ids from vocabulary</a:t>
                      </a:r>
                    </a:p>
                  </a:txBody>
                  <a:tcPr marL="36576" marR="36576" marT="13716" marB="13716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Raw SQL, joins, table names, writes</a:t>
                      </a:r>
                    </a:p>
                  </a:txBody>
                  <a:tcPr marL="36576" marR="36576" marT="13716" marB="13716" anchor="ctr"/>
                </a:tc>
              </a:tr>
              <a:tr h="4328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AEGIS</a:t>
                      </a:r>
                    </a:p>
                  </a:txBody>
                  <a:tcPr marL="36576" marR="36576" marT="13716" marB="13716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Bind ids to semantic definitions</a:t>
                      </a:r>
                    </a:p>
                  </a:txBody>
                  <a:tcPr marL="36576" marR="36576" marT="13716" marB="13716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Unknown ids, silent fallback, unsafe execution</a:t>
                      </a:r>
                    </a:p>
                  </a:txBody>
                  <a:tcPr marL="36576" marR="36576" marT="13716" marB="13716" anchor="ctr"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  <p:sp>
        <p:nvSpPr>
          <p:cNvPr id="23" name="Rounded Rectangle 22"/>
          <p:cNvSpPr/>
          <p:nvPr/>
        </p:nvSpPr>
        <p:spPr>
          <a:xfrm>
            <a:off x="777240" y="5742432"/>
            <a:ext cx="10515600" cy="475488"/>
          </a:xfrm>
          <a:prstGeom prst="roundRect">
            <a:avLst/>
          </a:prstGeom>
          <a:solidFill>
            <a:srgbClr val="F3F6FB"/>
          </a:solidFill>
          <a:ln w="9525">
            <a:solidFill>
              <a:srgbClr val="C9D6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/>
          <a:lstStyle/>
          <a:p>
            <a:pPr algn="l"/>
            <a:r>
              <a:rPr b="1" sz="1300">
                <a:solidFill>
                  <a:srgbClr val="333333"/>
                </a:solidFill>
                <a:latin typeface="Times New Roman"/>
              </a:rPr>
              <a:t>In plain terms:  </a:t>
            </a:r>
            <a:r>
              <a:rPr sz="1300">
                <a:solidFill>
                  <a:srgbClr val="333333"/>
                </a:solidFill>
                <a:latin typeface="Times New Roman"/>
              </a:rPr>
              <a:t>The model picks names from a list we wrote. It never sees a table name, and never writes SQL.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1" name="Rectangle 10">
            <a:extLst>
              <a:ext uri="{FF2B5EF4-FFF2-40B4-BE49-F238E27FC236}">
                <a16:creationId xmlns:a16="http://schemas.microsoft.com/office/drawing/2014/main" id="{D059D760-A365-91EB-B942-587B657A477E}"/>
              </a:ext>
            </a:extLst>
          </p:cNvPr>
          <p:cNvSpPr/>
          <p:nvPr/>
        </p:nvSpPr>
        <p:spPr>
          <a:xfrm>
            <a:off x="-1" y="1500807"/>
            <a:ext cx="12191999" cy="18288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40000"/>
                  <a:lumOff val="60000"/>
                </a:schemeClr>
              </a:gs>
              <a:gs pos="36000">
                <a:schemeClr val="accent1">
                  <a:lumMod val="95000"/>
                  <a:lumOff val="5000"/>
                </a:schemeClr>
              </a:gs>
              <a:gs pos="100000">
                <a:schemeClr val="tx2">
                  <a:lumMod val="50000"/>
                </a:schemeClr>
              </a:gs>
            </a:gsLst>
            <a:path path="circle">
              <a:fillToRect l="50000" t="130000" r="50000" b="-3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7F49795-9FC6-D65C-AAE9-247F6DF3DA3F}"/>
              </a:ext>
            </a:extLst>
          </p:cNvPr>
          <p:cNvSpPr/>
          <p:nvPr/>
        </p:nvSpPr>
        <p:spPr>
          <a:xfrm>
            <a:off x="0" y="6291468"/>
            <a:ext cx="12192000" cy="586409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27AE48-C47C-33FE-8F56-0AA4260C9B62}"/>
              </a:ext>
            </a:extLst>
          </p:cNvPr>
          <p:cNvSpPr/>
          <p:nvPr/>
        </p:nvSpPr>
        <p:spPr>
          <a:xfrm>
            <a:off x="0" y="0"/>
            <a:ext cx="12192000" cy="150080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8720" y="365760"/>
            <a:ext cx="9601200" cy="731520"/>
          </a:xfrm>
        </p:spPr>
        <p:txBody>
          <a:bodyPr/>
          <a:lstStyle/>
          <a:p>
            <a:pPr>
              <a:defRPr b="1" sz="2400">
                <a:solidFill>
                  <a:srgbClr val="003366"/>
                </a:solidFill>
                <a:latin typeface="Times New Roman"/>
              </a:defRPr>
            </a:pPr>
            <a:r>
              <a:t>The Intent Object, and What It Selects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874" y="457199"/>
            <a:ext cx="592309" cy="586409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2A3C15-2DFB-89FB-3AD7-611F4E0BA4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Tuesday, August 18,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B89723-33F1-15E2-783B-D602C9620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04B3F8-8A1A-BE19-5C71-AE319E3DCF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13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89720" y="475488"/>
            <a:ext cx="210312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i="1">
                <a:solidFill>
                  <a:srgbClr val="5F5F5F"/>
                </a:solidFill>
                <a:latin typeface="Times New Roman"/>
              </a:defRPr>
            </a:pPr>
            <a:r>
              <a:t>Stages 1 and 2 of 7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1572768"/>
            <a:ext cx="5029200" cy="455168"/>
          </a:xfrm>
          <a:prstGeom prst="roundRect">
            <a:avLst/>
          </a:prstGeom>
          <a:solidFill>
            <a:srgbClr val="E2F0D9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/>
          <a:lstStyle/>
          <a:p>
            <a:pPr algn="ctr">
              <a:defRPr sz="1250" b="1">
                <a:solidFill>
                  <a:srgbClr val="003366"/>
                </a:solidFill>
                <a:latin typeface="Times New Roman"/>
              </a:defRPr>
            </a:pPr>
            <a:r>
              <a:rPr/>
              <a:t>IntentObject  (aegis/server/models.py)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13232" y="2118969"/>
            <a:ext cx="4937760" cy="2503424"/>
          </a:xfrm>
          <a:prstGeom prst="rect">
            <a:avLst/>
          </a:prstGeom>
          <a:solidFill>
            <a:srgbClr val="F7F7F7"/>
          </a:solidFill>
          <a:ln>
            <a:solidFill>
              <a:srgbClr val="B7B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576" tIns="73152"/>
          <a:lstStyle/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class IntentObject(BaseModel):</a:t>
            </a: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    intent_class:    IntentClass      # required, 11-value enum</a:t>
            </a: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    metric_term:     Optional[str]    # an approved metric id</a:t>
            </a: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    dimension_term:  Optional[str]    # an approved dimension id</a:t>
            </a: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    time_term:       Optional[str]    # a phrase, not a date</a:t>
            </a: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    filters:         List[Filter]     # field / operator / value</a:t>
            </a: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    limit:           Optional[int]</a:t>
            </a: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    confidence:      Confidence = LOW # absence is not confidence</a:t>
            </a: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    unmapped_terms:  List[str]        # what it could not account for</a:t>
            </a: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# There is no sql field. The type cannot express one.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89320" y="1572768"/>
            <a:ext cx="5212080" cy="455168"/>
          </a:xfrm>
          <a:prstGeom prst="roundRect">
            <a:avLst/>
          </a:prstGeom>
          <a:solidFill>
            <a:srgbClr val="E9F1FA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/>
          <a:lstStyle/>
          <a:p>
            <a:pPr algn="ctr">
              <a:defRPr sz="1250" b="1">
                <a:solidFill>
                  <a:srgbClr val="003366"/>
                </a:solidFill>
                <a:latin typeface="Times New Roman"/>
              </a:defRPr>
            </a:pPr>
            <a:r>
              <a:rPr/>
              <a:t>intent_class selects the compilation path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035040" y="2118969"/>
          <a:ext cx="5166360" cy="25034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31720"/>
                <a:gridCol w="2834640"/>
              </a:tblGrid>
              <a:tr h="4191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intent_class</a:t>
                      </a:r>
                    </a:p>
                  </a:txBody>
                  <a:tcPr marL="45720" marR="45720" marT="18288" marB="18288"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Compiler path taken</a:t>
                      </a:r>
                    </a:p>
                  </a:txBody>
                  <a:tcPr marL="45720" marR="45720" marT="18288" marB="18288" anchor="ctr">
                    <a:solidFill>
                      <a:srgbClr val="003366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kpi, summary</a:t>
                      </a:r>
                    </a:p>
                  </a:txBody>
                  <a:tcPr marL="45720" marR="45720" marT="18288" marB="18288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aggregate, no LIMIT</a:t>
                      </a:r>
                    </a:p>
                  </a:txBody>
                  <a:tcPr marL="45720" marR="45720" marT="18288" marB="18288" anchor="ctr"/>
                </a:tc>
              </a:tr>
              <a:tr h="4191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segment, ranking,</a:t>
                      </a:r>
                    </a:p>
                    <a:p>
                      <a:pPr algn="l">
                        <a:lnSpc>
                          <a:spcPct val="100000"/>
                        </a:lnSpc>
                        <a:defRPr sz="12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comparison, cohort</a:t>
                      </a:r>
                    </a:p>
                  </a:txBody>
                  <a:tcPr marL="45720" marR="45720" marT="18288" marB="18288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aggregate + GROUP BY + ORDER BY</a:t>
                      </a:r>
                    </a:p>
                  </a:txBody>
                  <a:tcPr marL="45720" marR="45720" marT="18288" marB="18288" anchor="ctr">
                    <a:solidFill>
                      <a:srgbClr val="F2F4F8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trend</a:t>
                      </a:r>
                    </a:p>
                  </a:txBody>
                  <a:tcPr marL="45720" marR="45720" marT="18288" marB="18288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date bucket; zero-filled when daily</a:t>
                      </a:r>
                    </a:p>
                  </a:txBody>
                  <a:tcPr marL="45720" marR="45720" marT="18288" marB="18288" anchor="ctr"/>
                </a:tc>
              </a:tr>
              <a:tr h="4191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tabular, exception</a:t>
                      </a:r>
                    </a:p>
                  </a:txBody>
                  <a:tcPr marL="45720" marR="45720" marT="18288" marB="18288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row listing, no aggregation</a:t>
                      </a:r>
                    </a:p>
                  </a:txBody>
                  <a:tcPr marL="45720" marR="45720" marT="18288" marB="18288" anchor="ctr">
                    <a:solidFill>
                      <a:srgbClr val="F2F4F8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funnel, correlate</a:t>
                      </a:r>
                    </a:p>
                  </a:txBody>
                  <a:tcPr marL="45720" marR="45720" marT="18288" marB="18288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aggregate over the stated relation</a:t>
                      </a:r>
                    </a:p>
                  </a:txBody>
                  <a:tcPr marL="45720" marR="45720" marT="18288" marB="18288" anchor="ctr"/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777240" y="4804460"/>
            <a:ext cx="10424160" cy="864819"/>
          </a:xfrm>
          <a:prstGeom prst="rect">
            <a:avLst/>
          </a:prstGeom>
          <a:noFill/>
        </p:spPr>
        <p:txBody>
          <a:bodyPr wrap="square" anchor="t" lIns="0" tIns="0" rIns="0">
            <a:spAutoFit/>
          </a:bodyPr>
          <a:lstStyle/>
          <a:p>
            <a:pPr marL="0" indent="0">
              <a:lnSpc>
                <a:spcPct val="108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1700">
                <a:solidFill>
                  <a:srgbClr val="003366"/>
                </a:solidFill>
                <a:latin typeface="Times New Roman"/>
              </a:rPr>
              <a:t>An id the semantic layer does not define is rejected here, before any SQL exists. There is no path from an unknown id to a query.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77240" y="5742432"/>
            <a:ext cx="10515600" cy="475488"/>
          </a:xfrm>
          <a:prstGeom prst="roundRect">
            <a:avLst/>
          </a:prstGeom>
          <a:solidFill>
            <a:srgbClr val="F3F6FB"/>
          </a:solidFill>
          <a:ln w="9525">
            <a:solidFill>
              <a:srgbClr val="C9D6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/>
          <a:lstStyle/>
          <a:p>
            <a:pPr algn="l"/>
            <a:r>
              <a:rPr b="1" sz="1300">
                <a:solidFill>
                  <a:srgbClr val="333333"/>
                </a:solidFill>
                <a:latin typeface="Times New Roman"/>
              </a:rPr>
              <a:t>In plain terms:  </a:t>
            </a:r>
            <a:r>
              <a:rPr sz="1300">
                <a:solidFill>
                  <a:srgbClr val="333333"/>
                </a:solidFill>
                <a:latin typeface="Times New Roman"/>
              </a:rPr>
              <a:t>The answer form is chosen from eleven fixed shapes, not invented per question.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1" name="Rectangle 10">
            <a:extLst>
              <a:ext uri="{FF2B5EF4-FFF2-40B4-BE49-F238E27FC236}">
                <a16:creationId xmlns:a16="http://schemas.microsoft.com/office/drawing/2014/main" id="{D059D760-A365-91EB-B942-587B657A477E}"/>
              </a:ext>
            </a:extLst>
          </p:cNvPr>
          <p:cNvSpPr/>
          <p:nvPr/>
        </p:nvSpPr>
        <p:spPr>
          <a:xfrm>
            <a:off x="-1" y="1500807"/>
            <a:ext cx="12191999" cy="18288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40000"/>
                  <a:lumOff val="60000"/>
                </a:schemeClr>
              </a:gs>
              <a:gs pos="36000">
                <a:schemeClr val="accent1">
                  <a:lumMod val="95000"/>
                  <a:lumOff val="5000"/>
                </a:schemeClr>
              </a:gs>
              <a:gs pos="100000">
                <a:schemeClr val="tx2">
                  <a:lumMod val="50000"/>
                </a:schemeClr>
              </a:gs>
            </a:gsLst>
            <a:path path="circle">
              <a:fillToRect l="50000" t="130000" r="50000" b="-3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7F49795-9FC6-D65C-AAE9-247F6DF3DA3F}"/>
              </a:ext>
            </a:extLst>
          </p:cNvPr>
          <p:cNvSpPr/>
          <p:nvPr/>
        </p:nvSpPr>
        <p:spPr>
          <a:xfrm>
            <a:off x="0" y="6291468"/>
            <a:ext cx="12192000" cy="586409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27AE48-C47C-33FE-8F56-0AA4260C9B62}"/>
              </a:ext>
            </a:extLst>
          </p:cNvPr>
          <p:cNvSpPr/>
          <p:nvPr/>
        </p:nvSpPr>
        <p:spPr>
          <a:xfrm>
            <a:off x="0" y="0"/>
            <a:ext cx="12192000" cy="150080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8720" y="365760"/>
            <a:ext cx="9601200" cy="731520"/>
          </a:xfrm>
        </p:spPr>
        <p:txBody>
          <a:bodyPr/>
          <a:lstStyle/>
          <a:p>
            <a:pPr>
              <a:defRPr b="1" sz="2400">
                <a:solidFill>
                  <a:srgbClr val="003366"/>
                </a:solidFill>
                <a:latin typeface="Times New Roman"/>
              </a:defRPr>
            </a:pPr>
            <a:r>
              <a:t>Semantic Mapping Under the Hood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874" y="457199"/>
            <a:ext cx="592309" cy="586409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2A3C15-2DFB-89FB-3AD7-611F4E0BA4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Tuesday, August 18,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B89723-33F1-15E2-783B-D602C9620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04B3F8-8A1A-BE19-5C71-AE319E3DCF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14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89720" y="475488"/>
            <a:ext cx="210312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i="1">
                <a:solidFill>
                  <a:srgbClr val="5F5F5F"/>
                </a:solidFill>
                <a:latin typeface="Times New Roman"/>
              </a:defRPr>
            </a:pPr>
            <a:r>
              <a:t>Stage 3 of 7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49808" y="1572768"/>
            <a:ext cx="2834640" cy="807021"/>
          </a:xfrm>
          <a:prstGeom prst="roundRect">
            <a:avLst/>
          </a:prstGeom>
          <a:solidFill>
            <a:srgbClr val="E9F1FA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/>
          <a:lstStyle/>
          <a:p>
            <a:pPr algn="ctr">
              <a:defRPr sz="1200" b="1">
                <a:solidFill>
                  <a:srgbClr val="003366"/>
                </a:solidFill>
                <a:latin typeface="Times New Roman"/>
              </a:defRPr>
            </a:pPr>
            <a:r>
              <a:rPr/>
              <a:t>Intent Object</a:t>
            </a:r>
            <a:br/>
            <a:r>
              <a:rPr/>
              <a:t>metric_term=avg_order_value</a:t>
            </a:r>
            <a:br/>
            <a:r>
              <a:rPr/>
              <a:t>dimension_term=order_status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0" y="1572768"/>
            <a:ext cx="2834640" cy="807021"/>
          </a:xfrm>
          <a:prstGeom prst="roundRect">
            <a:avLst/>
          </a:prstGeom>
          <a:solidFill>
            <a:srgbClr val="E2F0D9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/>
          <a:lstStyle/>
          <a:p>
            <a:pPr algn="ctr">
              <a:defRPr sz="1200" b="1">
                <a:solidFill>
                  <a:srgbClr val="003366"/>
                </a:solidFill>
                <a:latin typeface="Times New Roman"/>
              </a:defRPr>
            </a:pPr>
            <a:r>
              <a:rPr/>
              <a:t>Lookup in semantic layer</a:t>
            </a:r>
            <a:br/>
            <a:r>
              <a:rPr/>
              <a:t>METRICS + DIMENSIONS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339327" y="1572768"/>
            <a:ext cx="2331720" cy="807021"/>
          </a:xfrm>
          <a:prstGeom prst="roundRect">
            <a:avLst/>
          </a:prstGeom>
          <a:solidFill>
            <a:srgbClr val="E9F1FA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/>
          <a:lstStyle/>
          <a:p>
            <a:pPr algn="ctr">
              <a:defRPr sz="1200" b="1">
                <a:solidFill>
                  <a:srgbClr val="003366"/>
                </a:solidFill>
                <a:latin typeface="Times New Roman"/>
              </a:defRPr>
            </a:pPr>
            <a:r>
              <a:rPr/>
              <a:t>Analysis Plan</a:t>
            </a:r>
            <a:br/>
            <a:r>
              <a:rPr/>
              <a:t>pattern=segment</a:t>
            </a:r>
            <a:br/>
            <a:r>
              <a:rPr/>
              <a:t>shape=table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3584448" y="1773936"/>
            <a:ext cx="987552" cy="0"/>
          </a:xfrm>
          <a:prstGeom prst="line">
            <a:avLst/>
          </a:prstGeom>
          <a:ln w="25400">
            <a:solidFill>
              <a:srgbClr val="00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7406640" y="1773936"/>
            <a:ext cx="932687" cy="0"/>
          </a:xfrm>
          <a:prstGeom prst="line">
            <a:avLst/>
          </a:prstGeom>
          <a:ln w="25400">
            <a:solidFill>
              <a:srgbClr val="00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85800" y="2774528"/>
          <a:ext cx="10835640" cy="206141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08760"/>
                <a:gridCol w="1828800"/>
                <a:gridCol w="2834640"/>
                <a:gridCol w="2377440"/>
                <a:gridCol w="2286000"/>
              </a:tblGrid>
              <a:tr h="53721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Slot</a:t>
                      </a:r>
                    </a:p>
                  </a:txBody>
                  <a:tcPr marL="32004" marR="32004" marT="13716" marB="13716"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Resolved id</a:t>
                      </a:r>
                    </a:p>
                  </a:txBody>
                  <a:tcPr marL="32004" marR="32004" marT="13716" marB="13716"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Business meaning</a:t>
                      </a:r>
                    </a:p>
                  </a:txBody>
                  <a:tcPr marL="32004" marR="32004" marT="13716" marB="13716"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SQL expression</a:t>
                      </a:r>
                    </a:p>
                  </a:txBody>
                  <a:tcPr marL="32004" marR="32004" marT="13716" marB="13716"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Binding</a:t>
                      </a:r>
                    </a:p>
                  </a:txBody>
                  <a:tcPr marL="32004" marR="32004" marT="13716" marB="13716" anchor="ctr">
                    <a:solidFill>
                      <a:srgbClr val="003366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Metric</a:t>
                      </a:r>
                    </a:p>
                  </a:txBody>
                  <a:tcPr marL="32004" marR="32004" marT="13716" marB="13716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avg_order_value</a:t>
                      </a:r>
                    </a:p>
                  </a:txBody>
                  <a:tcPr marL="32004" marR="32004" marT="13716" marB="13716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Average revenue per order</a:t>
                      </a:r>
                    </a:p>
                  </a:txBody>
                  <a:tcPr marL="32004" marR="32004" marT="13716" marB="13716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AVG(COALESCE(o.OrderTotal, 0))</a:t>
                      </a:r>
                    </a:p>
                  </a:txBody>
                  <a:tcPr marL="32004" marR="32004" marT="13716" marB="13716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Order as o</a:t>
                      </a:r>
                    </a:p>
                  </a:txBody>
                  <a:tcPr marL="32004" marR="32004" marT="13716" marB="13716" anchor="ctr"/>
                </a:tc>
              </a:tr>
              <a:tr h="53721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Dimension</a:t>
                      </a:r>
                    </a:p>
                  </a:txBody>
                  <a:tcPr marL="32004" marR="32004" marT="13716" marB="13716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order_status</a:t>
                      </a:r>
                    </a:p>
                  </a:txBody>
                  <a:tcPr marL="32004" marR="32004" marT="13716" marB="13716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Readable order status label</a:t>
                      </a:r>
                    </a:p>
                  </a:txBody>
                  <a:tcPr marL="32004" marR="32004" marT="13716" marB="13716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CASE o.OrderStatusId ... END</a:t>
                      </a:r>
                    </a:p>
                  </a:txBody>
                  <a:tcPr marL="32004" marR="32004" marT="13716" marB="13716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Order as o</a:t>
                      </a:r>
                    </a:p>
                  </a:txBody>
                  <a:tcPr marL="32004" marR="32004" marT="13716" marB="13716" anchor="ctr">
                    <a:solidFill>
                      <a:srgbClr val="F2F4F8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Rule</a:t>
                      </a:r>
                    </a:p>
                  </a:txBody>
                  <a:tcPr marL="32004" marR="32004" marT="13716" marB="13716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mandatory</a:t>
                      </a:r>
                    </a:p>
                  </a:txBody>
                  <a:tcPr marL="32004" marR="32004" marT="13716" marB="13716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Ignore soft-deleted orders</a:t>
                      </a:r>
                    </a:p>
                  </a:txBody>
                  <a:tcPr marL="32004" marR="32004" marT="13716" marB="13716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o.Deleted = 0</a:t>
                      </a:r>
                    </a:p>
                  </a:txBody>
                  <a:tcPr marL="32004" marR="32004" marT="13716" marB="13716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WHERE</a:t>
                      </a:r>
                    </a:p>
                  </a:txBody>
                  <a:tcPr marL="32004" marR="32004" marT="13716" marB="13716" anchor="ctr"/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868680" y="4967522"/>
            <a:ext cx="10241280" cy="701757"/>
          </a:xfrm>
          <a:prstGeom prst="rect">
            <a:avLst/>
          </a:prstGeom>
          <a:noFill/>
        </p:spPr>
        <p:txBody>
          <a:bodyPr wrap="square" anchor="t" lIns="0" tIns="0" rIns="0">
            <a:spAutoFit/>
          </a:bodyPr>
          <a:lstStyle/>
          <a:p>
            <a:pPr marL="0" indent="0">
              <a:lnSpc>
                <a:spcPct val="108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1500">
                <a:solidFill>
                  <a:srgbClr val="003366"/>
                </a:solidFill>
                <a:latin typeface="Times New Roman"/>
              </a:rPr>
              <a:t>Intent Object vs Analysis Plan:</a:t>
            </a:r>
            <a:r>
              <a:rPr b="0" i="0" sz="1400">
                <a:solidFill>
                  <a:srgbClr val="333333"/>
                </a:solidFill>
                <a:latin typeface="Times New Roman"/>
              </a:rPr>
              <a:t> the Intent Object is what the model said. The Analysis Plan is what AEGIS was able to bind it to — it adds the pattern, the join path, the resolved SQL expressions, and the evidence for each binding. Only the Plan reaches the compiler.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77240" y="5742432"/>
            <a:ext cx="10515600" cy="475488"/>
          </a:xfrm>
          <a:prstGeom prst="roundRect">
            <a:avLst/>
          </a:prstGeom>
          <a:solidFill>
            <a:srgbClr val="F3F6FB"/>
          </a:solidFill>
          <a:ln w="9525">
            <a:solidFill>
              <a:srgbClr val="C9D6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/>
          <a:lstStyle/>
          <a:p>
            <a:pPr algn="l"/>
            <a:r>
              <a:rPr b="1" sz="1300">
                <a:solidFill>
                  <a:srgbClr val="333333"/>
                </a:solidFill>
                <a:latin typeface="Times New Roman"/>
              </a:rPr>
              <a:t>In plain terms:  </a:t>
            </a:r>
            <a:r>
              <a:rPr sz="1300">
                <a:solidFill>
                  <a:srgbClr val="333333"/>
                </a:solidFill>
                <a:latin typeface="Times New Roman"/>
              </a:rPr>
              <a:t>The model said 'average order value'. The definition behind that name was written by the administrator.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1" name="Rectangle 10">
            <a:extLst>
              <a:ext uri="{FF2B5EF4-FFF2-40B4-BE49-F238E27FC236}">
                <a16:creationId xmlns:a16="http://schemas.microsoft.com/office/drawing/2014/main" id="{D059D760-A365-91EB-B942-587B657A477E}"/>
              </a:ext>
            </a:extLst>
          </p:cNvPr>
          <p:cNvSpPr/>
          <p:nvPr/>
        </p:nvSpPr>
        <p:spPr>
          <a:xfrm>
            <a:off x="-1" y="1500807"/>
            <a:ext cx="12191999" cy="18288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40000"/>
                  <a:lumOff val="60000"/>
                </a:schemeClr>
              </a:gs>
              <a:gs pos="36000">
                <a:schemeClr val="accent1">
                  <a:lumMod val="95000"/>
                  <a:lumOff val="5000"/>
                </a:schemeClr>
              </a:gs>
              <a:gs pos="100000">
                <a:schemeClr val="tx2">
                  <a:lumMod val="50000"/>
                </a:schemeClr>
              </a:gs>
            </a:gsLst>
            <a:path path="circle">
              <a:fillToRect l="50000" t="130000" r="50000" b="-3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7F49795-9FC6-D65C-AAE9-247F6DF3DA3F}"/>
              </a:ext>
            </a:extLst>
          </p:cNvPr>
          <p:cNvSpPr/>
          <p:nvPr/>
        </p:nvSpPr>
        <p:spPr>
          <a:xfrm>
            <a:off x="0" y="6291468"/>
            <a:ext cx="12192000" cy="586409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27AE48-C47C-33FE-8F56-0AA4260C9B62}"/>
              </a:ext>
            </a:extLst>
          </p:cNvPr>
          <p:cNvSpPr/>
          <p:nvPr/>
        </p:nvSpPr>
        <p:spPr>
          <a:xfrm>
            <a:off x="0" y="0"/>
            <a:ext cx="12192000" cy="150080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8720" y="365760"/>
            <a:ext cx="9601200" cy="731520"/>
          </a:xfrm>
        </p:spPr>
        <p:txBody>
          <a:bodyPr/>
          <a:lstStyle/>
          <a:p>
            <a:pPr>
              <a:defRPr b="1" sz="2400">
                <a:solidFill>
                  <a:srgbClr val="003366"/>
                </a:solidFill>
                <a:latin typeface="Times New Roman"/>
              </a:defRPr>
            </a:pPr>
            <a:r>
              <a:t>Template-Based SQL Compilation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874" y="457199"/>
            <a:ext cx="592309" cy="586409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2A3C15-2DFB-89FB-3AD7-611F4E0BA4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Tuesday, August 18,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B89723-33F1-15E2-783B-D602C9620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04B3F8-8A1A-BE19-5C71-AE319E3DCF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15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89720" y="475488"/>
            <a:ext cx="210312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i="1">
                <a:solidFill>
                  <a:srgbClr val="5F5F5F"/>
                </a:solidFill>
                <a:latin typeface="Times New Roman"/>
              </a:defRPr>
            </a:pPr>
            <a:r>
              <a:t>Stage 5 of 7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1572768"/>
            <a:ext cx="3886200" cy="507687"/>
          </a:xfrm>
          <a:prstGeom prst="roundRect">
            <a:avLst/>
          </a:prstGeom>
          <a:solidFill>
            <a:srgbClr val="E9F1FA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/>
          <a:lstStyle/>
          <a:p>
            <a:pPr algn="ctr">
              <a:defRPr sz="1300" b="1">
                <a:solidFill>
                  <a:srgbClr val="003366"/>
                </a:solidFill>
                <a:latin typeface="Times New Roman"/>
              </a:defRPr>
            </a:pPr>
            <a:r>
              <a:rPr/>
              <a:t>Compiler template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13232" y="2238013"/>
            <a:ext cx="3886200" cy="2258333"/>
          </a:xfrm>
          <a:prstGeom prst="rect">
            <a:avLst/>
          </a:prstGeom>
          <a:solidFill>
            <a:srgbClr val="F7F7F7"/>
          </a:solidFill>
          <a:ln>
            <a:solidFill>
              <a:srgbClr val="B7B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576" tIns="73152"/>
          <a:lstStyle/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SELECT {dimension_expr} AS label,</a:t>
            </a: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       {metric_expr} AS value</a:t>
            </a: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FROM {base_table}</a:t>
            </a: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{join_clauses}</a:t>
            </a: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WHERE {mandatory_predicates}</a:t>
            </a: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GROUP BY {dimension_group_expr}</a:t>
            </a: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ORDER BY value DESC;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873752" y="1572768"/>
            <a:ext cx="2331720" cy="507687"/>
          </a:xfrm>
          <a:prstGeom prst="roundRect">
            <a:avLst/>
          </a:prstGeom>
          <a:solidFill>
            <a:srgbClr val="E2F0D9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/>
          <a:lstStyle/>
          <a:p>
            <a:pPr algn="ctr">
              <a:defRPr sz="1300" b="1">
                <a:solidFill>
                  <a:srgbClr val="003366"/>
                </a:solidFill>
                <a:latin typeface="Times New Roman"/>
              </a:defRPr>
            </a:pPr>
            <a:r>
              <a:rPr/>
              <a:t>Filled from semantic layer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73752" y="2185494"/>
            <a:ext cx="2331720" cy="2275840"/>
          </a:xfrm>
          <a:prstGeom prst="rect">
            <a:avLst/>
          </a:prstGeom>
          <a:noFill/>
        </p:spPr>
        <p:txBody>
          <a:bodyPr wrap="square" anchor="t" lIns="0" tIns="0" rIns="0">
            <a:spAutoFit/>
          </a:bodyPr>
          <a:lstStyle/>
          <a:p>
            <a:pPr marL="256032" indent="-256032">
              <a:lnSpc>
                <a:spcPct val="92000"/>
              </a:lnSpc>
              <a:spcBef>
                <a:spcPts val="300"/>
              </a:spcBef>
              <a:spcAft>
                <a:spcPts val="700"/>
              </a:spcAft>
            </a:pPr>
            <a:r>
              <a:rPr b="1" i="0" sz="1400">
                <a:solidFill>
                  <a:srgbClr val="003366"/>
                </a:solidFill>
                <a:latin typeface="Times New Roman"/>
              </a:rPr>
              <a:t>- dimension_expr:</a:t>
            </a:r>
            <a:r>
              <a:rPr b="0" i="0" sz="1400">
                <a:solidFill>
                  <a:srgbClr val="333333"/>
                </a:solidFill>
                <a:latin typeface="Times New Roman"/>
              </a:rPr>
              <a:t> CASE order status mapping</a:t>
            </a:r>
          </a:p>
          <a:p>
            <a:pPr marL="256032" indent="-256032">
              <a:lnSpc>
                <a:spcPct val="92000"/>
              </a:lnSpc>
              <a:spcBef>
                <a:spcPts val="300"/>
              </a:spcBef>
              <a:spcAft>
                <a:spcPts val="700"/>
              </a:spcAft>
            </a:pPr>
            <a:r>
              <a:rPr b="1" i="0" sz="1400">
                <a:solidFill>
                  <a:srgbClr val="003366"/>
                </a:solidFill>
                <a:latin typeface="Times New Roman"/>
              </a:rPr>
              <a:t>- metric_expr:</a:t>
            </a:r>
            <a:r>
              <a:rPr b="0" i="0" sz="1400">
                <a:solidFill>
                  <a:srgbClr val="333333"/>
                </a:solidFill>
                <a:latin typeface="Times New Roman"/>
              </a:rPr>
              <a:t> AVG(order total)</a:t>
            </a:r>
          </a:p>
          <a:p>
            <a:pPr marL="256032" indent="-256032">
              <a:lnSpc>
                <a:spcPct val="92000"/>
              </a:lnSpc>
              <a:spcBef>
                <a:spcPts val="300"/>
              </a:spcBef>
              <a:spcAft>
                <a:spcPts val="700"/>
              </a:spcAft>
            </a:pPr>
            <a:r>
              <a:rPr b="1" i="0" sz="1400">
                <a:solidFill>
                  <a:srgbClr val="003366"/>
                </a:solidFill>
                <a:latin typeface="Times New Roman"/>
              </a:rPr>
              <a:t>- base_table:</a:t>
            </a:r>
            <a:r>
              <a:rPr b="0" i="0" sz="1400">
                <a:solidFill>
                  <a:srgbClr val="333333"/>
                </a:solidFill>
                <a:latin typeface="Times New Roman"/>
              </a:rPr>
              <a:t> Order o</a:t>
            </a:r>
          </a:p>
          <a:p>
            <a:pPr marL="256032" indent="-256032">
              <a:lnSpc>
                <a:spcPct val="92000"/>
              </a:lnSpc>
              <a:spcBef>
                <a:spcPts val="300"/>
              </a:spcBef>
              <a:spcAft>
                <a:spcPts val="700"/>
              </a:spcAft>
            </a:pPr>
            <a:r>
              <a:rPr b="1" i="0" sz="1400">
                <a:solidFill>
                  <a:srgbClr val="003366"/>
                </a:solidFill>
                <a:latin typeface="Times New Roman"/>
              </a:rPr>
              <a:t>- joins:</a:t>
            </a:r>
            <a:r>
              <a:rPr b="0" i="0" sz="1400">
                <a:solidFill>
                  <a:srgbClr val="333333"/>
                </a:solidFill>
                <a:latin typeface="Times New Roman"/>
              </a:rPr>
              <a:t> none required here</a:t>
            </a:r>
          </a:p>
          <a:p>
            <a:pPr marL="256032" indent="-256032">
              <a:lnSpc>
                <a:spcPct val="92000"/>
              </a:lnSpc>
              <a:spcBef>
                <a:spcPts val="300"/>
              </a:spcBef>
              <a:spcAft>
                <a:spcPts val="700"/>
              </a:spcAft>
            </a:pPr>
            <a:r>
              <a:rPr b="1" i="0" sz="1400">
                <a:solidFill>
                  <a:srgbClr val="003366"/>
                </a:solidFill>
                <a:latin typeface="Times New Roman"/>
              </a:rPr>
              <a:t>- predicates:</a:t>
            </a:r>
            <a:r>
              <a:rPr b="0" i="0" sz="1400">
                <a:solidFill>
                  <a:srgbClr val="333333"/>
                </a:solidFill>
                <a:latin typeface="Times New Roman"/>
              </a:rPr>
              <a:t> o.Deleted = 0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406640" y="1572768"/>
            <a:ext cx="4114800" cy="507687"/>
          </a:xfrm>
          <a:prstGeom prst="roundRect">
            <a:avLst/>
          </a:prstGeom>
          <a:solidFill>
            <a:srgbClr val="E9F1FA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/>
          <a:lstStyle/>
          <a:p>
            <a:pPr algn="ctr">
              <a:defRPr sz="1300" b="1">
                <a:solidFill>
                  <a:srgbClr val="003366"/>
                </a:solidFill>
                <a:latin typeface="Times New Roman"/>
              </a:defRPr>
            </a:pPr>
            <a:r>
              <a:rPr/>
              <a:t>Compiled safe SELECT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406640" y="2185494"/>
            <a:ext cx="4114800" cy="2538436"/>
          </a:xfrm>
          <a:prstGeom prst="rect">
            <a:avLst/>
          </a:prstGeom>
          <a:solidFill>
            <a:srgbClr val="F7F7F7"/>
          </a:solidFill>
          <a:ln>
            <a:solidFill>
              <a:srgbClr val="B7B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576" tIns="73152"/>
          <a:lstStyle/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SELECT CASE o.OrderStatusId</a:t>
            </a: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       WHEN 10 THEN "Pending"</a:t>
            </a: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       WHEN 20 THEN "Processing"</a:t>
            </a: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       WHEN 30 THEN "Complete"</a:t>
            </a: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       WHEN 40 THEN "Cancelled"</a:t>
            </a: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       END AS label,</a:t>
            </a: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       AVG(COALESCE(o.OrderTotal, 0)) AS value</a:t>
            </a: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FROM `Order` o</a:t>
            </a: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WHERE o.Deleted = 0</a:t>
            </a: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GROUP BY CASE o.OrderStatusId ... END</a:t>
            </a: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ORDER BY value DESC;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5021540"/>
            <a:ext cx="10378440" cy="647739"/>
          </a:xfrm>
          <a:prstGeom prst="rect">
            <a:avLst/>
          </a:prstGeom>
          <a:noFill/>
        </p:spPr>
        <p:txBody>
          <a:bodyPr wrap="square" anchor="t" lIns="0" tIns="0" rIns="0">
            <a:spAutoFit/>
          </a:bodyPr>
          <a:lstStyle/>
          <a:p>
            <a:pPr marL="0" indent="0">
              <a:lnSpc>
                <a:spcPct val="108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1700">
                <a:solidFill>
                  <a:srgbClr val="003366"/>
                </a:solidFill>
                <a:latin typeface="Times New Roman"/>
              </a:rPr>
              <a:t>The template controls SQL structure; the semantic layer supplies approved identifiers and expressions; user text is never inserted into the query.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77240" y="5742432"/>
            <a:ext cx="10515600" cy="475488"/>
          </a:xfrm>
          <a:prstGeom prst="roundRect">
            <a:avLst/>
          </a:prstGeom>
          <a:solidFill>
            <a:srgbClr val="F3F6FB"/>
          </a:solidFill>
          <a:ln w="9525">
            <a:solidFill>
              <a:srgbClr val="C9D6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/>
          <a:lstStyle/>
          <a:p>
            <a:pPr algn="l"/>
            <a:r>
              <a:rPr b="1" sz="1300">
                <a:solidFill>
                  <a:srgbClr val="333333"/>
                </a:solidFill>
                <a:latin typeface="Times New Roman"/>
              </a:rPr>
              <a:t>In plain terms:  </a:t>
            </a:r>
            <a:r>
              <a:rPr sz="1300">
                <a:solidFill>
                  <a:srgbClr val="333333"/>
                </a:solidFill>
                <a:latin typeface="Times New Roman"/>
              </a:rPr>
              <a:t>The query's shape is fixed in advance. Only approved names are dropped into the blanks.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1" name="Rectangle 10">
            <a:extLst>
              <a:ext uri="{FF2B5EF4-FFF2-40B4-BE49-F238E27FC236}">
                <a16:creationId xmlns:a16="http://schemas.microsoft.com/office/drawing/2014/main" id="{D059D760-A365-91EB-B942-587B657A477E}"/>
              </a:ext>
            </a:extLst>
          </p:cNvPr>
          <p:cNvSpPr/>
          <p:nvPr/>
        </p:nvSpPr>
        <p:spPr>
          <a:xfrm>
            <a:off x="-1" y="1500807"/>
            <a:ext cx="12191999" cy="18288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40000"/>
                  <a:lumOff val="60000"/>
                </a:schemeClr>
              </a:gs>
              <a:gs pos="36000">
                <a:schemeClr val="accent1">
                  <a:lumMod val="95000"/>
                  <a:lumOff val="5000"/>
                </a:schemeClr>
              </a:gs>
              <a:gs pos="100000">
                <a:schemeClr val="tx2">
                  <a:lumMod val="50000"/>
                </a:schemeClr>
              </a:gs>
            </a:gsLst>
            <a:path path="circle">
              <a:fillToRect l="50000" t="130000" r="50000" b="-3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7F49795-9FC6-D65C-AAE9-247F6DF3DA3F}"/>
              </a:ext>
            </a:extLst>
          </p:cNvPr>
          <p:cNvSpPr/>
          <p:nvPr/>
        </p:nvSpPr>
        <p:spPr>
          <a:xfrm>
            <a:off x="0" y="6291468"/>
            <a:ext cx="12192000" cy="586409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27AE48-C47C-33FE-8F56-0AA4260C9B62}"/>
              </a:ext>
            </a:extLst>
          </p:cNvPr>
          <p:cNvSpPr/>
          <p:nvPr/>
        </p:nvSpPr>
        <p:spPr>
          <a:xfrm>
            <a:off x="0" y="0"/>
            <a:ext cx="12192000" cy="150080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8720" y="365760"/>
            <a:ext cx="9601200" cy="731520"/>
          </a:xfrm>
        </p:spPr>
        <p:txBody>
          <a:bodyPr/>
          <a:lstStyle/>
          <a:p>
            <a:pPr>
              <a:defRPr b="1" sz="2400">
                <a:solidFill>
                  <a:srgbClr val="003366"/>
                </a:solidFill>
                <a:latin typeface="Times New Roman"/>
              </a:defRPr>
            </a:pPr>
            <a:r>
              <a:t>Walkthrough: A Question That Needs Four Joins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874" y="457199"/>
            <a:ext cx="592309" cy="586409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2A3C15-2DFB-89FB-3AD7-611F4E0BA4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Tuesday, August 18,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B89723-33F1-15E2-783B-D602C9620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04B3F8-8A1A-BE19-5C71-AE319E3DCF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16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89720" y="475488"/>
            <a:ext cx="210312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i="1">
                <a:solidFill>
                  <a:srgbClr val="5F5F5F"/>
                </a:solidFill>
                <a:latin typeface="Times New Roman"/>
              </a:defRPr>
            </a:pPr>
            <a:r>
              <a:t>Stages 1 to 5 of 7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1572768"/>
            <a:ext cx="10607040" cy="420624"/>
          </a:xfrm>
          <a:prstGeom prst="roundRect">
            <a:avLst/>
          </a:prstGeom>
          <a:solidFill>
            <a:srgbClr val="E9F1FA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/>
          <a:lstStyle/>
          <a:p>
            <a:pPr algn="ctr">
              <a:defRPr sz="1300" b="1">
                <a:solidFill>
                  <a:srgbClr val="003366"/>
                </a:solidFill>
                <a:latin typeface="Times New Roman"/>
              </a:defRPr>
            </a:pPr>
            <a:r>
              <a:rPr/>
              <a:t>NQ257  "Show product revenue by category."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8368" y="2112263"/>
            <a:ext cx="3931920" cy="402336"/>
          </a:xfrm>
          <a:prstGeom prst="roundRect">
            <a:avLst/>
          </a:prstGeom>
          <a:solidFill>
            <a:srgbClr val="E2F0D9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/>
          <a:lstStyle/>
          <a:p>
            <a:pPr algn="ctr">
              <a:defRPr sz="1200" b="1">
                <a:solidFill>
                  <a:srgbClr val="003366"/>
                </a:solidFill>
                <a:latin typeface="Times New Roman"/>
              </a:defRPr>
            </a:pPr>
            <a:r>
              <a:rPr/>
              <a:t>Intent Object from the model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13232" y="2578608"/>
            <a:ext cx="3840480" cy="1143000"/>
          </a:xfrm>
          <a:prstGeom prst="rect">
            <a:avLst/>
          </a:prstGeom>
          <a:solidFill>
            <a:srgbClr val="F7F7F7"/>
          </a:solidFill>
          <a:ln>
            <a:solidFill>
              <a:srgbClr val="B7B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576" tIns="73152"/>
          <a:lstStyle/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{</a:t>
            </a: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  "intent_class": "segment",</a:t>
            </a: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  "metric_term": "line_item_revenue",</a:t>
            </a: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  "dimension_term": "category_name"</a:t>
            </a: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}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3849624"/>
            <a:ext cx="3931920" cy="402336"/>
          </a:xfrm>
          <a:prstGeom prst="roundRect">
            <a:avLst/>
          </a:prstGeom>
          <a:solidFill>
            <a:srgbClr val="E2F0D9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/>
          <a:lstStyle/>
          <a:p>
            <a:pPr algn="ctr">
              <a:defRPr sz="1200" b="1">
                <a:solidFill>
                  <a:srgbClr val="003366"/>
                </a:solidFill>
                <a:latin typeface="Times New Roman"/>
              </a:defRPr>
            </a:pPr>
            <a:r>
              <a:rPr/>
              <a:t>Join path resolved by BFS, not by the model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13232" y="4315968"/>
            <a:ext cx="3840480" cy="841248"/>
          </a:xfrm>
          <a:prstGeom prst="rect">
            <a:avLst/>
          </a:prstGeom>
          <a:solidFill>
            <a:srgbClr val="F7F7F7"/>
          </a:solidFill>
          <a:ln>
            <a:solidFill>
              <a:srgbClr val="B7B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576" tIns="73152"/>
          <a:lstStyle/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Product -&gt; OrderItem -&gt; Order</a:t>
            </a: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   -&gt; Product_Category_Mapping</a:t>
            </a: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   -&gt; Category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892040" y="2112263"/>
            <a:ext cx="6373368" cy="402336"/>
          </a:xfrm>
          <a:prstGeom prst="roundRect">
            <a:avLst/>
          </a:prstGeom>
          <a:solidFill>
            <a:srgbClr val="E9F1FA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/>
          <a:lstStyle/>
          <a:p>
            <a:pPr algn="ctr">
              <a:defRPr sz="1200" b="1">
                <a:solidFill>
                  <a:srgbClr val="003366"/>
                </a:solidFill>
                <a:latin typeface="Times New Roman"/>
              </a:defRPr>
            </a:pPr>
            <a:r>
              <a:rPr/>
              <a:t>Compiled SQL, executed read-only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937760" y="2578608"/>
            <a:ext cx="6309360" cy="2578608"/>
          </a:xfrm>
          <a:prstGeom prst="rect">
            <a:avLst/>
          </a:prstGeom>
          <a:solidFill>
            <a:srgbClr val="F7F7F7"/>
          </a:solidFill>
          <a:ln>
            <a:solidFill>
              <a:srgbClr val="B7B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576" tIns="73152"/>
          <a:lstStyle/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SELECT c.Name AS label, SUM(oi.PriceExclTax) AS value</a:t>
            </a: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FROM `Order` o</a:t>
            </a: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LEFT JOIN `OrderItem` oi ON o.Id = oi.OrderId</a:t>
            </a: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LEFT JOIN `Product` p   ON oi.ProductId = p.Id</a:t>
            </a: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LEFT JOIN `Product_Category_Mapping` pcm ON p.Id = pcm.ProductId</a:t>
            </a: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LEFT JOIN `Category` c  ON pcm.CategoryId = c.Id</a:t>
            </a: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WHERE 1=1</a:t>
            </a: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  AND o.Deleted = 0</a:t>
            </a: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  AND p.Deleted = 0</a:t>
            </a: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GROUP BY c.Name</a:t>
            </a: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ORDER BY value DESC</a:t>
            </a: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LIMIT 100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685800" y="5285231"/>
          <a:ext cx="10607040" cy="914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4617720"/>
                <a:gridCol w="3703320"/>
              </a:tblGrid>
              <a:tr h="3048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Also worth seeing</a:t>
                      </a:r>
                    </a:p>
                  </a:txBody>
                  <a:tcPr marL="45720" marR="45720" marT="18288" marB="18288"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What actually happens</a:t>
                      </a:r>
                    </a:p>
                  </a:txBody>
                  <a:tcPr marL="45720" marR="45720" marT="18288" marB="18288"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Why it matters</a:t>
                      </a:r>
                    </a:p>
                  </a:txBody>
                  <a:tcPr marL="45720" marR="45720" marT="18288" marB="18288" anchor="ctr">
                    <a:solidFill>
                      <a:srgbClr val="003366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"stock less than 10"</a:t>
                      </a:r>
                    </a:p>
                  </a:txBody>
                  <a:tcPr marL="45720" marR="45720" marT="18288" marB="18288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compiles to  p.StockQuantity &lt; @p0   with params {p0: 10}</a:t>
                      </a:r>
                    </a:p>
                  </a:txBody>
                  <a:tcPr marL="45720" marR="45720" marT="18288" marB="18288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The number is bound, never pasted into the SQL text</a:t>
                      </a:r>
                    </a:p>
                  </a:txBody>
                  <a:tcPr marL="45720" marR="45720" marT="18288" marB="18288" anchor="ctr"/>
                </a:tc>
              </a:tr>
              <a:tr h="3048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"revenue from Google Ads"</a:t>
                      </a:r>
                    </a:p>
                  </a:txBody>
                  <a:tcPr marL="45720" marR="45720" marT="18288" marB="18288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declined: traffic_source is not in the semantic layer</a:t>
                      </a:r>
                    </a:p>
                  </a:txBody>
                  <a:tcPr marL="45720" marR="45720" marT="18288" marB="18288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No guess, no nearest-match substitution</a:t>
                      </a:r>
                    </a:p>
                  </a:txBody>
                  <a:tcPr marL="45720" marR="45720" marT="18288" marB="18288" anchor="ctr"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1" name="Rectangle 10">
            <a:extLst>
              <a:ext uri="{FF2B5EF4-FFF2-40B4-BE49-F238E27FC236}">
                <a16:creationId xmlns:a16="http://schemas.microsoft.com/office/drawing/2014/main" id="{D059D760-A365-91EB-B942-587B657A477E}"/>
              </a:ext>
            </a:extLst>
          </p:cNvPr>
          <p:cNvSpPr/>
          <p:nvPr/>
        </p:nvSpPr>
        <p:spPr>
          <a:xfrm>
            <a:off x="-1" y="1500807"/>
            <a:ext cx="12191999" cy="18288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40000"/>
                  <a:lumOff val="60000"/>
                </a:schemeClr>
              </a:gs>
              <a:gs pos="36000">
                <a:schemeClr val="accent1">
                  <a:lumMod val="95000"/>
                  <a:lumOff val="5000"/>
                </a:schemeClr>
              </a:gs>
              <a:gs pos="100000">
                <a:schemeClr val="tx2">
                  <a:lumMod val="50000"/>
                </a:schemeClr>
              </a:gs>
            </a:gsLst>
            <a:path path="circle">
              <a:fillToRect l="50000" t="130000" r="50000" b="-3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7F49795-9FC6-D65C-AAE9-247F6DF3DA3F}"/>
              </a:ext>
            </a:extLst>
          </p:cNvPr>
          <p:cNvSpPr/>
          <p:nvPr/>
        </p:nvSpPr>
        <p:spPr>
          <a:xfrm>
            <a:off x="0" y="6291468"/>
            <a:ext cx="12192000" cy="586409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27AE48-C47C-33FE-8F56-0AA4260C9B62}"/>
              </a:ext>
            </a:extLst>
          </p:cNvPr>
          <p:cNvSpPr/>
          <p:nvPr/>
        </p:nvSpPr>
        <p:spPr>
          <a:xfrm>
            <a:off x="0" y="0"/>
            <a:ext cx="12192000" cy="150080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8720" y="365760"/>
            <a:ext cx="9601200" cy="731520"/>
          </a:xfrm>
        </p:spPr>
        <p:txBody>
          <a:bodyPr/>
          <a:lstStyle/>
          <a:p>
            <a:pPr>
              <a:defRPr b="1" sz="2400">
                <a:solidFill>
                  <a:srgbClr val="003366"/>
                </a:solidFill>
                <a:latin typeface="Times New Roman"/>
              </a:defRPr>
            </a:pPr>
            <a:r>
              <a:t>Output Generation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874" y="457199"/>
            <a:ext cx="592309" cy="586409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2A3C15-2DFB-89FB-3AD7-611F4E0BA4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Tuesday, August 18,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B89723-33F1-15E2-783B-D602C9620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04B3F8-8A1A-BE19-5C71-AE319E3DCF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17</a:t>
            </a:r>
          </a:p>
        </p:txBody>
      </p:sp>
      <p:pic>
        <p:nvPicPr>
          <p:cNvPr id="13" name="Picture 12" descr="figure-08-widget-lifecyc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1794509"/>
            <a:ext cx="5212080" cy="304038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217920" y="1627632"/>
            <a:ext cx="4983480" cy="4069080"/>
          </a:xfrm>
          <a:prstGeom prst="rect">
            <a:avLst/>
          </a:prstGeom>
          <a:noFill/>
        </p:spPr>
        <p:txBody>
          <a:bodyPr wrap="square" anchor="t" lIns="0" tIns="0" rIns="0">
            <a:spAutoFit/>
          </a:bodyPr>
          <a:lstStyle/>
          <a:p>
            <a:pPr marL="0" indent="0">
              <a:lnSpc>
                <a:spcPct val="108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1720">
                <a:solidFill>
                  <a:srgbClr val="003366"/>
                </a:solidFill>
                <a:latin typeface="Times New Roman"/>
              </a:rPr>
              <a:t>Output is based on result shape, not model narration: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1" i="0" sz="1420">
                <a:solidFill>
                  <a:srgbClr val="003366"/>
                </a:solidFill>
                <a:latin typeface="Times New Roman"/>
              </a:rPr>
              <a:t>- KPI:</a:t>
            </a:r>
            <a:r>
              <a:rPr b="0" i="0" sz="1420">
                <a:solidFill>
                  <a:srgbClr val="333333"/>
                </a:solidFill>
                <a:latin typeface="Times New Roman"/>
              </a:rPr>
              <a:t> one numeric value with label.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1" i="0" sz="1420">
                <a:solidFill>
                  <a:srgbClr val="003366"/>
                </a:solidFill>
                <a:latin typeface="Times New Roman"/>
              </a:rPr>
              <a:t>- Table:</a:t>
            </a:r>
            <a:r>
              <a:rPr b="0" i="0" sz="1420">
                <a:solidFill>
                  <a:srgbClr val="333333"/>
                </a:solidFill>
                <a:latin typeface="Times New Roman"/>
              </a:rPr>
              <a:t> row/column data with responsive scrolling in the prototype.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1" i="0" sz="1420">
                <a:solidFill>
                  <a:srgbClr val="003366"/>
                </a:solidFill>
                <a:latin typeface="Times New Roman"/>
              </a:rPr>
              <a:t>- Matrix:</a:t>
            </a:r>
            <a:r>
              <a:rPr b="0" i="0" sz="1420">
                <a:solidFill>
                  <a:srgbClr val="333333"/>
                </a:solidFill>
                <a:latin typeface="Times New Roman"/>
              </a:rPr>
              <a:t> period columns such as today, week, month, year, and all time.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1" i="0" sz="1420">
                <a:solidFill>
                  <a:srgbClr val="003366"/>
                </a:solidFill>
                <a:latin typeface="Times New Roman"/>
              </a:rPr>
              <a:t>- Chart-ready output:</a:t>
            </a:r>
            <a:r>
              <a:rPr b="0" i="0" sz="1420">
                <a:solidFill>
                  <a:srgbClr val="333333"/>
                </a:solidFill>
                <a:latin typeface="Times New Roman"/>
              </a:rPr>
              <a:t> categories and values are produced from query results.</a:t>
            </a:r>
          </a:p>
          <a:p>
            <a:pPr marL="0" indent="0">
              <a:lnSpc>
                <a:spcPct val="108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1720">
                <a:solidFill>
                  <a:srgbClr val="003366"/>
                </a:solidFill>
                <a:latin typeface="Times New Roman"/>
              </a:rPr>
              <a:t>This lets the prototype show both the answer and the evidence path used to produce it.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1" name="Rectangle 10">
            <a:extLst>
              <a:ext uri="{FF2B5EF4-FFF2-40B4-BE49-F238E27FC236}">
                <a16:creationId xmlns:a16="http://schemas.microsoft.com/office/drawing/2014/main" id="{D059D760-A365-91EB-B942-587B657A477E}"/>
              </a:ext>
            </a:extLst>
          </p:cNvPr>
          <p:cNvSpPr/>
          <p:nvPr/>
        </p:nvSpPr>
        <p:spPr>
          <a:xfrm>
            <a:off x="-1" y="1500807"/>
            <a:ext cx="12191999" cy="18288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40000"/>
                  <a:lumOff val="60000"/>
                </a:schemeClr>
              </a:gs>
              <a:gs pos="36000">
                <a:schemeClr val="accent1">
                  <a:lumMod val="95000"/>
                  <a:lumOff val="5000"/>
                </a:schemeClr>
              </a:gs>
              <a:gs pos="100000">
                <a:schemeClr val="tx2">
                  <a:lumMod val="50000"/>
                </a:schemeClr>
              </a:gs>
            </a:gsLst>
            <a:path path="circle">
              <a:fillToRect l="50000" t="130000" r="50000" b="-3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7F49795-9FC6-D65C-AAE9-247F6DF3DA3F}"/>
              </a:ext>
            </a:extLst>
          </p:cNvPr>
          <p:cNvSpPr/>
          <p:nvPr/>
        </p:nvSpPr>
        <p:spPr>
          <a:xfrm>
            <a:off x="0" y="6291468"/>
            <a:ext cx="12192000" cy="586409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27AE48-C47C-33FE-8F56-0AA4260C9B62}"/>
              </a:ext>
            </a:extLst>
          </p:cNvPr>
          <p:cNvSpPr/>
          <p:nvPr/>
        </p:nvSpPr>
        <p:spPr>
          <a:xfrm>
            <a:off x="0" y="0"/>
            <a:ext cx="12192000" cy="150080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8720" y="365760"/>
            <a:ext cx="9601200" cy="731520"/>
          </a:xfrm>
        </p:spPr>
        <p:txBody>
          <a:bodyPr/>
          <a:lstStyle/>
          <a:p>
            <a:pPr>
              <a:defRPr b="1" sz="2400">
                <a:solidFill>
                  <a:srgbClr val="003366"/>
                </a:solidFill>
                <a:latin typeface="Times New Roman"/>
              </a:defRPr>
            </a:pPr>
            <a:r>
              <a:t>Prototype Implementation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874" y="457199"/>
            <a:ext cx="592309" cy="586409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2A3C15-2DFB-89FB-3AD7-611F4E0BA4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Tuesday, August 18,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B89723-33F1-15E2-783B-D602C9620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04B3F8-8A1A-BE19-5C71-AE319E3DCF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18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1572768"/>
            <a:ext cx="5166360" cy="3063240"/>
          </a:xfrm>
          <a:prstGeom prst="rect">
            <a:avLst/>
          </a:prstGeom>
          <a:noFill/>
        </p:spPr>
        <p:txBody>
          <a:bodyPr wrap="square" anchor="t" lIns="0" tIns="0" rIns="0">
            <a:spAutoFit/>
          </a:bodyPr>
          <a:lstStyle/>
          <a:p>
            <a:pPr marL="0" indent="0">
              <a:lnSpc>
                <a:spcPct val="108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1750">
                <a:solidFill>
                  <a:srgbClr val="003366"/>
                </a:solidFill>
                <a:latin typeface="Times New Roman"/>
              </a:rPr>
              <a:t>Prototype stack: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450">
                <a:solidFill>
                  <a:srgbClr val="333333"/>
                </a:solidFill>
                <a:latin typeface="Times New Roman"/>
              </a:rPr>
              <a:t>- FastAPI backend for NL analytics requests.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450">
                <a:solidFill>
                  <a:srgbClr val="333333"/>
                </a:solidFill>
                <a:latin typeface="Times New Roman"/>
              </a:rPr>
              <a:t>- MySQL seeded with nopCommerce-style [7] commerce data.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450">
                <a:solidFill>
                  <a:srgbClr val="333333"/>
                </a:solidFill>
                <a:latin typeface="Times New Roman"/>
              </a:rPr>
              <a:t>- OpenAI-compatible LLM API for intent extraction.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450">
                <a:solidFill>
                  <a:srgbClr val="333333"/>
                </a:solidFill>
                <a:latin typeface="Times New Roman"/>
              </a:rPr>
              <a:t>- Semantic-layer files define metrics, dimensions, filters, and output shapes.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450">
                <a:solidFill>
                  <a:srgbClr val="333333"/>
                </a:solidFill>
                <a:latin typeface="Times New Roman"/>
              </a:rPr>
              <a:t>- Frontend shows answer output plus AEGIS stage evidence.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55080" y="1572768"/>
            <a:ext cx="48920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003366"/>
                </a:solidFill>
                <a:latin typeface="Times New Roman"/>
              </a:defRPr>
            </a:pPr>
            <a:r>
              <a:rPr/>
              <a:t>Seeded Data Used in Live Prototype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498080" y="4251960"/>
            <a:ext cx="3474720" cy="0"/>
          </a:xfrm>
          <a:prstGeom prst="line">
            <a:avLst/>
          </a:prstGeom>
          <a:ln w="12700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355080" y="2139696"/>
            <a:ext cx="1051560" cy="4069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333333"/>
                </a:solidFill>
                <a:latin typeface="Times New Roman"/>
              </a:defRPr>
            </a:pPr>
            <a:r>
              <a:rPr/>
              <a:t>Order items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98080" y="2157984"/>
            <a:ext cx="3137175" cy="370332"/>
          </a:xfrm>
          <a:prstGeom prst="rect">
            <a:avLst/>
          </a:prstGeom>
          <a:solidFill>
            <a:srgbClr val="003366"/>
          </a:solidFill>
          <a:ln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690119" y="2139696"/>
            <a:ext cx="594360" cy="4069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333333"/>
                </a:solidFill>
                <a:latin typeface="Times New Roman"/>
              </a:defRPr>
            </a:pPr>
            <a:r>
              <a:rPr/>
              <a:t>6320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55080" y="2729484"/>
            <a:ext cx="1051560" cy="4069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333333"/>
                </a:solidFill>
                <a:latin typeface="Times New Roman"/>
              </a:defRPr>
            </a:pPr>
            <a:r>
              <a:rPr/>
              <a:t>Orders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498080" y="2747772"/>
            <a:ext cx="1240971" cy="370332"/>
          </a:xfrm>
          <a:prstGeom prst="rect">
            <a:avLst/>
          </a:prstGeom>
          <a:solidFill>
            <a:srgbClr val="003366"/>
          </a:solidFill>
          <a:ln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793915" y="2729484"/>
            <a:ext cx="594360" cy="4069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333333"/>
                </a:solidFill>
                <a:latin typeface="Times New Roman"/>
              </a:defRPr>
            </a:pPr>
            <a:r>
              <a:rPr/>
              <a:t>2500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55080" y="3319272"/>
            <a:ext cx="1051560" cy="4069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333333"/>
                </a:solidFill>
                <a:latin typeface="Times New Roman"/>
              </a:defRPr>
            </a:pPr>
            <a:r>
              <a:rPr/>
              <a:t>Customers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98080" y="3337560"/>
            <a:ext cx="595666" cy="370332"/>
          </a:xfrm>
          <a:prstGeom prst="rect">
            <a:avLst/>
          </a:prstGeom>
          <a:solidFill>
            <a:srgbClr val="003366"/>
          </a:solidFill>
          <a:ln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48610" y="3319272"/>
            <a:ext cx="594360" cy="4069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333333"/>
                </a:solidFill>
                <a:latin typeface="Times New Roman"/>
              </a:defRPr>
            </a:pPr>
            <a:r>
              <a:rPr/>
              <a:t>1200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55080" y="3909060"/>
            <a:ext cx="1051560" cy="4069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333333"/>
                </a:solidFill>
                <a:latin typeface="Times New Roman"/>
              </a:defRPr>
            </a:pPr>
            <a:r>
              <a:rPr/>
              <a:t>Products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498080" y="3927348"/>
            <a:ext cx="123444" cy="370332"/>
          </a:xfrm>
          <a:prstGeom prst="rect">
            <a:avLst/>
          </a:prstGeom>
          <a:solidFill>
            <a:srgbClr val="003366"/>
          </a:solidFill>
          <a:ln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76388" y="3909060"/>
            <a:ext cx="594360" cy="4069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333333"/>
                </a:solidFill>
                <a:latin typeface="Times New Roman"/>
              </a:defRPr>
            </a:pPr>
            <a:r>
              <a:rPr/>
              <a:t>17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8680" y="4892040"/>
            <a:ext cx="10241280" cy="1234440"/>
          </a:xfrm>
          <a:prstGeom prst="rect">
            <a:avLst/>
          </a:prstGeom>
          <a:noFill/>
        </p:spPr>
        <p:txBody>
          <a:bodyPr wrap="square" anchor="t" lIns="0" tIns="0" rIns="0">
            <a:spAutoFit/>
          </a:bodyPr>
          <a:lstStyle/>
          <a:p>
            <a:pPr marL="0" indent="0">
              <a:lnSpc>
                <a:spcPct val="108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1750">
                <a:solidFill>
                  <a:srgbClr val="003366"/>
                </a:solidFill>
                <a:latin typeface="Times New Roman"/>
              </a:rPr>
              <a:t>Reproducibility: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450">
                <a:solidFill>
                  <a:srgbClr val="333333"/>
                </a:solidFill>
                <a:latin typeface="Times New Roman"/>
              </a:rPr>
              <a:t>- Docker build includes app, database seed scripts, and smoke checks.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450">
                <a:solidFill>
                  <a:srgbClr val="333333"/>
                </a:solidFill>
                <a:latin typeface="Times New Roman"/>
              </a:rPr>
              <a:t>- Local health test verified database connection and seeded counts.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1" name="Rectangle 10">
            <a:extLst>
              <a:ext uri="{FF2B5EF4-FFF2-40B4-BE49-F238E27FC236}">
                <a16:creationId xmlns:a16="http://schemas.microsoft.com/office/drawing/2014/main" id="{D059D760-A365-91EB-B942-587B657A477E}"/>
              </a:ext>
            </a:extLst>
          </p:cNvPr>
          <p:cNvSpPr/>
          <p:nvPr/>
        </p:nvSpPr>
        <p:spPr>
          <a:xfrm>
            <a:off x="-1" y="1500807"/>
            <a:ext cx="12191999" cy="18288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40000"/>
                  <a:lumOff val="60000"/>
                </a:schemeClr>
              </a:gs>
              <a:gs pos="36000">
                <a:schemeClr val="accent1">
                  <a:lumMod val="95000"/>
                  <a:lumOff val="5000"/>
                </a:schemeClr>
              </a:gs>
              <a:gs pos="100000">
                <a:schemeClr val="tx2">
                  <a:lumMod val="50000"/>
                </a:schemeClr>
              </a:gs>
            </a:gsLst>
            <a:path path="circle">
              <a:fillToRect l="50000" t="130000" r="50000" b="-3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7F49795-9FC6-D65C-AAE9-247F6DF3DA3F}"/>
              </a:ext>
            </a:extLst>
          </p:cNvPr>
          <p:cNvSpPr/>
          <p:nvPr/>
        </p:nvSpPr>
        <p:spPr>
          <a:xfrm>
            <a:off x="0" y="6291468"/>
            <a:ext cx="12192000" cy="586409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27AE48-C47C-33FE-8F56-0AA4260C9B62}"/>
              </a:ext>
            </a:extLst>
          </p:cNvPr>
          <p:cNvSpPr/>
          <p:nvPr/>
        </p:nvSpPr>
        <p:spPr>
          <a:xfrm>
            <a:off x="0" y="0"/>
            <a:ext cx="12192000" cy="150080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8720" y="365760"/>
            <a:ext cx="9601200" cy="731520"/>
          </a:xfrm>
        </p:spPr>
        <p:txBody>
          <a:bodyPr/>
          <a:lstStyle/>
          <a:p>
            <a:pPr>
              <a:defRPr b="1" sz="2400">
                <a:solidFill>
                  <a:srgbClr val="003366"/>
                </a:solidFill>
                <a:latin typeface="Times New Roman"/>
              </a:defRPr>
            </a:pPr>
            <a:r>
              <a:t>Evaluation Track 1: 500 Natural-Language Questions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874" y="457199"/>
            <a:ext cx="592309" cy="586409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2A3C15-2DFB-89FB-3AD7-611F4E0BA4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Tuesday, August 18,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B89723-33F1-15E2-783B-D602C9620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04B3F8-8A1A-BE19-5C71-AE319E3DCF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19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1572768"/>
            <a:ext cx="10515600" cy="648239"/>
          </a:xfrm>
          <a:prstGeom prst="rect">
            <a:avLst/>
          </a:prstGeom>
          <a:noFill/>
        </p:spPr>
        <p:txBody>
          <a:bodyPr wrap="square" anchor="t" lIns="0" tIns="0" rIns="0">
            <a:spAutoFit/>
          </a:bodyPr>
          <a:lstStyle/>
          <a:p>
            <a:pPr marL="0" indent="0">
              <a:lnSpc>
                <a:spcPct val="108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1700">
                <a:solidFill>
                  <a:srgbClr val="003366"/>
                </a:solidFill>
                <a:latin typeface="Times New Roman"/>
              </a:rPr>
              <a:t>425 questions the semantic layer should answer, 75 realistic e-commerce questions it should decline. The same corpus is executed two ways, and they answer different questions.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777240" y="2203000"/>
          <a:ext cx="10515599" cy="229584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77639"/>
                <a:gridCol w="3108960"/>
                <a:gridCol w="3429000"/>
              </a:tblGrid>
              <a:tr h="38862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Measure</a:t>
                      </a:r>
                    </a:p>
                  </a:txBody>
                  <a:tcPr marL="54864" marR="54864" marT="22860" marB="22860"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Deterministic run</a:t>
                      </a:r>
                    </a:p>
                    <a:p>
                      <a:pPr algn="ctr">
                        <a:lnSpc>
                          <a:spcPct val="100000"/>
                        </a:lnSpc>
                        <a:defRPr sz="12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(no model in the loop)</a:t>
                      </a:r>
                    </a:p>
                  </a:txBody>
                  <a:tcPr marL="54864" marR="54864" marT="22860" marB="22860"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End-to-end run</a:t>
                      </a:r>
                    </a:p>
                    <a:p>
                      <a:pPr algn="ctr">
                        <a:lnSpc>
                          <a:spcPct val="100000"/>
                        </a:lnSpc>
                        <a:defRPr sz="12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(live parser)</a:t>
                      </a:r>
                    </a:p>
                  </a:txBody>
                  <a:tcPr marL="54864" marR="54864" marT="22860" marB="22860" anchor="ctr">
                    <a:solidFill>
                      <a:srgbClr val="003366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Parser produced an intent</a:t>
                      </a:r>
                    </a:p>
                  </a:txBody>
                  <a:tcPr marL="54864" marR="54864" marT="22860" marB="2286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not applicable</a:t>
                      </a:r>
                    </a:p>
                  </a:txBody>
                  <a:tcPr marL="54864" marR="54864" marT="22860" marB="2286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499/500 (99.8%)</a:t>
                      </a:r>
                    </a:p>
                  </a:txBody>
                  <a:tcPr marL="54864" marR="54864" marT="22860" marB="22860" anchor="ctr"/>
                </a:tc>
              </a:tr>
              <a:tr h="38862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Supported questions answered</a:t>
                      </a:r>
                    </a:p>
                  </a:txBody>
                  <a:tcPr marL="54864" marR="54864" marT="22860" marB="22860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425/425 (100.0%)</a:t>
                      </a:r>
                    </a:p>
                  </a:txBody>
                  <a:tcPr marL="54864" marR="54864" marT="22860" marB="22860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423/425 (99.5%)</a:t>
                      </a:r>
                    </a:p>
                  </a:txBody>
                  <a:tcPr marL="54864" marR="54864" marT="22860" marB="22860" anchor="ctr">
                    <a:solidFill>
                      <a:srgbClr val="F2F4F8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Compiled SQL executed</a:t>
                      </a:r>
                    </a:p>
                  </a:txBody>
                  <a:tcPr marL="54864" marR="54864" marT="22860" marB="2286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425/425 (100.0%)</a:t>
                      </a:r>
                    </a:p>
                  </a:txBody>
                  <a:tcPr marL="54864" marR="54864" marT="22860" marB="2286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422/425 (99.3%)</a:t>
                      </a:r>
                    </a:p>
                  </a:txBody>
                  <a:tcPr marL="54864" marR="54864" marT="22860" marB="22860" anchor="ctr"/>
                </a:tc>
              </a:tr>
              <a:tr h="38862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Intent matched the annotation</a:t>
                      </a:r>
                    </a:p>
                  </a:txBody>
                  <a:tcPr marL="54864" marR="54864" marT="22860" marB="22860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not applicable</a:t>
                      </a:r>
                    </a:p>
                  </a:txBody>
                  <a:tcPr marL="54864" marR="54864" marT="22860" marB="22860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313/425 (73.6%)</a:t>
                      </a:r>
                    </a:p>
                  </a:txBody>
                  <a:tcPr marL="54864" marR="54864" marT="22860" marB="22860" anchor="ctr">
                    <a:solidFill>
                      <a:srgbClr val="F2F4F8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Out-of-scope questions declined</a:t>
                      </a:r>
                    </a:p>
                  </a:txBody>
                  <a:tcPr marL="54864" marR="54864" marT="22860" marB="2286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75/75 (100.0%)</a:t>
                      </a:r>
                    </a:p>
                  </a:txBody>
                  <a:tcPr marL="54864" marR="54864" marT="22860" marB="2286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72/75 (96.0%)</a:t>
                      </a:r>
                    </a:p>
                  </a:txBody>
                  <a:tcPr marL="54864" marR="54864" marT="22860" marB="22860" anchor="ctr"/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777240" y="4633897"/>
            <a:ext cx="10515600" cy="1035382"/>
          </a:xfrm>
          <a:prstGeom prst="rect">
            <a:avLst/>
          </a:prstGeom>
          <a:noFill/>
        </p:spPr>
        <p:txBody>
          <a:bodyPr wrap="square" anchor="t" lIns="0" tIns="0" rIns="0">
            <a:spAutoFit/>
          </a:bodyPr>
          <a:lstStyle/>
          <a:p>
            <a:pPr marL="0" indent="0">
              <a:lnSpc>
                <a:spcPct val="108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1500">
                <a:solidFill>
                  <a:srgbClr val="003366"/>
                </a:solidFill>
                <a:latin typeface="Times New Roman"/>
              </a:rPr>
              <a:t>The left column has no model in it:</a:t>
            </a:r>
            <a:r>
              <a:rPr b="0" i="0" sz="1400">
                <a:solidFill>
                  <a:srgbClr val="333333"/>
                </a:solidFill>
                <a:latin typeface="Times New Roman"/>
              </a:rPr>
              <a:t> committed intent annotations are fed straight to the mapper, so it tests the compiler, not the pipeline. Only the right column is an end-to-end result, and it is the one to quote.</a:t>
            </a:r>
          </a:p>
          <a:p>
            <a:pPr marL="0" indent="0">
              <a:lnSpc>
                <a:spcPct val="108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1500">
                <a:solidFill>
                  <a:srgbClr val="003366"/>
                </a:solidFill>
                <a:latin typeface="Times New Roman"/>
              </a:rPr>
              <a:t>Declining is only meaningful next to answering:</a:t>
            </a:r>
            <a:r>
              <a:rPr b="0" i="0" sz="1400">
                <a:solidFill>
                  <a:srgbClr val="333333"/>
                </a:solidFill>
                <a:latin typeface="Times New Roman"/>
              </a:rPr>
              <a:t> a system that refuses everything scores 100% on the last row.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7240" y="5742432"/>
            <a:ext cx="10515600" cy="475488"/>
          </a:xfrm>
          <a:prstGeom prst="roundRect">
            <a:avLst/>
          </a:prstGeom>
          <a:solidFill>
            <a:srgbClr val="F3F6FB"/>
          </a:solidFill>
          <a:ln w="9525">
            <a:solidFill>
              <a:srgbClr val="C9D6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/>
          <a:lstStyle/>
          <a:p>
            <a:pPr algn="l"/>
            <a:r>
              <a:rPr b="1" sz="1300">
                <a:solidFill>
                  <a:srgbClr val="333333"/>
                </a:solidFill>
                <a:latin typeface="Times New Roman"/>
              </a:rPr>
              <a:t>In plain terms:  </a:t>
            </a:r>
            <a:r>
              <a:rPr sz="1300">
                <a:solidFill>
                  <a:srgbClr val="333333"/>
                </a:solidFill>
                <a:latin typeface="Times New Roman"/>
              </a:rPr>
              <a:t>It answers the questions it was built for, and says no to the ones it was not — on purpose.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1" name="Rectangle 10">
            <a:extLst>
              <a:ext uri="{FF2B5EF4-FFF2-40B4-BE49-F238E27FC236}">
                <a16:creationId xmlns:a16="http://schemas.microsoft.com/office/drawing/2014/main" id="{D059D760-A365-91EB-B942-587B657A477E}"/>
              </a:ext>
            </a:extLst>
          </p:cNvPr>
          <p:cNvSpPr/>
          <p:nvPr/>
        </p:nvSpPr>
        <p:spPr>
          <a:xfrm>
            <a:off x="-1" y="1500807"/>
            <a:ext cx="12191999" cy="18288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40000"/>
                  <a:lumOff val="60000"/>
                </a:schemeClr>
              </a:gs>
              <a:gs pos="36000">
                <a:schemeClr val="accent1">
                  <a:lumMod val="95000"/>
                  <a:lumOff val="5000"/>
                </a:schemeClr>
              </a:gs>
              <a:gs pos="100000">
                <a:schemeClr val="tx2">
                  <a:lumMod val="50000"/>
                </a:schemeClr>
              </a:gs>
            </a:gsLst>
            <a:path path="circle">
              <a:fillToRect l="50000" t="130000" r="50000" b="-3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7F49795-9FC6-D65C-AAE9-247F6DF3DA3F}"/>
              </a:ext>
            </a:extLst>
          </p:cNvPr>
          <p:cNvSpPr/>
          <p:nvPr/>
        </p:nvSpPr>
        <p:spPr>
          <a:xfrm>
            <a:off x="0" y="6291468"/>
            <a:ext cx="12192000" cy="586409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27AE48-C47C-33FE-8F56-0AA4260C9B62}"/>
              </a:ext>
            </a:extLst>
          </p:cNvPr>
          <p:cNvSpPr/>
          <p:nvPr/>
        </p:nvSpPr>
        <p:spPr>
          <a:xfrm>
            <a:off x="0" y="0"/>
            <a:ext cx="12192000" cy="150080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8720" y="365760"/>
            <a:ext cx="9601200" cy="731520"/>
          </a:xfrm>
        </p:spPr>
        <p:txBody>
          <a:bodyPr/>
          <a:lstStyle/>
          <a:p>
            <a:pPr>
              <a:defRPr b="1" sz="2400">
                <a:solidFill>
                  <a:srgbClr val="003366"/>
                </a:solidFill>
                <a:latin typeface="Times New Roman"/>
              </a:defRPr>
            </a:pPr>
            <a:r>
              <a:t>Where the Time Goes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874" y="457199"/>
            <a:ext cx="592309" cy="586409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2A3C15-2DFB-89FB-3AD7-611F4E0BA4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Tuesday, August 18,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B89723-33F1-15E2-783B-D602C9620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04B3F8-8A1A-BE19-5C71-AE319E3DCF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20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1572768"/>
            <a:ext cx="10515600" cy="411480"/>
          </a:xfrm>
          <a:prstGeom prst="rect">
            <a:avLst/>
          </a:prstGeom>
          <a:noFill/>
        </p:spPr>
        <p:txBody>
          <a:bodyPr wrap="square" anchor="t" lIns="0" tIns="0" rIns="0">
            <a:spAutoFit/>
          </a:bodyPr>
          <a:lstStyle/>
          <a:p>
            <a:pPr marL="0" indent="0">
              <a:lnSpc>
                <a:spcPct val="108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1700">
                <a:solidFill>
                  <a:srgbClr val="003366"/>
                </a:solidFill>
                <a:latin typeface="Times New Roman"/>
              </a:rPr>
              <a:t>Median and 95th-percentile time per question, measured on the supported questions of the 500-question corpus.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777240" y="2103120"/>
          <a:ext cx="1051560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2286000"/>
                <a:gridCol w="2286000"/>
                <a:gridCol w="2286000"/>
              </a:tblGrid>
              <a:tr h="39624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Stage</a:t>
                      </a:r>
                    </a:p>
                  </a:txBody>
                  <a:tcPr marL="64008" marR="64008" marT="27432" marB="27432"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Who runs it</a:t>
                      </a:r>
                    </a:p>
                  </a:txBody>
                  <a:tcPr marL="64008" marR="64008" marT="27432" marB="27432"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Median</a:t>
                      </a:r>
                    </a:p>
                  </a:txBody>
                  <a:tcPr marL="64008" marR="64008" marT="27432" marB="27432"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95th percentile</a:t>
                      </a:r>
                    </a:p>
                  </a:txBody>
                  <a:tcPr marL="64008" marR="64008" marT="27432" marB="27432" anchor="ctr">
                    <a:solidFill>
                      <a:srgbClr val="003366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1. Intent extraction</a:t>
                      </a:r>
                    </a:p>
                  </a:txBody>
                  <a:tcPr marL="64008" marR="64008" marT="27432" marB="27432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The language model</a:t>
                      </a:r>
                    </a:p>
                  </a:txBody>
                  <a:tcPr marL="64008" marR="64008" marT="27432" marB="27432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9,029.89 ms</a:t>
                      </a:r>
                    </a:p>
                  </a:txBody>
                  <a:tcPr marL="64008" marR="64008" marT="27432" marB="27432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19,460.15 ms</a:t>
                      </a:r>
                    </a:p>
                  </a:txBody>
                  <a:tcPr marL="64008" marR="64008" marT="27432" marB="27432" anchor="ctr"/>
                </a:tc>
              </a:tr>
              <a:tr h="39624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2. Semantic resolution</a:t>
                      </a:r>
                    </a:p>
                  </a:txBody>
                  <a:tcPr marL="64008" marR="64008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AEGIS</a:t>
                      </a:r>
                    </a:p>
                  </a:txBody>
                  <a:tcPr marL="64008" marR="64008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0.89 ms</a:t>
                      </a:r>
                    </a:p>
                  </a:txBody>
                  <a:tcPr marL="64008" marR="64008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1.25 ms</a:t>
                      </a:r>
                    </a:p>
                  </a:txBody>
                  <a:tcPr marL="64008" marR="64008" marT="27432" marB="27432" anchor="ctr">
                    <a:solidFill>
                      <a:srgbClr val="F2F4F8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3. SQL compilation</a:t>
                      </a:r>
                    </a:p>
                  </a:txBody>
                  <a:tcPr marL="64008" marR="64008" marT="27432" marB="27432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AEGIS</a:t>
                      </a:r>
                    </a:p>
                  </a:txBody>
                  <a:tcPr marL="64008" marR="64008" marT="27432" marB="27432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0.13 ms</a:t>
                      </a:r>
                    </a:p>
                  </a:txBody>
                  <a:tcPr marL="64008" marR="64008" marT="27432" marB="27432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0.21 ms</a:t>
                      </a:r>
                    </a:p>
                  </a:txBody>
                  <a:tcPr marL="64008" marR="64008" marT="27432" marB="27432" anchor="ctr"/>
                </a:tc>
              </a:tr>
              <a:tr h="39624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4. Database execution</a:t>
                      </a:r>
                    </a:p>
                  </a:txBody>
                  <a:tcPr marL="64008" marR="64008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MySQL</a:t>
                      </a:r>
                    </a:p>
                  </a:txBody>
                  <a:tcPr marL="64008" marR="64008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2.54 ms</a:t>
                      </a:r>
                    </a:p>
                  </a:txBody>
                  <a:tcPr marL="64008" marR="64008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12.87 ms</a:t>
                      </a:r>
                    </a:p>
                  </a:txBody>
                  <a:tcPr marL="64008" marR="64008" marT="27432" marB="27432" anchor="ctr">
                    <a:solidFill>
                      <a:srgbClr val="F2F4F8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Stages 2-4 combined</a:t>
                      </a:r>
                    </a:p>
                  </a:txBody>
                  <a:tcPr marL="64008" marR="64008" marT="27432" marB="27432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Everything after the model</a:t>
                      </a:r>
                    </a:p>
                  </a:txBody>
                  <a:tcPr marL="64008" marR="64008" marT="27432" marB="27432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3.62 ms</a:t>
                      </a:r>
                    </a:p>
                  </a:txBody>
                  <a:tcPr marL="64008" marR="64008" marT="27432" marB="27432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14.02 ms</a:t>
                      </a:r>
                    </a:p>
                  </a:txBody>
                  <a:tcPr marL="64008" marR="64008" marT="27432" marB="27432" anchor="ctr"/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777240" y="4636008"/>
            <a:ext cx="10515600" cy="1572768"/>
          </a:xfrm>
          <a:prstGeom prst="rect">
            <a:avLst/>
          </a:prstGeom>
          <a:noFill/>
        </p:spPr>
        <p:txBody>
          <a:bodyPr wrap="square" anchor="t" lIns="0" tIns="0" rIns="0">
            <a:spAutoFit/>
          </a:bodyPr>
          <a:lstStyle/>
          <a:p>
            <a:pPr marL="0" indent="0">
              <a:lnSpc>
                <a:spcPct val="108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1700">
                <a:solidFill>
                  <a:srgbClr val="003366"/>
                </a:solidFill>
                <a:latin typeface="Times New Roman"/>
              </a:rPr>
              <a:t>Almost all of the wall clock is the model reading the question. The part that decides which tables to join, writes the SQL, and runs it takes a few milliseconds — and the model has no influence over any of it.</a:t>
            </a:r>
          </a:p>
          <a:p>
            <a:pPr marL="0" indent="0">
              <a:lnSpc>
                <a:spcPct val="108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1700">
                <a:solidFill>
                  <a:srgbClr val="003366"/>
                </a:solidFill>
                <a:latin typeface="Times New Roman"/>
              </a:rPr>
              <a:t>The model figure is a property of the gateway used here, not of the architecture; the deterministic figures are the ones that would follow AEGIS to another deployment.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1" name="Rectangle 10">
            <a:extLst>
              <a:ext uri="{FF2B5EF4-FFF2-40B4-BE49-F238E27FC236}">
                <a16:creationId xmlns:a16="http://schemas.microsoft.com/office/drawing/2014/main" id="{D059D760-A365-91EB-B942-587B657A477E}"/>
              </a:ext>
            </a:extLst>
          </p:cNvPr>
          <p:cNvSpPr/>
          <p:nvPr/>
        </p:nvSpPr>
        <p:spPr>
          <a:xfrm>
            <a:off x="-1" y="1500807"/>
            <a:ext cx="12191999" cy="18288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40000"/>
                  <a:lumOff val="60000"/>
                </a:schemeClr>
              </a:gs>
              <a:gs pos="36000">
                <a:schemeClr val="accent1">
                  <a:lumMod val="95000"/>
                  <a:lumOff val="5000"/>
                </a:schemeClr>
              </a:gs>
              <a:gs pos="100000">
                <a:schemeClr val="tx2">
                  <a:lumMod val="50000"/>
                </a:schemeClr>
              </a:gs>
            </a:gsLst>
            <a:path path="circle">
              <a:fillToRect l="50000" t="130000" r="50000" b="-3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7F49795-9FC6-D65C-AAE9-247F6DF3DA3F}"/>
              </a:ext>
            </a:extLst>
          </p:cNvPr>
          <p:cNvSpPr/>
          <p:nvPr/>
        </p:nvSpPr>
        <p:spPr>
          <a:xfrm>
            <a:off x="0" y="6291468"/>
            <a:ext cx="12192000" cy="586409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27AE48-C47C-33FE-8F56-0AA4260C9B62}"/>
              </a:ext>
            </a:extLst>
          </p:cNvPr>
          <p:cNvSpPr/>
          <p:nvPr/>
        </p:nvSpPr>
        <p:spPr>
          <a:xfrm>
            <a:off x="0" y="0"/>
            <a:ext cx="12192000" cy="150080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8720" y="365760"/>
            <a:ext cx="9601200" cy="731520"/>
          </a:xfrm>
        </p:spPr>
        <p:txBody>
          <a:bodyPr/>
          <a:lstStyle/>
          <a:p>
            <a:pPr>
              <a:defRPr b="1" sz="2400">
                <a:solidFill>
                  <a:srgbClr val="003366"/>
                </a:solidFill>
                <a:latin typeface="Times New Roman"/>
              </a:defRPr>
            </a:pPr>
            <a:r>
              <a:t>Without the Semantic Layer: the Same Model, Unconstrained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874" y="457199"/>
            <a:ext cx="592309" cy="586409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2A3C15-2DFB-89FB-3AD7-611F4E0BA4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Tuesday, August 18,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B89723-33F1-15E2-783B-D602C9620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04B3F8-8A1A-BE19-5C71-AE319E3DCF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21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1572768"/>
            <a:ext cx="10515600" cy="378139"/>
          </a:xfrm>
          <a:prstGeom prst="rect">
            <a:avLst/>
          </a:prstGeom>
          <a:noFill/>
        </p:spPr>
        <p:txBody>
          <a:bodyPr wrap="square" anchor="t" lIns="0" tIns="0" rIns="0">
            <a:spAutoFit/>
          </a:bodyPr>
          <a:lstStyle/>
          <a:p>
            <a:pPr marL="0" indent="0">
              <a:lnSpc>
                <a:spcPct val="108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1700">
                <a:solidFill>
                  <a:srgbClr val="003366"/>
                </a:solidFill>
                <a:latin typeface="Times New Roman"/>
              </a:rPr>
              <a:t>The identical model through the identical gateway, asked to write MySQL directly for the same 500 questions.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777240" y="2058947"/>
          <a:ext cx="10515600" cy="157558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754880"/>
                <a:gridCol w="2880360"/>
                <a:gridCol w="2880360"/>
              </a:tblGrid>
              <a:tr h="40005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Measure</a:t>
                      </a:r>
                    </a:p>
                  </a:txBody>
                  <a:tcPr marL="64008" marR="64008" marT="27432" marB="27432"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AEGIS</a:t>
                      </a:r>
                    </a:p>
                  </a:txBody>
                  <a:tcPr marL="64008" marR="64008" marT="27432" marB="27432"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Direct LLM-to-SQL</a:t>
                      </a:r>
                    </a:p>
                  </a:txBody>
                  <a:tcPr marL="64008" marR="64008" marT="27432" marB="27432" anchor="ctr">
                    <a:solidFill>
                      <a:srgbClr val="003366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Supported questions whose SQL executed</a:t>
                      </a:r>
                    </a:p>
                  </a:txBody>
                  <a:tcPr marL="64008" marR="64008" marT="27432" marB="27432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422/425 (99.3%)</a:t>
                      </a:r>
                    </a:p>
                  </a:txBody>
                  <a:tcPr marL="64008" marR="64008" marT="27432" marB="27432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365/425 (85.9%)</a:t>
                      </a:r>
                    </a:p>
                  </a:txBody>
                  <a:tcPr marL="64008" marR="64008" marT="27432" marB="27432" anchor="ctr"/>
                </a:tc>
              </a:tr>
              <a:tr h="40005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Out-of-scope questions answered anyway</a:t>
                      </a:r>
                    </a:p>
                  </a:txBody>
                  <a:tcPr marL="64008" marR="64008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3/75 (4.0%)</a:t>
                      </a:r>
                    </a:p>
                  </a:txBody>
                  <a:tcPr marL="64008" marR="64008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25/75 (33.3%)</a:t>
                      </a:r>
                    </a:p>
                  </a:txBody>
                  <a:tcPr marL="64008" marR="64008" marT="27432" marB="27432" anchor="ctr">
                    <a:solidFill>
                      <a:srgbClr val="F2F4F8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Queries containing a forbidden construct</a:t>
                      </a:r>
                    </a:p>
                  </a:txBody>
                  <a:tcPr marL="64008" marR="64008" marT="27432" marB="27432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0 — the compiler cannot emit one</a:t>
                      </a:r>
                    </a:p>
                  </a:txBody>
                  <a:tcPr marL="64008" marR="64008" marT="27432" marB="27432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2/500 (0.4%)</a:t>
                      </a:r>
                    </a:p>
                  </a:txBody>
                  <a:tcPr marL="64008" marR="64008" marT="27432" marB="27432" anchor="ctr"/>
                </a:tc>
              </a:tr>
            </a:tbl>
          </a:graphicData>
        </a:graphic>
      </p:graphicFrame>
      <p:sp>
        <p:nvSpPr>
          <p:cNvPr id="15" name="Rounded Rectangle 14"/>
          <p:cNvSpPr/>
          <p:nvPr/>
        </p:nvSpPr>
        <p:spPr>
          <a:xfrm>
            <a:off x="777240" y="3787585"/>
            <a:ext cx="10515600" cy="396146"/>
          </a:xfrm>
          <a:prstGeom prst="roundRect">
            <a:avLst/>
          </a:prstGeom>
          <a:solidFill>
            <a:srgbClr val="E2F0D9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/>
          <a:lstStyle/>
          <a:p>
            <a:pPr algn="ctr">
              <a:defRPr sz="1250" b="1">
                <a:solidFill>
                  <a:srgbClr val="003366"/>
                </a:solidFill>
                <a:latin typeface="Times New Roman"/>
              </a:defRPr>
            </a:pPr>
            <a:r>
              <a:rPr/>
              <a:t>What answering an unanswerable question looks like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777240" y="4273764"/>
          <a:ext cx="10515600" cy="139551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6400800"/>
              </a:tblGrid>
              <a:tr h="35433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The question</a:t>
                      </a:r>
                    </a:p>
                  </a:txBody>
                  <a:tcPr marL="54864" marR="54864" marT="18288" marB="18288"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What the unconstrained model returned</a:t>
                      </a:r>
                    </a:p>
                  </a:txBody>
                  <a:tcPr marL="54864" marR="54864" marT="18288" marB="18288" anchor="ctr">
                    <a:solidFill>
                      <a:srgbClr val="003366"/>
                    </a:solidFill>
                  </a:tcPr>
                </a:tc>
              </a:tr>
              <a:tr h="35433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"Forecast next month's total sales."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A query summing past months. It runs, returns a number, and forecasts nothing.</a:t>
                      </a:r>
                    </a:p>
                  </a:txBody>
                  <a:tcPr marL="54864" marR="54864" marT="18288" marB="18288" anchor="ctr"/>
                </a:tc>
              </a:tr>
              <a:tr h="35433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"Which customers are likely to churn?"</a:t>
                      </a:r>
                    </a:p>
                  </a:txBody>
                  <a:tcPr marL="54864" marR="54864" marT="18288" marB="18288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A query counting each customer's past orders. No prediction is possible from it.</a:t>
                      </a:r>
                    </a:p>
                  </a:txBody>
                  <a:tcPr marL="54864" marR="54864" marT="18288" marB="18288" anchor="ctr">
                    <a:solidFill>
                      <a:srgbClr val="F2F4F8"/>
                    </a:solidFill>
                  </a:tcPr>
                </a:tc>
              </a:tr>
              <a:tr h="35433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"Summarize the top complaints in reviews."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Keyword matching over review text, joined with UNION — rejected by the safety scan.</a:t>
                      </a:r>
                    </a:p>
                  </a:txBody>
                  <a:tcPr marL="54864" marR="54864" marT="18288" marB="18288" anchor="ctr"/>
                </a:tc>
              </a:tr>
            </a:tbl>
          </a:graphicData>
        </a:graphic>
      </p:graphicFrame>
      <p:sp>
        <p:nvSpPr>
          <p:cNvPr id="17" name="Rounded Rectangle 16"/>
          <p:cNvSpPr/>
          <p:nvPr/>
        </p:nvSpPr>
        <p:spPr>
          <a:xfrm>
            <a:off x="777240" y="5742432"/>
            <a:ext cx="10515600" cy="475488"/>
          </a:xfrm>
          <a:prstGeom prst="roundRect">
            <a:avLst/>
          </a:prstGeom>
          <a:solidFill>
            <a:srgbClr val="F3F6FB"/>
          </a:solidFill>
          <a:ln w="9525">
            <a:solidFill>
              <a:srgbClr val="C9D6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/>
          <a:lstStyle/>
          <a:p>
            <a:pPr algn="l"/>
            <a:r>
              <a:rPr b="1" sz="1300">
                <a:solidFill>
                  <a:srgbClr val="333333"/>
                </a:solidFill>
                <a:latin typeface="Times New Roman"/>
              </a:rPr>
              <a:t>In plain terms:  </a:t>
            </a:r>
            <a:r>
              <a:rPr sz="1300">
                <a:solidFill>
                  <a:srgbClr val="333333"/>
                </a:solidFill>
                <a:latin typeface="Times New Roman"/>
              </a:rPr>
              <a:t>Asked something the data cannot answer, the unconstrained model answers anyway — and the answer looks right.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1" name="Rectangle 10">
            <a:extLst>
              <a:ext uri="{FF2B5EF4-FFF2-40B4-BE49-F238E27FC236}">
                <a16:creationId xmlns:a16="http://schemas.microsoft.com/office/drawing/2014/main" id="{D059D760-A365-91EB-B942-587B657A477E}"/>
              </a:ext>
            </a:extLst>
          </p:cNvPr>
          <p:cNvSpPr/>
          <p:nvPr/>
        </p:nvSpPr>
        <p:spPr>
          <a:xfrm>
            <a:off x="-1" y="1500807"/>
            <a:ext cx="12191999" cy="18288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40000"/>
                  <a:lumOff val="60000"/>
                </a:schemeClr>
              </a:gs>
              <a:gs pos="36000">
                <a:schemeClr val="accent1">
                  <a:lumMod val="95000"/>
                  <a:lumOff val="5000"/>
                </a:schemeClr>
              </a:gs>
              <a:gs pos="100000">
                <a:schemeClr val="tx2">
                  <a:lumMod val="50000"/>
                </a:schemeClr>
              </a:gs>
            </a:gsLst>
            <a:path path="circle">
              <a:fillToRect l="50000" t="130000" r="50000" b="-3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7F49795-9FC6-D65C-AAE9-247F6DF3DA3F}"/>
              </a:ext>
            </a:extLst>
          </p:cNvPr>
          <p:cNvSpPr/>
          <p:nvPr/>
        </p:nvSpPr>
        <p:spPr>
          <a:xfrm>
            <a:off x="0" y="6291468"/>
            <a:ext cx="12192000" cy="586409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27AE48-C47C-33FE-8F56-0AA4260C9B62}"/>
              </a:ext>
            </a:extLst>
          </p:cNvPr>
          <p:cNvSpPr/>
          <p:nvPr/>
        </p:nvSpPr>
        <p:spPr>
          <a:xfrm>
            <a:off x="0" y="0"/>
            <a:ext cx="12192000" cy="150080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8720" y="365760"/>
            <a:ext cx="9601200" cy="731520"/>
          </a:xfrm>
        </p:spPr>
        <p:txBody>
          <a:bodyPr/>
          <a:lstStyle/>
          <a:p>
            <a:pPr>
              <a:defRPr b="1" sz="2400">
                <a:solidFill>
                  <a:srgbClr val="003366"/>
                </a:solidFill>
                <a:latin typeface="Times New Roman"/>
              </a:defRPr>
            </a:pPr>
            <a:r>
              <a:t>Evaluation Track 2: nopCommerce's Own 20 Admin Reports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874" y="457199"/>
            <a:ext cx="592309" cy="586409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2A3C15-2DFB-89FB-3AD7-611F4E0BA4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Tuesday, August 18,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B89723-33F1-15E2-783B-D602C9620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04B3F8-8A1A-BE19-5C71-AE319E3DCF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22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1572768"/>
            <a:ext cx="10515600" cy="658368"/>
          </a:xfrm>
          <a:prstGeom prst="rect">
            <a:avLst/>
          </a:prstGeom>
          <a:noFill/>
        </p:spPr>
        <p:txBody>
          <a:bodyPr wrap="square" anchor="t" lIns="0" tIns="0" rIns="0">
            <a:spAutoFit/>
          </a:bodyPr>
          <a:lstStyle/>
          <a:p>
            <a:pPr marL="0" indent="0">
              <a:lnSpc>
                <a:spcPct val="108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1700">
                <a:solidFill>
                  <a:srgbClr val="003366"/>
                </a:solidFill>
                <a:latin typeface="Times New Roman"/>
              </a:rPr>
              <a:t>The report list is nopCommerce's own admin menu, and the comparison target is nopCommerce's own report code, read from source at commit 64bdf2ff. Neither was chosen by this project.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777240" y="2212848"/>
          <a:ext cx="10515600" cy="1234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2011680"/>
                <a:gridCol w="5212080"/>
              </a:tblGrid>
              <a:tr h="41148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Check</a:t>
                      </a:r>
                    </a:p>
                  </a:txBody>
                  <a:tcPr marL="54864" marR="54864" marT="22860" marB="22860"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Result</a:t>
                      </a:r>
                    </a:p>
                  </a:txBody>
                  <a:tcPr marL="54864" marR="54864" marT="22860" marB="22860"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What it does and does not show</a:t>
                      </a:r>
                    </a:p>
                  </a:txBody>
                  <a:tcPr marL="54864" marR="54864" marT="22860" marB="22860" anchor="ctr">
                    <a:solidFill>
                      <a:srgbClr val="00336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Report reached an answer</a:t>
                      </a:r>
                    </a:p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and compiled to SQL</a:t>
                      </a:r>
                    </a:p>
                  </a:txBody>
                  <a:tcPr marL="54864" marR="54864" marT="22860" marB="2286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20/20</a:t>
                      </a:r>
                    </a:p>
                  </a:txBody>
                  <a:tcPr marL="54864" marR="54864" marT="22860" marB="2286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Coverage of the report shape. Not correctness — several once passed this while silently wrong.</a:t>
                      </a:r>
                    </a:p>
                  </a:txBody>
                  <a:tcPr marL="54864" marR="54864" marT="22860" marB="22860" anchor="ctr"/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Result set matched the</a:t>
                      </a:r>
                    </a:p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platform's own query</a:t>
                      </a:r>
                    </a:p>
                  </a:txBody>
                  <a:tcPr marL="54864" marR="54864" marT="22860" marB="22860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15/20 (75.0%)</a:t>
                      </a:r>
                    </a:p>
                  </a:txBody>
                  <a:tcPr marL="54864" marR="54864" marT="22860" marB="22860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The check that tests the claim: same database, same rows, same values.</a:t>
                      </a:r>
                    </a:p>
                  </a:txBody>
                  <a:tcPr marL="54864" marR="54864" marT="22860" marB="22860" anchor="ctr"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  <p:sp>
        <p:nvSpPr>
          <p:cNvPr id="15" name="Rounded Rectangle 14"/>
          <p:cNvSpPr/>
          <p:nvPr/>
        </p:nvSpPr>
        <p:spPr>
          <a:xfrm>
            <a:off x="777240" y="3621024"/>
            <a:ext cx="10515600" cy="402336"/>
          </a:xfrm>
          <a:prstGeom prst="roundRect">
            <a:avLst/>
          </a:prstGeom>
          <a:solidFill>
            <a:srgbClr val="E2F0D9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/>
          <a:lstStyle/>
          <a:p>
            <a:pPr algn="ctr">
              <a:defRPr sz="1250" b="1">
                <a:solidFill>
                  <a:srgbClr val="003366"/>
                </a:solidFill>
                <a:latin typeface="Times New Roman"/>
              </a:defRPr>
            </a:pPr>
            <a:r>
              <a:rPr/>
              <a:t>The five reports that did not match, and why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777240" y="4114800"/>
          <a:ext cx="1051560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06240"/>
                <a:gridCol w="6309360"/>
              </a:tblGrid>
              <a:tr h="3429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Difference</a:t>
                      </a:r>
                    </a:p>
                  </a:txBody>
                  <a:tcPr marL="54864" marR="54864" marT="18288" marB="18288"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Reports affected</a:t>
                      </a:r>
                    </a:p>
                  </a:txBody>
                  <a:tcPr marL="54864" marR="54864" marT="18288" marB="18288" anchor="ctr">
                    <a:solidFill>
                      <a:srgbClr val="003366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Row count only — the platform's report</a:t>
                      </a:r>
                    </a:p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carries its own LIMIT (5, 15, 100)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Bestsellers by quantity, Bestsellers by amount, Latest orders, Best customers by order count</a:t>
                      </a:r>
                    </a:p>
                  </a:txBody>
                  <a:tcPr marL="54864" marR="54864" marT="18288" marB="18288" anchor="ctr"/>
                </a:tc>
              </a:tr>
              <a:tr h="3429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Label column — customer name where the</a:t>
                      </a:r>
                    </a:p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platform's query labels by email</a:t>
                      </a:r>
                    </a:p>
                  </a:txBody>
                  <a:tcPr marL="54864" marR="54864" marT="18288" marB="18288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Best customers by order total, Best customers by order count</a:t>
                      </a:r>
                    </a:p>
                  </a:txBody>
                  <a:tcPr marL="54864" marR="54864" marT="18288" marB="18288" anchor="ctr">
                    <a:solidFill>
                      <a:srgbClr val="F2F4F8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Wrong value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None. Every overlapping row agrees to the last decimal.</a:t>
                      </a:r>
                    </a:p>
                  </a:txBody>
                  <a:tcPr marL="54864" marR="54864" marT="18288" marB="18288" anchor="ctr"/>
                </a:tc>
              </a:tr>
            </a:tbl>
          </a:graphicData>
        </a:graphic>
      </p:graphicFrame>
      <p:sp>
        <p:nvSpPr>
          <p:cNvPr id="17" name="Rounded Rectangle 16"/>
          <p:cNvSpPr/>
          <p:nvPr/>
        </p:nvSpPr>
        <p:spPr>
          <a:xfrm>
            <a:off x="777240" y="5742432"/>
            <a:ext cx="10515600" cy="475488"/>
          </a:xfrm>
          <a:prstGeom prst="roundRect">
            <a:avLst/>
          </a:prstGeom>
          <a:solidFill>
            <a:srgbClr val="F3F6FB"/>
          </a:solidFill>
          <a:ln w="9525">
            <a:solidFill>
              <a:srgbClr val="C9D6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/>
          <a:lstStyle/>
          <a:p>
            <a:pPr algn="l"/>
            <a:r>
              <a:rPr b="1" sz="1300">
                <a:solidFill>
                  <a:srgbClr val="333333"/>
                </a:solidFill>
                <a:latin typeface="Times New Roman"/>
              </a:rPr>
              <a:t>In plain terms:  </a:t>
            </a:r>
            <a:r>
              <a:rPr sz="1300">
                <a:solidFill>
                  <a:srgbClr val="333333"/>
                </a:solidFill>
                <a:latin typeface="Times New Roman"/>
              </a:rPr>
              <a:t>Where the numbers differ from nopCommerce's own reports, they do not — only how many rows and which label.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1" name="Rectangle 10">
            <a:extLst>
              <a:ext uri="{FF2B5EF4-FFF2-40B4-BE49-F238E27FC236}">
                <a16:creationId xmlns:a16="http://schemas.microsoft.com/office/drawing/2014/main" id="{D059D760-A365-91EB-B942-587B657A477E}"/>
              </a:ext>
            </a:extLst>
          </p:cNvPr>
          <p:cNvSpPr/>
          <p:nvPr/>
        </p:nvSpPr>
        <p:spPr>
          <a:xfrm>
            <a:off x="-1" y="1500807"/>
            <a:ext cx="12191999" cy="18288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40000"/>
                  <a:lumOff val="60000"/>
                </a:schemeClr>
              </a:gs>
              <a:gs pos="36000">
                <a:schemeClr val="accent1">
                  <a:lumMod val="95000"/>
                  <a:lumOff val="5000"/>
                </a:schemeClr>
              </a:gs>
              <a:gs pos="100000">
                <a:schemeClr val="tx2">
                  <a:lumMod val="50000"/>
                </a:schemeClr>
              </a:gs>
            </a:gsLst>
            <a:path path="circle">
              <a:fillToRect l="50000" t="130000" r="50000" b="-3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7F49795-9FC6-D65C-AAE9-247F6DF3DA3F}"/>
              </a:ext>
            </a:extLst>
          </p:cNvPr>
          <p:cNvSpPr/>
          <p:nvPr/>
        </p:nvSpPr>
        <p:spPr>
          <a:xfrm>
            <a:off x="0" y="6291468"/>
            <a:ext cx="12192000" cy="586409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27AE48-C47C-33FE-8F56-0AA4260C9B62}"/>
              </a:ext>
            </a:extLst>
          </p:cNvPr>
          <p:cNvSpPr/>
          <p:nvPr/>
        </p:nvSpPr>
        <p:spPr>
          <a:xfrm>
            <a:off x="0" y="0"/>
            <a:ext cx="12192000" cy="150080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8720" y="365760"/>
            <a:ext cx="9601200" cy="731520"/>
          </a:xfrm>
        </p:spPr>
        <p:txBody>
          <a:bodyPr/>
          <a:lstStyle/>
          <a:p>
            <a:pPr>
              <a:defRPr b="1" sz="2400">
                <a:solidFill>
                  <a:srgbClr val="003366"/>
                </a:solidFill>
                <a:latin typeface="Times New Roman"/>
              </a:defRPr>
            </a:pPr>
            <a:r>
              <a:t>Beneficiaries and Expected Impact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874" y="457199"/>
            <a:ext cx="592309" cy="586409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2A3C15-2DFB-89FB-3AD7-611F4E0BA4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Tuesday, August 18,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B89723-33F1-15E2-783B-D602C9620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04B3F8-8A1A-BE19-5C71-AE319E3DCF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23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822960" y="1572768"/>
          <a:ext cx="10561320" cy="4041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/>
                <a:gridCol w="3657600"/>
                <a:gridCol w="4251960"/>
              </a:tblGrid>
              <a:tr h="832104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Beneficiary</a:t>
                      </a:r>
                    </a:p>
                  </a:txBody>
                  <a:tcPr marL="54864" marR="54864" marT="22860" marB="22860"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Current difficulty</a:t>
                      </a:r>
                    </a:p>
                  </a:txBody>
                  <a:tcPr marL="54864" marR="54864" marT="22860" marB="22860"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AEGIS impact</a:t>
                      </a:r>
                    </a:p>
                  </a:txBody>
                  <a:tcPr marL="54864" marR="54864" marT="22860" marB="22860" anchor="ctr">
                    <a:solidFill>
                      <a:srgbClr val="003366"/>
                    </a:solidFill>
                  </a:tcPr>
                </a:tc>
              </a:tr>
              <a:tr h="832104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Business users</a:t>
                      </a:r>
                    </a:p>
                  </a:txBody>
                  <a:tcPr marL="54864" marR="54864" marT="22860" marB="2286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Need reports but need new report combinations</a:t>
                      </a:r>
                    </a:p>
                  </a:txBody>
                  <a:tcPr marL="54864" marR="54864" marT="22860" marB="2286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Ask natural-language analytics questions and receive controlled table or chart-ready results</a:t>
                      </a:r>
                    </a:p>
                  </a:txBody>
                  <a:tcPr marL="54864" marR="54864" marT="22860" marB="22860" anchor="ctr"/>
                </a:tc>
              </a:tr>
              <a:tr h="832104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Developers / BI teams</a:t>
                      </a:r>
                    </a:p>
                  </a:txBody>
                  <a:tcPr marL="54864" marR="54864" marT="22860" marB="22860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Repeated report requests consume implementation time</a:t>
                      </a:r>
                    </a:p>
                  </a:txBody>
                  <a:tcPr marL="54864" marR="54864" marT="22860" marB="22860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Reusable semantic definitions reduce one-off SQL writing for common analytics</a:t>
                      </a:r>
                    </a:p>
                  </a:txBody>
                  <a:tcPr marL="54864" marR="54864" marT="22860" marB="22860" anchor="ctr">
                    <a:solidFill>
                      <a:srgbClr val="F2F4F8"/>
                    </a:solidFill>
                  </a:tcPr>
                </a:tc>
              </a:tr>
              <a:tr h="832104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Database administrators</a:t>
                      </a:r>
                    </a:p>
                  </a:txBody>
                  <a:tcPr marL="54864" marR="54864" marT="22860" marB="2286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Model-written SQL is hard to audit and restrict</a:t>
                      </a:r>
                    </a:p>
                  </a:txBody>
                  <a:tcPr marL="54864" marR="54864" marT="22860" marB="2286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Only approved metrics, dimensions, joins, and read-only SQL reach the database</a:t>
                      </a:r>
                    </a:p>
                  </a:txBody>
                  <a:tcPr marL="54864" marR="54864" marT="22860" marB="22860" anchor="ctr"/>
                </a:tc>
              </a:tr>
              <a:tr h="832104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Researchers</a:t>
                      </a:r>
                    </a:p>
                  </a:txBody>
                  <a:tcPr marL="54864" marR="54864" marT="22860" marB="22860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NL2SQL work often mixes language accuracy with execution authority</a:t>
                      </a:r>
                    </a:p>
                  </a:txBody>
                  <a:tcPr marL="54864" marR="54864" marT="22860" marB="22860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Shows an architecture where language understanding and SQL authority are separated</a:t>
                      </a:r>
                    </a:p>
                  </a:txBody>
                  <a:tcPr marL="54864" marR="54864" marT="22860" marB="22860" anchor="ctr"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960120" y="5614416"/>
            <a:ext cx="10149840" cy="621792"/>
          </a:xfrm>
          <a:prstGeom prst="rect">
            <a:avLst/>
          </a:prstGeom>
          <a:noFill/>
        </p:spPr>
        <p:txBody>
          <a:bodyPr wrap="square" anchor="t" lIns="0" tIns="0" rIns="0">
            <a:spAutoFit/>
          </a:bodyPr>
          <a:lstStyle/>
          <a:p>
            <a:pPr marL="0" indent="0">
              <a:lnSpc>
                <a:spcPct val="108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1500">
                <a:solidFill>
                  <a:srgbClr val="003366"/>
                </a:solidFill>
                <a:latin typeface="Times New Roman"/>
              </a:rPr>
              <a:t>Expected impact:</a:t>
            </a:r>
            <a:r>
              <a:rPr b="0" i="0" sz="1400">
                <a:solidFill>
                  <a:srgbClr val="333333"/>
                </a:solidFill>
                <a:latin typeface="Times New Roman"/>
              </a:rPr>
              <a:t> safer self-service analytics for repeated e-commerce reporting, without giving the LLM permission to author executable SQL.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1" name="Rectangle 10">
            <a:extLst>
              <a:ext uri="{FF2B5EF4-FFF2-40B4-BE49-F238E27FC236}">
                <a16:creationId xmlns:a16="http://schemas.microsoft.com/office/drawing/2014/main" id="{D059D760-A365-91EB-B942-587B657A477E}"/>
              </a:ext>
            </a:extLst>
          </p:cNvPr>
          <p:cNvSpPr/>
          <p:nvPr/>
        </p:nvSpPr>
        <p:spPr>
          <a:xfrm>
            <a:off x="-1" y="1500807"/>
            <a:ext cx="12191999" cy="18288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40000"/>
                  <a:lumOff val="60000"/>
                </a:schemeClr>
              </a:gs>
              <a:gs pos="36000">
                <a:schemeClr val="accent1">
                  <a:lumMod val="95000"/>
                  <a:lumOff val="5000"/>
                </a:schemeClr>
              </a:gs>
              <a:gs pos="100000">
                <a:schemeClr val="tx2">
                  <a:lumMod val="50000"/>
                </a:schemeClr>
              </a:gs>
            </a:gsLst>
            <a:path path="circle">
              <a:fillToRect l="50000" t="130000" r="50000" b="-3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7F49795-9FC6-D65C-AAE9-247F6DF3DA3F}"/>
              </a:ext>
            </a:extLst>
          </p:cNvPr>
          <p:cNvSpPr/>
          <p:nvPr/>
        </p:nvSpPr>
        <p:spPr>
          <a:xfrm>
            <a:off x="0" y="6291468"/>
            <a:ext cx="12192000" cy="586409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27AE48-C47C-33FE-8F56-0AA4260C9B62}"/>
              </a:ext>
            </a:extLst>
          </p:cNvPr>
          <p:cNvSpPr/>
          <p:nvPr/>
        </p:nvSpPr>
        <p:spPr>
          <a:xfrm>
            <a:off x="0" y="0"/>
            <a:ext cx="12192000" cy="150080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8720" y="365760"/>
            <a:ext cx="9601200" cy="731520"/>
          </a:xfrm>
        </p:spPr>
        <p:txBody>
          <a:bodyPr/>
          <a:lstStyle/>
          <a:p>
            <a:pPr>
              <a:defRPr b="1" sz="2400">
                <a:solidFill>
                  <a:srgbClr val="003366"/>
                </a:solidFill>
                <a:latin typeface="Times New Roman"/>
              </a:defRPr>
            </a:pPr>
            <a:r>
              <a:t>Scope of the Evaluation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874" y="457199"/>
            <a:ext cx="592309" cy="586409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2A3C15-2DFB-89FB-3AD7-611F4E0BA4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Tuesday, August 18,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B89723-33F1-15E2-783B-D602C9620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04B3F8-8A1A-BE19-5C71-AE319E3DCF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24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1572768"/>
            <a:ext cx="10332720" cy="4663440"/>
          </a:xfrm>
          <a:prstGeom prst="rect">
            <a:avLst/>
          </a:prstGeom>
          <a:noFill/>
        </p:spPr>
        <p:txBody>
          <a:bodyPr wrap="square" anchor="t" lIns="0" tIns="0" rIns="0">
            <a:spAutoFit/>
          </a:bodyPr>
          <a:lstStyle/>
          <a:p>
            <a:pPr marL="0" indent="0">
              <a:lnSpc>
                <a:spcPct val="108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1800">
                <a:solidFill>
                  <a:srgbClr val="003366"/>
                </a:solidFill>
                <a:latin typeface="Times New Roman"/>
              </a:rPr>
              <a:t>Current evaluation scope: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500">
                <a:solidFill>
                  <a:srgbClr val="333333"/>
                </a:solidFill>
                <a:latin typeface="Times New Roman"/>
              </a:rPr>
              <a:t>- Implemented and evaluated for nopCommerce [7] analytics on MySQL; the semantic layer is deliberately finite and deployment-specific.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1" i="0" sz="1500">
                <a:solidFill>
                  <a:srgbClr val="003366"/>
                </a:solidFill>
                <a:latin typeface="Times New Roman"/>
              </a:rPr>
              <a:t>- The layer is per-deployment, so cross-domain benchmarks such as Spider and BIRD do not apply:</a:t>
            </a:r>
            <a:r>
              <a:rPr b="0" i="0" sz="1500">
                <a:solidFill>
                  <a:srgbClr val="333333"/>
                </a:solidFill>
                <a:latin typeface="Times New Roman"/>
              </a:rPr>
              <a:t> they test generalisation to unseen schemas, which this architecture does not attempt.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500">
                <a:solidFill>
                  <a:srgbClr val="333333"/>
                </a:solidFill>
                <a:latin typeface="Times New Roman"/>
              </a:rPr>
              <a:t>- The gateway resolves a model alias per request, so the run is not pinned to one model. Each result row records what served it.</a:t>
            </a:r>
          </a:p>
          <a:p>
            <a:pPr marL="0" indent="0">
              <a:lnSpc>
                <a:spcPct val="108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1800">
                <a:solidFill>
                  <a:srgbClr val="003366"/>
                </a:solidFill>
                <a:latin typeface="Times New Roman"/>
              </a:rPr>
              <a:t>Not a thesis limitation: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500">
                <a:solidFill>
                  <a:srgbClr val="333333"/>
                </a:solidFill>
                <a:latin typeface="Times New Roman"/>
              </a:rPr>
              <a:t>- Multi-turn conversation is out of scope because the work evaluates single-request analytics.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1" name="Rectangle 10">
            <a:extLst>
              <a:ext uri="{FF2B5EF4-FFF2-40B4-BE49-F238E27FC236}">
                <a16:creationId xmlns:a16="http://schemas.microsoft.com/office/drawing/2014/main" id="{D059D760-A365-91EB-B942-587B657A477E}"/>
              </a:ext>
            </a:extLst>
          </p:cNvPr>
          <p:cNvSpPr/>
          <p:nvPr/>
        </p:nvSpPr>
        <p:spPr>
          <a:xfrm>
            <a:off x="-1" y="1500807"/>
            <a:ext cx="12191999" cy="18288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40000"/>
                  <a:lumOff val="60000"/>
                </a:schemeClr>
              </a:gs>
              <a:gs pos="36000">
                <a:schemeClr val="accent1">
                  <a:lumMod val="95000"/>
                  <a:lumOff val="5000"/>
                </a:schemeClr>
              </a:gs>
              <a:gs pos="100000">
                <a:schemeClr val="tx2">
                  <a:lumMod val="50000"/>
                </a:schemeClr>
              </a:gs>
            </a:gsLst>
            <a:path path="circle">
              <a:fillToRect l="50000" t="130000" r="50000" b="-3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7F49795-9FC6-D65C-AAE9-247F6DF3DA3F}"/>
              </a:ext>
            </a:extLst>
          </p:cNvPr>
          <p:cNvSpPr/>
          <p:nvPr/>
        </p:nvSpPr>
        <p:spPr>
          <a:xfrm>
            <a:off x="0" y="6291468"/>
            <a:ext cx="12192000" cy="586409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27AE48-C47C-33FE-8F56-0AA4260C9B62}"/>
              </a:ext>
            </a:extLst>
          </p:cNvPr>
          <p:cNvSpPr/>
          <p:nvPr/>
        </p:nvSpPr>
        <p:spPr>
          <a:xfrm>
            <a:off x="0" y="0"/>
            <a:ext cx="12192000" cy="150080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8720" y="365760"/>
            <a:ext cx="9601200" cy="731520"/>
          </a:xfrm>
        </p:spPr>
        <p:txBody>
          <a:bodyPr/>
          <a:lstStyle/>
          <a:p>
            <a:pPr>
              <a:defRPr b="1" sz="2400">
                <a:solidFill>
                  <a:srgbClr val="003366"/>
                </a:solidFill>
                <a:latin typeface="Times New Roman"/>
              </a:defRPr>
            </a:pPr>
            <a:r>
              <a:t>Limitations I Would Raise First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874" y="457199"/>
            <a:ext cx="592309" cy="586409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2A3C15-2DFB-89FB-3AD7-611F4E0BA4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Tuesday, August 18,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B89723-33F1-15E2-783B-D602C9620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04B3F8-8A1A-BE19-5C71-AE319E3DCF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25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1572768"/>
            <a:ext cx="10332720" cy="4663440"/>
          </a:xfrm>
          <a:prstGeom prst="rect">
            <a:avLst/>
          </a:prstGeom>
          <a:noFill/>
        </p:spPr>
        <p:txBody>
          <a:bodyPr wrap="square" anchor="t" lIns="0" tIns="0" rIns="0">
            <a:spAutoFit/>
          </a:bodyPr>
          <a:lstStyle/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500">
                <a:solidFill>
                  <a:srgbClr val="333333"/>
                </a:solidFill>
                <a:latin typeface="Times New Roman"/>
              </a:rPr>
              <a:t>- Correctness at scale is measured on the 20 reports, not on all 425 supported questions. For those I show the SQL runs — not that every answer is right.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1" i="0" sz="1500">
                <a:solidFill>
                  <a:srgbClr val="003366"/>
                </a:solidFill>
                <a:latin typeface="Times New Roman"/>
              </a:rPr>
              <a:t>- The seeded catalogue is small:</a:t>
            </a:r>
            <a:r>
              <a:rPr b="0" i="0" sz="1500">
                <a:solidFill>
                  <a:srgbClr val="333333"/>
                </a:solidFill>
                <a:latin typeface="Times New Roman"/>
              </a:rPr>
              <a:t> 17 products in 8 categories against 2,500 orders. Order-side reports run at realistic volume, but bestsellers and revenue-by-category agree with nopCommerce over short lists — same compiled SQL, weaker test.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1" i="0" sz="1500">
                <a:solidFill>
                  <a:srgbClr val="003366"/>
                </a:solidFill>
                <a:latin typeface="Times New Roman"/>
              </a:rPr>
              <a:t>- Three of the 75 boundary questions were not declined:</a:t>
            </a:r>
            <a:r>
              <a:rPr b="0" i="0" sz="1500">
                <a:solidFill>
                  <a:srgbClr val="333333"/>
                </a:solidFill>
                <a:latin typeface="Times New Roman"/>
              </a:rPr>
              <a:t> one malformed model reply, and the same carrier-comparison question phrased twice. The model flagged "DHL" and "FedEx" as unmapped and AEGIS answered by shipping method anyway — by design, because a model-reported gap is evidence, not a verdict. That keeps false refusals low and costs exactly this.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500">
                <a:solidFill>
                  <a:srgbClr val="333333"/>
                </a:solidFill>
                <a:latin typeface="Times New Roman"/>
              </a:rPr>
              <a:t>- Five reports differ from the platform's own output in row count or label column. No report differs in value.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500">
                <a:solidFill>
                  <a:srgbClr val="333333"/>
                </a:solidFill>
                <a:latin typeface="Times New Roman"/>
              </a:rPr>
              <a:t>- Other SQL dialects require compiler extensions.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1" name="Rectangle 10">
            <a:extLst>
              <a:ext uri="{FF2B5EF4-FFF2-40B4-BE49-F238E27FC236}">
                <a16:creationId xmlns:a16="http://schemas.microsoft.com/office/drawing/2014/main" id="{D059D760-A365-91EB-B942-587B657A477E}"/>
              </a:ext>
            </a:extLst>
          </p:cNvPr>
          <p:cNvSpPr/>
          <p:nvPr/>
        </p:nvSpPr>
        <p:spPr>
          <a:xfrm>
            <a:off x="-1" y="1500807"/>
            <a:ext cx="12191999" cy="18288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40000"/>
                  <a:lumOff val="60000"/>
                </a:schemeClr>
              </a:gs>
              <a:gs pos="36000">
                <a:schemeClr val="accent1">
                  <a:lumMod val="95000"/>
                  <a:lumOff val="5000"/>
                </a:schemeClr>
              </a:gs>
              <a:gs pos="100000">
                <a:schemeClr val="tx2">
                  <a:lumMod val="50000"/>
                </a:schemeClr>
              </a:gs>
            </a:gsLst>
            <a:path path="circle">
              <a:fillToRect l="50000" t="130000" r="50000" b="-3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7F49795-9FC6-D65C-AAE9-247F6DF3DA3F}"/>
              </a:ext>
            </a:extLst>
          </p:cNvPr>
          <p:cNvSpPr/>
          <p:nvPr/>
        </p:nvSpPr>
        <p:spPr>
          <a:xfrm>
            <a:off x="0" y="6291468"/>
            <a:ext cx="12192000" cy="586409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27AE48-C47C-33FE-8F56-0AA4260C9B62}"/>
              </a:ext>
            </a:extLst>
          </p:cNvPr>
          <p:cNvSpPr/>
          <p:nvPr/>
        </p:nvSpPr>
        <p:spPr>
          <a:xfrm>
            <a:off x="0" y="0"/>
            <a:ext cx="12192000" cy="150080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8720" y="365760"/>
            <a:ext cx="9601200" cy="731520"/>
          </a:xfrm>
        </p:spPr>
        <p:txBody>
          <a:bodyPr/>
          <a:lstStyle/>
          <a:p>
            <a:pPr>
              <a:defRPr b="1" sz="2400">
                <a:solidFill>
                  <a:srgbClr val="003366"/>
                </a:solidFill>
                <a:latin typeface="Times New Roman"/>
              </a:defRPr>
            </a:pPr>
            <a:r>
              <a:t>Conclusion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874" y="457199"/>
            <a:ext cx="592309" cy="586409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2A3C15-2DFB-89FB-3AD7-611F4E0BA4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Tuesday, August 18,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B89723-33F1-15E2-783B-D602C9620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04B3F8-8A1A-BE19-5C71-AE319E3DCF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1572768"/>
            <a:ext cx="9966960" cy="4434840"/>
          </a:xfrm>
          <a:prstGeom prst="rect">
            <a:avLst/>
          </a:prstGeom>
          <a:noFill/>
        </p:spPr>
        <p:txBody>
          <a:bodyPr wrap="square" anchor="t" lIns="0" tIns="0" rIns="0">
            <a:spAutoFit/>
          </a:bodyPr>
          <a:lstStyle/>
          <a:p>
            <a:pPr marL="0" indent="0">
              <a:lnSpc>
                <a:spcPct val="108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2000">
                <a:solidFill>
                  <a:srgbClr val="003366"/>
                </a:solidFill>
                <a:latin typeface="Times New Roman"/>
              </a:rPr>
              <a:t>Conclusion: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700">
                <a:solidFill>
                  <a:srgbClr val="333333"/>
                </a:solidFill>
                <a:latin typeface="Times New Roman"/>
              </a:rPr>
              <a:t>- AEGIS keeps the LLM useful for language understanding while removing SQL-authoring authority from the model.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700">
                <a:solidFill>
                  <a:srgbClr val="333333"/>
                </a:solidFill>
                <a:latin typeface="Times New Roman"/>
              </a:rPr>
              <a:t>- The semantic layer makes analytics definitions explicit, auditable, and reusable for a target system.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700">
                <a:solidFill>
                  <a:srgbClr val="333333"/>
                </a:solidFill>
                <a:latin typeface="Times New Roman"/>
              </a:rPr>
              <a:t>- The compiler produces read-only SQL from approved definitions and blocks unsupported execution paths.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700">
                <a:solidFill>
                  <a:srgbClr val="333333"/>
                </a:solidFill>
                <a:latin typeface="Times New Roman"/>
              </a:rPr>
              <a:t>- The nopCommerce [7] prototype, the 500-question corpus, and the differential against the platform's own report logic show that the approach can be implemented and evaluated practically.</a:t>
            </a:r>
          </a:p>
          <a:p>
            <a:pPr marL="0" indent="0">
              <a:lnSpc>
                <a:spcPct val="108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2000">
                <a:solidFill>
                  <a:srgbClr val="003366"/>
                </a:solidFill>
                <a:latin typeface="Times New Roman"/>
              </a:rPr>
              <a:t>Main contribution: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700">
                <a:solidFill>
                  <a:srgbClr val="333333"/>
                </a:solidFill>
                <a:latin typeface="Times New Roman"/>
              </a:rPr>
              <a:t>- A constraint-based architecture for safe LLM-assisted natural language analytics.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1" name="Rectangle 10">
            <a:extLst>
              <a:ext uri="{FF2B5EF4-FFF2-40B4-BE49-F238E27FC236}">
                <a16:creationId xmlns:a16="http://schemas.microsoft.com/office/drawing/2014/main" id="{D059D760-A365-91EB-B942-587B657A477E}"/>
              </a:ext>
            </a:extLst>
          </p:cNvPr>
          <p:cNvSpPr/>
          <p:nvPr/>
        </p:nvSpPr>
        <p:spPr>
          <a:xfrm>
            <a:off x="-1" y="1500807"/>
            <a:ext cx="12191999" cy="18288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40000"/>
                  <a:lumOff val="60000"/>
                </a:schemeClr>
              </a:gs>
              <a:gs pos="36000">
                <a:schemeClr val="accent1">
                  <a:lumMod val="95000"/>
                  <a:lumOff val="5000"/>
                </a:schemeClr>
              </a:gs>
              <a:gs pos="100000">
                <a:schemeClr val="tx2">
                  <a:lumMod val="50000"/>
                </a:schemeClr>
              </a:gs>
            </a:gsLst>
            <a:path path="circle">
              <a:fillToRect l="50000" t="130000" r="50000" b="-3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7F49795-9FC6-D65C-AAE9-247F6DF3DA3F}"/>
              </a:ext>
            </a:extLst>
          </p:cNvPr>
          <p:cNvSpPr/>
          <p:nvPr/>
        </p:nvSpPr>
        <p:spPr>
          <a:xfrm>
            <a:off x="0" y="6291468"/>
            <a:ext cx="12192000" cy="586409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27AE48-C47C-33FE-8F56-0AA4260C9B62}"/>
              </a:ext>
            </a:extLst>
          </p:cNvPr>
          <p:cNvSpPr/>
          <p:nvPr/>
        </p:nvSpPr>
        <p:spPr>
          <a:xfrm>
            <a:off x="0" y="0"/>
            <a:ext cx="12192000" cy="150080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8720" y="365760"/>
            <a:ext cx="9601200" cy="731520"/>
          </a:xfrm>
        </p:spPr>
        <p:txBody>
          <a:bodyPr/>
          <a:lstStyle/>
          <a:p>
            <a:pPr>
              <a:defRPr b="1" sz="2400">
                <a:solidFill>
                  <a:srgbClr val="003366"/>
                </a:solidFill>
                <a:latin typeface="Times New Roman"/>
              </a:defRPr>
            </a:pPr>
            <a:r>
              <a:t>Future Work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874" y="457199"/>
            <a:ext cx="592309" cy="586409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2A3C15-2DFB-89FB-3AD7-611F4E0BA4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Tuesday, August 18,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B89723-33F1-15E2-783B-D602C9620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04B3F8-8A1A-BE19-5C71-AE319E3DCF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27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1645920"/>
            <a:ext cx="9784080" cy="3977639"/>
          </a:xfrm>
          <a:prstGeom prst="rect">
            <a:avLst/>
          </a:prstGeom>
          <a:noFill/>
        </p:spPr>
        <p:txBody>
          <a:bodyPr wrap="square" anchor="t" lIns="0" tIns="0" rIns="0">
            <a:spAutoFit/>
          </a:bodyPr>
          <a:lstStyle/>
          <a:p>
            <a:pPr marL="0" indent="0">
              <a:lnSpc>
                <a:spcPct val="108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2100">
                <a:solidFill>
                  <a:srgbClr val="003366"/>
                </a:solidFill>
                <a:latin typeface="Times New Roman"/>
              </a:rPr>
              <a:t>Possible extensions: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800">
                <a:solidFill>
                  <a:srgbClr val="333333"/>
                </a:solidFill>
                <a:latin typeface="Times New Roman"/>
              </a:rPr>
              <a:t>- Evaluate AEGIS on another e-commerce system by replacing only the semantic layer.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800">
                <a:solidFill>
                  <a:srgbClr val="333333"/>
                </a:solidFill>
                <a:latin typeface="Times New Roman"/>
              </a:rPr>
              <a:t>- Add more oracle reports from real admin and business workflows.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800">
                <a:solidFill>
                  <a:srgbClr val="333333"/>
                </a:solidFill>
                <a:latin typeface="Times New Roman"/>
              </a:rPr>
              <a:t>- Extend compiler modules for PostgreSQL and SQL Server.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800">
                <a:solidFill>
                  <a:srgbClr val="333333"/>
                </a:solidFill>
                <a:latin typeface="Times New Roman"/>
              </a:rPr>
              <a:t>- Improve clarification behavior for ambiguous but answerable user questions.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800">
                <a:solidFill>
                  <a:srgbClr val="333333"/>
                </a:solidFill>
                <a:latin typeface="Times New Roman"/>
              </a:rPr>
              <a:t>- Add richer chart recommendation while keeping SQL generation deterministic.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1" name="Rectangle 10">
            <a:extLst>
              <a:ext uri="{FF2B5EF4-FFF2-40B4-BE49-F238E27FC236}">
                <a16:creationId xmlns:a16="http://schemas.microsoft.com/office/drawing/2014/main" id="{D059D760-A365-91EB-B942-587B657A477E}"/>
              </a:ext>
            </a:extLst>
          </p:cNvPr>
          <p:cNvSpPr/>
          <p:nvPr/>
        </p:nvSpPr>
        <p:spPr>
          <a:xfrm>
            <a:off x="-1" y="1500807"/>
            <a:ext cx="12191999" cy="18288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40000"/>
                  <a:lumOff val="60000"/>
                </a:schemeClr>
              </a:gs>
              <a:gs pos="36000">
                <a:schemeClr val="accent1">
                  <a:lumMod val="95000"/>
                  <a:lumOff val="5000"/>
                </a:schemeClr>
              </a:gs>
              <a:gs pos="100000">
                <a:schemeClr val="tx2">
                  <a:lumMod val="50000"/>
                </a:schemeClr>
              </a:gs>
            </a:gsLst>
            <a:path path="circle">
              <a:fillToRect l="50000" t="130000" r="50000" b="-3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7F49795-9FC6-D65C-AAE9-247F6DF3DA3F}"/>
              </a:ext>
            </a:extLst>
          </p:cNvPr>
          <p:cNvSpPr/>
          <p:nvPr/>
        </p:nvSpPr>
        <p:spPr>
          <a:xfrm>
            <a:off x="0" y="6291468"/>
            <a:ext cx="12192000" cy="586409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27AE48-C47C-33FE-8F56-0AA4260C9B62}"/>
              </a:ext>
            </a:extLst>
          </p:cNvPr>
          <p:cNvSpPr/>
          <p:nvPr/>
        </p:nvSpPr>
        <p:spPr>
          <a:xfrm>
            <a:off x="0" y="0"/>
            <a:ext cx="12192000" cy="150080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8720" y="365760"/>
            <a:ext cx="9601200" cy="731520"/>
          </a:xfrm>
        </p:spPr>
        <p:txBody>
          <a:bodyPr/>
          <a:lstStyle/>
          <a:p>
            <a:pPr>
              <a:defRPr b="1" sz="2400">
                <a:solidFill>
                  <a:srgbClr val="003366"/>
                </a:solidFill>
                <a:latin typeface="Times New Roman"/>
              </a:defRPr>
            </a:pPr>
            <a:r>
              <a:t>References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874" y="457199"/>
            <a:ext cx="592309" cy="586409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2A3C15-2DFB-89FB-3AD7-611F4E0BA4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Tuesday, August 18,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B89723-33F1-15E2-783B-D602C9620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04B3F8-8A1A-BE19-5C71-AE319E3DCF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28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1627632"/>
            <a:ext cx="107442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74320" indent="-274320">
              <a:lnSpc>
                <a:spcPct val="105000"/>
              </a:lnSpc>
              <a:spcAft>
                <a:spcPts val="900"/>
              </a:spcAft>
            </a:pPr>
            <a:r>
              <a:rPr sz="1200">
                <a:solidFill>
                  <a:srgbClr val="333333"/>
                </a:solidFill>
                <a:latin typeface="Times New Roman"/>
              </a:rPr>
              <a:t>[1] Li, F., &amp; Jagadish, H. V. (2014). Constructing an interactive natural language interface for relational databases. PVLDB.</a:t>
            </a:r>
          </a:p>
          <a:p>
            <a:pPr marL="274320" indent="-274320">
              <a:lnSpc>
                <a:spcPct val="105000"/>
              </a:lnSpc>
              <a:spcAft>
                <a:spcPts val="900"/>
              </a:spcAft>
            </a:pPr>
            <a:r>
              <a:rPr sz="1200">
                <a:solidFill>
                  <a:srgbClr val="333333"/>
                </a:solidFill>
                <a:latin typeface="Times New Roman"/>
              </a:rPr>
              <a:t>[2] Narechania, A., Srinivasan, A., &amp; Stasko, J. (2021). nl4dv: A toolkit for generating analytic specifications from natural language. IEEE TVCG.</a:t>
            </a:r>
          </a:p>
          <a:p>
            <a:pPr marL="274320" indent="-274320">
              <a:lnSpc>
                <a:spcPct val="105000"/>
              </a:lnSpc>
              <a:spcAft>
                <a:spcPts val="900"/>
              </a:spcAft>
            </a:pPr>
            <a:r>
              <a:rPr sz="1200">
                <a:solidFill>
                  <a:srgbClr val="333333"/>
                </a:solidFill>
                <a:latin typeface="Times New Roman"/>
              </a:rPr>
              <a:t>[3] Deng, D., Wu, A., Qu, H., &amp; Wu, Y. (2023). DashBot: Insight-driven dashboard generation. IEEE TVCG.</a:t>
            </a:r>
          </a:p>
          <a:p>
            <a:pPr marL="274320" indent="-274320">
              <a:lnSpc>
                <a:spcPct val="105000"/>
              </a:lnSpc>
              <a:spcAft>
                <a:spcPts val="900"/>
              </a:spcAft>
            </a:pPr>
            <a:r>
              <a:rPr sz="1200">
                <a:solidFill>
                  <a:srgbClr val="333333"/>
                </a:solidFill>
                <a:latin typeface="Times New Roman"/>
              </a:rPr>
              <a:t>[4] Scholak, T., Schucher, N., &amp; Bahdanau, D. (2021). PICARD: Parsing incrementally for constrained auto-regressive decoding. EMNLP.</a:t>
            </a:r>
          </a:p>
          <a:p>
            <a:pPr marL="274320" indent="-274320">
              <a:lnSpc>
                <a:spcPct val="105000"/>
              </a:lnSpc>
              <a:spcAft>
                <a:spcPts val="900"/>
              </a:spcAft>
            </a:pPr>
            <a:r>
              <a:rPr sz="1200">
                <a:solidFill>
                  <a:srgbClr val="333333"/>
                </a:solidFill>
                <a:latin typeface="Times New Roman"/>
              </a:rPr>
              <a:t>[5] Shalaan, H. S. et al. (2025). G-SQL: A schema-aware and rule-guided approach for robust natural language to SQL translation. IEEE Access.</a:t>
            </a:r>
          </a:p>
          <a:p>
            <a:pPr marL="274320" indent="-274320">
              <a:lnSpc>
                <a:spcPct val="105000"/>
              </a:lnSpc>
              <a:spcAft>
                <a:spcPts val="900"/>
              </a:spcAft>
            </a:pPr>
            <a:r>
              <a:rPr sz="1200">
                <a:solidFill>
                  <a:srgbClr val="333333"/>
                </a:solidFill>
                <a:latin typeface="Times New Roman"/>
              </a:rPr>
              <a:t>[6] Su, X. et al. (2026). A robust natural language text-to-SQL generation framework with dynamic strategies based on LLMs. Scientific Reports.</a:t>
            </a:r>
          </a:p>
          <a:p>
            <a:pPr marL="274320" indent="-274320">
              <a:lnSpc>
                <a:spcPct val="105000"/>
              </a:lnSpc>
              <a:spcAft>
                <a:spcPts val="900"/>
              </a:spcAft>
            </a:pPr>
            <a:r>
              <a:rPr sz="1200">
                <a:solidFill>
                  <a:srgbClr val="333333"/>
                </a:solidFill>
                <a:latin typeface="Times New Roman"/>
              </a:rPr>
              <a:t>[7] nopSolutions. nopCommerce open-source e-commerce platform. GitHub repository.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1" name="Rectangle 10">
            <a:extLst>
              <a:ext uri="{FF2B5EF4-FFF2-40B4-BE49-F238E27FC236}">
                <a16:creationId xmlns:a16="http://schemas.microsoft.com/office/drawing/2014/main" id="{D059D760-A365-91EB-B942-587B657A477E}"/>
              </a:ext>
            </a:extLst>
          </p:cNvPr>
          <p:cNvSpPr/>
          <p:nvPr/>
        </p:nvSpPr>
        <p:spPr>
          <a:xfrm>
            <a:off x="-1" y="1500807"/>
            <a:ext cx="12191999" cy="18288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40000"/>
                  <a:lumOff val="60000"/>
                </a:schemeClr>
              </a:gs>
              <a:gs pos="36000">
                <a:schemeClr val="accent1">
                  <a:lumMod val="95000"/>
                  <a:lumOff val="5000"/>
                </a:schemeClr>
              </a:gs>
              <a:gs pos="100000">
                <a:schemeClr val="tx2">
                  <a:lumMod val="50000"/>
                </a:schemeClr>
              </a:gs>
            </a:gsLst>
            <a:path path="circle">
              <a:fillToRect l="50000" t="130000" r="50000" b="-3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7F49795-9FC6-D65C-AAE9-247F6DF3DA3F}"/>
              </a:ext>
            </a:extLst>
          </p:cNvPr>
          <p:cNvSpPr/>
          <p:nvPr/>
        </p:nvSpPr>
        <p:spPr>
          <a:xfrm>
            <a:off x="0" y="6291468"/>
            <a:ext cx="12192000" cy="586409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27AE48-C47C-33FE-8F56-0AA4260C9B62}"/>
              </a:ext>
            </a:extLst>
          </p:cNvPr>
          <p:cNvSpPr/>
          <p:nvPr/>
        </p:nvSpPr>
        <p:spPr>
          <a:xfrm>
            <a:off x="0" y="0"/>
            <a:ext cx="12192000" cy="150080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8720" y="365760"/>
            <a:ext cx="9601200" cy="731520"/>
          </a:xfrm>
        </p:spPr>
        <p:txBody>
          <a:bodyPr/>
          <a:lstStyle/>
          <a:p>
            <a:pPr>
              <a:defRPr b="1" sz="2400">
                <a:solidFill>
                  <a:srgbClr val="003366"/>
                </a:solidFill>
                <a:latin typeface="Times New Roman"/>
              </a:defRPr>
            </a:pPr>
            <a:r>
              <a:t>Thank You &amp; Discussion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874" y="457199"/>
            <a:ext cx="592309" cy="586409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2A3C15-2DFB-89FB-3AD7-611F4E0BA4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Tuesday, August 18,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B89723-33F1-15E2-783B-D602C9620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04B3F8-8A1A-BE19-5C71-AE319E3DCF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29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2377440"/>
            <a:ext cx="1033272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003366"/>
                </a:solidFill>
                <a:latin typeface="Times New Roman"/>
              </a:defRPr>
            </a:pPr>
            <a:r>
              <a:rPr/>
              <a:t>THANK YOU!</a:t>
            </a:r>
          </a:p>
          <a:p>
            <a:pPr algn="ctr">
              <a:defRPr sz="2000" i="1">
                <a:solidFill>
                  <a:srgbClr val="464646"/>
                </a:solidFill>
                <a:latin typeface="Times New Roman"/>
              </a:defRPr>
            </a:pPr>
            <a:r>
              <a:rPr/>
              <a:t>Questions &amp; Final Defense Discussion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1" name="Rectangle 10">
            <a:extLst>
              <a:ext uri="{FF2B5EF4-FFF2-40B4-BE49-F238E27FC236}">
                <a16:creationId xmlns:a16="http://schemas.microsoft.com/office/drawing/2014/main" id="{D059D760-A365-91EB-B942-587B657A477E}"/>
              </a:ext>
            </a:extLst>
          </p:cNvPr>
          <p:cNvSpPr/>
          <p:nvPr/>
        </p:nvSpPr>
        <p:spPr>
          <a:xfrm>
            <a:off x="-1" y="1500807"/>
            <a:ext cx="12191999" cy="18288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40000"/>
                  <a:lumOff val="60000"/>
                </a:schemeClr>
              </a:gs>
              <a:gs pos="36000">
                <a:schemeClr val="accent1">
                  <a:lumMod val="95000"/>
                  <a:lumOff val="5000"/>
                </a:schemeClr>
              </a:gs>
              <a:gs pos="100000">
                <a:schemeClr val="tx2">
                  <a:lumMod val="50000"/>
                </a:schemeClr>
              </a:gs>
            </a:gsLst>
            <a:path path="circle">
              <a:fillToRect l="50000" t="130000" r="50000" b="-3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7F49795-9FC6-D65C-AAE9-247F6DF3DA3F}"/>
              </a:ext>
            </a:extLst>
          </p:cNvPr>
          <p:cNvSpPr/>
          <p:nvPr/>
        </p:nvSpPr>
        <p:spPr>
          <a:xfrm>
            <a:off x="0" y="6291468"/>
            <a:ext cx="12192000" cy="586409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27AE48-C47C-33FE-8F56-0AA4260C9B62}"/>
              </a:ext>
            </a:extLst>
          </p:cNvPr>
          <p:cNvSpPr/>
          <p:nvPr/>
        </p:nvSpPr>
        <p:spPr>
          <a:xfrm>
            <a:off x="0" y="0"/>
            <a:ext cx="12192000" cy="150080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8720" y="365760"/>
            <a:ext cx="9601200" cy="731520"/>
          </a:xfrm>
        </p:spPr>
        <p:txBody>
          <a:bodyPr/>
          <a:lstStyle/>
          <a:p>
            <a:pPr>
              <a:defRPr b="1" sz="2400">
                <a:solidFill>
                  <a:srgbClr val="003366"/>
                </a:solidFill>
                <a:latin typeface="Times New Roman"/>
              </a:defRPr>
            </a:pPr>
            <a:r>
              <a:t>Appendix A: The Semantic Layer Is a File I Wrote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874" y="457199"/>
            <a:ext cx="592309" cy="586409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2A3C15-2DFB-89FB-3AD7-611F4E0BA4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Tuesday, August 18,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B89723-33F1-15E2-783B-D602C9620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04B3F8-8A1A-BE19-5C71-AE319E3DCF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30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1572768"/>
            <a:ext cx="10515600" cy="384048"/>
          </a:xfrm>
          <a:prstGeom prst="rect">
            <a:avLst/>
          </a:prstGeom>
          <a:noFill/>
        </p:spPr>
        <p:txBody>
          <a:bodyPr wrap="square" anchor="t" lIns="0" tIns="0" rIns="0">
            <a:spAutoFit/>
          </a:bodyPr>
          <a:lstStyle/>
          <a:p>
            <a:pPr marL="0" indent="0">
              <a:lnSpc>
                <a:spcPct val="108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1700">
                <a:solidFill>
                  <a:srgbClr val="003366"/>
                </a:solidFill>
                <a:latin typeface="Times New Roman"/>
              </a:rPr>
              <a:t>aegis/server/semantic_layer.py — two of the objects the model is allowed to name: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2066543"/>
            <a:ext cx="5120640" cy="2286000"/>
          </a:xfrm>
          <a:prstGeom prst="rect">
            <a:avLst/>
          </a:prstGeom>
          <a:solidFill>
            <a:srgbClr val="F7F7F7"/>
          </a:solidFill>
          <a:ln>
            <a:solidFill>
              <a:srgbClr val="B7B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576" tIns="73152"/>
          <a:lstStyle/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Metric(</a:t>
            </a: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    id="avg_order_value",</a:t>
            </a: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    label="Average Order Value",</a:t>
            </a: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    description="Average revenue per order",</a:t>
            </a: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    sql_expr="AVG(COALESCE(o.OrderTotal, 0))",</a:t>
            </a: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    binding_table="Order",</a:t>
            </a: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    required_joins=[],</a:t>
            </a: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    default_visual="kpi_card",</a:t>
            </a: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    time_anchor="o.CreatedOnUtc",</a:t>
            </a: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44768" y="2066543"/>
            <a:ext cx="5120640" cy="2286000"/>
          </a:xfrm>
          <a:prstGeom prst="rect">
            <a:avLst/>
          </a:prstGeom>
          <a:solidFill>
            <a:srgbClr val="F7F7F7"/>
          </a:solidFill>
          <a:ln>
            <a:solidFill>
              <a:srgbClr val="B7B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576" tIns="73152"/>
          <a:lstStyle/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Dimension(</a:t>
            </a: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    id="order_status",</a:t>
            </a: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    label="Order Status",</a:t>
            </a: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    sql_expr="CASE o.OrderStatusId "</a:t>
            </a: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             "WHEN 10 THEN 'Pending' "</a:t>
            </a: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             "WHEN 20 THEN 'Processing' "</a:t>
            </a: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             "WHEN 30 THEN 'Complete' "</a:t>
            </a: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             "WHEN 40 THEN 'Cancelled' "</a:t>
            </a: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             "ELSE 'Unknown' END",</a:t>
            </a: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    binding_table="Order",</a:t>
            </a: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    datatype="string",</a:t>
            </a: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489703"/>
            <a:ext cx="10515600" cy="822960"/>
          </a:xfrm>
          <a:prstGeom prst="rect">
            <a:avLst/>
          </a:prstGeom>
          <a:noFill/>
        </p:spPr>
        <p:txBody>
          <a:bodyPr wrap="square" anchor="t" lIns="0" tIns="0" rIns="0">
            <a:spAutoFit/>
          </a:bodyPr>
          <a:lstStyle/>
          <a:p>
            <a:pPr marL="0" indent="0">
              <a:lnSpc>
                <a:spcPct val="108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1700">
                <a:solidFill>
                  <a:srgbClr val="003366"/>
                </a:solidFill>
                <a:latin typeface="Times New Roman"/>
              </a:rPr>
              <a:t>The model may return the string "avg_order_value". It cannot return the expression, the table, or the join. Deploying AEGIS on another system means writing this file again — and nothing else.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5742432"/>
            <a:ext cx="10515600" cy="475488"/>
          </a:xfrm>
          <a:prstGeom prst="roundRect">
            <a:avLst/>
          </a:prstGeom>
          <a:solidFill>
            <a:srgbClr val="F3F6FB"/>
          </a:solidFill>
          <a:ln w="9525">
            <a:solidFill>
              <a:srgbClr val="C9D6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/>
          <a:lstStyle/>
          <a:p>
            <a:pPr algn="l"/>
            <a:r>
              <a:rPr b="1" sz="1300">
                <a:solidFill>
                  <a:srgbClr val="333333"/>
                </a:solidFill>
                <a:latin typeface="Times New Roman"/>
              </a:rPr>
              <a:t>In plain terms:  </a:t>
            </a:r>
            <a:r>
              <a:rPr sz="1300">
                <a:solidFill>
                  <a:srgbClr val="333333"/>
                </a:solidFill>
                <a:latin typeface="Times New Roman"/>
              </a:rPr>
              <a:t>This list is the whole vocabulary. Anything not written here cannot be asked for.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1" name="Rectangle 10">
            <a:extLst>
              <a:ext uri="{FF2B5EF4-FFF2-40B4-BE49-F238E27FC236}">
                <a16:creationId xmlns:a16="http://schemas.microsoft.com/office/drawing/2014/main" id="{D059D760-A365-91EB-B942-587B657A477E}"/>
              </a:ext>
            </a:extLst>
          </p:cNvPr>
          <p:cNvSpPr/>
          <p:nvPr/>
        </p:nvSpPr>
        <p:spPr>
          <a:xfrm>
            <a:off x="-1" y="1500807"/>
            <a:ext cx="12191999" cy="18288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40000"/>
                  <a:lumOff val="60000"/>
                </a:schemeClr>
              </a:gs>
              <a:gs pos="36000">
                <a:schemeClr val="accent1">
                  <a:lumMod val="95000"/>
                  <a:lumOff val="5000"/>
                </a:schemeClr>
              </a:gs>
              <a:gs pos="100000">
                <a:schemeClr val="tx2">
                  <a:lumMod val="50000"/>
                </a:schemeClr>
              </a:gs>
            </a:gsLst>
            <a:path path="circle">
              <a:fillToRect l="50000" t="130000" r="50000" b="-3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7F49795-9FC6-D65C-AAE9-247F6DF3DA3F}"/>
              </a:ext>
            </a:extLst>
          </p:cNvPr>
          <p:cNvSpPr/>
          <p:nvPr/>
        </p:nvSpPr>
        <p:spPr>
          <a:xfrm>
            <a:off x="0" y="6291468"/>
            <a:ext cx="12192000" cy="586409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27AE48-C47C-33FE-8F56-0AA4260C9B62}"/>
              </a:ext>
            </a:extLst>
          </p:cNvPr>
          <p:cNvSpPr/>
          <p:nvPr/>
        </p:nvSpPr>
        <p:spPr>
          <a:xfrm>
            <a:off x="0" y="0"/>
            <a:ext cx="12192000" cy="150080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8720" y="365760"/>
            <a:ext cx="9601200" cy="731520"/>
          </a:xfrm>
        </p:spPr>
        <p:txBody>
          <a:bodyPr/>
          <a:lstStyle/>
          <a:p>
            <a:pPr>
              <a:defRPr b="1" sz="2400">
                <a:solidFill>
                  <a:srgbClr val="003366"/>
                </a:solidFill>
                <a:latin typeface="Times New Roman"/>
              </a:defRPr>
            </a:pPr>
            <a:r>
              <a:t>Appendix B: The Compiler Fills Blanks, It Does Not Write SQL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874" y="457199"/>
            <a:ext cx="592309" cy="586409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2A3C15-2DFB-89FB-3AD7-611F4E0BA4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Tuesday, August 18,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B89723-33F1-15E2-783B-D602C9620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04B3F8-8A1A-BE19-5C71-AE319E3DCF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31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1572768"/>
            <a:ext cx="10515600" cy="384048"/>
          </a:xfrm>
          <a:prstGeom prst="rect">
            <a:avLst/>
          </a:prstGeom>
          <a:noFill/>
        </p:spPr>
        <p:txBody>
          <a:bodyPr wrap="square" anchor="t" lIns="0" tIns="0" rIns="0">
            <a:spAutoFit/>
          </a:bodyPr>
          <a:lstStyle/>
          <a:p>
            <a:pPr marL="0" indent="0">
              <a:lnSpc>
                <a:spcPct val="108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1700">
                <a:solidFill>
                  <a:srgbClr val="003366"/>
                </a:solidFill>
                <a:latin typeface="Times New Roman"/>
              </a:rPr>
              <a:t>aegis/server/compiler.py — the function that builds the SELECT clause: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2066543"/>
            <a:ext cx="10515600" cy="2743200"/>
          </a:xfrm>
          <a:prstGeom prst="rect">
            <a:avLst/>
          </a:prstGeom>
          <a:solidFill>
            <a:srgbClr val="F7F7F7"/>
          </a:solidFill>
          <a:ln>
            <a:solidFill>
              <a:srgbClr val="B7B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576" tIns="73152"/>
          <a:lstStyle/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def _assemble_select(self, metric, dimension, extra_metrics=None, plan=None) -&gt; str:</a:t>
            </a: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    measures = [f"{metric.sql_expr} AS value"]</a:t>
            </a: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    for extra in extra_metrics or []:</a:t>
            </a: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        measures.append(f"{extra.sql_expr} AS `{extra.id}`")</a:t>
            </a: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    projected = ", ".join(measures)</a:t>
            </a: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    if dimension:</a:t>
            </a: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        dim_expr = self._dimension_select_expr(dimension, plan)</a:t>
            </a: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        return f"SELECT {dim_expr} AS label, {projected}"</a:t>
            </a: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    return f"SELECT {projected}"</a:t>
            </a: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# Every interpolated value is an attribute of a semantic-layer object.</a:t>
            </a: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# No argument to this function carries user text.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946903"/>
            <a:ext cx="10515600" cy="868680"/>
          </a:xfrm>
          <a:prstGeom prst="rect">
            <a:avLst/>
          </a:prstGeom>
          <a:noFill/>
        </p:spPr>
        <p:txBody>
          <a:bodyPr wrap="square" anchor="t" lIns="0" tIns="0" rIns="0">
            <a:spAutoFit/>
          </a:bodyPr>
          <a:lstStyle/>
          <a:p>
            <a:pPr marL="0" indent="0">
              <a:lnSpc>
                <a:spcPct val="108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1500">
                <a:solidFill>
                  <a:srgbClr val="003366"/>
                </a:solidFill>
                <a:latin typeface="Times New Roman"/>
              </a:rPr>
              <a:t>Literal values take a separate route:</a:t>
            </a:r>
            <a:r>
              <a:rPr b="0" i="0" sz="1400">
                <a:solidFill>
                  <a:srgbClr val="333333"/>
                </a:solidFill>
                <a:latin typeface="Times New Roman"/>
              </a:rPr>
              <a:t> a filter compiles to a placeholder and a bound parameter (p.StockQuantity &lt; @p0 with {p0: 10}), so a value never becomes part of the SQL text. After assembly, a forbidden-pattern scan rejects any non-SELECT construct before execution.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1" name="Rectangle 10">
            <a:extLst>
              <a:ext uri="{FF2B5EF4-FFF2-40B4-BE49-F238E27FC236}">
                <a16:creationId xmlns:a16="http://schemas.microsoft.com/office/drawing/2014/main" id="{D059D760-A365-91EB-B942-587B657A477E}"/>
              </a:ext>
            </a:extLst>
          </p:cNvPr>
          <p:cNvSpPr/>
          <p:nvPr/>
        </p:nvSpPr>
        <p:spPr>
          <a:xfrm>
            <a:off x="-1" y="1500807"/>
            <a:ext cx="12191999" cy="18288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40000"/>
                  <a:lumOff val="60000"/>
                </a:schemeClr>
              </a:gs>
              <a:gs pos="36000">
                <a:schemeClr val="accent1">
                  <a:lumMod val="95000"/>
                  <a:lumOff val="5000"/>
                </a:schemeClr>
              </a:gs>
              <a:gs pos="100000">
                <a:schemeClr val="tx2">
                  <a:lumMod val="50000"/>
                </a:schemeClr>
              </a:gs>
            </a:gsLst>
            <a:path path="circle">
              <a:fillToRect l="50000" t="130000" r="50000" b="-3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7F49795-9FC6-D65C-AAE9-247F6DF3DA3F}"/>
              </a:ext>
            </a:extLst>
          </p:cNvPr>
          <p:cNvSpPr/>
          <p:nvPr/>
        </p:nvSpPr>
        <p:spPr>
          <a:xfrm>
            <a:off x="0" y="6291468"/>
            <a:ext cx="12192000" cy="586409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27AE48-C47C-33FE-8F56-0AA4260C9B62}"/>
              </a:ext>
            </a:extLst>
          </p:cNvPr>
          <p:cNvSpPr/>
          <p:nvPr/>
        </p:nvSpPr>
        <p:spPr>
          <a:xfrm>
            <a:off x="0" y="0"/>
            <a:ext cx="12192000" cy="150080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8720" y="365760"/>
            <a:ext cx="9601200" cy="731520"/>
          </a:xfrm>
        </p:spPr>
        <p:txBody>
          <a:bodyPr/>
          <a:lstStyle/>
          <a:p>
            <a:pPr>
              <a:defRPr b="1" sz="2400">
                <a:solidFill>
                  <a:srgbClr val="003366"/>
                </a:solidFill>
                <a:latin typeface="Times New Roman"/>
              </a:defRPr>
            </a:pPr>
            <a:r>
              <a:t>Appendix C: Why Templates Instead of Constrained Decoding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874" y="457199"/>
            <a:ext cx="592309" cy="586409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2A3C15-2DFB-89FB-3AD7-611F4E0BA4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Tuesday, August 18,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B89723-33F1-15E2-783B-D602C9620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04B3F8-8A1A-BE19-5C71-AE319E3DCF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32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777240" y="1572768"/>
          <a:ext cx="10515600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4069080"/>
                <a:gridCol w="4069080"/>
              </a:tblGrid>
              <a:tr h="70866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</a:p>
                  </a:txBody>
                  <a:tcPr marL="64008" marR="64008" marT="27432" marB="27432"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PICARD [4] — constrained decoding</a:t>
                      </a:r>
                    </a:p>
                  </a:txBody>
                  <a:tcPr marL="64008" marR="64008" marT="27432" marB="27432"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AEGIS — template compilation</a:t>
                      </a:r>
                    </a:p>
                  </a:txBody>
                  <a:tcPr marL="64008" marR="64008" marT="27432" marB="27432" anchor="ctr">
                    <a:solidFill>
                      <a:srgbClr val="003366"/>
                    </a:solidFill>
                  </a:tcPr>
                </a:tc>
              </a:tr>
              <a:tr h="70866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What the model emits</a:t>
                      </a:r>
                    </a:p>
                  </a:txBody>
                  <a:tcPr marL="64008" marR="64008" marT="27432" marB="27432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SQL text, token by token</a:t>
                      </a:r>
                    </a:p>
                  </a:txBody>
                  <a:tcPr marL="64008" marR="64008" marT="27432" marB="27432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A typed Intent Object with no SQL field</a:t>
                      </a:r>
                    </a:p>
                  </a:txBody>
                  <a:tcPr marL="64008" marR="64008" marT="27432" marB="27432" anchor="ctr"/>
                </a:tc>
              </a:tr>
              <a:tr h="70866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What is checked</a:t>
                      </a:r>
                    </a:p>
                  </a:txBody>
                  <a:tcPr marL="64008" marR="64008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Each token against a parser, during generation</a:t>
                      </a:r>
                    </a:p>
                  </a:txBody>
                  <a:tcPr marL="64008" marR="64008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Each id against the semantic layer, before compilation</a:t>
                      </a:r>
                    </a:p>
                  </a:txBody>
                  <a:tcPr marL="64008" marR="64008" marT="27432" marB="27432" anchor="ctr">
                    <a:solidFill>
                      <a:srgbClr val="F2F4F8"/>
                    </a:solidFill>
                  </a:tcPr>
                </a:tc>
              </a:tr>
              <a:tr h="70866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What we give up</a:t>
                      </a:r>
                    </a:p>
                  </a:txBody>
                  <a:tcPr marL="64008" marR="64008" marT="27432" marB="27432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Nothing — any valid SQL stays reachable</a:t>
                      </a:r>
                    </a:p>
                  </a:txBody>
                  <a:tcPr marL="64008" marR="64008" marT="27432" marB="27432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Flexibility: a question outside the semantic layer cannot be answered at all</a:t>
                      </a:r>
                    </a:p>
                  </a:txBody>
                  <a:tcPr marL="64008" marR="64008" marT="27432" marB="27432" anchor="ctr"/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777240" y="4544568"/>
            <a:ext cx="10515600" cy="1691640"/>
          </a:xfrm>
          <a:prstGeom prst="rect">
            <a:avLst/>
          </a:prstGeom>
          <a:noFill/>
        </p:spPr>
        <p:txBody>
          <a:bodyPr wrap="square" anchor="t" lIns="0" tIns="0" rIns="0">
            <a:spAutoFit/>
          </a:bodyPr>
          <a:lstStyle/>
          <a:p>
            <a:pPr marL="0" indent="0">
              <a:lnSpc>
                <a:spcPct val="108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1700">
                <a:solidFill>
                  <a:srgbClr val="003366"/>
                </a:solidFill>
                <a:latin typeface="Times New Roman"/>
              </a:rPr>
              <a:t>Constrained decoding guarantees the SQL parses. It does not guarantee the SQL is the query the administrator would have approved — a syntactically perfect query can still join the wrong grain, drop a soft-delete filter, or read a column nobody meant to expose.</a:t>
            </a:r>
          </a:p>
          <a:p>
            <a:pPr marL="0" indent="0">
              <a:lnSpc>
                <a:spcPct val="108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1500">
                <a:solidFill>
                  <a:srgbClr val="003366"/>
                </a:solidFill>
                <a:latin typeface="Times New Roman"/>
              </a:rPr>
              <a:t>The trade is real and worth stating plainly:</a:t>
            </a:r>
            <a:r>
              <a:rPr b="0" i="0" sz="1400">
                <a:solidFill>
                  <a:srgbClr val="333333"/>
                </a:solidFill>
                <a:latin typeface="Times New Roman"/>
              </a:rPr>
              <a:t> AEGIS buys auditability by giving up open-ended coverage. That is why 75 of the 500 evaluation questions are ones it must decline.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entation1" id="{F65C7BDA-76C9-4226-9B1A-FE228012FD2F}" vid="{A434E4A6-0EAA-4E37-B99D-C00F0197FDC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FY Presentation Template</Template>
  <TotalTime>511</TotalTime>
  <Words>1129</Words>
  <Application>Microsoft Office PowerPoint</Application>
  <PresentationFormat>Widescreen</PresentationFormat>
  <Paragraphs>253</Paragraphs>
  <Slides>20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30" baseType="lpstr">
      <vt:lpstr>Agrandir Narrow Bold</vt:lpstr>
      <vt:lpstr>Aileron Bold</vt:lpstr>
      <vt:lpstr>Aileron Ultra-Bold</vt:lpstr>
      <vt:lpstr>Akzidenz-Grotesk Bold</vt:lpstr>
      <vt:lpstr>Arial</vt:lpstr>
      <vt:lpstr>Calibri</vt:lpstr>
      <vt:lpstr>Calibri Light</vt:lpstr>
      <vt:lpstr>Times New Roman</vt:lpstr>
      <vt:lpstr>Wingdings</vt:lpstr>
      <vt:lpstr>Office Theme</vt:lpstr>
      <vt:lpstr>        A Geo-Location-Based Platform for Connecting Users with Skilled Professionals Using Mobile Application</vt:lpstr>
      <vt:lpstr>A Geo-Location-Based Platform for Connecting Users with Skilled Professionals Using Mobile Application</vt:lpstr>
      <vt:lpstr>Outline</vt:lpstr>
      <vt:lpstr>Introduction </vt:lpstr>
      <vt:lpstr>Problem Statement</vt:lpstr>
      <vt:lpstr>Feasibility Study</vt:lpstr>
      <vt:lpstr>Existing Work</vt:lpstr>
      <vt:lpstr> Objectives</vt:lpstr>
      <vt:lpstr> Proposed Methodology</vt:lpstr>
      <vt:lpstr> Key Features</vt:lpstr>
      <vt:lpstr>  Activity Diagram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   Tools &amp; Technologies</vt:lpstr>
      <vt:lpstr>    Expected Outcomes</vt:lpstr>
      <vt:lpstr>     References</vt:lpstr>
      <vt:lpstr>   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AEGIS: A Constraint-Based Architecture for Safe LLM-Assisted Natural Language Analytics</dc:title>
  <dc:creator>Md. Riaz</dc:creator>
  <cp:lastModifiedBy>HP</cp:lastModifiedBy>
  <cp:revision>25</cp:revision>
  <dcterms:created xsi:type="dcterms:W3CDTF">2025-07-15T06:51:59Z</dcterms:created>
  <dcterms:modified xsi:type="dcterms:W3CDTF">2026-01-05T09:27:32Z</dcterms:modified>
  <dc:subject>Final Defense Presentation</dc:subject>
</cp:coreProperties>
</file>