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6"/>
    <p:sldId id="272" r:id="rId5"/>
    <p:sldId id="273" r:id="rId4"/>
    <p:sldId id="274" r:id="rId3"/>
    <p:sldId id="275" r:id="rId2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-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ED17C-F12B-40CB-B332-C6480DB8E7F0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46629-DDE9-4049-9809-56964DD20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661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morning/afternoon respected chairperson and committee members. I am presenting the final defense of AEGIS, a constraint-based architecture for safe LLM-assisted natural language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10A2-2799-FE5F-7ED3-EB6017D4A1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FDB441-FC1F-DE44-F6CE-9071CC1BB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99C45D-883E-7779-00CB-DBC9446D1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6F32-91A8-4340-868D-5E0A85BEE79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1568B-516F-8789-445D-64FD01EAB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F1F7-A3B0-7732-298C-5AA7838D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9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5FF4E-617C-962C-941E-340049DCD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138BE-F1A8-1373-5286-AABA55AAB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10DC0-4A9D-C5CF-F3D5-178353D0C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A2554-468B-44E7-959E-8F3376471EA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BBE8E-91E4-ED3B-758D-71E53DC6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98918-B618-D501-E52B-6715935AC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20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0F9C9-C56B-F97A-7A67-5F80EF659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D72EF-0371-4EF3-F13B-00B9A9A28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2793C-09E8-86E9-6545-F087C62A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B59EFF-22CB-4D13-B295-F8753D08A73B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0B9DE-F9AF-C044-B742-EE46DA54C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2D79C-9841-FDA0-404A-39F5A0A2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159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4FE28-B718-D71C-2EA9-1B632A636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EE841-31A1-54CE-183E-5A44AAFA39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73B3D6-8DC7-44CC-9B9B-B93034578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4ECBA-B5CC-A31F-146E-6A782EECF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5A188-44D0-4F09-95D3-72A118F0258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FC95A0-8502-DDB7-350B-690396405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C0FE03-C2CF-FF0D-DA8E-6C168AD82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56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391A6-EBFE-2902-D783-CC57008B1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DF28CB-12B2-F1D2-C8B6-22F92B2B7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6B5252-2284-738C-D8D3-FDA5C61CF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61ED42-0717-CEDF-F130-83B329241A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E235ED-66DF-805B-6261-6000A6BB05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E731C4-35E1-2943-49BF-A9F49F00C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53173E-BCA8-4A3A-AC75-A00FF2F39098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78AF73-A3F6-154D-BBC0-390E58653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19234-EC89-C0B4-E246-54794909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61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0A47B-3B21-F564-4C44-F3F39C8CD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48F16C-025D-E8CF-C55B-9A48EA5D0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D53B1-6CA6-43AD-AFC7-3BAAD7905353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86437C-4EC8-2BEE-1B01-39179C281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29B9CD-31B6-F216-04D7-2D8490988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78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5D2B2E-62E1-D996-0F7D-965298FD8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61911-596A-4E6F-AD9C-B71EEA0CF3A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718A65-0619-BBB3-D0F3-1A04A2352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E0F82-47F7-3C1D-3991-A97DD022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21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AFD86-268A-E8B1-DF2B-67C9077B4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99890-208F-07F8-6D61-A8A5E5450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5E985-C31A-EC84-643D-A298C147F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88AD1E-D15F-13DF-D0EE-3045E9BD9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82B00-7004-42D2-934B-515D1C4746E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A0CA75-AA80-CA9F-0583-3D76A1D1E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3539F-6D07-DFE8-9D8E-4D0C9B7D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5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43D71-67DB-BE48-8413-73578AF9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5F6471-82C4-C1F2-457E-5700D30BE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DCB74-DE1A-64CE-E074-6211862034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2EFCFA-3DB2-F7EC-E730-4AAEBE53A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2A020-4EAE-4E4F-8C9E-951F4F971C7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DC0783-E417-3900-5A15-F51D98BC1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B4EA3-183F-C894-634E-C87BFD30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46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1E11E-BBAC-E306-F0F6-8C5642859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E9375-E4F8-5E47-F749-0E43582A3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69470-97B2-066F-3D3E-E9A4FB026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C06AA-0BDC-429B-AE85-E36D6466E38F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243-198A-3AF4-6167-B23E62CC7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4819B-7F1A-1712-57FD-A38659BB8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016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B1DF7-140F-18DE-6C89-ED937C3F5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ED161-72AA-0748-E7D9-A9002D3E61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2EE77-787F-8250-D203-870E3BDCC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1CE58-21A7-48A7-8899-442DC8E1F8D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5A889-6AB3-60FB-051F-B1DD3B91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4A74-18F7-DE41-0F12-EABFBBB6F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299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ED10EF-3C6F-5653-1C40-257FA515F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79F23-7CA2-A3B1-C6F7-BBA7DE007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A714A-5F1A-95E3-6CA0-47E2358F4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2E878E-58C3-45D4-9533-4D4E368A52BC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7EFD6-72B9-7DEE-473C-C500D5DC1A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DB06F-F648-F322-F9B5-751401074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838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86E891FF-ACD8-A286-1B16-C741C516BE9D}"/>
              </a:ext>
            </a:extLst>
          </p:cNvPr>
          <p:cNvSpPr/>
          <p:nvPr/>
        </p:nvSpPr>
        <p:spPr>
          <a:xfrm>
            <a:off x="0" y="5946468"/>
            <a:ext cx="12192000" cy="931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3E7505-B103-38D8-46D8-4E396DB4C8E4}"/>
              </a:ext>
            </a:extLst>
          </p:cNvPr>
          <p:cNvSpPr/>
          <p:nvPr/>
        </p:nvSpPr>
        <p:spPr>
          <a:xfrm>
            <a:off x="0" y="0"/>
            <a:ext cx="12192000" cy="3655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939" y="2331720"/>
            <a:ext cx="9144000" cy="1097280"/>
          </a:xfrm>
        </p:spPr>
        <p:txBody>
          <a:bodyPr/>
          <a:lstStyle/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rPr/>
              <a:t>AEGIS: A Constraint-Based Architecture for Safe</a:t>
            </a:r>
          </a:p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rPr/>
              <a:t>LLM-Assisted Natural Language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9203" y="641463"/>
            <a:ext cx="753594" cy="7460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82222" y="5504688"/>
            <a:ext cx="562755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latin typeface="Times New Roman"/>
              </a:defRPr>
            </a:pPr>
            <a:r>
              <a:rPr/>
              <a:t>Department of Computer Science &amp; Engineering</a:t>
            </a:r>
          </a:p>
          <a:p>
            <a:pPr algn="ctr">
              <a:defRPr sz="1200">
                <a:latin typeface="Times New Roman"/>
              </a:defRPr>
            </a:pPr>
            <a:r>
              <a:rPr/>
              <a:t>Pundra University of Science &amp; Technology, Bogura - 5800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3939" y="1671980"/>
            <a:ext cx="9144000" cy="4049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latin typeface="Times New Roman"/>
              </a:defRPr>
            </a:pPr>
            <a:r>
              <a:rPr/>
              <a:t>Final Defense 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3712463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rPr/>
              <a:t>Presented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4041648"/>
            <a:ext cx="3886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defRPr sz="2000" b="1">
                <a:latin typeface="Times New Roman"/>
              </a:defRPr>
            </a:pPr>
            <a:r>
              <a:rPr/>
              <a:t>Md. Riaz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Program: B.Sc. in CSE (Diploma)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ID: 0322310105101024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Batch: 16th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8th Semester / 4th Year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Session: Spring - 2023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712463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rPr/>
              <a:t>Supervised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4041648"/>
            <a:ext cx="3886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defRPr sz="2000" b="1">
                <a:latin typeface="Times New Roman"/>
              </a:defRPr>
            </a:pPr>
            <a:r>
              <a:rPr/>
              <a:t>Mst. Sahela Rahman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Lecturer</a:t>
            </a:r>
          </a:p>
          <a:p>
            <a:pPr>
              <a:lnSpc>
                <a:spcPct val="105000"/>
              </a:lnSpc>
              <a:defRPr sz="1400" b="0">
                <a:latin typeface="Times New Roman"/>
              </a:defRPr>
            </a:pPr>
            <a:r>
              <a:rPr/>
              <a:t>Dept. of CSE, PUB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Outline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600200"/>
            <a:ext cx="9418320" cy="43891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1. Introduction and Problem Statement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2. The Idea in One Picture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3. Literature Review and Research Gap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4. Objectives and Methodology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5. AEGIS Architecture (Stages 1-7)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6. Semantic Layer and Compiler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7. Query-to-SQL Walkthrough, Including Joins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8. Prototype Implementation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9. Evaluation: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500 Questions and 20 Admin Reports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10. Limitations, Conclusion, and Future Work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11. Appendix: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Schema, Semantic Layer, Compiler Code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Introduction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72768"/>
            <a:ext cx="10058400" cy="4663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Motivation: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E-commerce systems store rich operational data, but built-in dashboards answer only a fixed set of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When users need new analytical combinations, the request usually depends on a developer or BI person to translate it into report logic.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Natural language analytics can reduce that delay for managers, sales teams, and administrators.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Central Tension: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Direct LLM-to-SQL systems are flexible, but the model writes executable database code.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A safe analytics system should understand the question without giving the model authority to create arbitrary SQL.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AEGIS Direction: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the LLM for intent extraction only.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deterministic semantic mapping and SQL compilation for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Problem Statement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55648"/>
            <a:ext cx="10058400" cy="400507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b="1" i="0" sz="1700">
                <a:solidFill>
                  <a:srgbClr val="333333"/>
                </a:solidFill>
                <a:latin typeface="Times New Roman"/>
              </a:rPr>
              <a:t>Current Generative NL2SQL approaches have 3 structural vulnerability classes: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1. Structural Injection Risk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Adversarial prompt manipulation can bypass model instructions, causing neural models to output data-modifying DML/DDL statements (DROP, DELETE, UPDATE).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2. Unbounded Schema Hallucination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Probabilistic token generation leads to hallucinated table joins, non-existent entity relations, and invalid column attributes.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3. Access Control &amp; Context Bypass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Direct query generation bypasses application-level multi-tenant boundaries and row-level security scopes.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Idea in One Picture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572768"/>
            <a:ext cx="10149840" cy="731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In a restaurant, the waiter writes down what you want — the dish, how many plates. The waiter never walks into the kitchen and cooks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487168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rPr/>
              <a:t>Waiter</a:t>
            </a:r>
            <a:br/>
            <a:r>
              <a:rPr/>
              <a:t>takes the order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87168"/>
            <a:ext cx="2743200" cy="914400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rPr/>
              <a:t>Order form</a:t>
            </a:r>
            <a:br/>
            <a:r>
              <a:rPr/>
              <a:t>fixed fields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487168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rPr/>
              <a:t>Kitchen</a:t>
            </a:r>
            <a:br/>
            <a:r>
              <a:rPr/>
              <a:t>cooks the dish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86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315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143000" y="3721608"/>
          <a:ext cx="960120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429000"/>
                <a:gridCol w="3429000"/>
              </a:tblGrid>
              <a:tr h="4686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the restaurant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AEGIS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cannot do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waiter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write or run SQL</a:t>
                      </a:r>
                    </a:p>
                  </a:txBody>
                  <a:tcPr marL="64008" marR="64008" marT="27432" marB="27432" anchor="ctr"/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order form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Intent Object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hold a table or column name of its own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46863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kitchen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SQL compiler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accept anything outside the approved list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chooses names from an approved list. It never writes the database query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Literature Review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13232" y="1572768"/>
          <a:ext cx="10744199" cy="4370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423160"/>
                <a:gridCol w="2926080"/>
                <a:gridCol w="3520440"/>
              </a:tblGrid>
              <a:tr h="6244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Work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Main focus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Control approach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Gap for AEGIS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NaLIR [1]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Interactive NLIDB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 and refine intent with grammar and DB mapping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Limited dashboard and modern LLM risk handling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nl4dv [2]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 to visualization specs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Extract analytic attributes; not SQL-centered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Visualization focus, not safe database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DashBot [3]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Dashboard generation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Insight-driven dashboard selection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Does not solve arbitrary SQL authority risk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PICARD [4]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Constrained decoding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Parser-level SQL validity during token generation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 still generates SQL text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G-SQL [5] / TriSQL [6]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Robust Text-to-SQL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Schema-aware generation with rules, repair, and refinement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Safety depends on controlling generated SQL</a:t>
                      </a:r>
                    </a:p>
                  </a:txBody>
                  <a:tcPr marL="36576" marR="36576" marT="13716" marB="13716" anchor="ctr"/>
                </a:tc>
              </a:tr>
              <a:tr h="6244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 NL analytics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extraction only; SQL compiled from semantic layer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Trades open SQL for auditable analytics intent validation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Gap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00200"/>
            <a:ext cx="9966960" cy="4343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Observed Gap in Existing Systems: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Many systems improve SQL generation accuracy, but still let executable SQL be authored by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Visualization systems help users express analysis, but do not fully address database execution safety.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Parser and repair methods can reject invalid syntax, yet syntactically valid SQL can still be unsafe or semantically wrong.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AEGIS Research Gap: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 practical architecture is needed where natural language is accepted, but executable SQL is produced only from an explicit semantic layer and deterministic compiler.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Objectives and Contributions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8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572768"/>
          <a:ext cx="105613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543800"/>
              </a:tblGrid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Objective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Contribution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Reduce execution risk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Separate natural-language understanding from SQL creation.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Make analytics auditable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Define metrics, dimensions, filters, join paths, and output shapes in a semantic layer.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 real e-commerce reports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Implement AEGIS over a seeded nopCommerce [7] MySQL database.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Evaluate against an independent oracle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Measure breadth on 500 fixed natural-language questions, and fidelity against nopCommerce's own twenty admin reports.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Methodology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9</a:t>
            </a:r>
          </a:p>
        </p:txBody>
      </p:sp>
      <p:pic>
        <p:nvPicPr>
          <p:cNvPr id="13" name="Picture 12" descr="thesis-figure-01-dsr-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340" y="1572768"/>
            <a:ext cx="905256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Proposed AEGIS Architecture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10</a:t>
            </a:r>
          </a:p>
        </p:txBody>
      </p:sp>
      <p:pic>
        <p:nvPicPr>
          <p:cNvPr id="13" name="Picture 12" descr="figure-03-architecture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8261" y="1572768"/>
            <a:ext cx="8699862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Layer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11</a:t>
            </a:r>
          </a:p>
        </p:txBody>
      </p:sp>
      <p:pic>
        <p:nvPicPr>
          <p:cNvPr id="13" name="Picture 12" descr="figure-04-semantic-layer-mod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59280"/>
            <a:ext cx="5303520" cy="3093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1627632"/>
            <a:ext cx="5029200" cy="4160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Implemented per target system: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Business vocabulary: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synonyms for metrics, dimensions, filters, and time periods.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Metric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SQL expressions such as order count, revenue, average order value, and customer count.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Dimension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status, customer, product, manufacturer, category, date, and geography.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Join policy: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allowed tables and join paths from the nopCommerce [7] schema.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Output contracts: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table, matrix, KPI, and chart-ready shapes.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Intent Extraction Boundary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1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572768"/>
            <a:ext cx="2880360" cy="54737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1. User asks a business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261405"/>
            <a:ext cx="2651760" cy="759267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Example: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Show order average by status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1572768"/>
            <a:ext cx="3337560" cy="54737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60" b="1">
                <a:solidFill>
                  <a:srgbClr val="003366"/>
                </a:solidFill>
                <a:latin typeface="Times New Roman"/>
              </a:defRPr>
            </a:pPr>
            <a:r>
              <a:rPr/>
              <a:t>2. Prompt exposes approved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2226091"/>
            <a:ext cx="3154680" cy="1253673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70">
                <a:solidFill>
                  <a:srgbClr val="003366"/>
                </a:solidFill>
                <a:latin typeface="Times New Roman"/>
              </a:rPr>
              <a:t>Vocabulary excerpt: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070">
                <a:solidFill>
                  <a:srgbClr val="003366"/>
                </a:solidFill>
                <a:latin typeface="Times New Roman"/>
              </a:rPr>
              <a:t>- Metrics:</a:t>
            </a:r>
            <a:r>
              <a:rPr b="0" i="0" sz="1070">
                <a:solidFill>
                  <a:srgbClr val="333333"/>
                </a:solidFill>
                <a:latin typeface="Times New Roman"/>
              </a:rPr>
              <a:t> revenue, order_count, avg_order_value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070">
                <a:solidFill>
                  <a:srgbClr val="003366"/>
                </a:solidFill>
                <a:latin typeface="Times New Roman"/>
              </a:rPr>
              <a:t>- Dimensions:</a:t>
            </a:r>
            <a:r>
              <a:rPr b="0" i="0" sz="1070">
                <a:solidFill>
                  <a:srgbClr val="333333"/>
                </a:solidFill>
                <a:latin typeface="Times New Roman"/>
              </a:rPr>
              <a:t> order_status, category, country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070">
                <a:solidFill>
                  <a:srgbClr val="003366"/>
                </a:solidFill>
                <a:latin typeface="Times New Roman"/>
              </a:rPr>
              <a:t>- Output:</a:t>
            </a:r>
            <a:r>
              <a:rPr b="0" i="0" sz="1070">
                <a:solidFill>
                  <a:srgbClr val="333333"/>
                </a:solidFill>
                <a:latin typeface="Times New Roman"/>
              </a:rPr>
              <a:t> kpi, table, matrix, chart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1572768"/>
            <a:ext cx="3200400" cy="54737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80" b="1">
                <a:solidFill>
                  <a:srgbClr val="003366"/>
                </a:solidFill>
                <a:latin typeface="Times New Roman"/>
              </a:defRPr>
            </a:pPr>
            <a:r>
              <a:rPr/>
              <a:t>3. LLM returns an Intent Object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8" y="2226091"/>
            <a:ext cx="2971800" cy="1483219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rPr/>
              <a:t>{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rPr/>
              <a:t>  "intent_class": "segment",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rPr/>
              <a:t>  "metric_term": "avg_order_value",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rPr/>
              <a:t>  "dimension_term": "order_status",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rPr/>
              <a:t>  "output_shape": "table"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rPr/>
              <a:t>}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538728" y="1618488"/>
            <a:ext cx="34747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223760" y="1618488"/>
            <a:ext cx="65836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04672" y="4415606"/>
          <a:ext cx="10286999" cy="12536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3749039"/>
                <a:gridCol w="4297680"/>
              </a:tblGrid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Not 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6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LLM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Choose approved ids from vocabulary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Raw SQL, joins, table names, writes</a:t>
                      </a:r>
                    </a:p>
                  </a:txBody>
                  <a:tcPr marL="36576" marR="36576" marT="13716" marB="13716" anchor="ctr"/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6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Bind ids to semantic definitions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Unknown ids, silent fallback, unsafe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picks names from a list we wrote. It never sees a table name, and never writes SQL.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Intent Object, and What It Selects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Stages 1 and 2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572768"/>
            <a:ext cx="5029200" cy="457200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IntentObject  (aegis/server/models.py)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2121408"/>
            <a:ext cx="4937760" cy="25146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rPr/>
              <a:t>class IntentObject(BaseModel):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rPr/>
              <a:t>    intent_class:    IntentClass      # required, 11-value enum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rPr/>
              <a:t>    metric_term:     Optional[str]    # an approved metric id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rPr/>
              <a:t>    dimension_term:  Optional[str]    # an approved dimension id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rPr/>
              <a:t>    time_term:       Optional[str]    # a phrase, not a date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rPr/>
              <a:t>    filters:         List[Filter]     # field / operator / value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rPr/>
              <a:t>    limit:           Optional[int]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rPr/>
              <a:t>    confidence:      Confidence = LOW # absence is not confidence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rPr/>
              <a:t>    unmapped_terms:  List[str]        # what it could not account for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rPr/>
              <a:t># There is no sql field. The type cannot express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572768"/>
            <a:ext cx="5212080" cy="4572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intent_class selects the compilation path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35040" y="2121408"/>
          <a:ext cx="5166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834640"/>
              </a:tblGrid>
              <a:tr h="4191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intent_class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Compiler path taken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kpi, summary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aggregate, no LIMIT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segment, ranking,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comparison, cohort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+ GROUP BY + ORDER BY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trend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date bucket; zero-filled when daily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tabular, exception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listing, no aggregation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funnel, correlate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over the stated relation</a:t>
                      </a:r>
                    </a:p>
                  </a:txBody>
                  <a:tcPr marL="45720" marR="45720" marT="18288" marB="18288" anchor="ctr"/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77240" y="4818888"/>
            <a:ext cx="10424160" cy="548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An id the semantic layer does not define is rejected here, before any SQL exists. There is no path from an unknown id to a query.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answer form is chosen from eleven fixed shapes, not invented per question.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Mapping Under the Hood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3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572768"/>
            <a:ext cx="2834640" cy="807021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 Object</a:t>
            </a:r>
            <a:br/>
            <a:r>
              <a:rPr/>
              <a:t>metric_term=avg_order_value</a:t>
            </a:r>
            <a:br/>
            <a:r>
              <a:rPr/>
              <a:t>dimension_term=order_status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572768"/>
            <a:ext cx="2834640" cy="807021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Lookup in semantic layer</a:t>
            </a:r>
            <a:br/>
            <a:r>
              <a:rPr/>
              <a:t>METRICS + DIMENSIONS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39327" y="1572768"/>
            <a:ext cx="2331720" cy="807021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Analysis Plan</a:t>
            </a:r>
            <a:br/>
            <a:r>
              <a:rPr/>
              <a:t>pattern=segment</a:t>
            </a:r>
            <a:br/>
            <a:r>
              <a:rPr/>
              <a:t>shape=table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84448" y="1773936"/>
            <a:ext cx="98755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06640" y="1773936"/>
            <a:ext cx="93268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85800" y="2774528"/>
          <a:ext cx="10835640" cy="20614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828800"/>
                <a:gridCol w="2834640"/>
                <a:gridCol w="2377440"/>
                <a:gridCol w="2286000"/>
              </a:tblGrid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Slot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Resolved id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Business meaning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SQL expression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Binding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Metric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avg_order_value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Average revenue per order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AVG(COALESCE(o.OrderTotal, 0))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/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Dimension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order_status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Readable order status label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CASE o.OrderStatusId ... END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Rule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mandatory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Ignore soft-deleted orders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o.Deleted = 0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WHERE</a:t>
                      </a:r>
                    </a:p>
                  </a:txBody>
                  <a:tcPr marL="32004" marR="32004" marT="13716" marB="13716" anchor="ctr"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868680" y="4967522"/>
            <a:ext cx="10241280" cy="701757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Intent Object vs Analysis Plan: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the Intent Object is what the model said. The Analysis Plan is what AEGIS was able to bind it to — it adds the pattern, the join path, the resolved SQL expressions, and the evidence for each binding. Only the Plan reaches the compiler.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said 'average order value'. The definition behind that name was written by the administrator.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Template-Based SQL Compilation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5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1572768"/>
            <a:ext cx="3886200" cy="516516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Compiler template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2249583"/>
            <a:ext cx="3886200" cy="229760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SELECT {dimension_expr} AS label,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       {metric_expr} AS value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FROM {base_table}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{join_clauses}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WHERE {mandatory_predicates}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GROUP BY {dimension_group_expr}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ORDER BY value DESC;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73752" y="1572768"/>
            <a:ext cx="2331720" cy="51651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Filled from semantic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2196150"/>
            <a:ext cx="2331720" cy="1914674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dimension_expr: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CASE order status mapping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metric_expr: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AVG(order total)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base_table: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Order o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joins: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none required here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predicates: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o.Deleted =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1572768"/>
            <a:ext cx="4114800" cy="516516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Compiled safe SELECT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2196150"/>
            <a:ext cx="4114800" cy="2582583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SELECT CASE o.OrderStatusId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       WHEN 10 THEN "Pending"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       WHEN 20 THEN "Processing"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       WHEN 30 THEN "Complete"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       WHEN 40 THEN "Cancelled"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       END AS label,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       AVG(COALESCE(o.OrderTotal, 0)) AS value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FROM `Order` o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WHERE o.Deleted = 0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GROUP BY CASE o.OrderStatusId ... END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ORDER BY value DESC;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117141"/>
            <a:ext cx="10378440" cy="55213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The template controls SQL structure; the semantic layer supplies approved identifiers and expressions; user text is never inserted into the query.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query's shape is fixed in advance. Only approved names are dropped into the blanks.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Walkthrough: A Question That Needs Four Joins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Stages 1 to 5 of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572768"/>
            <a:ext cx="10607040" cy="420624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rPr/>
              <a:t>NQ257  "Show product revenue by category."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112263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Intent Object from the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578608"/>
            <a:ext cx="3840480" cy="1143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{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  "intent_class": "segment",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  "metric_term": "line_item_revenue",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  "dimension_term": "category_name"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849624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50" b="1">
                <a:solidFill>
                  <a:srgbClr val="003366"/>
                </a:solidFill>
                <a:latin typeface="Times New Roman"/>
              </a:defRPr>
            </a:pPr>
            <a:r>
              <a:rPr/>
              <a:t>Join path resolved by BFS, not by the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315968"/>
            <a:ext cx="3840480" cy="84124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Product -&gt; OrderItem -&gt; Order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   -&gt; Product_Category_Mapping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rPr/>
              <a:t>   -&gt; Category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2112263"/>
            <a:ext cx="6373368" cy="402336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rPr/>
              <a:t>Compiled SQL, executed read-only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2578608"/>
            <a:ext cx="6309360" cy="257860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rPr/>
              <a:t>SELECT c.Name AS label, SUM(oi.PriceExclTax) AS value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rPr/>
              <a:t>FROM `Order` o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rPr/>
              <a:t>LEFT JOIN `OrderItem` oi ON o.Id = oi.OrderId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rPr/>
              <a:t>LEFT JOIN `Product` p   ON oi.ProductId = p.Id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rPr/>
              <a:t>LEFT JOIN `Product_Category_Mapping` pcm ON p.Id = pcm.ProductId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rPr/>
              <a:t>LEFT JOIN `Category` c  ON pcm.CategoryId = c.Id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rPr/>
              <a:t>WHERE 1=1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rPr/>
              <a:t>  AND o.Deleted = 0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rPr/>
              <a:t>  AND p.Deleted = 0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rPr/>
              <a:t>GROUP BY c.Name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rPr/>
              <a:t>ORDER BY value DESC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rPr/>
              <a:t>LIMIT 100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" y="5285231"/>
          <a:ext cx="106070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617720"/>
                <a:gridCol w="3703320"/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Also worth seeing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actually happens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Why it matters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"stock less than 10"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compiles to  p.StockQuantity &lt; @p0   with params {p0: 10}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number is bound, never pasted into the SQL text</a:t>
                      </a:r>
                    </a:p>
                  </a:txBody>
                  <a:tcPr marL="45720" marR="45720" marT="18288" marB="18288" anchor="ctr"/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"revenue from Google Ads"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declined: traffic_source is not in the semantic layer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 guess, no nearest-match substitution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Output Generation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17</a:t>
            </a:r>
          </a:p>
        </p:txBody>
      </p:sp>
      <p:pic>
        <p:nvPicPr>
          <p:cNvPr id="13" name="Picture 12" descr="figure-08-widget-life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94509"/>
            <a:ext cx="5212080" cy="30403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1627632"/>
            <a:ext cx="4983480" cy="40690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Output is based on result shape, not model narration: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KPI: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one numeric value with label.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Table: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row/column data with responsive scrolling in the prototype.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Matrix: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period columns such as today, week, month, year, and all time.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Chart-ready output: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categories and values are produced from query results.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This lets the prototype show both the answer and the evidence path used to produce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Prototype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572768"/>
            <a:ext cx="5166360" cy="30632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Prototype stack: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FastAPI backend for NL analytics requests.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MySQL seeded with nopCommerce-style [7] commerce data.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OpenAI-compatible LLM API for intent extraction.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Semantic-layer files define metrics, dimensions, filters, and output shapes.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Frontend shows answer output plus AEGIS stage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572768"/>
            <a:ext cx="4892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Times New Roman"/>
              </a:defRPr>
            </a:pPr>
            <a:r>
              <a:rPr/>
              <a:t>Seeded Data Used in Live Prototype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0" y="4251960"/>
            <a:ext cx="3474720" cy="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2139696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rPr/>
              <a:t>Order items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2157984"/>
            <a:ext cx="3137175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0119" y="2139696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rPr/>
              <a:t>6320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729484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rPr/>
              <a:t>Orders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0" y="2747772"/>
            <a:ext cx="1240971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93915" y="2729484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rPr/>
              <a:t>2500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319272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rPr/>
              <a:t>Customers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0" y="3337560"/>
            <a:ext cx="595666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8610" y="3319272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rPr/>
              <a:t>1200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909060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rPr/>
              <a:t>Products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3927348"/>
            <a:ext cx="123444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76388" y="3909060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rPr/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892040"/>
            <a:ext cx="10241280" cy="1234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Reproducibility: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Docker build includes app, database seed scripts, and smoke checks.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450">
                <a:solidFill>
                  <a:srgbClr val="333333"/>
                </a:solidFill>
                <a:latin typeface="Times New Roman"/>
              </a:rPr>
              <a:t>- Local health test verified database connection and seeded counts.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1: 500 Natural-Language Questions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54019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425 questions the semantic layer should answer, 75 realistic e-commerce questions it should decline. The same corpus is executed two ways, and they answer different questions.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203000"/>
          <a:ext cx="10515599" cy="22958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3108960"/>
                <a:gridCol w="3429000"/>
              </a:tblGrid>
              <a:tr h="3886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Measure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Deterministic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(no model in the loop)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End-to-end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(live parser)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 produced an intent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499/500 (99.8%)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Supported questions answered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423/425 (99.5%)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Compiled SQL executed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matched the annotation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313/425 (73.6%)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Out-of-scope questions declined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75/75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72/75 (96.0%)</a:t>
                      </a:r>
                    </a:p>
                  </a:txBody>
                  <a:tcPr marL="54864" marR="54864" marT="22860" marB="22860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633897"/>
            <a:ext cx="10515600" cy="103538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The left column has no model in it: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committed intent annotations are fed straight to the mapper, so it tests the compiler, not the pipeline. Only the right column is an end-to-end result, and it is the one to quote.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Declining is only meaningful next to answering: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a system that refuses everything scores 100% on the last row.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It answers the questions it was built for, and says no to the ones it was not — on purpose.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Where the Time Goes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411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Median and 95th-percentile time per question, measured on the supported questions of the 500-question corpus.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10312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286000"/>
                <a:gridCol w="2286000"/>
                <a:gridCol w="2286000"/>
              </a:tblGrid>
              <a:tr h="396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Who runs it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Median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95th percentile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 Intent extraction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9,029.89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19,460.15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 Semantic resolution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0.96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1.46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 SQL compilation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0.13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0.22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4. Database execution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MySQL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2.89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20.41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Stages 2-4 combined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Everything after the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3.62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14.02 ms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636008"/>
            <a:ext cx="10515600" cy="1234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Almost all of the wall clock is the model reading the question. The part that decides which tables to join, writes the SQL, and runs it takes a few milliseconds — and the model has no influence over any of it.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The model figure is a property of the gateway used here, not of the architecture; the deterministic figures are the ones that would follow AEGIS to another deployment.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Without the Semantic Layer: the Same Model, Unconstrained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3781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The identical model through the identical gateway, asked to write MySQL directly for the same 500 questions.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058947"/>
          <a:ext cx="10515600" cy="15755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880360"/>
                <a:gridCol w="2880360"/>
              </a:tblGrid>
              <a:tr h="40005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Measure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Direct LLM-to-SQL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Supported questions whose SQL executed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365/425 (85.9%)</a:t>
                      </a:r>
                    </a:p>
                  </a:txBody>
                  <a:tcPr marL="64008" marR="64008" marT="27432" marB="27432" anchor="ctr"/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Out-of-scope questions answered anyway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3/75 (4.0%)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25/75 (33.3%)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Queries containing a forbidden construct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 — the compiler cannot emit one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2/500 (0.4%)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77240" y="3787585"/>
            <a:ext cx="10515600" cy="39614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What answering an unanswerable question looks like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4273764"/>
          <a:ext cx="10515600" cy="1395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6400800"/>
              </a:tblGrid>
              <a:tr h="354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The question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the unconstrained model returned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"Forecast next month's total sales."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query summing past months. It runs, returns a number, and forecasts nothing.</a:t>
                      </a:r>
                    </a:p>
                  </a:txBody>
                  <a:tcPr marL="54864" marR="54864" marT="18288" marB="18288" anchor="ctr"/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"Which customers are likely to churn?"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query counting each customer's past orders. No prediction is possible from it.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"Summarize the top complaints in reviews."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Keyword matching over review text, joined with UNION — rejected by the safety scan.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Asked something the data cannot answer, the unconstrained model answers anyway — and the answer looks right.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2: nopCommerce's Own 20 Admin Reports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548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The report list is nopCommerce's own admin menu, and the comparison target is nopCommerce's own report code, read from source at commit 64bdf2ff. Neither was chosen by this project.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2212848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5212080"/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Check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does and does not show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Report reached an answer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and compiled to SQL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20/20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Coverage of the report shape. Not correctness — several once passed this while silently wrong.</a:t>
                      </a:r>
                    </a:p>
                  </a:txBody>
                  <a:tcPr marL="54864" marR="54864" marT="22860" marB="22860" anchor="ctr"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Result set matched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own query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15/20 (75.0%)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check that tests the claim: same database, same rows, same values.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77240" y="3621024"/>
            <a:ext cx="1051560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rPr/>
              <a:t>The five reports that did not match, and why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411480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309360"/>
              </a:tblGrid>
              <a:tr h="3429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Difference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Reports affected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count only — the platform's report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carries its own LIMIT (5, 15, 100)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Bestsellers by quantity, Bestsellers by amount, Latest orders, Best customers by order count</a:t>
                      </a:r>
                    </a:p>
                  </a:txBody>
                  <a:tcPr marL="54864" marR="54864" marT="18288" marB="18288" anchor="ctr"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Label column — customer name where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query labels by email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 customers by order total, Best customers by order count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Wrong value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None. Every overlapping row agrees to the last decimal.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Where the numbers differ from nopCommerce's own reports, they do not — only how many rows and which label.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Beneficiaries and Expected Impact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572768"/>
          <a:ext cx="1056132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657600"/>
                <a:gridCol w="4251960"/>
              </a:tblGrid>
              <a:tr h="8321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Beneficiary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Current difficulty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impact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Business users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Need reports but need new report combinations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Ask natural-language analytics questions and receive controlled table or chart-ready results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Developers / BI teams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Repeated report requests consume implementation time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Reusable semantic definitions reduce one-off SQL writing for common analytics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Database administrators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Model-written SQL is hard to audit and restrict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Only approved metrics, dimensions, joins, and read-only SQL reach the database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Researchers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NL2SQL work often mixes language accuracy with execution authority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Shows an architecture where language understanding and SQL authority are separated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0120" y="5806440"/>
            <a:ext cx="10149840" cy="411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Expected impact: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safer self-service analytics for repeated e-commerce reporting, without giving the LLM permission to author executable SQL.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Scope and Limitations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572768"/>
            <a:ext cx="10332720" cy="4663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Current evaluation scope: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Implemented and evaluated for nopCommerce [7] analytics on MySQL; the semantic layer is deliberately finite and deployment-specific.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00">
                <a:solidFill>
                  <a:srgbClr val="003366"/>
                </a:solidFill>
                <a:latin typeface="Times New Roman"/>
              </a:rPr>
              <a:t>- Because the layer is per-deployment, cross-domain benchmarks such as Spider and BIRD do not apply:</a:t>
            </a:r>
            <a:r>
              <a:rPr b="0" i="0" sz="1100">
                <a:solidFill>
                  <a:srgbClr val="333333"/>
                </a:solidFill>
                <a:latin typeface="Times New Roman"/>
              </a:rPr>
              <a:t> they test generalisation to unseen schemas, which this architecture does not attempt.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Limitations I would raise before the committee does: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Correctness at scale is measured on the 20 reports, not on all 425 supported questions. For those, I show that the SQL runs — not that every answer is right.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00">
                <a:solidFill>
                  <a:srgbClr val="003366"/>
                </a:solidFill>
                <a:latin typeface="Times New Roman"/>
              </a:rPr>
              <a:t>- The seeded catalogue is small:</a:t>
            </a:r>
            <a:r>
              <a:rPr b="0" i="0" sz="1100">
                <a:solidFill>
                  <a:srgbClr val="333333"/>
                </a:solidFill>
                <a:latin typeface="Times New Roman"/>
              </a:rPr>
              <a:t> 17 products in 8 categories against 2,500 orders. Order-side reports are tested at realistic volume, but bestsellers and revenue-by-category agree with nopCommerce over short lists. Same compiled SQL, weaker test.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Three of the 75 boundary questions were not declined. One was a malformed model reply; the other two are the same question phrased twice, asking to compare two named carriers. The model flagged "DHL" and "FedEx" as unmapped, and AEGIS answered by shipping method anyway — by design, because a model-reported gap is treated as evidence, not a verdict. That choice keeps false refusals low and costs exactly this.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The gateway used for intent extraction resolves a model alias per request, so the run is not pinned to a single model. Each result row records what actually served it.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Five reports differ from the platform's own output in row count or label column. No report differs in value.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Other SQL dialects require compiler extensions.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Not a thesis limitation: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Multi-turn conversation is out of scope because the work evaluates single-request analytics.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Conclusion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72768"/>
            <a:ext cx="9966960" cy="44348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Conclusion: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AEGIS keeps the LLM useful for language understanding while removing SQL-authoring authority from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semantic layer makes analytics definitions explicit, auditable, and reusable for a target system.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compiler produces read-only SQL from approved definitions and blocks unsupported execution paths.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nopCommerce [7] prototype, the 500-question corpus, and the differential against the platform's own report logic show that the approach can be implemented and evaluated practically.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Main contribution: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 constraint-based architecture for safe LLM-assisted natural language analytics.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Future Work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45920"/>
            <a:ext cx="9784080" cy="39776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Possible extensions: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Evaluate AEGIS on another e-commerce system by replacing only the semantic layer.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more oracle reports from real admin and business workflows.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Extend compiler modules for PostgreSQL and SQL Server.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Improve clarification behavior for ambiguous but answerable user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richer chart recommendation while keeping SQL generation deterministic.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References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27632"/>
            <a:ext cx="10744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[1] Li, F., &amp; Jagadish, H. V. (2014). Constructing an interactive natural language interface for relational databases. PVLDB.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[2] Narechania, A., Srinivasan, A., &amp; Stasko, J. (2021). nl4dv: A toolkit for generating analytic specifications from natural language.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[3] Deng, D., Wu, A., Qu, H., &amp; Wu, Y. (2023). DashBot: Insight-driven dashboard generation.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[4] Scholak, T., Schucher, N., &amp; Bahdanau, D. (2021). PICARD: Parsing incrementally for constrained auto-regressive decoding. EMNLP.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[5] Shalaan, H. S. et al. (2025). G-SQL: A schema-aware and rule-guided approach for robust natural language to SQL translation. IEEE Access.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[6] Su, X. et al. (2026). A robust natural language text-to-SQL generation framework with dynamic strategies based on LLMs. Scientific Reports.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[7] nopSolutions. nopCommerce open-source e-commerce platform. GitHub repository.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Thank You &amp; Discussion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rPr/>
              <a:t>THANK YOU!</a:t>
            </a:r>
          </a:p>
          <a:p>
            <a:pPr algn="ctr">
              <a:defRPr sz="2000" i="1">
                <a:solidFill>
                  <a:srgbClr val="464646"/>
                </a:solidFill>
                <a:latin typeface="Times New Roman"/>
              </a:defRPr>
            </a:pPr>
            <a:r>
              <a:rPr/>
              <a:t>Questions &amp; Final Defense Discussion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A: The Semantic Layer Is a File I Wrote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aegis/server/semantic_layer.py — two of the objects the model is allowed to name: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066543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Metric(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    id="avg_order_value",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    label="Average Order Value",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    description="Average revenue per order",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    sql_expr="AVG(COALESCE(o.OrderTotal, 0))",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    binding_table="Order",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    required_joins=[],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    default_visual="kpi_card",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    time_anchor="o.CreatedOnUtc",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2066543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Dimension(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    id="order_status",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    label="Order Status",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    sql_expr="CASE o.OrderStatusId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10 THEN 'Pending'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20 THEN 'Processing'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30 THEN 'Complete'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             "WHEN 40 THEN 'Cancelled'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             "ELSE 'Unknown' END",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    binding_table="Order",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    datatype="string",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rPr/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89703"/>
            <a:ext cx="10515600" cy="8229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The model may return the string "avg_order_value". It cannot return the expression, the table, or the join. Deploying AEGIS on another system means writing this file again — and nothing else.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This list is the whole vocabulary. Anything not written here cannot be asked for.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B: The Compiler Fills Blanks, It Does Not Write SQL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572768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aegis/server/compiler.py — the function that builds the SELECT clause: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066543"/>
            <a:ext cx="10515600" cy="27432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def _assemble_select(self, metric, dimension, extra_metrics=None, plan=None) -&gt; str: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measures = [f"{metric.sql_expr} AS value"]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for extra in extra_metrics or []: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measures.append(f"{extra.sql_expr} AS `{extra.id}`")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projected = ", ".join(measures)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if dimension: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dim_expr = self._dimension_select_expr(dimension, plan)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    return f"SELECT {dim_expr} AS label,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    return f"SELECT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# Every interpolated value is an attribute of a semantic-layer object.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rPr/>
              <a:t># No argument to this function carries user text.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46903"/>
            <a:ext cx="10515600" cy="8686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Literal values take a separate route: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a filter compiles to a placeholder and a bound parameter (p.StockQuantity &lt; @p0 with {p0: 10}), so a value never becomes part of the SQL text. After assembly, a forbidden-pattern scan rejects any non-SELECT construct before execution.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C: Why Templates Instead of Constrained Decoding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1572768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69080"/>
                <a:gridCol w="4069080"/>
              </a:tblGrid>
              <a:tr h="7086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PICARD [4] — constrained decoding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— template compilation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the model emits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SQL text, token by token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typed Intent Object with no SQL field</a:t>
                      </a:r>
                    </a:p>
                  </a:txBody>
                  <a:tcPr marL="64008" marR="64008" marT="27432" marB="27432" anchor="ctr"/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is checked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token against a parser, during generation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id against the semantic layer, before compilation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we give up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Nothing — any valid SQL stays reachable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Flexibility: a question outside the semantic layer cannot be answered at all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544568"/>
            <a:ext cx="10515600" cy="1234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Constrained decoding guarantees the SQL parses. It does not guarantee the SQL is the query the administrator would have approved — a syntactically perfect query can still join the wrong grain, drop a soft-delete filter, or read a column nobody meant to expose.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250">
                <a:solidFill>
                  <a:srgbClr val="003366"/>
                </a:solidFill>
                <a:latin typeface="Times New Roman"/>
              </a:rPr>
              <a:t>The trade is real and worth stating plainly:</a:t>
            </a:r>
            <a:r>
              <a:rPr b="0" i="0" sz="1150">
                <a:solidFill>
                  <a:srgbClr val="333333"/>
                </a:solidFill>
                <a:latin typeface="Times New Roman"/>
              </a:rPr>
              <a:t> AEGIS buys auditability by giving up open-ended coverage. That is why 75 of the 500 evaluation questions are ones it must decline.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F65C7BDA-76C9-4226-9B1A-FE228012FD2F}" vid="{A434E4A6-0EAA-4E37-B99D-C00F0197FD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FY Presentation Template</Template>
  <TotalTime>511</TotalTime>
  <Words>1129</Words>
  <Application>Microsoft Office PowerPoint</Application>
  <PresentationFormat>Widescreen</PresentationFormat>
  <Paragraphs>253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Agrandir Narrow Bold</vt:lpstr>
      <vt:lpstr>Aileron Bold</vt:lpstr>
      <vt:lpstr>Aileron Ultra-Bold</vt:lpstr>
      <vt:lpstr>Akzidenz-Grotesk Bold</vt:lpstr>
      <vt:lpstr>Arial</vt:lpstr>
      <vt:lpstr>Calibri</vt:lpstr>
      <vt:lpstr>Calibri Light</vt:lpstr>
      <vt:lpstr>Times New Roman</vt:lpstr>
      <vt:lpstr>Wingdings</vt:lpstr>
      <vt:lpstr>Office Theme</vt:lpstr>
      <vt:lpstr>        A Geo-Location-Based Platform for Connecting Users with Skilled Professionals Using Mobile Application</vt:lpstr>
      <vt:lpstr>A Geo-Location-Based Platform for Connecting Users with Skilled Professionals Using Mobile Application</vt:lpstr>
      <vt:lpstr>Outline</vt:lpstr>
      <vt:lpstr>Introduction </vt:lpstr>
      <vt:lpstr>Problem Statement</vt:lpstr>
      <vt:lpstr>Feasibility Study</vt:lpstr>
      <vt:lpstr>Existing Work</vt:lpstr>
      <vt:lpstr> Objectives</vt:lpstr>
      <vt:lpstr> Proposed Methodology</vt:lpstr>
      <vt:lpstr> Key Features</vt:lpstr>
      <vt:lpstr>  Activity Diagram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Tools &amp; Technologies</vt:lpstr>
      <vt:lpstr>    Expected Outcomes</vt:lpstr>
      <vt:lpstr>     References</vt:lpstr>
      <vt:lpstr>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AEGIS: A Constraint-Based Architecture for Safe LLM-Assisted Natural Language Analytics</dc:title>
  <dc:creator>Md. Riaz</dc:creator>
  <cp:lastModifiedBy>HP</cp:lastModifiedBy>
  <cp:revision>25</cp:revision>
  <dcterms:created xsi:type="dcterms:W3CDTF">2025-07-15T06:51:59Z</dcterms:created>
  <dcterms:modified xsi:type="dcterms:W3CDTF">2026-01-05T09:27:32Z</dcterms:modified>
  <dc:subject>Final Defense Presentation</dc:subject>
</cp:coreProperties>
</file>