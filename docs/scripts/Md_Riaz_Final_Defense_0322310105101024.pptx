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6"/>
    <p:sldId id="272" r:id="rId5"/>
    <p:sldId id="273" r:id="rId4"/>
    <p:sldId id="274" r:id="rId3"/>
    <p:sldId id="275" r:id="rId2"/>
    <p:sldId id="276" r:id="rId27"/>
    <p:sldId id="277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D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-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0.xml"/><Relationship Id="rId3" Type="http://schemas.openxmlformats.org/officeDocument/2006/relationships/slide" Target="slides/slide19.xml"/><Relationship Id="rId4" Type="http://schemas.openxmlformats.org/officeDocument/2006/relationships/slide" Target="slides/slide18.xml"/><Relationship Id="rId5" Type="http://schemas.openxmlformats.org/officeDocument/2006/relationships/slide" Target="slides/slide17.xml"/><Relationship Id="rId6" Type="http://schemas.openxmlformats.org/officeDocument/2006/relationships/slide" Target="slides/slide16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9ED17C-F12B-40CB-B332-C6480DB8E7F0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A46629-DDE9-4049-9809-56964DD20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661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morning/afternoon respected chairperson and committee members. I am presenting the final defense of AEGIS, a constraint-based architecture for safe LLM-assisted natural language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010A2-2799-FE5F-7ED3-EB6017D4A1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FDB441-FC1F-DE44-F6CE-9071CC1BB9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99C45D-883E-7779-00CB-DBC9446D1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26F32-91A8-4340-868D-5E0A85BEE79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1568B-516F-8789-445D-64FD01EAB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91F1F7-A3B0-7732-298C-5AA7838DF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9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5FF4E-617C-962C-941E-340049DCD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138BE-F1A8-1373-5286-AABA55AAB9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910DC0-4A9D-C5CF-F3D5-178353D0C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5A2554-468B-44E7-959E-8F3376471EAD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6BBE8E-91E4-ED3B-758D-71E53DC60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F98918-B618-D501-E52B-6715935AC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620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0F9C9-C56B-F97A-7A67-5F80EF659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DD72EF-0371-4EF3-F13B-00B9A9A288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2793C-09E8-86E9-6545-F087C62A7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B59EFF-22CB-4D13-B295-F8753D08A73B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A0B9DE-F9AF-C044-B742-EE46DA54C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32D79C-9841-FDA0-404A-39F5A0A2B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159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4FE28-B718-D71C-2EA9-1B632A636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EE841-31A1-54CE-183E-5A44AAFA39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73B3D6-8DC7-44CC-9B9B-B93034578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54ECBA-B5CC-A31F-146E-6A782EECF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5A188-44D0-4F09-95D3-72A118F0258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FC95A0-8502-DDB7-350B-690396405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C0FE03-C2CF-FF0D-DA8E-6C168AD82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569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391A6-EBFE-2902-D783-CC57008B1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DF28CB-12B2-F1D2-C8B6-22F92B2B71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6B5252-2284-738C-D8D3-FDA5C61CFC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61ED42-0717-CEDF-F130-83B329241A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E235ED-66DF-805B-6261-6000A6BB05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E731C4-35E1-2943-49BF-A9F49F00C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53173E-BCA8-4A3A-AC75-A00FF2F39098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78AF73-A3F6-154D-BBC0-390E58653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319234-EC89-C0B4-E246-54794909D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614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0A47B-3B21-F564-4C44-F3F39C8CD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48F16C-025D-E8CF-C55B-9A48EA5D0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D53B1-6CA6-43AD-AFC7-3BAAD7905353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86437C-4EC8-2BEE-1B01-39179C281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29B9CD-31B6-F216-04D7-2D8490988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978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5D2B2E-62E1-D996-0F7D-965298FD8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61911-596A-4E6F-AD9C-B71EEA0CF3A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718A65-0619-BBB3-D0F3-1A04A2352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E0F82-47F7-3C1D-3991-A97DD0221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321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AFD86-268A-E8B1-DF2B-67C9077B4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99890-208F-07F8-6D61-A8A5E5450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65E985-C31A-EC84-643D-A298C147F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88AD1E-D15F-13DF-D0EE-3045E9BD9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82B00-7004-42D2-934B-515D1C4746E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A0CA75-AA80-CA9F-0583-3D76A1D1E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73539F-6D07-DFE8-9D8E-4D0C9B7DF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051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43D71-67DB-BE48-8413-73578AF97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5F6471-82C4-C1F2-457E-5700D30BEA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DCB74-DE1A-64CE-E074-6211862034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2EFCFA-3DB2-F7EC-E730-4AAEBE53A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C2A020-4EAE-4E4F-8C9E-951F4F971C76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DC0783-E417-3900-5A15-F51D98BC1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6B4EA3-183F-C894-634E-C87BFD306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246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1E11E-BBAC-E306-F0F6-8C5642859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5E9375-E4F8-5E47-F749-0E43582A32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D69470-97B2-066F-3D3E-E9A4FB026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C06AA-0BDC-429B-AE85-E36D6466E38F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06243-198A-3AF4-6167-B23E62CC7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4819B-7F1A-1712-57FD-A38659BB8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016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2B1DF7-140F-18DE-6C89-ED937C3F58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AED161-72AA-0748-E7D9-A9002D3E61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42EE77-787F-8250-D203-870E3BDCC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1CE58-21A7-48A7-8899-442DC8E1F8DD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5A889-6AB3-60FB-051F-B1DD3B910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4A74-18F7-DE41-0F12-EABFBBB6F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299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ED10EF-3C6F-5653-1C40-257FA515F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F79F23-7CA2-A3B1-C6F7-BBA7DE0077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6A714A-5F1A-95E3-6CA0-47E2358F4C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2E878E-58C3-45D4-9533-4D4E368A52BC}" type="datetime2">
              <a:rPr lang="en-US" smtClean="0"/>
              <a:t>Monday, January 5,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7EFD6-72B9-7DEE-473C-C500D5DC1A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0DB06F-F648-F322-F9B5-7514010746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B5837F-C97E-4545-805A-A81BC2BC5E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838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Rectangle 6">
            <a:extLst>
              <a:ext uri="{FF2B5EF4-FFF2-40B4-BE49-F238E27FC236}">
                <a16:creationId xmlns:a16="http://schemas.microsoft.com/office/drawing/2014/main" id="{86E891FF-ACD8-A286-1B16-C741C516BE9D}"/>
              </a:ext>
            </a:extLst>
          </p:cNvPr>
          <p:cNvSpPr/>
          <p:nvPr/>
        </p:nvSpPr>
        <p:spPr>
          <a:xfrm>
            <a:off x="0" y="5946468"/>
            <a:ext cx="12192000" cy="931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23E7505-B103-38D8-46D8-4E396DB4C8E4}"/>
              </a:ext>
            </a:extLst>
          </p:cNvPr>
          <p:cNvSpPr/>
          <p:nvPr/>
        </p:nvSpPr>
        <p:spPr>
          <a:xfrm>
            <a:off x="0" y="0"/>
            <a:ext cx="12192000" cy="365532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3939" y="2331720"/>
            <a:ext cx="9144000" cy="960120"/>
          </a:xfrm>
        </p:spPr>
        <p:txBody>
          <a:bodyPr/>
          <a:lstStyle/>
          <a:p>
            <a:pPr algn="ctr">
              <a:lnSpc>
                <a:spcPct val="112000"/>
              </a:lnSpc>
              <a:defRPr b="1" sz="3100">
                <a:solidFill>
                  <a:srgbClr val="003366"/>
                </a:solidFill>
                <a:latin typeface="Times New Roman"/>
              </a:defRPr>
            </a:pPr>
            <a:r>
              <a:t>AEGIS: A Constraint-Based Architecture for Safe</a:t>
            </a:r>
          </a:p>
          <a:p>
            <a:pPr algn="ctr">
              <a:lnSpc>
                <a:spcPct val="112000"/>
              </a:lnSpc>
              <a:defRPr b="1" sz="3100">
                <a:solidFill>
                  <a:srgbClr val="003366"/>
                </a:solidFill>
                <a:latin typeface="Times New Roman"/>
              </a:defRPr>
            </a:pPr>
            <a:r>
              <a:t>LLM-Assisted Natural Language Analytics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9203" y="641463"/>
            <a:ext cx="753594" cy="74608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E67231A-ED4F-8480-A39E-C3D024BD1954}"/>
              </a:ext>
            </a:extLst>
          </p:cNvPr>
          <p:cNvSpPr txBox="1"/>
          <p:nvPr/>
        </p:nvSpPr>
        <p:spPr>
          <a:xfrm>
            <a:off x="3282222" y="6089006"/>
            <a:ext cx="56275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&amp; Engineering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Pundra University of Science &amp; Technology, Bogura – 5800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3939" y="1671980"/>
            <a:ext cx="9144000" cy="4049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latin typeface="Times New Roman"/>
              </a:defRPr>
            </a:pPr>
            <a:r>
              <a:t>Final Defense Presentation 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27048" y="3730752"/>
            <a:ext cx="3886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latin typeface="Times New Roman"/>
              </a:defRPr>
            </a:pPr>
            <a:r>
              <a:t>Presented 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4041648"/>
            <a:ext cx="3886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defRPr sz="2000" b="1">
                <a:latin typeface="Times New Roman"/>
              </a:defRPr>
            </a:pPr>
            <a:r>
              <a:t>Md. Riaz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Program: B.Sc. in CSE (Diploma)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ID: 0322310105101024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Batch: 16th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8th Semester / 4th Year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Session: Spring - 2023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3767328"/>
            <a:ext cx="3886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latin typeface="Times New Roman"/>
              </a:defRPr>
            </a:pPr>
            <a:r>
              <a:t>Supervised By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4133087"/>
            <a:ext cx="3886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defRPr sz="2000" b="1">
                <a:latin typeface="Times New Roman"/>
              </a:defRPr>
            </a:pPr>
            <a:r>
              <a:t>Mst. Sahela Rahman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Lecturer</a:t>
            </a:r>
          </a:p>
          <a:p>
            <a:pPr>
              <a:lnSpc>
                <a:spcPct val="112000"/>
              </a:lnSpc>
              <a:defRPr sz="1600" b="0">
                <a:latin typeface="Times New Roman"/>
              </a:defRPr>
            </a:pPr>
            <a:r>
              <a:t>Dept. of CSE, PUB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Outline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600200"/>
            <a:ext cx="9418320" cy="43891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1. Introduction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2. Problem Statement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3. Literature Review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4. Research Gap and Objectives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5. Methodology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6. AEGIS Architecture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7. Semantic Layer and Compiler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8. Query-to-SQL Walkthrough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9. Prototype Implementation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10. Evaluation Dataset and Results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50">
                <a:solidFill>
                  <a:srgbClr val="333333"/>
                </a:solidFill>
                <a:latin typeface="Times New Roman"/>
              </a:rPr>
              <a:t>11. Limitations, Conclusion, and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Introduction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481328"/>
            <a:ext cx="10058400" cy="473659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Motivation: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E-commerce systems store rich operational data, but built-in dashboards answer only a fixed set of questions.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When users need new analytical combinations, the request usually depends on a developer or BI person to translate it into report logic.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Natural language analytics can reduce that delay for managers, sales teams, and administrators.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Central Tension: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Direct LLM-to-SQL systems are flexible, but the model writes executable database code.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A safe analytics system should understand the question without giving the model authority to create arbitrary SQL.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AEGIS Direction: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Use the LLM for intent extraction only.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Use deterministic semantic mapping and SQL compilation for execution.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Problem Statement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755648"/>
            <a:ext cx="10058400" cy="4005072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b="1" i="0" sz="1700">
                <a:solidFill>
                  <a:srgbClr val="333333"/>
                </a:solidFill>
                <a:latin typeface="Times New Roman"/>
              </a:rPr>
              <a:t>Current Generative NL2SQL approaches have 3 structural vulnerability classes: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1. Structural Injection Risk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Adversarial prompt manipulation can bypass model instructions, causing neural models to output data-modifying DML/DDL statements (DROP, DELETE, UPDATE).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2. Unbounded Schema Hallucination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Probabilistic token generation leads to hallucinated table joins, non-existent entity relations, and invalid column attributes.</a:t>
            </a:r>
          </a:p>
          <a:p>
            <a:pPr>
              <a:lnSpc>
                <a:spcPct val="108000"/>
              </a:lnSpc>
              <a:spcBef>
                <a:spcPts val="800"/>
              </a:spcBef>
              <a:spcAft>
                <a:spcPts val="500"/>
              </a:spcAft>
            </a:pPr>
            <a:r>
              <a:rPr b="1" i="0" sz="1600">
                <a:solidFill>
                  <a:srgbClr val="333333"/>
                </a:solidFill>
                <a:latin typeface="Times New Roman"/>
              </a:rPr>
              <a:t>3. Access Control &amp; Context Bypass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Direct query generation bypasses application-level multi-tenant boundaries and row-level security scopes.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Literature Review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5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13232" y="1417320"/>
          <a:ext cx="10744199" cy="4370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2423160"/>
                <a:gridCol w="2926080"/>
                <a:gridCol w="3520440"/>
              </a:tblGrid>
              <a:tr h="6244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Work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Main focus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Control approach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Gap for AEGIS</a:t>
                      </a:r>
                    </a:p>
                  </a:txBody>
                  <a:tcPr marL="36576" marR="36576" marT="13716" marB="13716" anchor="ctr">
                    <a:solidFill>
                      <a:srgbClr val="003366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NaLIR [1]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Interactive NLIDB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 and refine intent with grammar and DB mapping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Limited dashboard and modern LLM risk handling</a:t>
                      </a:r>
                    </a:p>
                  </a:txBody>
                  <a:tcPr marL="36576" marR="36576" marT="13716" marB="13716" anchor="ctr"/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nl4dv [2]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 to visualization specs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Extract analytic attributes; not SQL-centered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Visualization focus, not safe database execution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DashBot [3]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Dashboard generation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Insight-driven dashboard selection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Does not solve arbitrary SQL authority risk</a:t>
                      </a:r>
                    </a:p>
                  </a:txBody>
                  <a:tcPr marL="36576" marR="36576" marT="13716" marB="13716" anchor="ctr"/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PICARD [4]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Constrained decoding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Parser-level SQL validity during token generation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Model still generates SQL text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  <a:tr h="6244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G-SQL [5] / TriSQL [6]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Robust Text-to-SQL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Schema-aware generation with rules, repair, and refinement</a:t>
                      </a:r>
                    </a:p>
                  </a:txBody>
                  <a:tcPr marL="36576" marR="36576" marT="13716" marB="13716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Safety depends on controlling generated SQL</a:t>
                      </a:r>
                    </a:p>
                  </a:txBody>
                  <a:tcPr marL="36576" marR="36576" marT="13716" marB="13716" anchor="ctr"/>
                </a:tc>
              </a:tr>
              <a:tr h="62440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AEGIS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 NL analytics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Intent extraction only; SQL compiled from semantic layer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2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Trades open SQL for auditable analytics intent validation</a:t>
                      </a:r>
                    </a:p>
                  </a:txBody>
                  <a:tcPr marL="36576" marR="36576" marT="13716" marB="13716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Research Gap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600200"/>
            <a:ext cx="9966960" cy="434340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Observed Gap in Existing Systems: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• Many systems improve SQL generation accuracy, but still let executable SQL be authored by the model.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• Visualization systems help users express analysis, but do not fully address database execution safety.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• Parser and repair methods can reject invalid syntax, yet syntactically valid SQL can still be unsafe or semantically wrong.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AEGIS Research Gap: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• A practical architecture is needed where natural language is accepted, but executable SQL is produced only from an explicit semantic layer and deterministic compiler.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Objectives and Contributions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7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" y="1325880"/>
          <a:ext cx="105613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7543800"/>
              </a:tblGrid>
              <a:tr h="9144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Objective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3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Contribution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Reduce execution risk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Separate natural-language understanding from SQL creation.</a:t>
                      </a:r>
                    </a:p>
                  </a:txBody>
                  <a:tcPr marL="91440" marR="91440" marT="45720" marB="45720" anchor="ctr"/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Make analytics auditable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Define metrics, dimensions, filters, join paths, and output shapes in a semantic layer.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Support real e-commerce reports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Implement AEGIS over a seeded nopCommerce [7] MySQL dataset and admin analytics oracles.</a:t>
                      </a:r>
                    </a:p>
                  </a:txBody>
                  <a:tcPr marL="91440" marR="91440" marT="45720" marB="45720" anchor="ctr"/>
                </a:tc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Evaluate with static datasets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30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Use fixed natural-language questions, semantic-intent validation tests, and admin-fidelity checks for reproducible evidence.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Research Methodology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8</a:t>
            </a:r>
          </a:p>
        </p:txBody>
      </p:sp>
      <p:pic>
        <p:nvPicPr>
          <p:cNvPr id="13" name="Picture 12" descr="thesis-figure-01-dsr-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21992"/>
            <a:ext cx="5120640" cy="2560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80760" y="1719072"/>
            <a:ext cx="5120640" cy="38404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Design Science Research Process: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Identify the unsafe execution problem in LLM-assisted database analytics.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Design a constraint-based architecture where SQL is compiled from explicit definitions.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Implement the prototype for nopCommerce [7] on MySQL.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Evaluate with static datasets and executable oracle checks.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Refine implementation gaps before freezing thesis claims.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Proposed AEGIS Architecture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9</a:t>
            </a:r>
          </a:p>
        </p:txBody>
      </p:sp>
      <p:pic>
        <p:nvPicPr>
          <p:cNvPr id="13" name="Picture 12" descr="figure-03-architecture-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1143000"/>
            <a:ext cx="7132320" cy="416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05840" y="5440680"/>
            <a:ext cx="10149840" cy="5486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50">
                <a:solidFill>
                  <a:srgbClr val="003366"/>
                </a:solidFill>
                <a:latin typeface="Times New Roman"/>
              </a:rPr>
              <a:t>Main architectural rule: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the LLM extracts intent only; approved code maps that intent to semantic definitions and compiled SQL.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Semantic Layer Implementation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10</a:t>
            </a:r>
          </a:p>
        </p:txBody>
      </p:sp>
      <p:pic>
        <p:nvPicPr>
          <p:cNvPr id="13" name="Picture 12" descr="figure-04-semantic-layer-modula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59280"/>
            <a:ext cx="5303520" cy="3093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1627632"/>
            <a:ext cx="5029200" cy="4160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50">
                <a:solidFill>
                  <a:srgbClr val="003366"/>
                </a:solidFill>
                <a:latin typeface="Times New Roman"/>
              </a:rPr>
              <a:t>Implemented per target system: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• Business vocabulary: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synonyms for metrics, dimensions, filters, and time periods.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• Metric definitions: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SQL expressions such as order count, revenue, average order value, and customer count.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• Dimension definitions: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status, customer, product, manufacturer, category, date, and geography.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• Join policy: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allowed tables and join paths from the nopCommerce [7] schema.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• Output contracts:</a:t>
            </a:r>
            <a:r>
              <a:rPr b="0" i="0" sz="1450">
                <a:solidFill>
                  <a:srgbClr val="333333"/>
                </a:solidFill>
                <a:latin typeface="Times New Roman"/>
              </a:rPr>
              <a:t> table, matrix, KPI, and chart-ready shapes.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Intent Extraction Boundary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664208"/>
            <a:ext cx="4937760" cy="425196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What the LLM may produce: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50">
                <a:solidFill>
                  <a:srgbClr val="333333"/>
                </a:solidFill>
                <a:latin typeface="Times New Roman"/>
              </a:rPr>
              <a:t>• Intent class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50">
                <a:solidFill>
                  <a:srgbClr val="333333"/>
                </a:solidFill>
                <a:latin typeface="Times New Roman"/>
              </a:rPr>
              <a:t>• Metric term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50">
                <a:solidFill>
                  <a:srgbClr val="333333"/>
                </a:solidFill>
                <a:latin typeface="Times New Roman"/>
              </a:rPr>
              <a:t>• Dimension term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50">
                <a:solidFill>
                  <a:srgbClr val="333333"/>
                </a:solidFill>
                <a:latin typeface="Times New Roman"/>
              </a:rPr>
              <a:t>• Time range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50">
                <a:solidFill>
                  <a:srgbClr val="333333"/>
                </a:solidFill>
                <a:latin typeface="Times New Roman"/>
              </a:rPr>
              <a:t>• Filter terms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50">
                <a:solidFill>
                  <a:srgbClr val="333333"/>
                </a:solidFill>
                <a:latin typeface="Times New Roman"/>
              </a:rPr>
              <a:t>• Requested output shape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50">
                <a:solidFill>
                  <a:srgbClr val="003366"/>
                </a:solidFill>
                <a:latin typeface="Times New Roman"/>
              </a:rPr>
              <a:t>What the LLM may not produce: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50">
                <a:solidFill>
                  <a:srgbClr val="333333"/>
                </a:solidFill>
                <a:latin typeface="Times New Roman"/>
              </a:rPr>
              <a:t>• Raw SQL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50">
                <a:solidFill>
                  <a:srgbClr val="333333"/>
                </a:solidFill>
                <a:latin typeface="Times New Roman"/>
              </a:rPr>
              <a:t>• Table names as executable authority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50">
                <a:solidFill>
                  <a:srgbClr val="333333"/>
                </a:solidFill>
                <a:latin typeface="Times New Roman"/>
              </a:rPr>
              <a:t>• Join paths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50">
                <a:solidFill>
                  <a:srgbClr val="333333"/>
                </a:solidFill>
                <a:latin typeface="Times New Roman"/>
              </a:rPr>
              <a:t>• Write statements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50">
                <a:solidFill>
                  <a:srgbClr val="333333"/>
                </a:solidFill>
                <a:latin typeface="Times New Roman"/>
              </a:rPr>
              <a:t>• Arbitrary expressions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783080"/>
            <a:ext cx="4480560" cy="210312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>
              <a:spcAft>
                <a:spcPts val="100"/>
              </a:spcAft>
              <a:defRPr sz="1300">
                <a:solidFill>
                  <a:srgbClr val="505050"/>
                </a:solidFill>
                <a:latin typeface="Consolas"/>
              </a:defRPr>
            </a:pPr>
            <a:r>
              <a:t>{</a:t>
            </a:r>
          </a:p>
          <a:p>
            <a:pPr>
              <a:spcAft>
                <a:spcPts val="100"/>
              </a:spcAft>
              <a:defRPr sz="1300">
                <a:solidFill>
                  <a:srgbClr val="505050"/>
                </a:solidFill>
                <a:latin typeface="Consolas"/>
              </a:defRPr>
            </a:pPr>
            <a:r>
              <a:t>  "intent_class": "segment",</a:t>
            </a:r>
          </a:p>
          <a:p>
            <a:pPr>
              <a:spcAft>
                <a:spcPts val="100"/>
              </a:spcAft>
              <a:defRPr sz="1300">
                <a:solidFill>
                  <a:srgbClr val="505050"/>
                </a:solidFill>
                <a:latin typeface="Consolas"/>
              </a:defRPr>
            </a:pPr>
            <a:r>
              <a:t>  "metric_term": "avg_order_value",</a:t>
            </a:r>
          </a:p>
          <a:p>
            <a:pPr>
              <a:spcAft>
                <a:spcPts val="100"/>
              </a:spcAft>
              <a:defRPr sz="1300">
                <a:solidFill>
                  <a:srgbClr val="505050"/>
                </a:solidFill>
                <a:latin typeface="Consolas"/>
              </a:defRPr>
            </a:pPr>
            <a:r>
              <a:t>  "dimension_term": "order_status",</a:t>
            </a:r>
          </a:p>
          <a:p>
            <a:pPr>
              <a:spcAft>
                <a:spcPts val="100"/>
              </a:spcAft>
              <a:defRPr sz="1300">
                <a:solidFill>
                  <a:srgbClr val="505050"/>
                </a:solidFill>
                <a:latin typeface="Consolas"/>
              </a:defRPr>
            </a:pPr>
            <a:r>
              <a:t>  "time_range": "all_time",</a:t>
            </a:r>
          </a:p>
          <a:p>
            <a:pPr>
              <a:spcAft>
                <a:spcPts val="100"/>
              </a:spcAft>
              <a:defRPr sz="1300">
                <a:solidFill>
                  <a:srgbClr val="505050"/>
                </a:solidFill>
                <a:latin typeface="Consolas"/>
              </a:defRPr>
            </a:pPr>
            <a:r>
              <a:t>  "output_shape": "table"</a:t>
            </a:r>
          </a:p>
          <a:p>
            <a:pPr>
              <a:spcAft>
                <a:spcPts val="100"/>
              </a:spcAft>
              <a:defRPr sz="1300">
                <a:solidFill>
                  <a:srgbClr val="50505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4160520"/>
            <a:ext cx="4937760" cy="160020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600">
                <a:solidFill>
                  <a:srgbClr val="003366"/>
                </a:solidFill>
                <a:latin typeface="Times New Roman"/>
              </a:rPr>
              <a:t>Boundary claim: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300">
                <a:solidFill>
                  <a:srgbClr val="333333"/>
                </a:solidFill>
                <a:latin typeface="Times New Roman"/>
              </a:rPr>
              <a:t>• The model output is treated as data.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300">
                <a:solidFill>
                  <a:srgbClr val="333333"/>
                </a:solidFill>
                <a:latin typeface="Times New Roman"/>
              </a:rPr>
              <a:t>• The compiler accepts only fields that map to semantic-layer entries.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300">
                <a:solidFill>
                  <a:srgbClr val="333333"/>
                </a:solidFill>
                <a:latin typeface="Times New Roman"/>
              </a:rPr>
              <a:t>• If a required mapping is absent, the system returns a controlled refusal or clarification instead of inventing SQL.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Question-to-SQL Walkthrough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1371600"/>
            <a:ext cx="2331720" cy="713232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t>User question</a:t>
            </a:r>
            <a:br/>
            <a:r>
              <a:t>"Show order average by status"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7560" y="1371600"/>
            <a:ext cx="2514600" cy="713232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t>Intent JSON</a:t>
            </a:r>
            <a:br/>
            <a:r>
              <a:t>metric=avg_order_value</a:t>
            </a:r>
            <a:br/>
            <a:r>
              <a:t>dimension=order_status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371600"/>
            <a:ext cx="2514600" cy="713232"/>
          </a:xfrm>
          <a:prstGeom prst="roundRect">
            <a:avLst/>
          </a:prstGeom>
          <a:solidFill>
            <a:srgbClr val="E9F1FA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200" b="1">
                <a:solidFill>
                  <a:srgbClr val="003366"/>
                </a:solidFill>
                <a:latin typeface="Times New Roman"/>
              </a:defRPr>
            </a:pPr>
            <a:r>
              <a:t>Semantic mapping</a:t>
            </a:r>
            <a:br/>
            <a:r>
              <a:t>metric + dimension + matrix pattern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9408" y="1371600"/>
            <a:ext cx="2331720" cy="713232"/>
          </a:xfrm>
          <a:prstGeom prst="roundRect">
            <a:avLst/>
          </a:prstGeom>
          <a:solidFill>
            <a:srgbClr val="E2F0D9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/>
          <a:lstStyle/>
          <a:p>
            <a:pPr algn="ctr">
              <a:defRPr sz="1300" b="1">
                <a:solidFill>
                  <a:srgbClr val="003366"/>
                </a:solidFill>
                <a:latin typeface="Times New Roman"/>
              </a:defRPr>
            </a:pPr>
            <a:r>
              <a:t>Compiler output</a:t>
            </a:r>
            <a:br/>
            <a:r>
              <a:t>safe SELECT only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17520" y="1728216"/>
            <a:ext cx="320040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852160" y="1728216"/>
            <a:ext cx="320040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686800" y="1728216"/>
            <a:ext cx="292608" cy="0"/>
          </a:xfrm>
          <a:prstGeom prst="line">
            <a:avLst/>
          </a:prstGeom>
          <a:ln w="25400">
            <a:solidFill>
              <a:srgbClr val="003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960120" y="2743200"/>
            <a:ext cx="5074920" cy="2057400"/>
          </a:xfrm>
          <a:prstGeom prst="rect">
            <a:avLst/>
          </a:prstGeom>
          <a:solidFill>
            <a:srgbClr val="F7F7F7"/>
          </a:solidFill>
          <a:ln>
            <a:solidFill>
              <a:srgbClr val="B7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>
              <a:spcAft>
                <a:spcPts val="100"/>
              </a:spcAft>
              <a:defRPr sz="1200">
                <a:solidFill>
                  <a:srgbClr val="505050"/>
                </a:solidFill>
                <a:latin typeface="Consolas"/>
              </a:defRPr>
            </a:pPr>
            <a:r>
              <a:t>SELECT status_label,</a:t>
            </a:r>
          </a:p>
          <a:p>
            <a:pPr>
              <a:spcAft>
                <a:spcPts val="100"/>
              </a:spcAft>
              <a:defRPr sz="1200">
                <a:solidFill>
                  <a:srgbClr val="505050"/>
                </a:solidFill>
                <a:latin typeface="Consolas"/>
              </a:defRPr>
            </a:pPr>
            <a:r>
              <a:t>       COUNT(*) AS order_count,</a:t>
            </a:r>
          </a:p>
          <a:p>
            <a:pPr>
              <a:spcAft>
                <a:spcPts val="100"/>
              </a:spcAft>
              <a:defRPr sz="1200">
                <a:solidFill>
                  <a:srgbClr val="505050"/>
                </a:solidFill>
                <a:latin typeface="Consolas"/>
              </a:defRPr>
            </a:pPr>
            <a:r>
              <a:t>       SUM(OrderTotal) AS revenue,</a:t>
            </a:r>
          </a:p>
          <a:p>
            <a:pPr>
              <a:spcAft>
                <a:spcPts val="100"/>
              </a:spcAft>
              <a:defRPr sz="1200">
                <a:solidFill>
                  <a:srgbClr val="505050"/>
                </a:solidFill>
                <a:latin typeface="Consolas"/>
              </a:defRPr>
            </a:pPr>
            <a:r>
              <a:t>       AVG(OrderTotal) AS avg_order_value</a:t>
            </a:r>
          </a:p>
          <a:p>
            <a:pPr>
              <a:spcAft>
                <a:spcPts val="100"/>
              </a:spcAft>
              <a:defRPr sz="1200">
                <a:solidFill>
                  <a:srgbClr val="505050"/>
                </a:solidFill>
                <a:latin typeface="Consolas"/>
              </a:defRPr>
            </a:pPr>
            <a:r>
              <a:t>FROM approved_order_summary</a:t>
            </a:r>
          </a:p>
          <a:p>
            <a:pPr>
              <a:spcAft>
                <a:spcPts val="100"/>
              </a:spcAft>
              <a:defRPr sz="1200">
                <a:solidFill>
                  <a:srgbClr val="505050"/>
                </a:solidFill>
                <a:latin typeface="Consolas"/>
              </a:defRPr>
            </a:pPr>
            <a:r>
              <a:t>GROUP BY status_label</a:t>
            </a:r>
          </a:p>
          <a:p>
            <a:pPr>
              <a:spcAft>
                <a:spcPts val="100"/>
              </a:spcAft>
              <a:defRPr sz="1200">
                <a:solidFill>
                  <a:srgbClr val="505050"/>
                </a:solidFill>
                <a:latin typeface="Consolas"/>
              </a:defRPr>
            </a:pPr>
            <a:r>
              <a:t>ORDER BY revenue DESC;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400800" y="2697480"/>
          <a:ext cx="475488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Status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Orders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Revenue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AOV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Complete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1,846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Tk ...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Tk ...</a:t>
                      </a:r>
                    </a:p>
                  </a:txBody>
                  <a:tcPr marL="91440" marR="91440" marT="45720" marB="45720" anchor="ctr"/>
                </a:tc>
              </a:tr>
              <a:tr h="4297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Processing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312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Tk ...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Tk ...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Pending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226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Tk ...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Tk ...</a:t>
                      </a:r>
                    </a:p>
                  </a:txBody>
                  <a:tcPr marL="91440" marR="91440" marT="45720" marB="45720" anchor="ctr"/>
                </a:tc>
              </a:tr>
              <a:tr h="4297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Cancelled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116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Tk ...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Tk ...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960120" y="5120640"/>
            <a:ext cx="10149840" cy="59436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500">
                <a:solidFill>
                  <a:srgbClr val="003366"/>
                </a:solidFill>
                <a:latin typeface="Times New Roman"/>
              </a:rPr>
              <a:t>Proof point:</a:t>
            </a:r>
            <a:r>
              <a:rPr b="0" i="0" sz="1400">
                <a:solidFill>
                  <a:srgbClr val="333333"/>
                </a:solidFill>
                <a:latin typeface="Times New Roman"/>
              </a:rPr>
              <a:t> the SQL is selected and compiled from known metric/dimension definitions; the model never writes the SELECT statement.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SQL Compiler and Safety Controls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13</a:t>
            </a:r>
          </a:p>
        </p:txBody>
      </p:sp>
      <p:pic>
        <p:nvPicPr>
          <p:cNvPr id="13" name="Picture 12" descr="figure-07-sql-safety-defen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21942"/>
            <a:ext cx="5212080" cy="30403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72200" y="1627632"/>
            <a:ext cx="4983480" cy="41605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00">
                <a:solidFill>
                  <a:srgbClr val="003366"/>
                </a:solidFill>
                <a:latin typeface="Times New Roman"/>
              </a:rPr>
              <a:t>Compiler responsibilities: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• Resolve metric and dimension ids from the semantic layer.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• Add only allowed joins and filters.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• Compile read-only SQL for MySQL.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• Validate SQL structure before execution.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00">
                <a:solidFill>
                  <a:srgbClr val="003366"/>
                </a:solidFill>
                <a:latin typeface="Times New Roman"/>
              </a:rPr>
              <a:t>Safety controls: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• No DDL or DML.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• No unapproved tables or columns.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• No silent fallback to a plausible metric.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00">
                <a:solidFill>
                  <a:srgbClr val="333333"/>
                </a:solidFill>
                <a:latin typeface="Times New Roman"/>
              </a:rPr>
              <a:t>• Refuse or clarify unsupported requests.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Output Generation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14</a:t>
            </a:r>
          </a:p>
        </p:txBody>
      </p:sp>
      <p:pic>
        <p:nvPicPr>
          <p:cNvPr id="13" name="Picture 12" descr="figure-08-widget-life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94509"/>
            <a:ext cx="5212080" cy="30403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0" y="1627632"/>
            <a:ext cx="4983480" cy="40690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20">
                <a:solidFill>
                  <a:srgbClr val="003366"/>
                </a:solidFill>
                <a:latin typeface="Times New Roman"/>
              </a:rPr>
              <a:t>Output is based on result shape, not model narration: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• KPI: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one numeric value with label.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• Table: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row/column data with responsive scrolling in the prototype.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• Matrix: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period columns such as today, week, month, year, and all time.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1" i="0" sz="1420">
                <a:solidFill>
                  <a:srgbClr val="003366"/>
                </a:solidFill>
                <a:latin typeface="Times New Roman"/>
              </a:rPr>
              <a:t>• Chart-ready output:</a:t>
            </a:r>
            <a:r>
              <a:rPr b="0" i="0" sz="1420">
                <a:solidFill>
                  <a:srgbClr val="333333"/>
                </a:solidFill>
                <a:latin typeface="Times New Roman"/>
              </a:rPr>
              <a:t> categories and values are produced from query results.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720">
                <a:solidFill>
                  <a:srgbClr val="003366"/>
                </a:solidFill>
                <a:latin typeface="Times New Roman"/>
              </a:rPr>
              <a:t>This lets the prototype show both the answer and the evidence path used to produce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Prototype Implementation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417320"/>
            <a:ext cx="5166360" cy="30632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850">
                <a:solidFill>
                  <a:srgbClr val="003366"/>
                </a:solidFill>
                <a:latin typeface="Times New Roman"/>
              </a:rPr>
              <a:t>Prototype stack: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• FastAPI backend for NL analytics requests.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• MySQL seeded with nopCommerce-style [7] commerce data.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• OpenAI-compatible LLM API for intent extraction.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• Semantic-layer files define metrics, dimensions, filters, and output shapes.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550">
                <a:solidFill>
                  <a:srgbClr val="333333"/>
                </a:solidFill>
                <a:latin typeface="Times New Roman"/>
              </a:rPr>
              <a:t>• Frontend shows answer output plus AEGIS stage evidence.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417320"/>
            <a:ext cx="4892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  <a:latin typeface="Times New Roman"/>
              </a:defRPr>
            </a:pPr>
            <a:r>
              <a:t>Seeded Data Used in Live Prototype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98080" y="4251960"/>
            <a:ext cx="3474720" cy="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55080" y="1984248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Order items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2002536"/>
            <a:ext cx="3137175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0119" y="1984248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6320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574036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Orders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0" y="2592324"/>
            <a:ext cx="1240971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93915" y="2574036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2500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163824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Customers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0" y="3182112"/>
            <a:ext cx="595666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48610" y="3163824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1200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753612"/>
            <a:ext cx="10515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Products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3771900"/>
            <a:ext cx="8438" cy="37033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61382" y="3753612"/>
            <a:ext cx="594360" cy="4069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736592"/>
            <a:ext cx="10241280" cy="91440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400">
                <a:solidFill>
                  <a:srgbClr val="003366"/>
                </a:solidFill>
                <a:latin typeface="Times New Roman"/>
              </a:rPr>
              <a:t>Reproducibility: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00">
                <a:solidFill>
                  <a:srgbClr val="333333"/>
                </a:solidFill>
                <a:latin typeface="Times New Roman"/>
              </a:rPr>
              <a:t>• Docker build includes app, database seed scripts, and smoke checks.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100">
                <a:solidFill>
                  <a:srgbClr val="333333"/>
                </a:solidFill>
                <a:latin typeface="Times New Roman"/>
              </a:rPr>
              <a:t>• Local health test verified database connection and seeded counts.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Benchmark Dataset and Results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353312"/>
            <a:ext cx="53492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003366"/>
                </a:solidFill>
                <a:latin typeface="Times New Roman"/>
              </a:defRPr>
            </a:pPr>
            <a:r>
              <a:t>Tested vs Passed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60120" y="4187952"/>
            <a:ext cx="4754880" cy="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069848" y="1959864"/>
            <a:ext cx="731520" cy="2228088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9848" y="1758696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425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" y="4242816"/>
            <a:ext cx="87782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Natural</a:t>
            </a:r>
            <a:br/>
            <a:r>
              <a:t>supported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20824" y="3794760"/>
            <a:ext cx="731520" cy="39319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20824" y="359359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47672" y="4242816"/>
            <a:ext cx="87782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Natural</a:t>
            </a:r>
            <a:br/>
            <a:r>
              <a:t>boundary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1800" y="4104071"/>
            <a:ext cx="731520" cy="83880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3902903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8648" y="4242816"/>
            <a:ext cx="87782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Admin</a:t>
            </a:r>
            <a:br/>
            <a:r>
              <a:t>fidelity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22776" y="4083100"/>
            <a:ext cx="731520" cy="104851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22776" y="388193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9624" y="4242816"/>
            <a:ext cx="87782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Semantic</a:t>
            </a:r>
            <a:br/>
            <a:r>
              <a:t>answer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73752" y="4161739"/>
            <a:ext cx="731520" cy="2621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73752" y="3960571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33333"/>
                </a:solidFill>
                <a:latin typeface="Times New Roman"/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4242816"/>
            <a:ext cx="877824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Semantic</a:t>
            </a:r>
            <a:br/>
            <a:r>
              <a:t>boundary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217920" y="1298448"/>
          <a:ext cx="5166360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05840"/>
                <a:gridCol w="1143000"/>
                <a:gridCol w="1280160"/>
              </a:tblGrid>
              <a:tr h="6781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Dataset / check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Tested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Passed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Meaning</a:t>
                      </a:r>
                    </a:p>
                  </a:txBody>
                  <a:tcPr marL="91440" marR="91440" marT="45720" marB="45720" anchor="ctr">
                    <a:solidFill>
                      <a:srgbClr val="003366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Natural questions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425 supported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425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Answerable scope passes</a:t>
                      </a:r>
                    </a:p>
                  </a:txBody>
                  <a:tcPr marL="91440" marR="91440" marT="45720" marB="45720" anchor="ctr"/>
                </a:tc>
              </a:tr>
              <a:tr h="678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Natural boundary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75 out-of-scope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75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Boundary labels pass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Admin fidelity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16 reports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16 x3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Execution, shape, result</a:t>
                      </a:r>
                    </a:p>
                  </a:txBody>
                  <a:tcPr marL="91440" marR="91440" marT="45720" marB="45720" anchor="ctr"/>
                </a:tc>
              </a:tr>
              <a:tr h="678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Semantic intent validation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20 supported + 5 boundary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20 + 5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Vocabulary intent validation passes</a:t>
                      </a:r>
                    </a:p>
                  </a:txBody>
                  <a:tcPr marL="91440" marR="91440" marT="45720" marB="45720" anchor="ctr">
                    <a:solidFill>
                      <a:srgbClr val="F2F4F8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Safety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Accepted benchmark SQL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No unsafe SQL</a:t>
                      </a:r>
                    </a:p>
                  </a:txBody>
                  <a:tcPr marL="91440" marR="91440" marT="45720" marB="4572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99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Write/unsupported blocked</a:t>
                      </a:r>
                    </a:p>
                  </a:txBody>
                  <a:tcPr marL="91440" marR="91440" marT="45720" marB="45720" anchor="ctr"/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777240" y="5074920"/>
            <a:ext cx="10241280" cy="566928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Interpretation: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the benchmark checks validate the implemented nopCommerce [7] semantic-layer scope.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Beneficiaries and Expected Impact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17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22960" y="1417320"/>
          <a:ext cx="1056132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657600"/>
                <a:gridCol w="4251960"/>
              </a:tblGrid>
              <a:tr h="8321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Beneficiary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Current difficulty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AEGIS impact</a:t>
                      </a:r>
                    </a:p>
                  </a:txBody>
                  <a:tcPr marL="54864" marR="54864" marT="22860" marB="22860" anchor="ctr">
                    <a:solidFill>
                      <a:srgbClr val="003366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Business users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Need reports but need new report combinations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Ask natural-language analytics questions and receive controlled table or chart-ready results</a:t>
                      </a:r>
                    </a:p>
                  </a:txBody>
                  <a:tcPr marL="54864" marR="54864" marT="22860" marB="22860" anchor="ctr"/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Developers / BI teams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Repeated report requests consume implementation time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Reusable semantic definitions reduce one-off SQL writing for common analytics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Database administrators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Model-written SQL is hard to audit and restrict</a:t>
                      </a:r>
                    </a:p>
                  </a:txBody>
                  <a:tcPr marL="54864" marR="54864" marT="22860" marB="2286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Only approved metrics, dimensions, joins, and read-only SQL reach the database</a:t>
                      </a:r>
                    </a:p>
                  </a:txBody>
                  <a:tcPr marL="54864" marR="54864" marT="22860" marB="22860" anchor="ctr"/>
                </a:tc>
              </a:tr>
              <a:tr h="8321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1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Researchers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NL2SQL work often mixes language accuracy with execution authority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defRPr sz="1150" b="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Shows an architecture where language understanding and SQL authority are separated</a:t>
                      </a:r>
                    </a:p>
                  </a:txBody>
                  <a:tcPr marL="54864" marR="54864" marT="22860" marB="2286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0120" y="5650992"/>
            <a:ext cx="10149840" cy="41148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350">
                <a:solidFill>
                  <a:srgbClr val="003366"/>
                </a:solidFill>
                <a:latin typeface="Times New Roman"/>
              </a:rPr>
              <a:t>Expected impact:</a:t>
            </a:r>
            <a:r>
              <a:rPr b="0" i="0" sz="1250">
                <a:solidFill>
                  <a:srgbClr val="333333"/>
                </a:solidFill>
                <a:latin typeface="Times New Roman"/>
              </a:rPr>
              <a:t> safer self-service analytics for repeated e-commerce reporting, without giving the LLM permission to author executable SQL.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Scope and Limitations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417320"/>
            <a:ext cx="9966960" cy="461772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Current evaluation scope: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The prototype is implemented and tested for nopCommerce-style [7] analytics on MySQL.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The semantic layer is intentionally finite and deployment-specific.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Unsupported structured intents are expected to be rejected or clarified, not guessed.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Prototype limitations: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Vague unsupported language can still be misread during LLM intent extraction.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Additional commerce datasets would strengthen external validity.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Other SQL dialects require compiler extensions.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1900">
                <a:solidFill>
                  <a:srgbClr val="003366"/>
                </a:solidFill>
                <a:latin typeface="Times New Roman"/>
              </a:rPr>
              <a:t>Not a thesis limitation: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600">
                <a:solidFill>
                  <a:srgbClr val="333333"/>
                </a:solidFill>
                <a:latin typeface="Times New Roman"/>
              </a:rPr>
              <a:t>• Multi-turn conversation is outside this thesis because the work evaluates single-request natural-language analytics.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Conclusion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1508760"/>
            <a:ext cx="9966960" cy="4434840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Conclusion: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• AEGIS keeps the LLM useful for language understanding while removing SQL-authoring authority from the model.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• The semantic layer makes analytics definitions explicit, auditable, and reusable for a target system.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• The compiler produces read-only SQL from approved definitions and blocks unsupported execution paths.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• The nopCommerce [7] prototype, static datasets, and admin-fidelity checks show that the approach can be implemented and evaluated practically.</a:t>
            </a:r>
          </a:p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000">
                <a:solidFill>
                  <a:srgbClr val="003366"/>
                </a:solidFill>
                <a:latin typeface="Times New Roman"/>
              </a:rPr>
              <a:t>Main contribution: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700">
                <a:solidFill>
                  <a:srgbClr val="333333"/>
                </a:solidFill>
                <a:latin typeface="Times New Roman"/>
              </a:rPr>
              <a:t>• A constraint-based architecture for safe LLM-assisted natural language analytics.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Future Work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645920"/>
            <a:ext cx="9784080" cy="3977639"/>
          </a:xfrm>
          <a:prstGeom prst="rect">
            <a:avLst/>
          </a:prstGeom>
          <a:noFill/>
        </p:spPr>
        <p:txBody>
          <a:bodyPr wrap="square" anchor="t" lIns="0" tIns="0" rIns="0">
            <a:spAutoFit/>
          </a:bodyPr>
          <a:lstStyle/>
          <a:p>
            <a:pPr marL="0" indent="0">
              <a:lnSpc>
                <a:spcPct val="108000"/>
              </a:lnSpc>
              <a:spcBef>
                <a:spcPts val="1200"/>
              </a:spcBef>
              <a:spcAft>
                <a:spcPts val="500"/>
              </a:spcAft>
            </a:pPr>
            <a:r>
              <a:rPr b="1" i="0" sz="2100">
                <a:solidFill>
                  <a:srgbClr val="003366"/>
                </a:solidFill>
                <a:latin typeface="Times New Roman"/>
              </a:rPr>
              <a:t>Possible extensions: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• Evaluate AEGIS on another e-commerce system by replacing only the semantic layer.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• Add more oracle reports from real admin and business workflows.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• Extend compiler modules for PostgreSQL and SQL Server.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• Improve clarification behavior for ambiguous but answerable user questions.</a:t>
            </a:r>
          </a:p>
          <a:p>
            <a:pPr marL="256032" indent="-256032">
              <a:lnSpc>
                <a:spcPct val="108000"/>
              </a:lnSpc>
              <a:spcBef>
                <a:spcPts val="300"/>
              </a:spcBef>
              <a:spcAft>
                <a:spcPts val="700"/>
              </a:spcAft>
            </a:pPr>
            <a:r>
              <a:rPr b="0" i="0" sz="1800">
                <a:solidFill>
                  <a:srgbClr val="333333"/>
                </a:solidFill>
                <a:latin typeface="Times New Roman"/>
              </a:rPr>
              <a:t>• Add richer chart recommendation while keeping SQL generation deterministic.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References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27632"/>
            <a:ext cx="10744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[1] Li, F., &amp; Jagadish, H. V. (2014). Constructing an interactive natural language interface for relational databases. PVLDB.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[2] Narechania, A., Srinivasan, A., &amp; Stasko, J. (2021). nl4dv: A toolkit for generating analytic specifications from natural language. IEEE TVCG.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[3] Deng, D., Wu, A., Qu, H., &amp; Wu, Y. (2023). DashBot: Insight-driven dashboard generation. IEEE TVCG.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[4] Scholak, T., Schucher, N., &amp; Bahdanau, D. (2021). PICARD: Parsing incrementally for constrained auto-regressive decoding. EMNLP.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[5] Shalaan, H. S. et al. (2025). G-SQL: A schema-aware and rule-guided approach for robust natural language to SQL translation. IEEE Access.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[6] Su, X. et al. (2026). A robust natural language text-to-SQL generation framework with dynamic strategies based on LLMs. Scientific Reports.</a:t>
            </a:r>
          </a:p>
          <a:p>
            <a:pPr marL="274320" indent="-274320">
              <a:lnSpc>
                <a:spcPct val="105000"/>
              </a:lnSpc>
              <a:spcAft>
                <a:spcPts val="900"/>
              </a:spcAft>
            </a:pPr>
            <a:r>
              <a:rPr sz="1200">
                <a:solidFill>
                  <a:srgbClr val="333333"/>
                </a:solidFill>
                <a:latin typeface="Times New Roman"/>
              </a:rPr>
              <a:t>[7] nopSolutions. nopCommerce open-source e-commerce platform. GitHub repository.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ectangle 10">
            <a:extLst>
              <a:ext uri="{FF2B5EF4-FFF2-40B4-BE49-F238E27FC236}">
                <a16:creationId xmlns:a16="http://schemas.microsoft.com/office/drawing/2014/main" id="{D059D760-A365-91EB-B942-587B657A477E}"/>
              </a:ext>
            </a:extLst>
          </p:cNvPr>
          <p:cNvSpPr/>
          <p:nvPr/>
        </p:nvSpPr>
        <p:spPr>
          <a:xfrm>
            <a:off x="-1" y="1500807"/>
            <a:ext cx="12191999" cy="18288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40000"/>
                  <a:lumOff val="60000"/>
                </a:schemeClr>
              </a:gs>
              <a:gs pos="36000">
                <a:schemeClr val="accent1">
                  <a:lumMod val="95000"/>
                  <a:lumOff val="5000"/>
                </a:schemeClr>
              </a:gs>
              <a:gs pos="100000">
                <a:schemeClr val="tx2">
                  <a:lumMod val="50000"/>
                </a:schemeClr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F49795-9FC6-D65C-AAE9-247F6DF3DA3F}"/>
              </a:ext>
            </a:extLst>
          </p:cNvPr>
          <p:cNvSpPr/>
          <p:nvPr/>
        </p:nvSpPr>
        <p:spPr>
          <a:xfrm>
            <a:off x="0" y="6291468"/>
            <a:ext cx="12192000" cy="586409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7AE48-C47C-33FE-8F56-0AA4260C9B62}"/>
              </a:ext>
            </a:extLst>
          </p:cNvPr>
          <p:cNvSpPr/>
          <p:nvPr/>
        </p:nvSpPr>
        <p:spPr>
          <a:xfrm>
            <a:off x="0" y="0"/>
            <a:ext cx="12192000" cy="15008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365760"/>
            <a:ext cx="9601200" cy="731520"/>
          </a:xfrm>
        </p:spPr>
        <p:txBody>
          <a:bodyPr/>
          <a:lstStyle/>
          <a:p>
            <a:pPr>
              <a:defRPr b="1" sz="2400">
                <a:solidFill>
                  <a:srgbClr val="003366"/>
                </a:solidFill>
                <a:latin typeface="Times New Roman"/>
              </a:defRPr>
            </a:pPr>
            <a:r>
              <a:t>Thank You &amp; Discussion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874" y="457199"/>
            <a:ext cx="592309" cy="58640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2A3C15-2DFB-89FB-3AD7-611F4E0BA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Tuesday, August 18,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B89723-33F1-15E2-783B-D602C962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Department of Computer Science &amp; Engineering, PUB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4B3F8-8A1A-BE19-5C71-AE319E3DC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  <a:latin typeface="Times New Roman"/>
              </a:defRPr>
            </a:pPr>
            <a:r>
              <a:t>THANK YOU!</a:t>
            </a:r>
          </a:p>
          <a:p>
            <a:pPr algn="ctr">
              <a:defRPr sz="2000" i="1">
                <a:solidFill>
                  <a:srgbClr val="464646"/>
                </a:solidFill>
                <a:latin typeface="Times New Roman"/>
              </a:defRPr>
            </a:pPr>
            <a:r>
              <a:t>Questions &amp; Final Defense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F65C7BDA-76C9-4226-9B1A-FE228012FD2F}" vid="{A434E4A6-0EAA-4E37-B99D-C00F0197FD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FY Presentation Template</Template>
  <TotalTime>511</TotalTime>
  <Words>1129</Words>
  <Application>Microsoft Office PowerPoint</Application>
  <PresentationFormat>Widescreen</PresentationFormat>
  <Paragraphs>253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Agrandir Narrow Bold</vt:lpstr>
      <vt:lpstr>Aileron Bold</vt:lpstr>
      <vt:lpstr>Aileron Ultra-Bold</vt:lpstr>
      <vt:lpstr>Akzidenz-Grotesk Bold</vt:lpstr>
      <vt:lpstr>Arial</vt:lpstr>
      <vt:lpstr>Calibri</vt:lpstr>
      <vt:lpstr>Calibri Light</vt:lpstr>
      <vt:lpstr>Times New Roman</vt:lpstr>
      <vt:lpstr>Wingdings</vt:lpstr>
      <vt:lpstr>Office Theme</vt:lpstr>
      <vt:lpstr>        A Geo-Location-Based Platform for Connecting Users with Skilled Professionals Using Mobile Application</vt:lpstr>
      <vt:lpstr>A Geo-Location-Based Platform for Connecting Users with Skilled Professionals Using Mobile Application</vt:lpstr>
      <vt:lpstr>Outline</vt:lpstr>
      <vt:lpstr>Introduction </vt:lpstr>
      <vt:lpstr>Problem Statement</vt:lpstr>
      <vt:lpstr>Feasibility Study</vt:lpstr>
      <vt:lpstr>Existing Work</vt:lpstr>
      <vt:lpstr> Objectives</vt:lpstr>
      <vt:lpstr> Proposed Methodology</vt:lpstr>
      <vt:lpstr> Key Features</vt:lpstr>
      <vt:lpstr>  Activity Diagram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 Tools &amp; Technologies</vt:lpstr>
      <vt:lpstr>    Expected Outcomes</vt:lpstr>
      <vt:lpstr>     References</vt:lpstr>
      <vt:lpstr>  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AEGIS: A Constraint-Based Architecture for Safe LLM-Assisted Natural Language Analytics</dc:title>
  <dc:creator>Md. Riaz</dc:creator>
  <cp:lastModifiedBy>HP</cp:lastModifiedBy>
  <cp:revision>25</cp:revision>
  <dcterms:created xsi:type="dcterms:W3CDTF">2025-07-15T06:51:59Z</dcterms:created>
  <dcterms:modified xsi:type="dcterms:W3CDTF">2026-01-05T09:27:32Z</dcterms:modified>
  <dc:subject>Final Defense Presentation</dc:subject>
</cp:coreProperties>
</file>