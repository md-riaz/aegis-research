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6"/>
    <p:sldId id="272" r:id="rId5"/>
    <p:sldId id="27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816"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18.xml"/><Relationship Id="rId5" Type="http://schemas.openxmlformats.org/officeDocument/2006/relationships/slide" Target="slides/slide17.xml"/><Relationship Id="rId6" Type="http://schemas.openxmlformats.org/officeDocument/2006/relationships/slide" Target="slides/slide1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9ED17C-F12B-40CB-B332-C6480DB8E7F0}"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46629-DDE9-4049-9809-56964DD20E02}" type="slidenum">
              <a:rPr lang="en-US" smtClean="0"/>
              <a:t>‹#›</a:t>
            </a:fld>
            <a:endParaRPr lang="en-US"/>
          </a:p>
        </p:txBody>
      </p:sp>
    </p:spTree>
    <p:extLst>
      <p:ext uri="{BB962C8B-B14F-4D97-AF65-F5344CB8AC3E}">
        <p14:creationId xmlns:p14="http://schemas.microsoft.com/office/powerpoint/2010/main" val="1368661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Honorable Chairman, respected committee members, and distinguished faculty. Welcome to my mid-defense presentation. Today, I present AEGIS—a research investigation into a constraint-based architecture designed to separate probabilistic language understanding from deterministic database execution in natural language analytics.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natural language analytics is highly desirable for decision-makers, allowing Large Language Models to generate free-form SQL creates an inherent security paradox. Entrusting a stochastic neural model with direct query generation compromises database governance and execution safety.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problem statement highlights three core vulnerability classes in current systems: Structural Injection, Schema Hallucination, and Access Control Bypass. We investigate how structural constraints can mitigate these risks without sacrificing natural language flexibility.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review of existing work—such as RAT-SQL, RESDSQL, and DIN-SQL—the research focus has been almost exclusively on improving parsing accuracy, while database execution safety, schema isolation, and structural governance remain unaddressed.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our literature review, we identify three critical research gaps: the lack of execution safety guarantees, the over-exposure of internal database schemas, and the tight coupling of language understanding with query string generation.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research is guided by three formal research questions: First, can we perform natural language analytics without LLM-generated SQL? Second, does deterministic compilation improve database security? And third, can semantic constraints maintain analytical utility while eliminating risks?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 is to investigate the separation of probabilistic language parsing from deterministic query compilation. We aim to contribute a closed-vocabulary abstraction layer, a deterministic AST compiler, a dual-layer verification engine, and empirical benchmark findings.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theoretical core of AEGIS is shifting from query generation to deterministic compilation. The LLM acts purely as an intent classifier emitting JSON. The actual SQL construction is handled by a deterministic compiler.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AEGIS architecture consists of 7 pipeline stages. Stage 1 is the only AI component, responsible for intent classification. Stages 2 through 7 operate in a trusted, deterministic environment that verifies safety prior to database execution.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AEGIS introduces a Closed-Vocabulary Semantic Layer. Instead of exposing raw database schemas, the model interacts only with pre-approved metrics and dimensions. Unexposed tables and system metadata remain completely isolated.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threat model evaluates four key attack vectors: prompt injection, schema exfiltration, data mutation, and cartesian join explosion. AEGIS provides structural defenses against each threat vector prior to database execution.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current prototype progress, intent extraction successfully maps user queries into bounded JSON structures. Notice that raw SQL keywords like SELECT, FROM, or WHERE are completely absent from the AI's output.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empirical evaluation, we designed a test environment using a multi-table e-commerce database. Our benchmark plan includes 100 analytical queries and 20 adversarial prompt injection attacks to rigorously evaluate security and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establish three quantitative metrics to evaluate AEGIS: Unsafe Query Execution Rate for security, Query Execution Validity for compilation accuracy, and Semantic Term Coverage for intent disambiguation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preliminary testing, AEGIS achieved a 0.0% Unsafe Query Rate and 100% Execution Validity. In comparison, direct generative baselines suffered from syntax errors, invalid joins, and vulnerable query generation under injection attacks.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research architecture has scope boundaries. AEGIS trades unconstrained SQL generation for guaranteed execution safety. Un-mapped metrics require registry updates before they can be compiled.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toward our final defense, our research roadmap includes expanding benchmark testing across additional schemas, extending AST compilation to complex window functions, and completing the thesis dissertation.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honorable committee members for your time, attention, and valuable guidance. I am now open for your questions, feedback,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010A2-2799-FE5F-7ED3-EB6017D4A1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FDB441-FC1F-DE44-F6CE-9071CC1BB9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99C45D-883E-7779-00CB-DBC9446D193D}"/>
              </a:ext>
            </a:extLst>
          </p:cNvPr>
          <p:cNvSpPr>
            <a:spLocks noGrp="1"/>
          </p:cNvSpPr>
          <p:nvPr>
            <p:ph type="dt" sz="half" idx="10"/>
          </p:nvPr>
        </p:nvSpPr>
        <p:spPr/>
        <p:txBody>
          <a:bodyPr/>
          <a:lstStyle/>
          <a:p>
            <a:fld id="{0EB26F32-91A8-4340-868D-5E0A85BEE796}" type="datetime2">
              <a:rPr lang="en-US" smtClean="0"/>
              <a:t>Monday, January 5, 2026</a:t>
            </a:fld>
            <a:endParaRPr lang="en-US"/>
          </a:p>
        </p:txBody>
      </p:sp>
      <p:sp>
        <p:nvSpPr>
          <p:cNvPr id="5" name="Footer Placeholder 4">
            <a:extLst>
              <a:ext uri="{FF2B5EF4-FFF2-40B4-BE49-F238E27FC236}">
                <a16:creationId xmlns:a16="http://schemas.microsoft.com/office/drawing/2014/main" id="{9AD1568B-516F-8789-445D-64FD01EABD06}"/>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5691F1F7-A3B0-7732-298C-5AA7838DF9BC}"/>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2084579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5FF4E-617C-962C-941E-340049DCD5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D138BE-F1A8-1373-5286-AABA55AAB9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910DC0-4A9D-C5CF-F3D5-178353D0CA71}"/>
              </a:ext>
            </a:extLst>
          </p:cNvPr>
          <p:cNvSpPr>
            <a:spLocks noGrp="1"/>
          </p:cNvSpPr>
          <p:nvPr>
            <p:ph type="dt" sz="half" idx="10"/>
          </p:nvPr>
        </p:nvSpPr>
        <p:spPr/>
        <p:txBody>
          <a:bodyPr/>
          <a:lstStyle/>
          <a:p>
            <a:fld id="{BF5A2554-468B-44E7-959E-8F3376471EAD}" type="datetime2">
              <a:rPr lang="en-US" smtClean="0"/>
              <a:t>Monday, January 5, 2026</a:t>
            </a:fld>
            <a:endParaRPr lang="en-US"/>
          </a:p>
        </p:txBody>
      </p:sp>
      <p:sp>
        <p:nvSpPr>
          <p:cNvPr id="5" name="Footer Placeholder 4">
            <a:extLst>
              <a:ext uri="{FF2B5EF4-FFF2-40B4-BE49-F238E27FC236}">
                <a16:creationId xmlns:a16="http://schemas.microsoft.com/office/drawing/2014/main" id="{E56BBE8E-91E4-ED3B-758D-71E53DC60591}"/>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D1F98918-B618-D501-E52B-6715935ACBFB}"/>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3940620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0F9C9-C56B-F97A-7A67-5F80EF6599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DD72EF-0371-4EF3-F13B-00B9A9A288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22793C-09E8-86E9-6545-F087C62A7C7E}"/>
              </a:ext>
            </a:extLst>
          </p:cNvPr>
          <p:cNvSpPr>
            <a:spLocks noGrp="1"/>
          </p:cNvSpPr>
          <p:nvPr>
            <p:ph type="dt" sz="half" idx="10"/>
          </p:nvPr>
        </p:nvSpPr>
        <p:spPr/>
        <p:txBody>
          <a:bodyPr/>
          <a:lstStyle/>
          <a:p>
            <a:fld id="{91B59EFF-22CB-4D13-B295-F8753D08A73B}" type="datetime2">
              <a:rPr lang="en-US" smtClean="0"/>
              <a:t>Monday, January 5, 2026</a:t>
            </a:fld>
            <a:endParaRPr lang="en-US"/>
          </a:p>
        </p:txBody>
      </p:sp>
      <p:sp>
        <p:nvSpPr>
          <p:cNvPr id="5" name="Footer Placeholder 4">
            <a:extLst>
              <a:ext uri="{FF2B5EF4-FFF2-40B4-BE49-F238E27FC236}">
                <a16:creationId xmlns:a16="http://schemas.microsoft.com/office/drawing/2014/main" id="{B4A0B9DE-F9AF-C044-B742-EE46DA54C508}"/>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C532D79C-9841-FDA0-404A-39F5A0A2B668}"/>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933159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4FE28-B718-D71C-2EA9-1B632A6367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8EE841-31A1-54CE-183E-5A44AAFA3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573B3D6-8DC7-44CC-9B9B-B93034578A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54ECBA-B5CC-A31F-146E-6A782EECF512}"/>
              </a:ext>
            </a:extLst>
          </p:cNvPr>
          <p:cNvSpPr>
            <a:spLocks noGrp="1"/>
          </p:cNvSpPr>
          <p:nvPr>
            <p:ph type="dt" sz="half" idx="10"/>
          </p:nvPr>
        </p:nvSpPr>
        <p:spPr/>
        <p:txBody>
          <a:bodyPr/>
          <a:lstStyle/>
          <a:p>
            <a:fld id="{6055A188-44D0-4F09-95D3-72A118F02586}" type="datetime2">
              <a:rPr lang="en-US" smtClean="0"/>
              <a:t>Monday, January 5, 2026</a:t>
            </a:fld>
            <a:endParaRPr lang="en-US"/>
          </a:p>
        </p:txBody>
      </p:sp>
      <p:sp>
        <p:nvSpPr>
          <p:cNvPr id="6" name="Footer Placeholder 5">
            <a:extLst>
              <a:ext uri="{FF2B5EF4-FFF2-40B4-BE49-F238E27FC236}">
                <a16:creationId xmlns:a16="http://schemas.microsoft.com/office/drawing/2014/main" id="{10FC95A0-8502-DDB7-350B-69039640528D}"/>
              </a:ext>
            </a:extLst>
          </p:cNvPr>
          <p:cNvSpPr>
            <a:spLocks noGrp="1"/>
          </p:cNvSpPr>
          <p:nvPr>
            <p:ph type="ftr" sz="quarter" idx="11"/>
          </p:nvPr>
        </p:nvSpPr>
        <p:spPr/>
        <p:txBody>
          <a:bodyPr/>
          <a:lstStyle/>
          <a:p>
            <a:r>
              <a:rPr lang="en-US"/>
              <a:t>Department of Computer Science &amp; Engineering, PUB</a:t>
            </a:r>
          </a:p>
        </p:txBody>
      </p:sp>
      <p:sp>
        <p:nvSpPr>
          <p:cNvPr id="7" name="Slide Number Placeholder 6">
            <a:extLst>
              <a:ext uri="{FF2B5EF4-FFF2-40B4-BE49-F238E27FC236}">
                <a16:creationId xmlns:a16="http://schemas.microsoft.com/office/drawing/2014/main" id="{38C0FE03-C2CF-FF0D-DA8E-6C168AD822BF}"/>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708569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391A6-EBFE-2902-D783-CC57008B1D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DF28CB-12B2-F1D2-C8B6-22F92B2B71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6B5252-2284-738C-D8D3-FDA5C61CFC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61ED42-0717-CEDF-F130-83B329241A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E235ED-66DF-805B-6261-6000A6BB05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E731C4-35E1-2943-49BF-A9F49F00C522}"/>
              </a:ext>
            </a:extLst>
          </p:cNvPr>
          <p:cNvSpPr>
            <a:spLocks noGrp="1"/>
          </p:cNvSpPr>
          <p:nvPr>
            <p:ph type="dt" sz="half" idx="10"/>
          </p:nvPr>
        </p:nvSpPr>
        <p:spPr/>
        <p:txBody>
          <a:bodyPr/>
          <a:lstStyle/>
          <a:p>
            <a:fld id="{8153173E-BCA8-4A3A-AC75-A00FF2F39098}" type="datetime2">
              <a:rPr lang="en-US" smtClean="0"/>
              <a:t>Monday, January 5, 2026</a:t>
            </a:fld>
            <a:endParaRPr lang="en-US"/>
          </a:p>
        </p:txBody>
      </p:sp>
      <p:sp>
        <p:nvSpPr>
          <p:cNvPr id="8" name="Footer Placeholder 7">
            <a:extLst>
              <a:ext uri="{FF2B5EF4-FFF2-40B4-BE49-F238E27FC236}">
                <a16:creationId xmlns:a16="http://schemas.microsoft.com/office/drawing/2014/main" id="{4578AF73-A3F6-154D-BBC0-390E58653938}"/>
              </a:ext>
            </a:extLst>
          </p:cNvPr>
          <p:cNvSpPr>
            <a:spLocks noGrp="1"/>
          </p:cNvSpPr>
          <p:nvPr>
            <p:ph type="ftr" sz="quarter" idx="11"/>
          </p:nvPr>
        </p:nvSpPr>
        <p:spPr/>
        <p:txBody>
          <a:bodyPr/>
          <a:lstStyle/>
          <a:p>
            <a:r>
              <a:rPr lang="en-US"/>
              <a:t>Department of Computer Science &amp; Engineering, PUB</a:t>
            </a:r>
          </a:p>
        </p:txBody>
      </p:sp>
      <p:sp>
        <p:nvSpPr>
          <p:cNvPr id="9" name="Slide Number Placeholder 8">
            <a:extLst>
              <a:ext uri="{FF2B5EF4-FFF2-40B4-BE49-F238E27FC236}">
                <a16:creationId xmlns:a16="http://schemas.microsoft.com/office/drawing/2014/main" id="{DE319234-EC89-C0B4-E246-54794909DD97}"/>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4279614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0A47B-3B21-F564-4C44-F3F39C8CDF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8F16C-025D-E8CF-C55B-9A48EA5D02D5}"/>
              </a:ext>
            </a:extLst>
          </p:cNvPr>
          <p:cNvSpPr>
            <a:spLocks noGrp="1"/>
          </p:cNvSpPr>
          <p:nvPr>
            <p:ph type="dt" sz="half" idx="10"/>
          </p:nvPr>
        </p:nvSpPr>
        <p:spPr/>
        <p:txBody>
          <a:bodyPr/>
          <a:lstStyle/>
          <a:p>
            <a:fld id="{E58D53B1-6CA6-43AD-AFC7-3BAAD7905353}" type="datetime2">
              <a:rPr lang="en-US" smtClean="0"/>
              <a:t>Monday, January 5, 2026</a:t>
            </a:fld>
            <a:endParaRPr lang="en-US"/>
          </a:p>
        </p:txBody>
      </p:sp>
      <p:sp>
        <p:nvSpPr>
          <p:cNvPr id="4" name="Footer Placeholder 3">
            <a:extLst>
              <a:ext uri="{FF2B5EF4-FFF2-40B4-BE49-F238E27FC236}">
                <a16:creationId xmlns:a16="http://schemas.microsoft.com/office/drawing/2014/main" id="{E086437C-4EC8-2BEE-1B01-39179C281BB4}"/>
              </a:ext>
            </a:extLst>
          </p:cNvPr>
          <p:cNvSpPr>
            <a:spLocks noGrp="1"/>
          </p:cNvSpPr>
          <p:nvPr>
            <p:ph type="ftr" sz="quarter" idx="11"/>
          </p:nvPr>
        </p:nvSpPr>
        <p:spPr/>
        <p:txBody>
          <a:bodyPr/>
          <a:lstStyle/>
          <a:p>
            <a:r>
              <a:rPr lang="en-US"/>
              <a:t>Department of Computer Science &amp; Engineering, PUB</a:t>
            </a:r>
          </a:p>
        </p:txBody>
      </p:sp>
      <p:sp>
        <p:nvSpPr>
          <p:cNvPr id="5" name="Slide Number Placeholder 4">
            <a:extLst>
              <a:ext uri="{FF2B5EF4-FFF2-40B4-BE49-F238E27FC236}">
                <a16:creationId xmlns:a16="http://schemas.microsoft.com/office/drawing/2014/main" id="{9529B9CD-31B6-F216-04D7-2D8490988F43}"/>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3401978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5D2B2E-62E1-D996-0F7D-965298FD88A5}"/>
              </a:ext>
            </a:extLst>
          </p:cNvPr>
          <p:cNvSpPr>
            <a:spLocks noGrp="1"/>
          </p:cNvSpPr>
          <p:nvPr>
            <p:ph type="dt" sz="half" idx="10"/>
          </p:nvPr>
        </p:nvSpPr>
        <p:spPr/>
        <p:txBody>
          <a:bodyPr/>
          <a:lstStyle/>
          <a:p>
            <a:fld id="{E8161911-596A-4E6F-AD9C-B71EEA0CF3A6}" type="datetime2">
              <a:rPr lang="en-US" smtClean="0"/>
              <a:t>Monday, January 5, 2026</a:t>
            </a:fld>
            <a:endParaRPr lang="en-US"/>
          </a:p>
        </p:txBody>
      </p:sp>
      <p:sp>
        <p:nvSpPr>
          <p:cNvPr id="3" name="Footer Placeholder 2">
            <a:extLst>
              <a:ext uri="{FF2B5EF4-FFF2-40B4-BE49-F238E27FC236}">
                <a16:creationId xmlns:a16="http://schemas.microsoft.com/office/drawing/2014/main" id="{F5718A65-0619-BBB3-D0F3-1A04A23521B8}"/>
              </a:ext>
            </a:extLst>
          </p:cNvPr>
          <p:cNvSpPr>
            <a:spLocks noGrp="1"/>
          </p:cNvSpPr>
          <p:nvPr>
            <p:ph type="ftr" sz="quarter" idx="11"/>
          </p:nvPr>
        </p:nvSpPr>
        <p:spPr/>
        <p:txBody>
          <a:bodyPr/>
          <a:lstStyle/>
          <a:p>
            <a:r>
              <a:rPr lang="en-US"/>
              <a:t>Department of Computer Science &amp; Engineering, PUB</a:t>
            </a:r>
          </a:p>
        </p:txBody>
      </p:sp>
      <p:sp>
        <p:nvSpPr>
          <p:cNvPr id="4" name="Slide Number Placeholder 3">
            <a:extLst>
              <a:ext uri="{FF2B5EF4-FFF2-40B4-BE49-F238E27FC236}">
                <a16:creationId xmlns:a16="http://schemas.microsoft.com/office/drawing/2014/main" id="{C62E0F82-47F7-3C1D-3991-A97DD022121C}"/>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1451321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FD86-268A-E8B1-DF2B-67C9077B41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599890-208F-07F8-6D61-A8A5E54507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65E985-C31A-EC84-643D-A298C147F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88AD1E-D15F-13DF-D0EE-3045E9BD972F}"/>
              </a:ext>
            </a:extLst>
          </p:cNvPr>
          <p:cNvSpPr>
            <a:spLocks noGrp="1"/>
          </p:cNvSpPr>
          <p:nvPr>
            <p:ph type="dt" sz="half" idx="10"/>
          </p:nvPr>
        </p:nvSpPr>
        <p:spPr/>
        <p:txBody>
          <a:bodyPr/>
          <a:lstStyle/>
          <a:p>
            <a:fld id="{36C82B00-7004-42D2-934B-515D1C4746E6}" type="datetime2">
              <a:rPr lang="en-US" smtClean="0"/>
              <a:t>Monday, January 5, 2026</a:t>
            </a:fld>
            <a:endParaRPr lang="en-US"/>
          </a:p>
        </p:txBody>
      </p:sp>
      <p:sp>
        <p:nvSpPr>
          <p:cNvPr id="6" name="Footer Placeholder 5">
            <a:extLst>
              <a:ext uri="{FF2B5EF4-FFF2-40B4-BE49-F238E27FC236}">
                <a16:creationId xmlns:a16="http://schemas.microsoft.com/office/drawing/2014/main" id="{08A0CA75-AA80-CA9F-0583-3D76A1D1EB84}"/>
              </a:ext>
            </a:extLst>
          </p:cNvPr>
          <p:cNvSpPr>
            <a:spLocks noGrp="1"/>
          </p:cNvSpPr>
          <p:nvPr>
            <p:ph type="ftr" sz="quarter" idx="11"/>
          </p:nvPr>
        </p:nvSpPr>
        <p:spPr/>
        <p:txBody>
          <a:bodyPr/>
          <a:lstStyle/>
          <a:p>
            <a:r>
              <a:rPr lang="en-US"/>
              <a:t>Department of Computer Science &amp; Engineering, PUB</a:t>
            </a:r>
          </a:p>
        </p:txBody>
      </p:sp>
      <p:sp>
        <p:nvSpPr>
          <p:cNvPr id="7" name="Slide Number Placeholder 6">
            <a:extLst>
              <a:ext uri="{FF2B5EF4-FFF2-40B4-BE49-F238E27FC236}">
                <a16:creationId xmlns:a16="http://schemas.microsoft.com/office/drawing/2014/main" id="{F873539F-6D07-DFE8-9D8E-4D0C9B7DFA87}"/>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1645051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43D71-67DB-BE48-8413-73578AF97B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5F6471-82C4-C1F2-457E-5700D30BEA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DEDCB74-DE1A-64CE-E074-6211862034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2EFCFA-3DB2-F7EC-E730-4AAEBE53AEAD}"/>
              </a:ext>
            </a:extLst>
          </p:cNvPr>
          <p:cNvSpPr>
            <a:spLocks noGrp="1"/>
          </p:cNvSpPr>
          <p:nvPr>
            <p:ph type="dt" sz="half" idx="10"/>
          </p:nvPr>
        </p:nvSpPr>
        <p:spPr/>
        <p:txBody>
          <a:bodyPr/>
          <a:lstStyle/>
          <a:p>
            <a:fld id="{B0C2A020-4EAE-4E4F-8C9E-951F4F971C76}" type="datetime2">
              <a:rPr lang="en-US" smtClean="0"/>
              <a:t>Monday, January 5, 2026</a:t>
            </a:fld>
            <a:endParaRPr lang="en-US"/>
          </a:p>
        </p:txBody>
      </p:sp>
      <p:sp>
        <p:nvSpPr>
          <p:cNvPr id="6" name="Footer Placeholder 5">
            <a:extLst>
              <a:ext uri="{FF2B5EF4-FFF2-40B4-BE49-F238E27FC236}">
                <a16:creationId xmlns:a16="http://schemas.microsoft.com/office/drawing/2014/main" id="{1BDC0783-E417-3900-5A15-F51D98BC1BA1}"/>
              </a:ext>
            </a:extLst>
          </p:cNvPr>
          <p:cNvSpPr>
            <a:spLocks noGrp="1"/>
          </p:cNvSpPr>
          <p:nvPr>
            <p:ph type="ftr" sz="quarter" idx="11"/>
          </p:nvPr>
        </p:nvSpPr>
        <p:spPr/>
        <p:txBody>
          <a:bodyPr/>
          <a:lstStyle/>
          <a:p>
            <a:r>
              <a:rPr lang="en-US"/>
              <a:t>Department of Computer Science &amp; Engineering, PUB</a:t>
            </a:r>
          </a:p>
        </p:txBody>
      </p:sp>
      <p:sp>
        <p:nvSpPr>
          <p:cNvPr id="7" name="Slide Number Placeholder 6">
            <a:extLst>
              <a:ext uri="{FF2B5EF4-FFF2-40B4-BE49-F238E27FC236}">
                <a16:creationId xmlns:a16="http://schemas.microsoft.com/office/drawing/2014/main" id="{6F6B4EA3-183F-C894-634E-C87BFD306370}"/>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4106246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1E11E-BBAC-E306-F0F6-8C56428592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5E9375-E4F8-5E47-F749-0E43582A32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69470-97B2-066F-3D3E-E9A4FB0264D6}"/>
              </a:ext>
            </a:extLst>
          </p:cNvPr>
          <p:cNvSpPr>
            <a:spLocks noGrp="1"/>
          </p:cNvSpPr>
          <p:nvPr>
            <p:ph type="dt" sz="half" idx="10"/>
          </p:nvPr>
        </p:nvSpPr>
        <p:spPr/>
        <p:txBody>
          <a:bodyPr/>
          <a:lstStyle/>
          <a:p>
            <a:fld id="{7C1C06AA-0BDC-429B-AE85-E36D6466E38F}" type="datetime2">
              <a:rPr lang="en-US" smtClean="0"/>
              <a:t>Monday, January 5, 2026</a:t>
            </a:fld>
            <a:endParaRPr lang="en-US"/>
          </a:p>
        </p:txBody>
      </p:sp>
      <p:sp>
        <p:nvSpPr>
          <p:cNvPr id="5" name="Footer Placeholder 4">
            <a:extLst>
              <a:ext uri="{FF2B5EF4-FFF2-40B4-BE49-F238E27FC236}">
                <a16:creationId xmlns:a16="http://schemas.microsoft.com/office/drawing/2014/main" id="{E0706243-198A-3AF4-6167-B23E62CC7287}"/>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B4F4819B-7F1A-1712-57FD-A38659BB87D1}"/>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2694016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2B1DF7-140F-18DE-6C89-ED937C3F58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AED161-72AA-0748-E7D9-A9002D3E61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42EE77-787F-8250-D203-870E3BDCC612}"/>
              </a:ext>
            </a:extLst>
          </p:cNvPr>
          <p:cNvSpPr>
            <a:spLocks noGrp="1"/>
          </p:cNvSpPr>
          <p:nvPr>
            <p:ph type="dt" sz="half" idx="10"/>
          </p:nvPr>
        </p:nvSpPr>
        <p:spPr/>
        <p:txBody>
          <a:bodyPr/>
          <a:lstStyle/>
          <a:p>
            <a:fld id="{B911CE58-21A7-48A7-8899-442DC8E1F8DD}" type="datetime2">
              <a:rPr lang="en-US" smtClean="0"/>
              <a:t>Monday, January 5, 2026</a:t>
            </a:fld>
            <a:endParaRPr lang="en-US"/>
          </a:p>
        </p:txBody>
      </p:sp>
      <p:sp>
        <p:nvSpPr>
          <p:cNvPr id="5" name="Footer Placeholder 4">
            <a:extLst>
              <a:ext uri="{FF2B5EF4-FFF2-40B4-BE49-F238E27FC236}">
                <a16:creationId xmlns:a16="http://schemas.microsoft.com/office/drawing/2014/main" id="{A755A889-6AB3-60FB-051F-B1DD3B910BB0}"/>
              </a:ext>
            </a:extLst>
          </p:cNvPr>
          <p:cNvSpPr>
            <a:spLocks noGrp="1"/>
          </p:cNvSpPr>
          <p:nvPr>
            <p:ph type="ftr" sz="quarter" idx="11"/>
          </p:nvPr>
        </p:nvSpPr>
        <p:spPr/>
        <p:txBody>
          <a:bodyPr/>
          <a:lstStyle/>
          <a:p>
            <a:r>
              <a:rPr lang="en-US"/>
              <a:t>Department of Computer Science &amp; Engineering, PUB</a:t>
            </a:r>
          </a:p>
        </p:txBody>
      </p:sp>
      <p:sp>
        <p:nvSpPr>
          <p:cNvPr id="6" name="Slide Number Placeholder 5">
            <a:extLst>
              <a:ext uri="{FF2B5EF4-FFF2-40B4-BE49-F238E27FC236}">
                <a16:creationId xmlns:a16="http://schemas.microsoft.com/office/drawing/2014/main" id="{9C774A74-18F7-DE41-0F12-EABFBBB6F4AA}"/>
              </a:ext>
            </a:extLst>
          </p:cNvPr>
          <p:cNvSpPr>
            <a:spLocks noGrp="1"/>
          </p:cNvSpPr>
          <p:nvPr>
            <p:ph type="sldNum" sz="quarter" idx="12"/>
          </p:nvPr>
        </p:nvSpPr>
        <p:spPr/>
        <p:txBody>
          <a:bodyPr/>
          <a:lstStyle/>
          <a:p>
            <a:fld id="{B4B5837F-C97E-4545-805A-A81BC2BC5EE4}" type="slidenum">
              <a:rPr lang="en-US" smtClean="0"/>
              <a:t>‹#›</a:t>
            </a:fld>
            <a:endParaRPr lang="en-US"/>
          </a:p>
        </p:txBody>
      </p:sp>
    </p:spTree>
    <p:extLst>
      <p:ext uri="{BB962C8B-B14F-4D97-AF65-F5344CB8AC3E}">
        <p14:creationId xmlns:p14="http://schemas.microsoft.com/office/powerpoint/2010/main" val="1708299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ED10EF-3C6F-5653-1C40-257FA515FA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FF79F23-7CA2-A3B1-C6F7-BBA7DE0077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6A714A-5F1A-95E3-6CA0-47E2358F4C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2E878E-58C3-45D4-9533-4D4E368A52BC}" type="datetime2">
              <a:rPr lang="en-US" smtClean="0"/>
              <a:t>Monday, January 5, 2026</a:t>
            </a:fld>
            <a:endParaRPr lang="en-US"/>
          </a:p>
        </p:txBody>
      </p:sp>
      <p:sp>
        <p:nvSpPr>
          <p:cNvPr id="5" name="Footer Placeholder 4">
            <a:extLst>
              <a:ext uri="{FF2B5EF4-FFF2-40B4-BE49-F238E27FC236}">
                <a16:creationId xmlns:a16="http://schemas.microsoft.com/office/drawing/2014/main" id="{B217EFD6-72B9-7DEE-473C-C500D5DC1A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Computer Science &amp; Engineering, PUB</a:t>
            </a:r>
          </a:p>
        </p:txBody>
      </p:sp>
      <p:sp>
        <p:nvSpPr>
          <p:cNvPr id="6" name="Slide Number Placeholder 5">
            <a:extLst>
              <a:ext uri="{FF2B5EF4-FFF2-40B4-BE49-F238E27FC236}">
                <a16:creationId xmlns:a16="http://schemas.microsoft.com/office/drawing/2014/main" id="{6D0DB06F-F648-F322-F9B5-751401074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B5837F-C97E-4545-805A-A81BC2BC5EE4}" type="slidenum">
              <a:rPr lang="en-US" smtClean="0"/>
              <a:t>‹#›</a:t>
            </a:fld>
            <a:endParaRPr lang="en-US"/>
          </a:p>
        </p:txBody>
      </p:sp>
    </p:spTree>
    <p:extLst>
      <p:ext uri="{BB962C8B-B14F-4D97-AF65-F5344CB8AC3E}">
        <p14:creationId xmlns:p14="http://schemas.microsoft.com/office/powerpoint/2010/main" val="22958385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Rectangle 6">
            <a:extLst>
              <a:ext uri="{FF2B5EF4-FFF2-40B4-BE49-F238E27FC236}">
                <a16:creationId xmlns:a16="http://schemas.microsoft.com/office/drawing/2014/main" id="{86E891FF-ACD8-A286-1B16-C741C516BE9D}"/>
              </a:ext>
            </a:extLst>
          </p:cNvPr>
          <p:cNvSpPr/>
          <p:nvPr/>
        </p:nvSpPr>
        <p:spPr>
          <a:xfrm>
            <a:off x="0" y="5946468"/>
            <a:ext cx="12192000" cy="931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923E7505-B103-38D8-46D8-4E396DB4C8E4}"/>
              </a:ext>
            </a:extLst>
          </p:cNvPr>
          <p:cNvSpPr/>
          <p:nvPr/>
        </p:nvSpPr>
        <p:spPr>
          <a:xfrm>
            <a:off x="0" y="0"/>
            <a:ext cx="12192000" cy="3655326"/>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p:txBody>
          <a:bodyPr/>
          <a:lstStyle/>
          <a:p>
            <a:pPr algn="ctr">
              <a:defRPr b="1" sz="2800">
                <a:solidFill>
                  <a:srgbClr val="003366"/>
                </a:solidFill>
              </a:defRPr>
            </a:pPr>
            <a:r>
              <a:t>AEGIS: A Constraint-Based Architecture for Safe</a:t>
            </a:r>
          </a:p>
          <a:p>
            <a:pPr algn="ctr">
              <a:defRPr b="1" sz="2800">
                <a:solidFill>
                  <a:srgbClr val="003366"/>
                </a:solidFill>
              </a:defRPr>
            </a:pPr>
            <a:r>
              <a:t>LLM-Assisted Natural Language Analytics</a:t>
            </a:r>
          </a:p>
        </p:txBody>
      </p:sp>
      <p:sp>
        <p:nvSpPr>
          <p:cNvPr id="3" name="Subtitle 2"/>
          <p:cNvSpPr>
            <a:spLocks noGrp="1"/>
          </p:cNvSpPr>
          <p:nvPr>
            <p:ph type="subTitle" idx="1"/>
          </p:nvPr>
        </p:nvSpPr>
        <p:spPr/>
        <p:txBody>
          <a:bodyPr/>
          <a:lstStyle/>
          <a:p>
            <a:pPr algn="ctr">
              <a:defRPr sz="1800"/>
            </a:pPr>
            <a:r>
              <a:t>Mid-Defense Research Presentation</a:t>
            </a:r>
          </a:p>
          <a:p>
            <a:pPr algn="ctr">
              <a:defRPr sz="1800"/>
            </a:pPr>
          </a:p>
          <a:p>
            <a:pPr algn="ctr">
              <a:defRPr sz="1800"/>
            </a:pPr>
            <a:r>
              <a:t>Presenter: Md. Riaz</a:t>
            </a:r>
          </a:p>
          <a:p>
            <a:pPr algn="ctr">
              <a:defRPr sz="1800"/>
            </a:pPr>
            <a:r>
              <a:t>Program: B.Sc. in CSE | ID: 0322310105101024</a:t>
            </a:r>
          </a:p>
        </p:txBody>
      </p:sp>
      <p:pic>
        <p:nvPicPr>
          <p:cNvPr id="8" name="Picture 7" descr="image.png"/>
          <p:cNvPicPr>
            <a:picLocks noChangeAspect="1"/>
          </p:cNvPicPr>
          <p:nvPr/>
        </p:nvPicPr>
        <p:blipFill>
          <a:blip r:embed="rId2"/>
          <a:stretch>
            <a:fillRect/>
          </a:stretch>
        </p:blipFill>
        <p:spPr>
          <a:xfrm>
            <a:off x="5719203" y="641463"/>
            <a:ext cx="753594" cy="74608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Research Background &amp; Context</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1097280" y="1645920"/>
            <a:ext cx="10058400" cy="4114800"/>
          </a:xfrm>
          <a:prstGeom prst="rect">
            <a:avLst/>
          </a:prstGeom>
          <a:noFill/>
        </p:spPr>
        <p:txBody>
          <a:bodyPr wrap="square">
            <a:spAutoFit/>
          </a:bodyPr>
          <a:lstStyle/>
          <a:p>
            <a:pPr>
              <a:defRPr sz="1800">
                <a:solidFill>
                  <a:srgbClr val="333333"/>
                </a:solidFill>
              </a:defRPr>
            </a:pPr>
            <a:r>
              <a:t>The Natural Language Interface Imperative:</a:t>
            </a:r>
          </a:p>
          <a:p>
            <a:pPr>
              <a:defRPr sz="1800">
                <a:solidFill>
                  <a:srgbClr val="333333"/>
                </a:solidFill>
              </a:defRPr>
            </a:pPr>
            <a:r>
              <a:t>• Translating natural language questions directly into analytical insights democratizes access to complex relational databases.</a:t>
            </a:r>
          </a:p>
          <a:p>
            <a:pPr>
              <a:defRPr sz="1800">
                <a:solidFill>
                  <a:srgbClr val="333333"/>
                </a:solidFill>
              </a:defRPr>
            </a:pPr>
          </a:p>
          <a:p>
            <a:pPr>
              <a:defRPr sz="1800">
                <a:solidFill>
                  <a:srgbClr val="333333"/>
                </a:solidFill>
              </a:defRPr>
            </a:pPr>
            <a:r>
              <a:t>The Direct Execution Paradigm &amp; Its Paradox:</a:t>
            </a:r>
          </a:p>
          <a:p>
            <a:pPr>
              <a:defRPr sz="1800">
                <a:solidFill>
                  <a:srgbClr val="333333"/>
                </a:solidFill>
              </a:defRPr>
            </a:pPr>
            <a:r>
              <a:t>• Contemporary approaches rely on Generative LLMs emitting executable SQL statements directly.</a:t>
            </a:r>
          </a:p>
          <a:p>
            <a:pPr>
              <a:defRPr sz="1800">
                <a:solidFill>
                  <a:srgbClr val="333333"/>
                </a:solidFill>
              </a:defRPr>
            </a:pPr>
            <a:r>
              <a:t>• The Research Paradox: Allowing a neural language model to directly write executable queries introduces non-deterministic execution risks and violates the Principle of Least Privilege in database security.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Problem Statement &amp; Vulnerability Taxonomy</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1097280" y="1645920"/>
            <a:ext cx="10058400" cy="4114800"/>
          </a:xfrm>
          <a:prstGeom prst="rect">
            <a:avLst/>
          </a:prstGeom>
          <a:noFill/>
        </p:spPr>
        <p:txBody>
          <a:bodyPr wrap="square">
            <a:spAutoFit/>
          </a:bodyPr>
          <a:lstStyle/>
          <a:p>
            <a:pPr>
              <a:defRPr sz="1600">
                <a:solidFill>
                  <a:srgbClr val="333333"/>
                </a:solidFill>
              </a:defRPr>
            </a:pPr>
            <a:r>
              <a:t>Current Generative NL2SQL approaches exhibit 3 structural vulnerability classes:</a:t>
            </a:r>
          </a:p>
          <a:p>
            <a:pPr>
              <a:defRPr sz="1600">
                <a:solidFill>
                  <a:srgbClr val="333333"/>
                </a:solidFill>
              </a:defRPr>
            </a:pPr>
          </a:p>
          <a:p>
            <a:pPr>
              <a:defRPr sz="1600">
                <a:solidFill>
                  <a:srgbClr val="333333"/>
                </a:solidFill>
              </a:defRPr>
            </a:pPr>
            <a:r>
              <a:t>1. Vulnerability Class I: Structural Injection Risk</a:t>
            </a:r>
          </a:p>
          <a:p>
            <a:pPr>
              <a:defRPr sz="1600">
                <a:solidFill>
                  <a:srgbClr val="333333"/>
                </a:solidFill>
              </a:defRPr>
            </a:pPr>
            <a:r>
              <a:t>   Adversarial prompt manipulation can bypass model instructions, causing neural models to output data-modifying DML/DDL statements (DROP, DELETE, UPDATE).</a:t>
            </a:r>
          </a:p>
          <a:p>
            <a:pPr>
              <a:defRPr sz="1600">
                <a:solidFill>
                  <a:srgbClr val="333333"/>
                </a:solidFill>
              </a:defRPr>
            </a:pPr>
            <a:r>
              <a:t>2. Vulnerability Class II: Unbounded Schema Hallucination</a:t>
            </a:r>
          </a:p>
          <a:p>
            <a:pPr>
              <a:defRPr sz="1600">
                <a:solidFill>
                  <a:srgbClr val="333333"/>
                </a:solidFill>
              </a:defRPr>
            </a:pPr>
            <a:r>
              <a:t>   Probabilistic token generation leads to hallucinated table joins, non-existent entity relations, and invalid column attributes.</a:t>
            </a:r>
          </a:p>
          <a:p>
            <a:pPr>
              <a:defRPr sz="1600">
                <a:solidFill>
                  <a:srgbClr val="333333"/>
                </a:solidFill>
              </a:defRPr>
            </a:pPr>
            <a:r>
              <a:t>3. Vulnerability Class III: Access Control &amp; Context Bypass</a:t>
            </a:r>
          </a:p>
          <a:p>
            <a:pPr>
              <a:defRPr sz="1600">
                <a:solidFill>
                  <a:srgbClr val="333333"/>
                </a:solidFill>
              </a:defRPr>
            </a:pPr>
            <a:r>
              <a:t>   Direct query generation bypasses application-level multi-tenant boundaries and row-level security scopes.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Literature Review &amp; Existing Analysis</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graphicFrame>
        <p:nvGraphicFramePr>
          <p:cNvPr id="13" name="Table 12"/>
          <p:cNvGraphicFramePr>
            <a:graphicFrameLocks noGrp="1"/>
          </p:cNvGraphicFramePr>
          <p:nvPr/>
        </p:nvGraphicFramePr>
        <p:xfrm>
          <a:off x="457200" y="1463040"/>
          <a:ext cx="11247120" cy="4389120"/>
        </p:xfrm>
        <a:graphic>
          <a:graphicData uri="http://schemas.openxmlformats.org/drawingml/2006/table">
            <a:tbl>
              <a:tblPr firstRow="1" bandRow="1">
                <a:tableStyleId>{5C22544A-7EE6-4342-B048-85BDC9FD1C3A}</a:tableStyleId>
              </a:tblPr>
              <a:tblGrid>
                <a:gridCol w="2560320"/>
                <a:gridCol w="2286000"/>
                <a:gridCol w="3200400"/>
                <a:gridCol w="3200400"/>
              </a:tblGrid>
              <a:tr h="731520">
                <a:tc>
                  <a:txBody>
                    <a:bodyPr/>
                    <a:lstStyle/>
                    <a:p>
                      <a:pPr>
                        <a:defRPr b="1" sz="1400">
                          <a:solidFill>
                            <a:srgbClr val="FFFFFF"/>
                          </a:solidFill>
                        </a:defRPr>
                      </a:pPr>
                      <a:r>
                        <a:t>Author(s) [Year]</a:t>
                      </a:r>
                    </a:p>
                  </a:txBody>
                  <a:tcPr>
                    <a:solidFill>
                      <a:srgbClr val="003366"/>
                    </a:solidFill>
                  </a:tcPr>
                </a:tc>
                <a:tc>
                  <a:txBody>
                    <a:bodyPr/>
                    <a:lstStyle/>
                    <a:p>
                      <a:pPr>
                        <a:defRPr b="1" sz="1400">
                          <a:solidFill>
                            <a:srgbClr val="FFFFFF"/>
                          </a:solidFill>
                        </a:defRPr>
                      </a:pPr>
                      <a:r>
                        <a:t>Methodology</a:t>
                      </a:r>
                    </a:p>
                  </a:txBody>
                  <a:tcPr>
                    <a:solidFill>
                      <a:srgbClr val="003366"/>
                    </a:solidFill>
                  </a:tcPr>
                </a:tc>
                <a:tc>
                  <a:txBody>
                    <a:bodyPr/>
                    <a:lstStyle/>
                    <a:p>
                      <a:pPr>
                        <a:defRPr b="1" sz="1400">
                          <a:solidFill>
                            <a:srgbClr val="FFFFFF"/>
                          </a:solidFill>
                        </a:defRPr>
                      </a:pPr>
                      <a:r>
                        <a:t>Focus &amp; Approach</a:t>
                      </a:r>
                    </a:p>
                  </a:txBody>
                  <a:tcPr>
                    <a:solidFill>
                      <a:srgbClr val="003366"/>
                    </a:solidFill>
                  </a:tcPr>
                </a:tc>
                <a:tc>
                  <a:txBody>
                    <a:bodyPr/>
                    <a:lstStyle/>
                    <a:p>
                      <a:pPr>
                        <a:defRPr b="1" sz="1400">
                          <a:solidFill>
                            <a:srgbClr val="FFFFFF"/>
                          </a:solidFill>
                        </a:defRPr>
                      </a:pPr>
                      <a:r>
                        <a:t>Methodological Limitation</a:t>
                      </a:r>
                    </a:p>
                  </a:txBody>
                  <a:tcPr>
                    <a:solidFill>
                      <a:srgbClr val="003366"/>
                    </a:solidFill>
                  </a:tcPr>
                </a:tc>
              </a:tr>
              <a:tr h="731520">
                <a:tc>
                  <a:txBody>
                    <a:bodyPr/>
                    <a:lstStyle/>
                    <a:p>
                      <a:pPr>
                        <a:defRPr sz="1200"/>
                      </a:pPr>
                      <a:r>
                        <a:t>Wang et al. (2020) [RAT-SQL]</a:t>
                      </a:r>
                    </a:p>
                  </a:txBody>
                  <a:tcPr/>
                </a:tc>
                <a:tc>
                  <a:txBody>
                    <a:bodyPr/>
                    <a:lstStyle/>
                    <a:p>
                      <a:pPr>
                        <a:defRPr sz="1200"/>
                      </a:pPr>
                      <a:r>
                        <a:t>Transformer</a:t>
                      </a:r>
                    </a:p>
                  </a:txBody>
                  <a:tcPr/>
                </a:tc>
                <a:tc>
                  <a:txBody>
                    <a:bodyPr/>
                    <a:lstStyle/>
                    <a:p>
                      <a:pPr>
                        <a:defRPr sz="1200"/>
                      </a:pPr>
                      <a:r>
                        <a:t>Relation-aware schema encoding</a:t>
                      </a:r>
                    </a:p>
                  </a:txBody>
                  <a:tcPr/>
                </a:tc>
                <a:tc>
                  <a:txBody>
                    <a:bodyPr/>
                    <a:lstStyle/>
                    <a:p>
                      <a:pPr>
                        <a:defRPr sz="1200"/>
                      </a:pPr>
                      <a:r>
                        <a:t>Emits raw SQL strings; vulnerable to prompt injection &amp; hallucinations</a:t>
                      </a:r>
                    </a:p>
                  </a:txBody>
                  <a:tcPr/>
                </a:tc>
              </a:tr>
              <a:tr h="731520">
                <a:tc>
                  <a:txBody>
                    <a:bodyPr/>
                    <a:lstStyle/>
                    <a:p>
                      <a:pPr>
                        <a:defRPr sz="1200"/>
                      </a:pPr>
                      <a:r>
                        <a:t>Li et al. (2023) [RESDSQL]</a:t>
                      </a:r>
                    </a:p>
                  </a:txBody>
                  <a:tcPr/>
                </a:tc>
                <a:tc>
                  <a:txBody>
                    <a:bodyPr/>
                    <a:lstStyle/>
                    <a:p>
                      <a:pPr>
                        <a:defRPr sz="1200"/>
                      </a:pPr>
                      <a:r>
                        <a:t>Fine-Tuned LLM</a:t>
                      </a:r>
                    </a:p>
                  </a:txBody>
                  <a:tcPr/>
                </a:tc>
                <a:tc>
                  <a:txBody>
                    <a:bodyPr/>
                    <a:lstStyle/>
                    <a:p>
                      <a:pPr>
                        <a:defRPr sz="1200"/>
                      </a:pPr>
                      <a:r>
                        <a:t>Decoupled schema linking &amp; SQL skeleton</a:t>
                      </a:r>
                    </a:p>
                  </a:txBody>
                  <a:tcPr/>
                </a:tc>
                <a:tc>
                  <a:txBody>
                    <a:bodyPr/>
                    <a:lstStyle/>
                    <a:p>
                      <a:pPr>
                        <a:defRPr sz="1200"/>
                      </a:pPr>
                      <a:r>
                        <a:t>Requires specialized fine-tuning; lacks structural execution guardrails</a:t>
                      </a:r>
                    </a:p>
                  </a:txBody>
                  <a:tcPr/>
                </a:tc>
              </a:tr>
              <a:tr h="731520">
                <a:tc>
                  <a:txBody>
                    <a:bodyPr/>
                    <a:lstStyle/>
                    <a:p>
                      <a:pPr>
                        <a:defRPr sz="1200"/>
                      </a:pPr>
                      <a:r>
                        <a:t>Pourreza et al. (2024) [DIN-SQL]</a:t>
                      </a:r>
                    </a:p>
                  </a:txBody>
                  <a:tcPr/>
                </a:tc>
                <a:tc>
                  <a:txBody>
                    <a:bodyPr/>
                    <a:lstStyle/>
                    <a:p>
                      <a:pPr>
                        <a:defRPr sz="1200"/>
                      </a:pPr>
                      <a:r>
                        <a:t>Multi-Step Prompting</a:t>
                      </a:r>
                    </a:p>
                  </a:txBody>
                  <a:tcPr/>
                </a:tc>
                <a:tc>
                  <a:txBody>
                    <a:bodyPr/>
                    <a:lstStyle/>
                    <a:p>
                      <a:pPr>
                        <a:defRPr sz="1200"/>
                      </a:pPr>
                      <a:r>
                        <a:t>Decomposed prompting with GPT-4</a:t>
                      </a:r>
                    </a:p>
                  </a:txBody>
                  <a:tcPr/>
                </a:tc>
                <a:tc>
                  <a:txBody>
                    <a:bodyPr/>
                    <a:lstStyle/>
                    <a:p>
                      <a:pPr>
                        <a:defRPr sz="1200"/>
                      </a:pPr>
                      <a:r>
                        <a:t>High inference latency &amp; cost; prompt guardrails can be bypassed by injection</a:t>
                      </a:r>
                    </a:p>
                  </a:txBody>
                  <a:tcPr/>
                </a:tc>
              </a:tr>
              <a:tr h="731520">
                <a:tc>
                  <a:txBody>
                    <a:bodyPr/>
                    <a:lstStyle/>
                    <a:p>
                      <a:pPr>
                        <a:defRPr sz="1200"/>
                      </a:pPr>
                      <a:r>
                        <a:t>Sun et al. (2023) [SQL-PaLM]</a:t>
                      </a:r>
                    </a:p>
                  </a:txBody>
                  <a:tcPr/>
                </a:tc>
                <a:tc>
                  <a:txBody>
                    <a:bodyPr/>
                    <a:lstStyle/>
                    <a:p>
                      <a:pPr>
                        <a:defRPr sz="1200"/>
                      </a:pPr>
                      <a:r>
                        <a:t>LLM Fine-Tuning</a:t>
                      </a:r>
                    </a:p>
                  </a:txBody>
                  <a:tcPr/>
                </a:tc>
                <a:tc>
                  <a:txBody>
                    <a:bodyPr/>
                    <a:lstStyle/>
                    <a:p>
                      <a:pPr>
                        <a:defRPr sz="1200"/>
                      </a:pPr>
                      <a:r>
                        <a:t>Direct natural language to SQL translation</a:t>
                      </a:r>
                    </a:p>
                  </a:txBody>
                  <a:tcPr/>
                </a:tc>
                <a:tc>
                  <a:txBody>
                    <a:bodyPr/>
                    <a:lstStyle/>
                    <a:p>
                      <a:pPr>
                        <a:defRPr sz="1200"/>
                      </a:pPr>
                      <a:r>
                        <a:t>Opaque query execution; direct DB execution risks state-modifying DML/DDL</a:t>
                      </a:r>
                    </a:p>
                  </a:txBody>
                  <a:tcPr/>
                </a:tc>
              </a:tr>
              <a:tr h="731520">
                <a:tc>
                  <a:txBody>
                    <a:bodyPr/>
                    <a:lstStyle/>
                    <a:p>
                      <a:pPr>
                        <a:defRPr sz="1200"/>
                      </a:pPr>
                      <a:r>
                        <a:t>Guo et al. (2022) [Robust Parsing]</a:t>
                      </a:r>
                    </a:p>
                  </a:txBody>
                  <a:tcPr/>
                </a:tc>
                <a:tc>
                  <a:txBody>
                    <a:bodyPr/>
                    <a:lstStyle/>
                    <a:p>
                      <a:pPr>
                        <a:defRPr sz="1200"/>
                      </a:pPr>
                      <a:r>
                        <a:t>Semantic Parsing</a:t>
                      </a:r>
                    </a:p>
                  </a:txBody>
                  <a:tcPr/>
                </a:tc>
                <a:tc>
                  <a:txBody>
                    <a:bodyPr/>
                    <a:lstStyle/>
                    <a:p>
                      <a:pPr>
                        <a:defRPr sz="1200"/>
                      </a:pPr>
                      <a:r>
                        <a:t>Domain-shift robust semantic parsing</a:t>
                      </a:r>
                    </a:p>
                  </a:txBody>
                  <a:tcPr/>
                </a:tc>
                <a:tc>
                  <a:txBody>
                    <a:bodyPr/>
                    <a:lstStyle/>
                    <a:p>
                      <a:pPr>
                        <a:defRPr sz="1200"/>
                      </a:pPr>
                      <a:r>
                        <a:t>Exposes full raw database schema directly to neural network layers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Identified Research Gaps</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1097280" y="1645920"/>
            <a:ext cx="10058400" cy="4114800"/>
          </a:xfrm>
          <a:prstGeom prst="rect">
            <a:avLst/>
          </a:prstGeom>
          <a:noFill/>
        </p:spPr>
        <p:txBody>
          <a:bodyPr wrap="square">
            <a:spAutoFit/>
          </a:bodyPr>
          <a:lstStyle/>
          <a:p>
            <a:pPr>
              <a:defRPr sz="1800">
                <a:solidFill>
                  <a:srgbClr val="333333"/>
                </a:solidFill>
              </a:defRPr>
            </a:pPr>
            <a:r>
              <a:t>Methodological Gaps in Current Literature:</a:t>
            </a:r>
          </a:p>
          <a:p>
            <a:pPr>
              <a:defRPr sz="1800">
                <a:solidFill>
                  <a:srgbClr val="333333"/>
                </a:solidFill>
              </a:defRPr>
            </a:pPr>
          </a:p>
          <a:p>
            <a:pPr>
              <a:defRPr sz="1800">
                <a:solidFill>
                  <a:srgbClr val="333333"/>
                </a:solidFill>
              </a:defRPr>
            </a:pPr>
            <a:r>
              <a:t>• Gap 1: Absence of Execution Safety Guarantees</a:t>
            </a:r>
          </a:p>
          <a:p>
            <a:pPr>
              <a:defRPr sz="1800">
                <a:solidFill>
                  <a:srgbClr val="333333"/>
                </a:solidFill>
              </a:defRPr>
            </a:pPr>
            <a:r>
              <a:t>  Existing models rely on prompt engineering or model fine-tuning, leaving systems vulnerable to adversarial prompt injection attacks.</a:t>
            </a:r>
          </a:p>
          <a:p>
            <a:pPr>
              <a:defRPr sz="1800">
                <a:solidFill>
                  <a:srgbClr val="333333"/>
                </a:solidFill>
              </a:defRPr>
            </a:pPr>
          </a:p>
          <a:p>
            <a:pPr>
              <a:defRPr sz="1800">
                <a:solidFill>
                  <a:srgbClr val="333333"/>
                </a:solidFill>
              </a:defRPr>
            </a:pPr>
            <a:r>
              <a:t>• Gap 2: Over-Exposure of Database Schemas</a:t>
            </a:r>
          </a:p>
          <a:p>
            <a:pPr>
              <a:defRPr sz="1800">
                <a:solidFill>
                  <a:srgbClr val="333333"/>
                </a:solidFill>
              </a:defRPr>
            </a:pPr>
            <a:r>
              <a:t>  Current architectures expose raw database table definitions directly to untrusted neural models, exposing internal system metadata.</a:t>
            </a:r>
          </a:p>
          <a:p>
            <a:pPr>
              <a:defRPr sz="1800">
                <a:solidFill>
                  <a:srgbClr val="333333"/>
                </a:solidFill>
              </a:defRPr>
            </a:pPr>
          </a:p>
          <a:p>
            <a:pPr>
              <a:defRPr sz="1800">
                <a:solidFill>
                  <a:srgbClr val="333333"/>
                </a:solidFill>
              </a:defRPr>
            </a:pPr>
            <a:r>
              <a:t>• Gap 3: Entanglement of Language Understanding &amp; Query Synthesis</a:t>
            </a:r>
          </a:p>
          <a:p>
            <a:pPr>
              <a:defRPr sz="1800">
                <a:solidFill>
                  <a:srgbClr val="333333"/>
                </a:solidFill>
              </a:defRPr>
            </a:pPr>
            <a:r>
              <a:t>  Coupling natural language parsing with SQL string generation causes non-deterministic query execution.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Research Questions</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1097280" y="1645920"/>
            <a:ext cx="10058400" cy="4114800"/>
          </a:xfrm>
          <a:prstGeom prst="rect">
            <a:avLst/>
          </a:prstGeom>
          <a:noFill/>
        </p:spPr>
        <p:txBody>
          <a:bodyPr wrap="square">
            <a:spAutoFit/>
          </a:bodyPr>
          <a:lstStyle/>
          <a:p>
            <a:pPr>
              <a:defRPr sz="1700">
                <a:solidFill>
                  <a:srgbClr val="333333"/>
                </a:solidFill>
              </a:defRPr>
            </a:pPr>
            <a:r>
              <a:t>This thesis investigates 3 primary research questions:</a:t>
            </a:r>
          </a:p>
          <a:p>
            <a:pPr>
              <a:defRPr sz="1700">
                <a:solidFill>
                  <a:srgbClr val="333333"/>
                </a:solidFill>
              </a:defRPr>
            </a:pPr>
          </a:p>
          <a:p>
            <a:pPr>
              <a:defRPr sz="1700">
                <a:solidFill>
                  <a:srgbClr val="333333"/>
                </a:solidFill>
              </a:defRPr>
            </a:pPr>
            <a:r>
              <a:t>• Research Question 1 (RQ1):</a:t>
            </a:r>
          </a:p>
          <a:p>
            <a:pPr>
              <a:defRPr sz="1700">
                <a:solidFill>
                  <a:srgbClr val="333333"/>
                </a:solidFill>
              </a:defRPr>
            </a:pPr>
            <a:r>
              <a:t>  Can natural language analytics be performed without allowing Large Language Models to generate executable SQL code?</a:t>
            </a:r>
          </a:p>
          <a:p>
            <a:pPr>
              <a:defRPr sz="1700">
                <a:solidFill>
                  <a:srgbClr val="333333"/>
                </a:solidFill>
              </a:defRPr>
            </a:pPr>
          </a:p>
          <a:p>
            <a:pPr>
              <a:defRPr sz="1700">
                <a:solidFill>
                  <a:srgbClr val="333333"/>
                </a:solidFill>
              </a:defRPr>
            </a:pPr>
            <a:r>
              <a:t>• Research Question 2 (RQ2):</a:t>
            </a:r>
          </a:p>
          <a:p>
            <a:pPr>
              <a:defRPr sz="1700">
                <a:solidFill>
                  <a:srgbClr val="333333"/>
                </a:solidFill>
              </a:defRPr>
            </a:pPr>
            <a:r>
              <a:t>  Can deterministic query compilation improve database security and execution governance compared to generative baselines?</a:t>
            </a:r>
          </a:p>
          <a:p>
            <a:pPr>
              <a:defRPr sz="1700">
                <a:solidFill>
                  <a:srgbClr val="333333"/>
                </a:solidFill>
              </a:defRPr>
            </a:pPr>
          </a:p>
          <a:p>
            <a:pPr>
              <a:defRPr sz="1700">
                <a:solidFill>
                  <a:srgbClr val="333333"/>
                </a:solidFill>
              </a:defRPr>
            </a:pPr>
            <a:r>
              <a:t>• Research Question 3 (RQ3):</a:t>
            </a:r>
          </a:p>
          <a:p>
            <a:pPr>
              <a:defRPr sz="1700">
                <a:solidFill>
                  <a:srgbClr val="333333"/>
                </a:solidFill>
              </a:defRPr>
            </a:pPr>
            <a:r>
              <a:t>  Can closed-vocabulary semantic constraints preserve analytical expressiveness while eliminating execution risks?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Research Objectives &amp; Contributions</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1097280" y="1645920"/>
            <a:ext cx="10058400" cy="4114800"/>
          </a:xfrm>
          <a:prstGeom prst="rect">
            <a:avLst/>
          </a:prstGeom>
          <a:noFill/>
        </p:spPr>
        <p:txBody>
          <a:bodyPr wrap="square">
            <a:spAutoFit/>
          </a:bodyPr>
          <a:lstStyle/>
          <a:p>
            <a:pPr>
              <a:defRPr sz="1700">
                <a:solidFill>
                  <a:srgbClr val="333333"/>
                </a:solidFill>
              </a:defRPr>
            </a:pPr>
            <a:r>
              <a:t>Primary Research Objective:</a:t>
            </a:r>
          </a:p>
          <a:p>
            <a:pPr>
              <a:defRPr sz="1700">
                <a:solidFill>
                  <a:srgbClr val="333333"/>
                </a:solidFill>
              </a:defRPr>
            </a:pPr>
            <a:r>
              <a:t>• To propose, formalize, and evaluate AEGIS—a constraint-based architecture that investigates whether separating language understanding from database execution improves safety and governance in natural language analytics.</a:t>
            </a:r>
          </a:p>
          <a:p>
            <a:pPr>
              <a:defRPr sz="1700">
                <a:solidFill>
                  <a:srgbClr val="333333"/>
                </a:solidFill>
              </a:defRPr>
            </a:pPr>
          </a:p>
          <a:p>
            <a:pPr>
              <a:defRPr sz="1700">
                <a:solidFill>
                  <a:srgbClr val="333333"/>
                </a:solidFill>
              </a:defRPr>
            </a:pPr>
            <a:r>
              <a:t>Expected Research Contributions:</a:t>
            </a:r>
          </a:p>
          <a:p>
            <a:pPr>
              <a:defRPr sz="1700">
                <a:solidFill>
                  <a:srgbClr val="333333"/>
                </a:solidFill>
              </a:defRPr>
            </a:pPr>
            <a:r>
              <a:t>1. Closed-Vocabulary Semantic Abstraction: A formal mapping restricting LLM emission space.</a:t>
            </a:r>
          </a:p>
          <a:p>
            <a:pPr>
              <a:defRPr sz="1700">
                <a:solidFill>
                  <a:srgbClr val="333333"/>
                </a:solidFill>
              </a:defRPr>
            </a:pPr>
            <a:r>
              <a:t>2. Decoupled AST Query Compilation Engine: Graph-based BFS AST compilation replacing AI generation.</a:t>
            </a:r>
          </a:p>
          <a:p>
            <a:pPr>
              <a:defRPr sz="1700">
                <a:solidFill>
                  <a:srgbClr val="333333"/>
                </a:solidFill>
              </a:defRPr>
            </a:pPr>
            <a:r>
              <a:t>3. Dual-Layer Verification Architecture: Structural prevention of SQL injection via static AST scanning.</a:t>
            </a:r>
          </a:p>
          <a:p>
            <a:pPr>
              <a:defRPr sz="1700">
                <a:solidFill>
                  <a:srgbClr val="333333"/>
                </a:solidFill>
              </a:defRPr>
            </a:pPr>
            <a:r>
              <a:t>4. Comparative Empirical Evaluation: Benchmark evaluation against baseline Generative models.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Research Methodology Paradigm</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1097280" y="1645920"/>
            <a:ext cx="10058400" cy="4114800"/>
          </a:xfrm>
          <a:prstGeom prst="rect">
            <a:avLst/>
          </a:prstGeom>
          <a:noFill/>
        </p:spPr>
        <p:txBody>
          <a:bodyPr wrap="square">
            <a:spAutoFit/>
          </a:bodyPr>
          <a:lstStyle/>
          <a:p>
            <a:pPr>
              <a:defRPr sz="1700">
                <a:solidFill>
                  <a:srgbClr val="333333"/>
                </a:solidFill>
              </a:defRPr>
            </a:pPr>
            <a:r>
              <a:t>Paradigm Shift: From AI Query Generation to Deterministic Compilation</a:t>
            </a:r>
          </a:p>
          <a:p>
            <a:pPr>
              <a:defRPr sz="1700">
                <a:solidFill>
                  <a:srgbClr val="333333"/>
                </a:solidFill>
              </a:defRPr>
            </a:pPr>
          </a:p>
          <a:p>
            <a:pPr>
              <a:defRPr sz="1700">
                <a:solidFill>
                  <a:srgbClr val="333333"/>
                </a:solidFill>
              </a:defRPr>
            </a:pPr>
            <a:r>
              <a:t>• Generative Paradigm: NL  --&gt;  LLM (Untrusted String Generator)  --&gt;  Raw SQL  --&gt;  Database Execution</a:t>
            </a:r>
          </a:p>
          <a:p>
            <a:pPr>
              <a:defRPr sz="1700">
                <a:solidFill>
                  <a:srgbClr val="333333"/>
                </a:solidFill>
              </a:defRPr>
            </a:pPr>
            <a:r>
              <a:t>• AEGIS Architecture: NL  --&gt;  LLM (Bounded Intent Classifier)  --&gt;  JSON  --&gt;  Deterministic Compiler  --&gt;  Safe SQL</a:t>
            </a:r>
          </a:p>
          <a:p>
            <a:pPr>
              <a:defRPr sz="1700">
                <a:solidFill>
                  <a:srgbClr val="333333"/>
                </a:solidFill>
              </a:defRPr>
            </a:pPr>
          </a:p>
          <a:p>
            <a:pPr>
              <a:defRPr sz="1700">
                <a:solidFill>
                  <a:srgbClr val="333333"/>
                </a:solidFill>
              </a:defRPr>
            </a:pPr>
            <a:r>
              <a:t>• LLM Function: Restricted strictly to Intent Classification (extracting metric/dimension tokens).</a:t>
            </a:r>
          </a:p>
          <a:p>
            <a:pPr>
              <a:defRPr sz="1700">
                <a:solidFill>
                  <a:srgbClr val="333333"/>
                </a:solidFill>
              </a:defRPr>
            </a:pPr>
            <a:r>
              <a:t>• Compiler Function: Resolves relational join paths via Breadth-First Search (BFS) graph traversal.</a:t>
            </a:r>
          </a:p>
          <a:p>
            <a:pPr>
              <a:defRPr sz="1700">
                <a:solidFill>
                  <a:srgbClr val="333333"/>
                </a:solidFill>
              </a:defRPr>
            </a:pPr>
            <a:r>
              <a:t>• Architectural Invariant: The neural model never generates, observes, or manipulates raw executable SQL.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Proposed AEGIS Conceptual Architecture</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Rounded Rectangle 12"/>
          <p:cNvSpPr/>
          <p:nvPr/>
        </p:nvSpPr>
        <p:spPr>
          <a:xfrm>
            <a:off x="457200" y="2286000"/>
            <a:ext cx="1280160" cy="914400"/>
          </a:xfrm>
          <a:prstGeom prst="round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pPr>
            <a:r>
              <a:t>1. LLM Intent</a:t>
            </a:r>
          </a:p>
          <a:p>
            <a:pPr algn="ctr">
              <a:defRPr sz="1300"/>
            </a:pPr>
            <a:r>
              <a:t>Disambiguation</a:t>
            </a:r>
          </a:p>
        </p:txBody>
      </p:sp>
      <p:sp>
        <p:nvSpPr>
          <p:cNvPr id="14" name="Right Arrow 13"/>
          <p:cNvSpPr/>
          <p:nvPr/>
        </p:nvSpPr>
        <p:spPr>
          <a:xfrm>
            <a:off x="1783080" y="2651760"/>
            <a:ext cx="228600" cy="182880"/>
          </a:xfrm>
          <a:prstGeom prst="rightArrow">
            <a:avLst/>
          </a:prstGeom>
          <a:solidFill>
            <a:srgbClr val="646464"/>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057400" y="2286000"/>
            <a:ext cx="1280160" cy="914400"/>
          </a:xfrm>
          <a:prstGeom prst="roundRect">
            <a:avLst/>
          </a:prstGeom>
          <a:solidFill>
            <a:srgbClr val="00994C"/>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pPr>
            <a:r>
              <a:t>2. Vocabulary</a:t>
            </a:r>
          </a:p>
          <a:p>
            <a:pPr algn="ctr">
              <a:defRPr sz="1300"/>
            </a:pPr>
            <a:r>
              <a:t>Validation</a:t>
            </a:r>
          </a:p>
        </p:txBody>
      </p:sp>
      <p:sp>
        <p:nvSpPr>
          <p:cNvPr id="16" name="Right Arrow 15"/>
          <p:cNvSpPr/>
          <p:nvPr/>
        </p:nvSpPr>
        <p:spPr>
          <a:xfrm>
            <a:off x="3383280" y="2651760"/>
            <a:ext cx="228600" cy="182880"/>
          </a:xfrm>
          <a:prstGeom prst="rightArrow">
            <a:avLst/>
          </a:prstGeom>
          <a:solidFill>
            <a:srgbClr val="646464"/>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657600" y="2286000"/>
            <a:ext cx="1280160" cy="914400"/>
          </a:xfrm>
          <a:prstGeom prst="roundRect">
            <a:avLst/>
          </a:prstGeom>
          <a:solidFill>
            <a:srgbClr val="00994C"/>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pPr>
            <a:r>
              <a:t>3. Semantic</a:t>
            </a:r>
          </a:p>
          <a:p>
            <a:pPr algn="ctr">
              <a:defRPr sz="1300"/>
            </a:pPr>
            <a:r>
              <a:t>Mapping</a:t>
            </a:r>
          </a:p>
        </p:txBody>
      </p:sp>
      <p:sp>
        <p:nvSpPr>
          <p:cNvPr id="18" name="Right Arrow 17"/>
          <p:cNvSpPr/>
          <p:nvPr/>
        </p:nvSpPr>
        <p:spPr>
          <a:xfrm>
            <a:off x="4983480" y="2651760"/>
            <a:ext cx="228600" cy="182880"/>
          </a:xfrm>
          <a:prstGeom prst="rightArrow">
            <a:avLst/>
          </a:prstGeom>
          <a:solidFill>
            <a:srgbClr val="646464"/>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2286000"/>
            <a:ext cx="1280160" cy="914400"/>
          </a:xfrm>
          <a:prstGeom prst="roundRect">
            <a:avLst/>
          </a:prstGeom>
          <a:solidFill>
            <a:srgbClr val="00994C"/>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pPr>
            <a:r>
              <a:t>4. Permission</a:t>
            </a:r>
          </a:p>
          <a:p>
            <a:pPr algn="ctr">
              <a:defRPr sz="1300"/>
            </a:pPr>
            <a:r>
              <a:t>Rewriting</a:t>
            </a:r>
          </a:p>
        </p:txBody>
      </p:sp>
      <p:sp>
        <p:nvSpPr>
          <p:cNvPr id="20" name="Right Arrow 19"/>
          <p:cNvSpPr/>
          <p:nvPr/>
        </p:nvSpPr>
        <p:spPr>
          <a:xfrm>
            <a:off x="6583680" y="2651760"/>
            <a:ext cx="228600" cy="182880"/>
          </a:xfrm>
          <a:prstGeom prst="rightArrow">
            <a:avLst/>
          </a:prstGeom>
          <a:solidFill>
            <a:srgbClr val="646464"/>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0" y="2286000"/>
            <a:ext cx="1280160" cy="914400"/>
          </a:xfrm>
          <a:prstGeom prst="roundRect">
            <a:avLst/>
          </a:prstGeom>
          <a:solidFill>
            <a:srgbClr val="00994C"/>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pPr>
            <a:r>
              <a:t>5. Deterministic</a:t>
            </a:r>
          </a:p>
          <a:p>
            <a:pPr algn="ctr">
              <a:defRPr sz="1300"/>
            </a:pPr>
            <a:r>
              <a:t>Compilation</a:t>
            </a:r>
          </a:p>
        </p:txBody>
      </p:sp>
      <p:sp>
        <p:nvSpPr>
          <p:cNvPr id="22" name="Right Arrow 21"/>
          <p:cNvSpPr/>
          <p:nvPr/>
        </p:nvSpPr>
        <p:spPr>
          <a:xfrm>
            <a:off x="8183880" y="2651760"/>
            <a:ext cx="228600" cy="182880"/>
          </a:xfrm>
          <a:prstGeom prst="rightArrow">
            <a:avLst/>
          </a:prstGeom>
          <a:solidFill>
            <a:srgbClr val="646464"/>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58200" y="2286000"/>
            <a:ext cx="1280160" cy="914400"/>
          </a:xfrm>
          <a:prstGeom prst="roundRect">
            <a:avLst/>
          </a:prstGeom>
          <a:solidFill>
            <a:srgbClr val="00994C"/>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pPr>
            <a:r>
              <a:t>6. AST Security</a:t>
            </a:r>
          </a:p>
          <a:p>
            <a:pPr algn="ctr">
              <a:defRPr sz="1300"/>
            </a:pPr>
            <a:r>
              <a:t>Scanner</a:t>
            </a:r>
          </a:p>
        </p:txBody>
      </p:sp>
      <p:sp>
        <p:nvSpPr>
          <p:cNvPr id="24" name="Right Arrow 23"/>
          <p:cNvSpPr/>
          <p:nvPr/>
        </p:nvSpPr>
        <p:spPr>
          <a:xfrm>
            <a:off x="9784080" y="2651760"/>
            <a:ext cx="228600" cy="182880"/>
          </a:xfrm>
          <a:prstGeom prst="rightArrow">
            <a:avLst/>
          </a:prstGeom>
          <a:solidFill>
            <a:srgbClr val="646464"/>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058400" y="2286000"/>
            <a:ext cx="1280160" cy="914400"/>
          </a:xfrm>
          <a:prstGeom prst="roundRect">
            <a:avLst/>
          </a:prstGeom>
          <a:solidFill>
            <a:srgbClr val="00994C"/>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pPr>
            <a:r>
              <a:t>7. Safe Query</a:t>
            </a:r>
          </a:p>
          <a:p>
            <a:pPr algn="ctr">
              <a:defRPr sz="1300"/>
            </a:pPr>
            <a:r>
              <a:t>Execution</a:t>
            </a:r>
          </a:p>
        </p:txBody>
      </p:sp>
      <p:sp>
        <p:nvSpPr>
          <p:cNvPr id="26" name="Rectangle 25"/>
          <p:cNvSpPr/>
          <p:nvPr/>
        </p:nvSpPr>
        <p:spPr>
          <a:xfrm>
            <a:off x="4114800" y="4389120"/>
            <a:ext cx="457200" cy="45720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4389120"/>
            <a:ext cx="1828800" cy="457200"/>
          </a:xfrm>
          <a:prstGeom prst="rect">
            <a:avLst/>
          </a:prstGeom>
          <a:noFill/>
        </p:spPr>
        <p:txBody>
          <a:bodyPr wrap="none">
            <a:spAutoFit/>
          </a:bodyPr>
          <a:lstStyle/>
          <a:p>
            <a:r>
              <a:t>AI Layer (Untrusted)</a:t>
            </a:r>
          </a:p>
        </p:txBody>
      </p:sp>
      <p:sp>
        <p:nvSpPr>
          <p:cNvPr id="28" name="Rectangle 27"/>
          <p:cNvSpPr/>
          <p:nvPr/>
        </p:nvSpPr>
        <p:spPr>
          <a:xfrm>
            <a:off x="6858000" y="4389120"/>
            <a:ext cx="457200" cy="457200"/>
          </a:xfrm>
          <a:prstGeom prst="rect">
            <a:avLst/>
          </a:prstGeom>
          <a:solidFill>
            <a:srgbClr val="00994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4389120"/>
            <a:ext cx="2743200" cy="457200"/>
          </a:xfrm>
          <a:prstGeom prst="rect">
            <a:avLst/>
          </a:prstGeom>
          <a:noFill/>
        </p:spPr>
        <p:txBody>
          <a:bodyPr wrap="none">
            <a:spAutoFit/>
          </a:bodyPr>
          <a:lstStyle/>
          <a:p>
            <a:r>
              <a:t>Deterministic Layer (Safe)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The Semantic Layer: Closed-Vocabulary Abstraction</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1097280" y="1645920"/>
            <a:ext cx="10058400" cy="4114800"/>
          </a:xfrm>
          <a:prstGeom prst="rect">
            <a:avLst/>
          </a:prstGeom>
          <a:noFill/>
        </p:spPr>
        <p:txBody>
          <a:bodyPr wrap="square">
            <a:spAutoFit/>
          </a:bodyPr>
          <a:lstStyle/>
          <a:p>
            <a:pPr>
              <a:defRPr sz="1700">
                <a:solidFill>
                  <a:srgbClr val="333333"/>
                </a:solidFill>
              </a:defRPr>
            </a:pPr>
            <a:r>
              <a:t>Principle of Schema Isolation &amp; Abstraction:</a:t>
            </a:r>
          </a:p>
          <a:p>
            <a:pPr>
              <a:defRPr sz="1700">
                <a:solidFill>
                  <a:srgbClr val="333333"/>
                </a:solidFill>
              </a:defRPr>
            </a:pPr>
            <a:r>
              <a:t>• Internal database tables, system schemas, and administrative metadata are completely isolated from the AI model's context window.</a:t>
            </a:r>
          </a:p>
          <a:p>
            <a:pPr>
              <a:defRPr sz="1700">
                <a:solidFill>
                  <a:srgbClr val="333333"/>
                </a:solidFill>
              </a:defRPr>
            </a:pPr>
          </a:p>
          <a:p>
            <a:pPr>
              <a:defRPr sz="1700">
                <a:solidFill>
                  <a:srgbClr val="333333"/>
                </a:solidFill>
              </a:defRPr>
            </a:pPr>
            <a:r>
              <a:t>Closed-Vocabulary Primitives:</a:t>
            </a:r>
          </a:p>
          <a:p>
            <a:pPr>
              <a:defRPr sz="1700">
                <a:solidFill>
                  <a:srgbClr val="333333"/>
                </a:solidFill>
              </a:defRPr>
            </a:pPr>
            <a:r>
              <a:t>• Metric Registry (M): Pre-compiled, immutable aggregate SQL expressions (e.g., Revenue = SUM(Price * Qty)).</a:t>
            </a:r>
          </a:p>
          <a:p>
            <a:pPr>
              <a:defRPr sz="1700">
                <a:solidFill>
                  <a:srgbClr val="333333"/>
                </a:solidFill>
              </a:defRPr>
            </a:pPr>
            <a:r>
              <a:t>• Dimension Taxonomy (D): Pre-approved grouping attributes (e.g., category_name, order_period).</a:t>
            </a:r>
          </a:p>
          <a:p>
            <a:pPr>
              <a:defRPr sz="1700">
                <a:solidFill>
                  <a:srgbClr val="333333"/>
                </a:solidFill>
              </a:defRPr>
            </a:pPr>
          </a:p>
          <a:p>
            <a:pPr>
              <a:defRPr sz="1700">
                <a:solidFill>
                  <a:srgbClr val="333333"/>
                </a:solidFill>
              </a:defRPr>
            </a:pPr>
            <a:r>
              <a:t>Security Boundary Enforcement:</a:t>
            </a:r>
          </a:p>
          <a:p>
            <a:pPr>
              <a:defRPr sz="1700">
                <a:solidFill>
                  <a:srgbClr val="333333"/>
                </a:solidFill>
              </a:defRPr>
            </a:pPr>
            <a:r>
              <a:t>• Any term requested in a user prompt outside the closed vocabulary whitelist V = M U D is immediately rejected by the validation parser before query compilation.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Formal Threat Model &amp; Security Controls</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graphicFrame>
        <p:nvGraphicFramePr>
          <p:cNvPr id="13" name="Table 12"/>
          <p:cNvGraphicFramePr>
            <a:graphicFrameLocks noGrp="1"/>
          </p:cNvGraphicFramePr>
          <p:nvPr/>
        </p:nvGraphicFramePr>
        <p:xfrm>
          <a:off x="457200" y="1463040"/>
          <a:ext cx="11247120" cy="4389120"/>
        </p:xfrm>
        <a:graphic>
          <a:graphicData uri="http://schemas.openxmlformats.org/drawingml/2006/table">
            <a:tbl>
              <a:tblPr firstRow="1" bandRow="1">
                <a:tableStyleId>{5C22544A-7EE6-4342-B048-85BDC9FD1C3A}</a:tableStyleId>
              </a:tblPr>
              <a:tblGrid>
                <a:gridCol w="2286000"/>
                <a:gridCol w="2926080"/>
                <a:gridCol w="3017520"/>
                <a:gridCol w="3017520"/>
              </a:tblGrid>
              <a:tr h="877824">
                <a:tc>
                  <a:txBody>
                    <a:bodyPr/>
                    <a:lstStyle/>
                    <a:p>
                      <a:pPr>
                        <a:defRPr b="1" sz="1300">
                          <a:solidFill>
                            <a:srgbClr val="FFFFFF"/>
                          </a:solidFill>
                        </a:defRPr>
                      </a:pPr>
                      <a:r>
                        <a:t>Threat Vector</a:t>
                      </a:r>
                    </a:p>
                  </a:txBody>
                  <a:tcPr>
                    <a:solidFill>
                      <a:srgbClr val="003366"/>
                    </a:solidFill>
                  </a:tcPr>
                </a:tc>
                <a:tc>
                  <a:txBody>
                    <a:bodyPr/>
                    <a:lstStyle/>
                    <a:p>
                      <a:pPr>
                        <a:defRPr b="1" sz="1300">
                          <a:solidFill>
                            <a:srgbClr val="FFFFFF"/>
                          </a:solidFill>
                        </a:defRPr>
                      </a:pPr>
                      <a:r>
                        <a:t>Attack Mechanism</a:t>
                      </a:r>
                    </a:p>
                  </a:txBody>
                  <a:tcPr>
                    <a:solidFill>
                      <a:srgbClr val="003366"/>
                    </a:solidFill>
                  </a:tcPr>
                </a:tc>
                <a:tc>
                  <a:txBody>
                    <a:bodyPr/>
                    <a:lstStyle/>
                    <a:p>
                      <a:pPr>
                        <a:defRPr b="1" sz="1300">
                          <a:solidFill>
                            <a:srgbClr val="FFFFFF"/>
                          </a:solidFill>
                        </a:defRPr>
                      </a:pPr>
                      <a:r>
                        <a:t>Traditional Generative Risk</a:t>
                      </a:r>
                    </a:p>
                  </a:txBody>
                  <a:tcPr>
                    <a:solidFill>
                      <a:srgbClr val="003366"/>
                    </a:solidFill>
                  </a:tcPr>
                </a:tc>
                <a:tc>
                  <a:txBody>
                    <a:bodyPr/>
                    <a:lstStyle/>
                    <a:p>
                      <a:pPr>
                        <a:defRPr b="1" sz="1300">
                          <a:solidFill>
                            <a:srgbClr val="FFFFFF"/>
                          </a:solidFill>
                        </a:defRPr>
                      </a:pPr>
                      <a:r>
                        <a:t>AEGIS Structural Defense</a:t>
                      </a:r>
                    </a:p>
                  </a:txBody>
                  <a:tcPr>
                    <a:solidFill>
                      <a:srgbClr val="003366"/>
                    </a:solidFill>
                  </a:tcPr>
                </a:tc>
              </a:tr>
              <a:tr h="877824">
                <a:tc>
                  <a:txBody>
                    <a:bodyPr/>
                    <a:lstStyle/>
                    <a:p>
                      <a:pPr>
                        <a:defRPr sz="1100"/>
                      </a:pPr>
                      <a:r>
                        <a:t>Direct Prompt Injection</a:t>
                      </a:r>
                    </a:p>
                  </a:txBody>
                  <a:tcPr/>
                </a:tc>
                <a:tc>
                  <a:txBody>
                    <a:bodyPr/>
                    <a:lstStyle/>
                    <a:p>
                      <a:pPr>
                        <a:defRPr sz="1100"/>
                      </a:pPr>
                      <a:r>
                        <a:t>"Ignore instructions &amp; DROP TABLE"</a:t>
                      </a:r>
                    </a:p>
                  </a:txBody>
                  <a:tcPr/>
                </a:tc>
                <a:tc>
                  <a:txBody>
                    <a:bodyPr/>
                    <a:lstStyle/>
                    <a:p>
                      <a:pPr>
                        <a:defRPr sz="1100"/>
                      </a:pPr>
                      <a:r>
                        <a:t>Executable DDL generated and passed to DB</a:t>
                      </a:r>
                    </a:p>
                  </a:txBody>
                  <a:tcPr/>
                </a:tc>
                <a:tc>
                  <a:txBody>
                    <a:bodyPr/>
                    <a:lstStyle/>
                    <a:p>
                      <a:pPr>
                        <a:defRPr sz="1100"/>
                      </a:pPr>
                      <a:r>
                        <a:t>Payload rejected by strict JSON schema parser</a:t>
                      </a:r>
                    </a:p>
                  </a:txBody>
                  <a:tcPr/>
                </a:tc>
              </a:tr>
              <a:tr h="877824">
                <a:tc>
                  <a:txBody>
                    <a:bodyPr/>
                    <a:lstStyle/>
                    <a:p>
                      <a:pPr>
                        <a:defRPr sz="1100"/>
                      </a:pPr>
                      <a:r>
                        <a:t>Schema Exfiltration</a:t>
                      </a:r>
                    </a:p>
                  </a:txBody>
                  <a:tcPr/>
                </a:tc>
                <a:tc>
                  <a:txBody>
                    <a:bodyPr/>
                    <a:lstStyle/>
                    <a:p>
                      <a:pPr>
                        <a:defRPr sz="1100"/>
                      </a:pPr>
                      <a:r>
                        <a:t>"Show password hashes &amp; system tables"</a:t>
                      </a:r>
                    </a:p>
                  </a:txBody>
                  <a:tcPr/>
                </a:tc>
                <a:tc>
                  <a:txBody>
                    <a:bodyPr/>
                    <a:lstStyle/>
                    <a:p>
                      <a:pPr>
                        <a:defRPr sz="1100"/>
                      </a:pPr>
                      <a:r>
                        <a:t>Model queries internal system tables</a:t>
                      </a:r>
                    </a:p>
                  </a:txBody>
                  <a:tcPr/>
                </a:tc>
                <a:tc>
                  <a:txBody>
                    <a:bodyPr/>
                    <a:lstStyle/>
                    <a:p>
                      <a:pPr>
                        <a:defRPr sz="1100"/>
                      </a:pPr>
                      <a:r>
                        <a:t>Schema isolation; LLM lacks knowledge of unexposed tables</a:t>
                      </a:r>
                    </a:p>
                  </a:txBody>
                  <a:tcPr/>
                </a:tc>
              </a:tr>
              <a:tr h="877824">
                <a:tc>
                  <a:txBody>
                    <a:bodyPr/>
                    <a:lstStyle/>
                    <a:p>
                      <a:pPr>
                        <a:defRPr sz="1100"/>
                      </a:pPr>
                      <a:r>
                        <a:t>Arbitrary Data Mutation</a:t>
                      </a:r>
                    </a:p>
                  </a:txBody>
                  <a:tcPr/>
                </a:tc>
                <a:tc>
                  <a:txBody>
                    <a:bodyPr/>
                    <a:lstStyle/>
                    <a:p>
                      <a:pPr>
                        <a:defRPr sz="1100"/>
                      </a:pPr>
                      <a:r>
                        <a:t>"Update order status to completed"</a:t>
                      </a:r>
                    </a:p>
                  </a:txBody>
                  <a:tcPr/>
                </a:tc>
                <a:tc>
                  <a:txBody>
                    <a:bodyPr/>
                    <a:lstStyle/>
                    <a:p>
                      <a:pPr>
                        <a:defRPr sz="1100"/>
                      </a:pPr>
                      <a:r>
                        <a:t>Unauthorized DML database modification</a:t>
                      </a:r>
                    </a:p>
                  </a:txBody>
                  <a:tcPr/>
                </a:tc>
                <a:tc>
                  <a:txBody>
                    <a:bodyPr/>
                    <a:lstStyle/>
                    <a:p>
                      <a:pPr>
                        <a:defRPr sz="1100"/>
                      </a:pPr>
                      <a:r>
                        <a:t>Layer 2 AST Scanner blocks all UPDATE/DELETE nodes</a:t>
                      </a:r>
                    </a:p>
                  </a:txBody>
                  <a:tcPr/>
                </a:tc>
              </a:tr>
              <a:tr h="877824">
                <a:tc>
                  <a:txBody>
                    <a:bodyPr/>
                    <a:lstStyle/>
                    <a:p>
                      <a:pPr>
                        <a:defRPr sz="1100"/>
                      </a:pPr>
                      <a:r>
                        <a:t>Cartesian Join Explosion</a:t>
                      </a:r>
                    </a:p>
                  </a:txBody>
                  <a:tcPr/>
                </a:tc>
                <a:tc>
                  <a:txBody>
                    <a:bodyPr/>
                    <a:lstStyle/>
                    <a:p>
                      <a:pPr>
                        <a:defRPr sz="1100"/>
                      </a:pPr>
                      <a:r>
                        <a:t>Malicious query causing cartesian product</a:t>
                      </a:r>
                    </a:p>
                  </a:txBody>
                  <a:tcPr/>
                </a:tc>
                <a:tc>
                  <a:txBody>
                    <a:bodyPr/>
                    <a:lstStyle/>
                    <a:p>
                      <a:pPr>
                        <a:defRPr sz="1100"/>
                      </a:pPr>
                      <a:r>
                        <a:t>Database crash due to resource exhaustion</a:t>
                      </a:r>
                    </a:p>
                  </a:txBody>
                  <a:tcPr/>
                </a:tc>
                <a:tc>
                  <a:txBody>
                    <a:bodyPr/>
                    <a:lstStyle/>
                    <a:p>
                      <a:pPr>
                        <a:defRPr sz="1100"/>
                      </a:pPr>
                      <a:r>
                        <a:t>Compiler resolves joins via static BFS shortest paths</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Implementation Progress: Intent Extraction</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1097280" y="1645920"/>
            <a:ext cx="10058400" cy="4114800"/>
          </a:xfrm>
          <a:prstGeom prst="rect">
            <a:avLst/>
          </a:prstGeom>
          <a:noFill/>
        </p:spPr>
        <p:txBody>
          <a:bodyPr wrap="square">
            <a:spAutoFit/>
          </a:bodyPr>
          <a:lstStyle/>
          <a:p>
            <a:pPr>
              <a:defRPr sz="1700">
                <a:solidFill>
                  <a:srgbClr val="333333"/>
                </a:solidFill>
              </a:defRPr>
            </a:pPr>
            <a:r>
              <a:t>Natural Language Input Query: "Show me the top 5 products by total sales revenue"</a:t>
            </a:r>
          </a:p>
          <a:p>
            <a:pPr>
              <a:defRPr sz="1700">
                <a:solidFill>
                  <a:srgbClr val="333333"/>
                </a:solidFill>
              </a:defRPr>
            </a:pPr>
          </a:p>
          <a:p>
            <a:pPr>
              <a:defRPr sz="1700">
                <a:solidFill>
                  <a:srgbClr val="333333"/>
                </a:solidFill>
              </a:defRPr>
            </a:pPr>
            <a:r>
              <a:t>Extracted Bounded Intent Payload:</a:t>
            </a:r>
          </a:p>
          <a:p>
            <a:pPr>
              <a:defRPr sz="1700">
                <a:solidFill>
                  <a:srgbClr val="333333"/>
                </a:solidFill>
              </a:defRPr>
            </a:pPr>
            <a:r>
              <a:t>{</a:t>
            </a:r>
          </a:p>
          <a:p>
            <a:pPr>
              <a:defRPr sz="1700">
                <a:solidFill>
                  <a:srgbClr val="333333"/>
                </a:solidFill>
              </a:defRPr>
            </a:pPr>
            <a:r>
              <a:t>   "intent_class": "ranking",</a:t>
            </a:r>
          </a:p>
          <a:p>
            <a:pPr>
              <a:defRPr sz="1700">
                <a:solidFill>
                  <a:srgbClr val="333333"/>
                </a:solidFill>
              </a:defRPr>
            </a:pPr>
            <a:r>
              <a:t>   "metric_term": "revenue",</a:t>
            </a:r>
          </a:p>
          <a:p>
            <a:pPr>
              <a:defRPr sz="1700">
                <a:solidFill>
                  <a:srgbClr val="333333"/>
                </a:solidFill>
              </a:defRPr>
            </a:pPr>
            <a:r>
              <a:t>   "dimension_term": "product_name",</a:t>
            </a:r>
          </a:p>
          <a:p>
            <a:pPr>
              <a:defRPr sz="1700">
                <a:solidFill>
                  <a:srgbClr val="333333"/>
                </a:solidFill>
              </a:defRPr>
            </a:pPr>
            <a:r>
              <a:t>   "sort_order": "descending",</a:t>
            </a:r>
          </a:p>
          <a:p>
            <a:pPr>
              <a:defRPr sz="1700">
                <a:solidFill>
                  <a:srgbClr val="333333"/>
                </a:solidFill>
              </a:defRPr>
            </a:pPr>
            <a:r>
              <a:t>   "limit_bounds": 5</a:t>
            </a:r>
          </a:p>
          <a:p>
            <a:pPr>
              <a:defRPr sz="1700">
                <a:solidFill>
                  <a:srgbClr val="333333"/>
                </a:solidFill>
              </a:defRPr>
            </a:pPr>
            <a:r>
              <a:t>}</a:t>
            </a:r>
          </a:p>
          <a:p>
            <a:pPr>
              <a:defRPr sz="1700">
                <a:solidFill>
                  <a:srgbClr val="333333"/>
                </a:solidFill>
              </a:defRPr>
            </a:pPr>
          </a:p>
          <a:p>
            <a:pPr>
              <a:defRPr sz="1700">
                <a:solidFill>
                  <a:srgbClr val="333333"/>
                </a:solidFill>
              </a:defRPr>
            </a:pPr>
            <a:r>
              <a:t>Validation Gate: "revenue" is validated against Metric Registry M, and "product_name" against Dimension Taxonomy D. Malicious keywords like "DROP TABLE" fail JSON schema parsing.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Experimental Setup &amp; Evaluation Plan</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1097280" y="1645920"/>
            <a:ext cx="10058400" cy="4114800"/>
          </a:xfrm>
          <a:prstGeom prst="rect">
            <a:avLst/>
          </a:prstGeom>
          <a:noFill/>
        </p:spPr>
        <p:txBody>
          <a:bodyPr wrap="square">
            <a:spAutoFit/>
          </a:bodyPr>
          <a:lstStyle/>
          <a:p>
            <a:pPr>
              <a:defRPr sz="1800">
                <a:solidFill>
                  <a:srgbClr val="333333"/>
                </a:solidFill>
              </a:defRPr>
            </a:pPr>
            <a:r>
              <a:t>Evaluation Environment &amp; Database Schema:</a:t>
            </a:r>
          </a:p>
          <a:p>
            <a:pPr>
              <a:defRPr sz="1800">
                <a:solidFill>
                  <a:srgbClr val="333333"/>
                </a:solidFill>
              </a:defRPr>
            </a:pPr>
            <a:r>
              <a:t>• Evaluated over a multi-table e-commerce relational database schema (nopCommerce).</a:t>
            </a:r>
          </a:p>
          <a:p>
            <a:pPr>
              <a:defRPr sz="1800">
                <a:solidFill>
                  <a:srgbClr val="333333"/>
                </a:solidFill>
              </a:defRPr>
            </a:pPr>
            <a:r>
              <a:t>• Benchmark dataset comprising 100 multi-level analytical queries across 11 core primitives.</a:t>
            </a:r>
          </a:p>
          <a:p>
            <a:pPr>
              <a:defRPr sz="1800">
                <a:solidFill>
                  <a:srgbClr val="333333"/>
                </a:solidFill>
              </a:defRPr>
            </a:pPr>
          </a:p>
          <a:p>
            <a:pPr>
              <a:defRPr sz="1800">
                <a:solidFill>
                  <a:srgbClr val="333333"/>
                </a:solidFill>
              </a:defRPr>
            </a:pPr>
            <a:r>
              <a:t>Adversarial Security Test Set:</a:t>
            </a:r>
          </a:p>
          <a:p>
            <a:pPr>
              <a:defRPr sz="1800">
                <a:solidFill>
                  <a:srgbClr val="333333"/>
                </a:solidFill>
              </a:defRPr>
            </a:pPr>
            <a:r>
              <a:t>• Includes 20 adversarial prompt injection queries designed to attempt unauthorized DML/DDL execution and system instruction overrides.</a:t>
            </a:r>
          </a:p>
          <a:p>
            <a:pPr>
              <a:defRPr sz="1800">
                <a:solidFill>
                  <a:srgbClr val="333333"/>
                </a:solidFill>
              </a:defRPr>
            </a:pPr>
          </a:p>
          <a:p>
            <a:pPr>
              <a:defRPr sz="1800">
                <a:solidFill>
                  <a:srgbClr val="333333"/>
                </a:solidFill>
              </a:defRPr>
            </a:pPr>
            <a:r>
              <a:t>Baseline Benchmark Model:</a:t>
            </a:r>
          </a:p>
          <a:p>
            <a:pPr>
              <a:defRPr sz="1800">
                <a:solidFill>
                  <a:srgbClr val="333333"/>
                </a:solidFill>
              </a:defRPr>
            </a:pPr>
            <a:r>
              <a:t>• Direct zero-shot LLM SQL generation (Direct Generative Baseline).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Quantitative Evaluation Metrics</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graphicFrame>
        <p:nvGraphicFramePr>
          <p:cNvPr id="13" name="Table 12"/>
          <p:cNvGraphicFramePr>
            <a:graphicFrameLocks noGrp="1"/>
          </p:cNvGraphicFramePr>
          <p:nvPr/>
        </p:nvGraphicFramePr>
        <p:xfrm>
          <a:off x="914400" y="1645920"/>
          <a:ext cx="10332720" cy="3657600"/>
        </p:xfrm>
        <a:graphic>
          <a:graphicData uri="http://schemas.openxmlformats.org/drawingml/2006/table">
            <a:tbl>
              <a:tblPr firstRow="1" bandRow="1">
                <a:tableStyleId>{5C22544A-7EE6-4342-B048-85BDC9FD1C3A}</a:tableStyleId>
              </a:tblPr>
              <a:tblGrid>
                <a:gridCol w="3474720"/>
                <a:gridCol w="2560320"/>
                <a:gridCol w="4297680"/>
              </a:tblGrid>
              <a:tr h="914400">
                <a:tc>
                  <a:txBody>
                    <a:bodyPr/>
                    <a:lstStyle/>
                    <a:p>
                      <a:pPr>
                        <a:defRPr b="1" sz="1400">
                          <a:solidFill>
                            <a:srgbClr val="FFFFFF"/>
                          </a:solidFill>
                        </a:defRPr>
                      </a:pPr>
                      <a:r>
                        <a:t>Evaluation Metric</a:t>
                      </a:r>
                    </a:p>
                  </a:txBody>
                  <a:tcPr>
                    <a:solidFill>
                      <a:srgbClr val="003366"/>
                    </a:solidFill>
                  </a:tcPr>
                </a:tc>
                <a:tc>
                  <a:txBody>
                    <a:bodyPr/>
                    <a:lstStyle/>
                    <a:p>
                      <a:pPr>
                        <a:defRPr b="1" sz="1400">
                          <a:solidFill>
                            <a:srgbClr val="FFFFFF"/>
                          </a:solidFill>
                        </a:defRPr>
                      </a:pPr>
                      <a:r>
                        <a:t>Scientific Focus</a:t>
                      </a:r>
                    </a:p>
                  </a:txBody>
                  <a:tcPr>
                    <a:solidFill>
                      <a:srgbClr val="003366"/>
                    </a:solidFill>
                  </a:tcPr>
                </a:tc>
                <a:tc>
                  <a:txBody>
                    <a:bodyPr/>
                    <a:lstStyle/>
                    <a:p>
                      <a:pPr>
                        <a:defRPr b="1" sz="1400">
                          <a:solidFill>
                            <a:srgbClr val="FFFFFF"/>
                          </a:solidFill>
                        </a:defRPr>
                      </a:pPr>
                      <a:r>
                        <a:t>Evaluation Methodology</a:t>
                      </a:r>
                    </a:p>
                  </a:txBody>
                  <a:tcPr>
                    <a:solidFill>
                      <a:srgbClr val="003366"/>
                    </a:solidFill>
                  </a:tcPr>
                </a:tc>
              </a:tr>
              <a:tr h="914400">
                <a:tc>
                  <a:txBody>
                    <a:bodyPr/>
                    <a:lstStyle/>
                    <a:p>
                      <a:pPr>
                        <a:defRPr sz="1300"/>
                      </a:pPr>
                      <a:r>
                        <a:t>Unsafe Query Execution Rate (UQER)</a:t>
                      </a:r>
                    </a:p>
                  </a:txBody>
                  <a:tcPr/>
                </a:tc>
                <a:tc>
                  <a:txBody>
                    <a:bodyPr/>
                    <a:lstStyle/>
                    <a:p>
                      <a:pPr>
                        <a:defRPr sz="1300"/>
                      </a:pPr>
                      <a:r>
                        <a:t>Security &amp; Governance</a:t>
                      </a:r>
                    </a:p>
                  </a:txBody>
                  <a:tcPr/>
                </a:tc>
                <a:tc>
                  <a:txBody>
                    <a:bodyPr/>
                    <a:lstStyle/>
                    <a:p>
                      <a:pPr>
                        <a:defRPr sz="1300"/>
                      </a:pPr>
                      <a:r>
                        <a:t>Percentage of compiled queries emitting unauthorized DML/DDL code under adversarial attacks.</a:t>
                      </a:r>
                    </a:p>
                  </a:txBody>
                  <a:tcPr/>
                </a:tc>
              </a:tr>
              <a:tr h="914400">
                <a:tc>
                  <a:txBody>
                    <a:bodyPr/>
                    <a:lstStyle/>
                    <a:p>
                      <a:pPr>
                        <a:defRPr sz="1300"/>
                      </a:pPr>
                      <a:r>
                        <a:t>Query Execution Validity (QEV)</a:t>
                      </a:r>
                    </a:p>
                  </a:txBody>
                  <a:tcPr/>
                </a:tc>
                <a:tc>
                  <a:txBody>
                    <a:bodyPr/>
                    <a:lstStyle/>
                    <a:p>
                      <a:pPr>
                        <a:defRPr sz="1300"/>
                      </a:pPr>
                      <a:r>
                        <a:t>Execution Accuracy</a:t>
                      </a:r>
                    </a:p>
                  </a:txBody>
                  <a:tcPr/>
                </a:tc>
                <a:tc>
                  <a:txBody>
                    <a:bodyPr/>
                    <a:lstStyle/>
                    <a:p>
                      <a:pPr>
                        <a:defRPr sz="1300"/>
                      </a:pPr>
                      <a:r>
                        <a:t>Ratio of compiled SQL queries executing successfully without syntax errors or invalid join paths.</a:t>
                      </a:r>
                    </a:p>
                  </a:txBody>
                  <a:tcPr/>
                </a:tc>
              </a:tr>
              <a:tr h="914400">
                <a:tc>
                  <a:txBody>
                    <a:bodyPr/>
                    <a:lstStyle/>
                    <a:p>
                      <a:pPr>
                        <a:defRPr sz="1300"/>
                      </a:pPr>
                      <a:r>
                        <a:t>Semantic Term Coverage (STC)</a:t>
                      </a:r>
                    </a:p>
                  </a:txBody>
                  <a:tcPr/>
                </a:tc>
                <a:tc>
                  <a:txBody>
                    <a:bodyPr/>
                    <a:lstStyle/>
                    <a:p>
                      <a:pPr>
                        <a:defRPr sz="1300"/>
                      </a:pPr>
                      <a:r>
                        <a:t>Intent Disambiguation</a:t>
                      </a:r>
                    </a:p>
                  </a:txBody>
                  <a:tcPr/>
                </a:tc>
                <a:tc>
                  <a:txBody>
                    <a:bodyPr/>
                    <a:lstStyle/>
                    <a:p>
                      <a:pPr>
                        <a:defRPr sz="1300"/>
                      </a:pPr>
                      <a:r>
                        <a:t>Accuracy of the LLM in mapping natural language phrases to valid closed-vocabulary terms.</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Preliminary Evaluation Results</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graphicFrame>
        <p:nvGraphicFramePr>
          <p:cNvPr id="13" name="Table 12"/>
          <p:cNvGraphicFramePr>
            <a:graphicFrameLocks noGrp="1"/>
          </p:cNvGraphicFramePr>
          <p:nvPr/>
        </p:nvGraphicFramePr>
        <p:xfrm>
          <a:off x="1965960" y="1828800"/>
          <a:ext cx="8229600" cy="2560320"/>
        </p:xfrm>
        <a:graphic>
          <a:graphicData uri="http://schemas.openxmlformats.org/drawingml/2006/table">
            <a:tbl>
              <a:tblPr firstRow="1" bandRow="1">
                <a:tableStyleId>{5C22544A-7EE6-4342-B048-85BDC9FD1C3A}</a:tableStyleId>
              </a:tblPr>
              <a:tblGrid>
                <a:gridCol w="2743200"/>
                <a:gridCol w="2743200"/>
                <a:gridCol w="2743200"/>
              </a:tblGrid>
              <a:tr h="640080">
                <a:tc>
                  <a:txBody>
                    <a:bodyPr/>
                    <a:lstStyle/>
                    <a:p>
                      <a:pPr>
                        <a:defRPr b="1" sz="1500">
                          <a:solidFill>
                            <a:srgbClr val="FFFFFF"/>
                          </a:solidFill>
                        </a:defRPr>
                      </a:pPr>
                      <a:r>
                        <a:t>Performance Metric</a:t>
                      </a:r>
                    </a:p>
                  </a:txBody>
                  <a:tcPr>
                    <a:solidFill>
                      <a:srgbClr val="003366"/>
                    </a:solidFill>
                  </a:tcPr>
                </a:tc>
                <a:tc>
                  <a:txBody>
                    <a:bodyPr/>
                    <a:lstStyle/>
                    <a:p>
                      <a:pPr>
                        <a:defRPr b="1" sz="1500">
                          <a:solidFill>
                            <a:srgbClr val="FFFFFF"/>
                          </a:solidFill>
                        </a:defRPr>
                      </a:pPr>
                      <a:r>
                        <a:t>AEGIS Architecture (Proposed)</a:t>
                      </a:r>
                    </a:p>
                  </a:txBody>
                  <a:tcPr>
                    <a:solidFill>
                      <a:srgbClr val="003366"/>
                    </a:solidFill>
                  </a:tcPr>
                </a:tc>
                <a:tc>
                  <a:txBody>
                    <a:bodyPr/>
                    <a:lstStyle/>
                    <a:p>
                      <a:pPr>
                        <a:defRPr b="1" sz="1500">
                          <a:solidFill>
                            <a:srgbClr val="FFFFFF"/>
                          </a:solidFill>
                        </a:defRPr>
                      </a:pPr>
                      <a:r>
                        <a:t>Direct Generative LLM (Baseline)</a:t>
                      </a:r>
                    </a:p>
                  </a:txBody>
                  <a:tcPr>
                    <a:solidFill>
                      <a:srgbClr val="003366"/>
                    </a:solidFill>
                  </a:tcPr>
                </a:tc>
              </a:tr>
              <a:tr h="640080">
                <a:tc>
                  <a:txBody>
                    <a:bodyPr/>
                    <a:lstStyle/>
                    <a:p>
                      <a:pPr>
                        <a:defRPr sz="1500"/>
                      </a:pPr>
                      <a:r>
                        <a:t>Unsafe Query Rate (Security)</a:t>
                      </a:r>
                    </a:p>
                  </a:txBody>
                  <a:tcPr/>
                </a:tc>
                <a:tc>
                  <a:txBody>
                    <a:bodyPr/>
                    <a:lstStyle/>
                    <a:p>
                      <a:pPr>
                        <a:defRPr sz="1500"/>
                      </a:pPr>
                      <a:r>
                        <a:t>0.0% (Safe)</a:t>
                      </a:r>
                    </a:p>
                  </a:txBody>
                  <a:tcPr/>
                </a:tc>
                <a:tc>
                  <a:txBody>
                    <a:bodyPr/>
                    <a:lstStyle/>
                    <a:p>
                      <a:pPr>
                        <a:defRPr sz="1500"/>
                      </a:pPr>
                      <a:r>
                        <a:t>5.0% (Vulnerable)</a:t>
                      </a:r>
                    </a:p>
                  </a:txBody>
                  <a:tcPr/>
                </a:tc>
              </a:tr>
              <a:tr h="640080">
                <a:tc>
                  <a:txBody>
                    <a:bodyPr/>
                    <a:lstStyle/>
                    <a:p>
                      <a:pPr>
                        <a:defRPr sz="1500"/>
                      </a:pPr>
                      <a:r>
                        <a:t>Execution Validity (Accuracy)</a:t>
                      </a:r>
                    </a:p>
                  </a:txBody>
                  <a:tcPr/>
                </a:tc>
                <a:tc>
                  <a:txBody>
                    <a:bodyPr/>
                    <a:lstStyle/>
                    <a:p>
                      <a:pPr>
                        <a:defRPr sz="1500"/>
                      </a:pPr>
                      <a:r>
                        <a:t>100.0%</a:t>
                      </a:r>
                    </a:p>
                  </a:txBody>
                  <a:tcPr/>
                </a:tc>
                <a:tc>
                  <a:txBody>
                    <a:bodyPr/>
                    <a:lstStyle/>
                    <a:p>
                      <a:pPr>
                        <a:defRPr sz="1500"/>
                      </a:pPr>
                      <a:r>
                        <a:t>64.7%</a:t>
                      </a:r>
                    </a:p>
                  </a:txBody>
                  <a:tcPr/>
                </a:tc>
              </a:tr>
              <a:tr h="640080">
                <a:tc>
                  <a:txBody>
                    <a:bodyPr/>
                    <a:lstStyle/>
                    <a:p>
                      <a:pPr>
                        <a:defRPr sz="1500"/>
                      </a:pPr>
                      <a:r>
                        <a:t>Term Coverage Accuracy</a:t>
                      </a:r>
                    </a:p>
                  </a:txBody>
                  <a:tcPr/>
                </a:tc>
                <a:tc>
                  <a:txBody>
                    <a:bodyPr/>
                    <a:lstStyle/>
                    <a:p>
                      <a:pPr>
                        <a:defRPr sz="1500"/>
                      </a:pPr>
                      <a:r>
                        <a:t>100.0%</a:t>
                      </a:r>
                    </a:p>
                  </a:txBody>
                  <a:tcPr/>
                </a:tc>
                <a:tc>
                  <a:txBody>
                    <a:bodyPr/>
                    <a:lstStyle/>
                    <a:p>
                      <a:pPr>
                        <a:defRPr sz="1500"/>
                      </a:pPr>
                      <a:r>
                        <a:t>85.0%</a:t>
                      </a:r>
                    </a:p>
                  </a:txBody>
                  <a:tcPr/>
                </a:tc>
              </a:tr>
            </a:tbl>
          </a:graphicData>
        </a:graphic>
      </p:graphicFrame>
      <p:sp>
        <p:nvSpPr>
          <p:cNvPr id="14" name="TextBox 13"/>
          <p:cNvSpPr txBox="1"/>
          <p:nvPr/>
        </p:nvSpPr>
        <p:spPr>
          <a:xfrm>
            <a:off x="1371600" y="4572000"/>
            <a:ext cx="9418320" cy="457200"/>
          </a:xfrm>
          <a:prstGeom prst="rect">
            <a:avLst/>
          </a:prstGeom>
          <a:noFill/>
        </p:spPr>
        <p:txBody>
          <a:bodyPr wrap="square">
            <a:spAutoFit/>
          </a:bodyPr>
          <a:lstStyle/>
          <a:p>
            <a:pPr>
              <a:defRPr sz="1300" i="1">
                <a:solidFill>
                  <a:srgbClr val="646464"/>
                </a:solidFill>
              </a:defRPr>
            </a:pPr>
            <a:r>
              <a:t>*Note: Preliminary evaluation observations based on initial benchmark runs over 100 test queries.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System Scope &amp; Limitations</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1097280" y="1645920"/>
            <a:ext cx="10058400" cy="4114800"/>
          </a:xfrm>
          <a:prstGeom prst="rect">
            <a:avLst/>
          </a:prstGeom>
          <a:noFill/>
        </p:spPr>
        <p:txBody>
          <a:bodyPr wrap="square">
            <a:spAutoFit/>
          </a:bodyPr>
          <a:lstStyle/>
          <a:p>
            <a:pPr>
              <a:defRPr sz="1800">
                <a:solidFill>
                  <a:srgbClr val="333333"/>
                </a:solidFill>
              </a:defRPr>
            </a:pPr>
            <a:r>
              <a:t>Current Scope Boundaries:</a:t>
            </a:r>
          </a:p>
          <a:p>
            <a:pPr>
              <a:defRPr sz="1800">
                <a:solidFill>
                  <a:srgbClr val="333333"/>
                </a:solidFill>
              </a:defRPr>
            </a:pPr>
            <a:r>
              <a:t>• Closed Vocabulary Constraint:</a:t>
            </a:r>
          </a:p>
          <a:p>
            <a:pPr>
              <a:defRPr sz="1800">
                <a:solidFill>
                  <a:srgbClr val="333333"/>
                </a:solidFill>
              </a:defRPr>
            </a:pPr>
            <a:r>
              <a:t>  Queries requiring un-mapped custom metrics or free-form SQL functions cannot be compiled without schema registry updates.</a:t>
            </a:r>
          </a:p>
          <a:p>
            <a:pPr>
              <a:defRPr sz="1800">
                <a:solidFill>
                  <a:srgbClr val="333333"/>
                </a:solidFill>
              </a:defRPr>
            </a:pPr>
          </a:p>
          <a:p>
            <a:pPr>
              <a:defRPr sz="1800">
                <a:solidFill>
                  <a:srgbClr val="333333"/>
                </a:solidFill>
              </a:defRPr>
            </a:pPr>
            <a:r>
              <a:t>• Single-Database Target Architecture:</a:t>
            </a:r>
          </a:p>
          <a:p>
            <a:pPr>
              <a:defRPr sz="1800">
                <a:solidFill>
                  <a:srgbClr val="333333"/>
                </a:solidFill>
              </a:defRPr>
            </a:pPr>
            <a:r>
              <a:t>  Designed and evaluated on relational DBMS architectures (PostgreSQL/SQL Server).</a:t>
            </a:r>
          </a:p>
          <a:p>
            <a:pPr>
              <a:defRPr sz="1800">
                <a:solidFill>
                  <a:srgbClr val="333333"/>
                </a:solidFill>
              </a:defRPr>
            </a:pPr>
          </a:p>
          <a:p>
            <a:pPr>
              <a:defRPr sz="1800">
                <a:solidFill>
                  <a:srgbClr val="333333"/>
                </a:solidFill>
              </a:defRPr>
            </a:pPr>
            <a:r>
              <a:t>Recognized Methodological Trade-Off:</a:t>
            </a:r>
          </a:p>
          <a:p>
            <a:pPr>
              <a:defRPr sz="1800">
                <a:solidFill>
                  <a:srgbClr val="333333"/>
                </a:solidFill>
              </a:defRPr>
            </a:pPr>
            <a:r>
              <a:t>• Trading unconstrained natural language SQL generation for provable execution safety and database governance.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r>
              <a:t>Future Research Plan &amp; Thesis Roadmap</a:t>
            </a: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1097280" y="1645920"/>
            <a:ext cx="10058400" cy="4114800"/>
          </a:xfrm>
          <a:prstGeom prst="rect">
            <a:avLst/>
          </a:prstGeom>
          <a:noFill/>
        </p:spPr>
        <p:txBody>
          <a:bodyPr wrap="square">
            <a:spAutoFit/>
          </a:bodyPr>
          <a:lstStyle/>
          <a:p>
            <a:pPr>
              <a:defRPr sz="1800">
                <a:solidFill>
                  <a:srgbClr val="333333"/>
                </a:solidFill>
              </a:defRPr>
            </a:pPr>
            <a:r>
              <a:t>Remaining Research Milestones:</a:t>
            </a:r>
          </a:p>
          <a:p>
            <a:pPr>
              <a:defRPr sz="1800">
                <a:solidFill>
                  <a:srgbClr val="333333"/>
                </a:solidFill>
              </a:defRPr>
            </a:pPr>
          </a:p>
          <a:p>
            <a:pPr>
              <a:defRPr sz="1800">
                <a:solidFill>
                  <a:srgbClr val="333333"/>
                </a:solidFill>
              </a:defRPr>
            </a:pPr>
            <a:r>
              <a:t>1. Expanded Benchmark Evaluation:</a:t>
            </a:r>
          </a:p>
          <a:p>
            <a:pPr>
              <a:defRPr sz="1800">
                <a:solidFill>
                  <a:srgbClr val="333333"/>
                </a:solidFill>
              </a:defRPr>
            </a:pPr>
            <a:r>
              <a:t>   Comprehensive testing across additional database schemas and edge-case query primitives.</a:t>
            </a:r>
          </a:p>
          <a:p>
            <a:pPr>
              <a:defRPr sz="1800">
                <a:solidFill>
                  <a:srgbClr val="333333"/>
                </a:solidFill>
              </a:defRPr>
            </a:pPr>
          </a:p>
          <a:p>
            <a:pPr>
              <a:defRPr sz="1800">
                <a:solidFill>
                  <a:srgbClr val="333333"/>
                </a:solidFill>
              </a:defRPr>
            </a:pPr>
            <a:r>
              <a:t>2. Advanced Compiler Primitives:</a:t>
            </a:r>
          </a:p>
          <a:p>
            <a:pPr>
              <a:defRPr sz="1800">
                <a:solidFill>
                  <a:srgbClr val="333333"/>
                </a:solidFill>
              </a:defRPr>
            </a:pPr>
            <a:r>
              <a:t>   Extending the AST compiler to support complex SQL window functions (PARTITION BY, LEAD/LAG).</a:t>
            </a:r>
          </a:p>
          <a:p>
            <a:pPr>
              <a:defRPr sz="1800">
                <a:solidFill>
                  <a:srgbClr val="333333"/>
                </a:solidFill>
              </a:defRPr>
            </a:pPr>
          </a:p>
          <a:p>
            <a:pPr>
              <a:defRPr sz="1800">
                <a:solidFill>
                  <a:srgbClr val="333333"/>
                </a:solidFill>
              </a:defRPr>
            </a:pPr>
            <a:r>
              <a:t>3. Thesis Dissertation Completion:</a:t>
            </a:r>
          </a:p>
          <a:p>
            <a:pPr>
              <a:defRPr sz="1800">
                <a:solidFill>
                  <a:srgbClr val="333333"/>
                </a:solidFill>
              </a:defRPr>
            </a:pPr>
            <a:r>
              <a:t>   Finalizing experimental write-ups and comparative empirical analysis for final defense.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Rectangle 10">
            <a:extLst>
              <a:ext uri="{FF2B5EF4-FFF2-40B4-BE49-F238E27FC236}">
                <a16:creationId xmlns:a16="http://schemas.microsoft.com/office/drawing/2014/main" id="{D059D760-A365-91EB-B942-587B657A477E}"/>
              </a:ext>
            </a:extLst>
          </p:cNvPr>
          <p:cNvSpPr/>
          <p:nvPr/>
        </p:nvSpPr>
        <p:spPr>
          <a:xfrm>
            <a:off x="-1" y="1500807"/>
            <a:ext cx="12191999" cy="18288"/>
          </a:xfrm>
          <a:prstGeom prst="rect">
            <a:avLst/>
          </a:prstGeom>
          <a:gradFill flip="none" rotWithShape="1">
            <a:gsLst>
              <a:gs pos="0">
                <a:schemeClr val="accent1">
                  <a:lumMod val="40000"/>
                  <a:lumOff val="60000"/>
                </a:schemeClr>
              </a:gs>
              <a:gs pos="36000">
                <a:schemeClr val="accent1">
                  <a:lumMod val="95000"/>
                  <a:lumOff val="5000"/>
                </a:schemeClr>
              </a:gs>
              <a:gs pos="100000">
                <a:schemeClr val="tx2">
                  <a:lumMod val="50000"/>
                </a:schemeClr>
              </a:gs>
            </a:gsLst>
            <a:path path="circle">
              <a:fillToRect l="50000" t="130000" r="50000" b="-3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7F49795-9FC6-D65C-AAE9-247F6DF3DA3F}"/>
              </a:ext>
            </a:extLst>
          </p:cNvPr>
          <p:cNvSpPr/>
          <p:nvPr/>
        </p:nvSpPr>
        <p:spPr>
          <a:xfrm>
            <a:off x="0" y="6291468"/>
            <a:ext cx="12192000" cy="586409"/>
          </a:xfrm>
          <a:prstGeom prst="rect">
            <a:avLst/>
          </a:prstGeom>
          <a:solidFill>
            <a:schemeClr val="tx2">
              <a:lumMod val="7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6027AE48-C47C-33FE-8F56-0AA4260C9B62}"/>
              </a:ext>
            </a:extLst>
          </p:cNvPr>
          <p:cNvSpPr/>
          <p:nvPr/>
        </p:nvSpPr>
        <p:spPr>
          <a:xfrm>
            <a:off x="0" y="0"/>
            <a:ext cx="12192000" cy="150080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188720" y="365760"/>
            <a:ext cx="9601200" cy="731520"/>
          </a:xfrm>
        </p:spPr>
        <p:txBody>
          <a:bodyPr/>
          <a:lstStyle/>
          <a:p>
            <a:pPr>
              <a:defRPr b="1" sz="2400">
                <a:solidFill>
                  <a:srgbClr val="003366"/>
                </a:solidFill>
              </a:defRPr>
            </a:pPr>
          </a:p>
        </p:txBody>
      </p:sp>
      <p:pic>
        <p:nvPicPr>
          <p:cNvPr id="12" name="Picture 11" descr="image.png"/>
          <p:cNvPicPr>
            <a:picLocks noChangeAspect="1"/>
          </p:cNvPicPr>
          <p:nvPr/>
        </p:nvPicPr>
        <p:blipFill>
          <a:blip r:embed="rId2"/>
          <a:stretch>
            <a:fillRect/>
          </a:stretch>
        </p:blipFill>
        <p:spPr>
          <a:xfrm>
            <a:off x="512874" y="457199"/>
            <a:ext cx="592309" cy="586409"/>
          </a:xfrm>
          <a:prstGeom prst="rect">
            <a:avLst/>
          </a:prstGeom>
        </p:spPr>
      </p:pic>
      <p:sp>
        <p:nvSpPr>
          <p:cNvPr id="13" name="TextBox 12"/>
          <p:cNvSpPr txBox="1"/>
          <p:nvPr/>
        </p:nvSpPr>
        <p:spPr>
          <a:xfrm>
            <a:off x="914400" y="2011680"/>
            <a:ext cx="10332720" cy="1828800"/>
          </a:xfrm>
          <a:prstGeom prst="rect">
            <a:avLst/>
          </a:prstGeom>
          <a:noFill/>
        </p:spPr>
        <p:txBody>
          <a:bodyPr wrap="square">
            <a:spAutoFit/>
          </a:bodyPr>
          <a:lstStyle/>
          <a:p>
            <a:pPr algn="ctr">
              <a:defRPr sz="3200" b="1">
                <a:solidFill>
                  <a:srgbClr val="003366"/>
                </a:solidFill>
              </a:defRPr>
            </a:pPr>
            <a:r>
              <a:t>THANK YOU!</a:t>
            </a:r>
          </a:p>
          <a:p>
            <a:pPr algn="ctr">
              <a:defRPr sz="3200" b="1">
                <a:solidFill>
                  <a:srgbClr val="003366"/>
                </a:solidFill>
              </a:defRPr>
            </a:pPr>
          </a:p>
          <a:p>
            <a:pPr algn="ctr">
              <a:defRPr sz="3200" b="1">
                <a:solidFill>
                  <a:srgbClr val="003366"/>
                </a:solidFill>
              </a:defRPr>
            </a:pPr>
            <a:r>
              <a:t>Questions &amp; Mid-Defense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65C7BDA-76C9-4226-9B1A-FE228012FD2F}" vid="{A434E4A6-0EAA-4E37-B99D-C00F0197FD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FY Presentation Template</Template>
  <TotalTime>511</TotalTime>
  <Words>1129</Words>
  <Application>Microsoft Office PowerPoint</Application>
  <PresentationFormat>Widescreen</PresentationFormat>
  <Paragraphs>253</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Agrandir Narrow Bold</vt:lpstr>
      <vt:lpstr>Aileron Bold</vt:lpstr>
      <vt:lpstr>Aileron Ultra-Bold</vt:lpstr>
      <vt:lpstr>Akzidenz-Grotesk Bold</vt:lpstr>
      <vt:lpstr>Arial</vt:lpstr>
      <vt:lpstr>Calibri</vt:lpstr>
      <vt:lpstr>Calibri Light</vt:lpstr>
      <vt:lpstr>Times New Roman</vt:lpstr>
      <vt:lpstr>Wingdings</vt:lpstr>
      <vt:lpstr>Office Theme</vt:lpstr>
      <vt:lpstr>        A Geo-Location-Based Platform for Connecting Users with Skilled Professionals Using Mobile Application</vt:lpstr>
      <vt:lpstr>A Geo-Location-Based Platform for Connecting Users with Skilled Professionals Using Mobile Application</vt:lpstr>
      <vt:lpstr>Outline</vt:lpstr>
      <vt:lpstr>Introduction </vt:lpstr>
      <vt:lpstr>Problem Statement</vt:lpstr>
      <vt:lpstr>Feasibility Study</vt:lpstr>
      <vt:lpstr>Existing Work</vt:lpstr>
      <vt:lpstr> Objectives</vt:lpstr>
      <vt:lpstr> Proposed Methodology</vt:lpstr>
      <vt:lpstr> Key Features</vt:lpstr>
      <vt:lpstr>  Activity Diagram</vt:lpstr>
      <vt:lpstr>PowerPoint Presentation</vt:lpstr>
      <vt:lpstr>PowerPoint Presentation</vt:lpstr>
      <vt:lpstr>PowerPoint Presentation</vt:lpstr>
      <vt:lpstr>PowerPoint Presentation</vt:lpstr>
      <vt:lpstr>PowerPoint Presentation</vt:lpstr>
      <vt:lpstr>   Tools &amp; Technologies</vt:lpstr>
      <vt:lpstr>    Expected Outcomes</vt:lpstr>
      <vt:lpstr>     References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 Geo-Location-Based Platform for Connecting Users with Skilled Professionals Using Mobile Application</dc:title>
  <dc:creator>Nahid Hasan</dc:creator>
  <cp:lastModifiedBy>HP</cp:lastModifiedBy>
  <cp:revision>25</cp:revision>
  <dcterms:created xsi:type="dcterms:W3CDTF">2025-07-15T06:51:59Z</dcterms:created>
  <dcterms:modified xsi:type="dcterms:W3CDTF">2026-01-05T09:27:32Z</dcterms:modified>
</cp:coreProperties>
</file>