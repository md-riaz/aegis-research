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03-Aug-26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as I'd previously had on this slide. Both are strong on exactly the half of the problem the SQL papers ignore. But nl4dv works over an in-memory tabular dataset rather than a governed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for safety, only for usability.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G-SQL, and TriSQL - all handle NL parsing and nothing else, and NaLIR, an early interactive natural-language-to-SQL interface, was evaluated with a real user study but is otherwise the same profile. RAT-SQL and PICARD get partial credit for constraining SQL to valid grammar and schema-scoped entities. nl4dv, a toolkit that turns natural language questions into chart specifications, adds visualization. DashBot, which uses reinforcement learning to compose dashboards, adds dashboard composition with partial widget persistence, evaluated on real public Vega datasets. Veezoo, from Lehmann et al., is the one system that actually has a working semantic layer - a commercial product with an editable Knowledge Graph - but purely for usability, not safety. And AEGIS, in the last row, is the only system with a checkmark in every column, and the only one evaluated on a production schema rather than a benchmark, an in-memory dataset, or a public example dataset. That is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60% - I have executed the full 107-query benchmark for AEGIS against the B1 baseline and independently verified two of the four planned metrics, unsafe query execution rate and query execution validity, via true database execution rather than just checking that the compiler did not raise an exception. The other three baselines, B2 through B4, and the remaining two metrics, semantic term coverage and latency, are still outstanding. Thesis writing is roughly half done. The remaining work before the final defense is running those baselines and metrics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August 3,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August 3,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August 3,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August 3,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August 3,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August 3,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August 3,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August 3,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August 3,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August 3,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August 3,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August 3,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0">
                <a:solidFill>
                  <a:srgbClr val="333333"/>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0">
                <a:solidFill>
                  <a:srgbClr val="333333"/>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Veezoo (Lehmann et al.)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108000"/>
              </a:lnSpc>
              <a:spcBef>
                <a:spcPts val="300"/>
              </a:spcBef>
              <a:spcAft>
                <a:spcPts val="700"/>
              </a:spcAft>
            </a:pPr>
            <a:r>
              <a:rPr sz="1100" b="0" i="0">
                <a:solidFill>
                  <a:srgbClr val="333333"/>
                </a:solidFill>
                <a:latin typeface="Times New Roman"/>
              </a:rPr>
              <a:t>• A dialog interface lets users iteratively correct queries the system first misunderstood, evaluated with 16 users (median 2 tries to a correct answer).</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08760"/>
            <a:ext cx="10058400" cy="484632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Seq2SQL [11]</a:t>
            </a:r>
          </a:p>
          <a:p>
            <a:pPr marL="0" indent="0">
              <a:lnSpc>
                <a:spcPct val="108000"/>
              </a:lnSpc>
              <a:spcBef>
                <a:spcPts val="1200"/>
              </a:spcBef>
              <a:spcAft>
                <a:spcPts val="500"/>
              </a:spcAft>
            </a:pPr>
            <a:r>
              <a:rPr sz="1350" b="1" i="0">
                <a:solidFill>
                  <a:srgbClr val="003366"/>
                </a:solidFill>
                <a:latin typeface="Times New Roman"/>
              </a:rPr>
              <a:t>Contribution:</a:t>
            </a:r>
          </a:p>
          <a:p>
            <a:pPr marL="256032" indent="-256032">
              <a:lnSpc>
                <a:spcPct val="108000"/>
              </a:lnSpc>
              <a:spcBef>
                <a:spcPts val="300"/>
              </a:spcBef>
              <a:spcAft>
                <a:spcPts val="700"/>
              </a:spcAft>
            </a:pPr>
            <a:r>
              <a:rPr sz="1050" b="0" i="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108000"/>
              </a:lnSpc>
              <a:spcBef>
                <a:spcPts val="300"/>
              </a:spcBef>
              <a:spcAft>
                <a:spcPts val="700"/>
              </a:spcAft>
            </a:pPr>
            <a:r>
              <a:rPr sz="1050" b="0" i="0">
                <a:solidFill>
                  <a:srgbClr val="333333"/>
                </a:solidFill>
                <a:latin typeface="Times New Roman"/>
              </a:rPr>
              <a:t>• Introduced WikiSQL, a dataset an order of magnitude larger than prior NL-to-SQL datasets.</a:t>
            </a:r>
          </a:p>
          <a:p>
            <a:pPr marL="0" indent="0">
              <a:lnSpc>
                <a:spcPct val="108000"/>
              </a:lnSpc>
              <a:spcBef>
                <a:spcPts val="1200"/>
              </a:spcBef>
              <a:spcAft>
                <a:spcPts val="500"/>
              </a:spcAft>
            </a:pPr>
            <a:r>
              <a:rPr sz="1350" b="1" i="0">
                <a:solidFill>
                  <a:srgbClr val="003366"/>
                </a:solidFill>
                <a:latin typeface="Times New Roman"/>
              </a:rPr>
              <a:t>Limitations:</a:t>
            </a:r>
          </a:p>
          <a:p>
            <a:pPr marL="256032" indent="-256032">
              <a:lnSpc>
                <a:spcPct val="108000"/>
              </a:lnSpc>
              <a:spcBef>
                <a:spcPts val="300"/>
              </a:spcBef>
              <a:spcAft>
                <a:spcPts val="700"/>
              </a:spcAft>
            </a:pPr>
            <a:r>
              <a:rPr sz="1050" b="1" i="0">
                <a:solidFill>
                  <a:srgbClr val="003366"/>
                </a:solidFill>
                <a:latin typeface="Times New Roman"/>
              </a:rPr>
              <a:t>• Limited to single-table queries:</a:t>
            </a:r>
            <a:r>
              <a:rPr sz="1050" b="0" i="0">
                <a:solidFill>
                  <a:srgbClr val="333333"/>
                </a:solidFill>
                <a:latin typeface="Times New Roman"/>
              </a:rPr>
              <a:t> no JOIN, GROUP BY, ORDER BY, HAVING, or nested sub-queries.</a:t>
            </a:r>
          </a:p>
          <a:p>
            <a:pPr marL="256032" indent="-256032">
              <a:lnSpc>
                <a:spcPct val="108000"/>
              </a:lnSpc>
              <a:spcBef>
                <a:spcPts val="300"/>
              </a:spcBef>
              <a:spcAft>
                <a:spcPts val="700"/>
              </a:spcAft>
            </a:pPr>
            <a:r>
              <a:rPr sz="1050" b="0" i="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108000"/>
              </a:lnSpc>
              <a:spcBef>
                <a:spcPts val="1200"/>
              </a:spcBef>
              <a:spcAft>
                <a:spcPts val="500"/>
              </a:spcAft>
            </a:pPr>
            <a:r>
              <a:rPr sz="1350" b="1" i="0">
                <a:solidFill>
                  <a:srgbClr val="003366"/>
                </a:solidFill>
                <a:latin typeface="Times New Roman"/>
              </a:rPr>
              <a:t>Spider [10]</a:t>
            </a:r>
          </a:p>
          <a:p>
            <a:pPr marL="0" indent="0">
              <a:lnSpc>
                <a:spcPct val="108000"/>
              </a:lnSpc>
              <a:spcBef>
                <a:spcPts val="1200"/>
              </a:spcBef>
              <a:spcAft>
                <a:spcPts val="500"/>
              </a:spcAft>
            </a:pPr>
            <a:r>
              <a:rPr sz="1350" b="1" i="0">
                <a:solidFill>
                  <a:srgbClr val="003366"/>
                </a:solidFill>
                <a:latin typeface="Times New Roman"/>
              </a:rPr>
              <a:t>Contribution:</a:t>
            </a:r>
          </a:p>
          <a:p>
            <a:pPr marL="256032" indent="-256032">
              <a:lnSpc>
                <a:spcPct val="108000"/>
              </a:lnSpc>
              <a:spcBef>
                <a:spcPts val="300"/>
              </a:spcBef>
              <a:spcAft>
                <a:spcPts val="700"/>
              </a:spcAft>
            </a:pPr>
            <a:r>
              <a:rPr sz="105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05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350" b="1" i="0">
                <a:solidFill>
                  <a:srgbClr val="003366"/>
                </a:solidFill>
                <a:latin typeface="Times New Roman"/>
              </a:rPr>
              <a:t>Limitations:</a:t>
            </a:r>
          </a:p>
          <a:p>
            <a:pPr marL="256032" indent="-256032">
              <a:lnSpc>
                <a:spcPct val="108000"/>
              </a:lnSpc>
              <a:spcBef>
                <a:spcPts val="300"/>
              </a:spcBef>
              <a:spcAft>
                <a:spcPts val="700"/>
              </a:spcAft>
            </a:pPr>
            <a:r>
              <a:rPr sz="1050" b="0" i="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50" b="1" i="0">
                <a:solidFill>
                  <a:srgbClr val="003366"/>
                </a:solidFill>
                <a:latin typeface="Times New Roman"/>
              </a:rPr>
              <a:t>BIRD [4]</a:t>
            </a:r>
          </a:p>
          <a:p>
            <a:pPr marL="0" indent="0">
              <a:lnSpc>
                <a:spcPct val="108000"/>
              </a:lnSpc>
              <a:spcBef>
                <a:spcPts val="1200"/>
              </a:spcBef>
              <a:spcAft>
                <a:spcPts val="500"/>
              </a:spcAft>
            </a:pPr>
            <a:r>
              <a:rPr sz="1450" b="1" i="0">
                <a:solidFill>
                  <a:srgbClr val="003366"/>
                </a:solidFill>
                <a:latin typeface="Times New Roman"/>
              </a:rPr>
              <a:t>Contribution:</a:t>
            </a:r>
          </a:p>
          <a:p>
            <a:pPr marL="256032" indent="-256032">
              <a:lnSpc>
                <a:spcPct val="108000"/>
              </a:lnSpc>
              <a:spcBef>
                <a:spcPts val="300"/>
              </a:spcBef>
              <a:spcAft>
                <a:spcPts val="700"/>
              </a:spcAft>
            </a:pPr>
            <a:r>
              <a:rPr sz="1150" b="0" i="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108000"/>
              </a:lnSpc>
              <a:spcBef>
                <a:spcPts val="300"/>
              </a:spcBef>
              <a:spcAft>
                <a:spcPts val="700"/>
              </a:spcAft>
            </a:pPr>
            <a:r>
              <a:rPr sz="1150" b="1" i="0">
                <a:solidFill>
                  <a:srgbClr val="003366"/>
                </a:solidFill>
                <a:latin typeface="Times New Roman"/>
              </a:rPr>
              <a:t>• Reports concrete deployment numbers:</a:t>
            </a:r>
            <a:r>
              <a:rPr sz="1150" b="0" i="0">
                <a:solidFill>
                  <a:srgbClr val="333333"/>
                </a:solidFill>
                <a:latin typeface="Times New Roman"/>
              </a:rPr>
              <a:t> even GPT-4 reaches only 54.89% execution accuracy, far below the 92.96% human baseline.</a:t>
            </a:r>
          </a:p>
          <a:p>
            <a:pPr marL="0" indent="0">
              <a:lnSpc>
                <a:spcPct val="108000"/>
              </a:lnSpc>
              <a:spcBef>
                <a:spcPts val="1200"/>
              </a:spcBef>
              <a:spcAft>
                <a:spcPts val="500"/>
              </a:spcAft>
            </a:pPr>
            <a:r>
              <a:rPr sz="1450" b="1" i="0">
                <a:solidFill>
                  <a:srgbClr val="003366"/>
                </a:solidFill>
                <a:latin typeface="Times New Roman"/>
              </a:rPr>
              <a:t>Limitations:</a:t>
            </a:r>
          </a:p>
          <a:p>
            <a:pPr marL="256032" indent="-256032">
              <a:lnSpc>
                <a:spcPct val="108000"/>
              </a:lnSpc>
              <a:spcBef>
                <a:spcPts val="300"/>
              </a:spcBef>
              <a:spcAft>
                <a:spcPts val="700"/>
              </a:spcAft>
            </a:pPr>
            <a:r>
              <a:rPr sz="1150" b="0" i="0">
                <a:solidFill>
                  <a:srgbClr val="333333"/>
                </a:solidFill>
                <a:latin typeface="Times New Roman"/>
              </a:rPr>
              <a:t>• Still an execution-accuracy benchmark, not an adversarial-safety one; the model remains the sole author of the SQL string, with no authorization check.</a:t>
            </a:r>
          </a:p>
          <a:p>
            <a:pPr marL="0" indent="0">
              <a:lnSpc>
                <a:spcPct val="108000"/>
              </a:lnSpc>
              <a:spcBef>
                <a:spcPts val="1200"/>
              </a:spcBef>
              <a:spcAft>
                <a:spcPts val="500"/>
              </a:spcAft>
            </a:pPr>
            <a:r>
              <a:rPr sz="1450" b="1" i="0">
                <a:solidFill>
                  <a:srgbClr val="003366"/>
                </a:solidFill>
                <a:latin typeface="Times New Roman"/>
              </a:rPr>
              <a:t>RAT-SQL [9]</a:t>
            </a:r>
          </a:p>
          <a:p>
            <a:pPr marL="0" indent="0">
              <a:lnSpc>
                <a:spcPct val="108000"/>
              </a:lnSpc>
              <a:spcBef>
                <a:spcPts val="1200"/>
              </a:spcBef>
              <a:spcAft>
                <a:spcPts val="500"/>
              </a:spcAft>
            </a:pPr>
            <a:r>
              <a:rPr sz="1450" b="1" i="0">
                <a:solidFill>
                  <a:srgbClr val="003366"/>
                </a:solidFill>
                <a:latin typeface="Times New Roman"/>
              </a:rPr>
              <a:t>Contribution:</a:t>
            </a:r>
          </a:p>
          <a:p>
            <a:pPr marL="256032" indent="-256032">
              <a:lnSpc>
                <a:spcPct val="108000"/>
              </a:lnSpc>
              <a:spcBef>
                <a:spcPts val="300"/>
              </a:spcBef>
              <a:spcAft>
                <a:spcPts val="700"/>
              </a:spcAft>
            </a:pPr>
            <a:r>
              <a:rPr sz="115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50" b="0" i="0">
                <a:solidFill>
                  <a:srgbClr val="333333"/>
                </a:solidFill>
                <a:latin typeface="Times New Roman"/>
              </a:rPr>
              <a:t>• Decodes via a grammar-constrained AST, with column/table choices restricted to entities that exist in the schema - not free-text SQL.</a:t>
            </a:r>
          </a:p>
          <a:p>
            <a:pPr marL="0" indent="0">
              <a:lnSpc>
                <a:spcPct val="108000"/>
              </a:lnSpc>
              <a:spcBef>
                <a:spcPts val="1200"/>
              </a:spcBef>
              <a:spcAft>
                <a:spcPts val="500"/>
              </a:spcAft>
            </a:pPr>
            <a:r>
              <a:rPr sz="1450" b="1" i="0">
                <a:solidFill>
                  <a:srgbClr val="003366"/>
                </a:solidFill>
                <a:latin typeface="Times New Roman"/>
              </a:rPr>
              <a:t>Limitations:</a:t>
            </a:r>
          </a:p>
          <a:p>
            <a:pPr marL="256032" indent="-256032">
              <a:lnSpc>
                <a:spcPct val="108000"/>
              </a:lnSpc>
              <a:spcBef>
                <a:spcPts val="300"/>
              </a:spcBef>
              <a:spcAft>
                <a:spcPts val="700"/>
              </a:spcAft>
            </a:pPr>
            <a:r>
              <a:rPr sz="1150" b="0" i="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PICARD [6]</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Constrained decoding that rejects tokens producing invalid SQL grammar or referencing tables/columns outside the target schema.</a:t>
            </a:r>
          </a:p>
          <a:p>
            <a:pPr marL="256032" indent="-256032">
              <a:lnSpc>
                <a:spcPct val="108000"/>
              </a:lnSpc>
              <a:spcBef>
                <a:spcPts val="300"/>
              </a:spcBef>
              <a:spcAft>
                <a:spcPts val="700"/>
              </a:spcAft>
            </a:pPr>
            <a:r>
              <a:rPr sz="110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108000"/>
              </a:lnSpc>
              <a:spcBef>
                <a:spcPts val="1200"/>
              </a:spcBef>
              <a:spcAft>
                <a:spcPts val="500"/>
              </a:spcAft>
            </a:pPr>
            <a:r>
              <a:rPr sz="1400" b="1" i="0">
                <a:solidFill>
                  <a:srgbClr val="003366"/>
                </a:solidFill>
                <a:latin typeface="Times New Roman"/>
              </a:rPr>
              <a:t>G-SQL [7] and TriSQL [8]</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108000"/>
              </a:lnSpc>
              <a:spcBef>
                <a:spcPts val="300"/>
              </a:spcBef>
              <a:spcAft>
                <a:spcPts val="700"/>
              </a:spcAft>
            </a:pPr>
            <a:r>
              <a:rPr sz="1100" b="0" i="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200" b="1" i="0">
                <a:solidFill>
                  <a:srgbClr val="003366"/>
                </a:solidFill>
                <a:latin typeface="Times New Roman"/>
              </a:rPr>
              <a:t>nl4dv [5]</a:t>
            </a:r>
          </a:p>
          <a:p>
            <a:pPr marL="0" indent="0">
              <a:lnSpc>
                <a:spcPct val="108000"/>
              </a:lnSpc>
              <a:spcBef>
                <a:spcPts val="1200"/>
              </a:spcBef>
              <a:spcAft>
                <a:spcPts val="500"/>
              </a:spcAft>
            </a:pPr>
            <a:r>
              <a:rPr sz="1200" b="1" i="0">
                <a:solidFill>
                  <a:srgbClr val="003366"/>
                </a:solidFill>
                <a:latin typeface="Times New Roman"/>
              </a:rPr>
              <a:t>Contribution:</a:t>
            </a:r>
          </a:p>
          <a:p>
            <a:pPr marL="256032" indent="-256032">
              <a:lnSpc>
                <a:spcPct val="108000"/>
              </a:lnSpc>
              <a:spcBef>
                <a:spcPts val="300"/>
              </a:spcBef>
              <a:spcAft>
                <a:spcPts val="700"/>
              </a:spcAft>
            </a:pPr>
            <a:r>
              <a:rPr sz="900" b="0" i="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108000"/>
              </a:lnSpc>
              <a:spcBef>
                <a:spcPts val="1200"/>
              </a:spcBef>
              <a:spcAft>
                <a:spcPts val="500"/>
              </a:spcAft>
            </a:pPr>
            <a:r>
              <a:rPr sz="1200" b="1" i="0">
                <a:solidFill>
                  <a:srgbClr val="003366"/>
                </a:solidFill>
                <a:latin typeface="Times New Roman"/>
              </a:rPr>
              <a:t>Limitations:</a:t>
            </a:r>
          </a:p>
          <a:p>
            <a:pPr marL="256032" indent="-256032">
              <a:lnSpc>
                <a:spcPct val="108000"/>
              </a:lnSpc>
              <a:spcBef>
                <a:spcPts val="300"/>
              </a:spcBef>
              <a:spcAft>
                <a:spcPts val="700"/>
              </a:spcAft>
            </a:pPr>
            <a:r>
              <a:rPr sz="900" b="0" i="0">
                <a:solidFill>
                  <a:srgbClr val="333333"/>
                </a:solidFill>
                <a:latin typeface="Times New Roman"/>
              </a:rPr>
              <a:t>• No quantitative evaluation at all - only qualitative examples; the paper names benchmarking as future work.</a:t>
            </a:r>
          </a:p>
          <a:p>
            <a:pPr marL="256032" indent="-256032">
              <a:lnSpc>
                <a:spcPct val="108000"/>
              </a:lnSpc>
              <a:spcBef>
                <a:spcPts val="300"/>
              </a:spcBef>
              <a:spcAft>
                <a:spcPts val="700"/>
              </a:spcAft>
            </a:pPr>
            <a:r>
              <a:rPr sz="900" b="0" i="0">
                <a:solidFill>
                  <a:srgbClr val="333333"/>
                </a:solidFill>
                <a:latin typeface="Times New Roman"/>
              </a:rPr>
              <a:t>• Operates over an in-memory tabular dataset, not a governed database, and never executes a query - only produces a visualization spec.</a:t>
            </a:r>
          </a:p>
          <a:p>
            <a:pPr marL="0" indent="0">
              <a:lnSpc>
                <a:spcPct val="108000"/>
              </a:lnSpc>
              <a:spcBef>
                <a:spcPts val="1200"/>
              </a:spcBef>
              <a:spcAft>
                <a:spcPts val="500"/>
              </a:spcAft>
            </a:pPr>
            <a:r>
              <a:rPr sz="1200" b="1" i="0">
                <a:solidFill>
                  <a:srgbClr val="003366"/>
                </a:solidFill>
                <a:latin typeface="Times New Roman"/>
              </a:rPr>
              <a:t>DashBot [1]</a:t>
            </a:r>
          </a:p>
          <a:p>
            <a:pPr marL="0" indent="0">
              <a:lnSpc>
                <a:spcPct val="108000"/>
              </a:lnSpc>
              <a:spcBef>
                <a:spcPts val="1200"/>
              </a:spcBef>
              <a:spcAft>
                <a:spcPts val="500"/>
              </a:spcAft>
            </a:pPr>
            <a:r>
              <a:rPr sz="1200" b="1" i="0">
                <a:solidFill>
                  <a:srgbClr val="003366"/>
                </a:solidFill>
                <a:latin typeface="Times New Roman"/>
              </a:rPr>
              <a:t>Contribution:</a:t>
            </a:r>
          </a:p>
          <a:p>
            <a:pPr marL="256032" indent="-256032">
              <a:lnSpc>
                <a:spcPct val="108000"/>
              </a:lnSpc>
              <a:spcBef>
                <a:spcPts val="300"/>
              </a:spcBef>
              <a:spcAft>
                <a:spcPts val="700"/>
              </a:spcAft>
            </a:pPr>
            <a:r>
              <a:rPr sz="900" b="0" i="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108000"/>
              </a:lnSpc>
              <a:spcBef>
                <a:spcPts val="300"/>
              </a:spcBef>
              <a:spcAft>
                <a:spcPts val="700"/>
              </a:spcAft>
            </a:pPr>
            <a:r>
              <a:rPr sz="900" b="0" i="0">
                <a:solidFill>
                  <a:srgbClr val="333333"/>
                </a:solidFill>
                <a:latin typeface="Times New Roman"/>
              </a:rPr>
              <a:t>• Evaluated on real public datasets (Vega Datasets) with a 10-participant comparative study against another dashboard method.</a:t>
            </a:r>
          </a:p>
          <a:p>
            <a:pPr marL="0" indent="0">
              <a:lnSpc>
                <a:spcPct val="108000"/>
              </a:lnSpc>
              <a:spcBef>
                <a:spcPts val="1200"/>
              </a:spcBef>
              <a:spcAft>
                <a:spcPts val="500"/>
              </a:spcAft>
            </a:pPr>
            <a:r>
              <a:rPr sz="1200" b="1" i="0">
                <a:solidFill>
                  <a:srgbClr val="003366"/>
                </a:solidFill>
                <a:latin typeface="Times New Roman"/>
              </a:rPr>
              <a:t>Limitations:</a:t>
            </a:r>
          </a:p>
          <a:p>
            <a:pPr marL="256032" indent="-256032">
              <a:lnSpc>
                <a:spcPct val="108000"/>
              </a:lnSpc>
              <a:spcBef>
                <a:spcPts val="300"/>
              </a:spcBef>
              <a:spcAft>
                <a:spcPts val="700"/>
              </a:spcAft>
            </a:pPr>
            <a:r>
              <a:rPr sz="900" b="0" i="0">
                <a:solidFill>
                  <a:srgbClr val="333333"/>
                </a:solidFill>
                <a:latin typeface="Times New Roman"/>
              </a:rPr>
              <a:t>• Performs no natural-language-to-SQL parsing and provides no semantic layer or safety mechanism.</a:t>
            </a:r>
          </a:p>
          <a:p>
            <a:pPr marL="0" indent="0">
              <a:lnSpc>
                <a:spcPct val="108000"/>
              </a:lnSpc>
              <a:spcBef>
                <a:spcPts val="1200"/>
              </a:spcBef>
              <a:spcAft>
                <a:spcPts val="500"/>
              </a:spcAft>
            </a:pPr>
            <a:r>
              <a:rPr sz="1200" b="1" i="0">
                <a:solidFill>
                  <a:srgbClr val="003366"/>
                </a:solidFill>
                <a:latin typeface="Times New Roman"/>
              </a:rPr>
              <a:t>Synthesis Across the Five Groups:</a:t>
            </a:r>
          </a:p>
          <a:p>
            <a:pPr marL="256032" indent="-256032">
              <a:lnSpc>
                <a:spcPct val="108000"/>
              </a:lnSpc>
              <a:spcBef>
                <a:spcPts val="300"/>
              </a:spcBef>
              <a:spcAft>
                <a:spcPts val="700"/>
              </a:spcAft>
            </a:pPr>
            <a:r>
              <a:rPr sz="900" b="0" i="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97536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 G-SQL / TriSQL [11,7,8]</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User study, real DB (MAS)</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Public data (Vega) + user study</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Veezoo (Lehmann et al.)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Production (commercial)</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sz="1200" b="0" i="1">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60%</a:t>
                      </a:r>
                    </a:p>
                  </a:txBody>
                  <a:tcPr anchor="ctr">
                    <a:solidFill>
                      <a:srgbClr val="F2F4F8"/>
                    </a:solidFill>
                  </a:tcPr>
                </a:tc>
                <a:tc>
                  <a:txBody>
                    <a:bodyPr/>
                    <a:lstStyle/>
                    <a:p>
                      <a:pPr>
                        <a:defRPr sz="1200">
                          <a:latin typeface="Times New Roman"/>
                        </a:defRPr>
                      </a:pPr>
                      <a:r>
                        <a:t>B1 vs AEGIS: 107-query benchmark executed &amp; independently verified via true DB execution (UQER, QEV); B2-B4 baselines and STC/latency measurement remain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8883</Words>
  <Application>Microsoft Office PowerPoint</Application>
  <PresentationFormat>Widescreen</PresentationFormat>
  <Paragraphs>519</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2026-08-03T03:23:37Z</dcterms:modified>
</cp:coreProperties>
</file>