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G-SQL, and TriSQL - all handle NL parsing and nothing else, and NaLIR, an early interactive natural-language-to-SQL interface, was evaluated with a real user study but is otherwise the same profile. RAT-SQL and PICARD get partial credit for constraining SQL to valid grammar and schema-scoped entities. nl4dv, a toolkit that turns natural language questions into chart specifications, adds visualization. DashBot, which uses reinforcement learning to compose dashboards, adds dashboard composition with partial widget persistence, evaluated on real public Vega datasets. Veezoo, from Lehmann et al., is the one system that actually has a working semantic layer - a commercial product with an editable Knowledge Graph - but purely for usability, not safety. And AEGIS, in the last row, is the only system with a checkmark in every column, and the only one evaluated on a production schema rather than a benchmark, an in-memory dataset, or a public example dataset. That is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 have also executed the B3 template-only baseline. The measured metrics so far are unsafe query execution rate and true query execution validity via real database execution. B2 and B4, semantic term coverage, correctness annotation, and latency measurement remain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mixed benchmark of 107 natural-language reporting requests across the same evaluation run. The set includes ordinary analytical requests across all 11 core primitives, plus harder boundary cases such as review sentiment,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 should not present those harder cases as a separate benchmark; they are part of the same 107-query test set. What they show is the distinction between safety and correctness: AEGIS keeps the generated SQL read-only, but some unsupported or underspecified requests are still mapped into safe yet semantically wrong in-scope queries instead of being clarified. I'm comparing AEGIS against four baselines to isolate which part of the architecture is responsible for which gain: B1, direct LLM-to-SQL with no semantic layer at all - this one has been run against AEGIS; B2, a decomposed LLM using chain-of-thought entity extraction before generating SQL; B3, a template-only system using keyword matching with no LLM - this one has also been run; and B4, AEGIS itself with the semantic layer bypassed, to isolate its individual contribution. B2 and B4 remain future work before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case.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correctness is separate from execution validity: some harder requests in the same 107-query benchmark still produce safe SQL that does not answer the user's real intent, so correctness and clarification behavior need a separate annotated evaluation. Latency is also still not instrumented.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summarizes the same evaluation position as the chart. Unsafe Query Execution Rate focuses on security and control. Query Execution Validity means the SQL ran without a database error against the seeded MySQL database, which is different from semantic answer correctness. Semantic correctness and latency remain separate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remaining benchmark work on the 107-query dataset, especially B2, B4, correctness annotation, semantic term coverage, and latency.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892807"/>
          </a:xfrm>
          <a:prstGeom prst="rect">
            <a:avLst/>
          </a:prstGeom>
          <a:noFill/>
        </p:spPr>
        <p:txBody>
          <a:bodyPr wrap="square">
            <a:spAutoFit/>
          </a:bodyPr>
          <a:lstStyle/>
          <a:p>
            <a:pPr>
              <a:defRPr sz="2000" b="1">
                <a:latin typeface="Times New Roman"/>
              </a:defRPr>
            </a:pPr>
            <a:r>
              <a:t>Md. Riaz</a:t>
            </a:r>
          </a:p>
          <a:p>
            <a:pPr>
              <a:defRPr sz="1600" b="0">
                <a:latin typeface="Times New Roman"/>
              </a:defRPr>
            </a:pPr>
            <a:r>
              <a:t>Program: B.Sc. in CSE (Diploma)</a:t>
            </a:r>
          </a:p>
          <a:p>
            <a:pPr>
              <a:defRPr sz="1600" b="0">
                <a:latin typeface="Times New Roman"/>
              </a:defRPr>
            </a:pPr>
            <a:r>
              <a:t>ID:  0322310105101024</a:t>
            </a:r>
          </a:p>
          <a:p>
            <a:pPr>
              <a:defRPr sz="1600" b="0">
                <a:latin typeface="Times New Roman"/>
              </a:defRPr>
            </a:pPr>
            <a:r>
              <a:t>Batch: 16th</a:t>
            </a:r>
          </a:p>
          <a:p>
            <a:pPr>
              <a:defRPr sz="1600" b="0">
                <a:latin typeface="Times New Roman"/>
              </a:defRPr>
            </a:pPr>
            <a:r>
              <a:t>Semester: 7th</a:t>
            </a:r>
          </a:p>
          <a:p>
            <a:pPr>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defRPr sz="2000" b="1">
                <a:latin typeface="Times New Roman"/>
              </a:defRPr>
            </a:pPr>
            <a:r>
              <a:t>Mst. Sahela Rahman</a:t>
            </a:r>
          </a:p>
          <a:p>
            <a:pPr>
              <a:defRPr sz="1600" b="0">
                <a:latin typeface="Times New Roman"/>
              </a:defRPr>
            </a:pPr>
            <a:r>
              <a:t>Lecturer</a:t>
            </a:r>
          </a:p>
          <a:p>
            <a:pPr>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Evaluation Metrics &amp; Expected Results</a:t>
            </a:r>
          </a:p>
          <a:p>
            <a:pPr marL="256032" indent="-256032">
              <a:lnSpc>
                <a:spcPct val="108000"/>
              </a:lnSpc>
              <a:spcBef>
                <a:spcPts val="300"/>
              </a:spcBef>
              <a:spcAft>
                <a:spcPts val="700"/>
              </a:spcAft>
            </a:pPr>
            <a:r>
              <a:rPr b="0" i="0" sz="1600">
                <a:solidFill>
                  <a:srgbClr val="333333"/>
                </a:solidFill>
                <a:latin typeface="Times New Roman"/>
              </a:rPr>
              <a:t>16. Beneficiaries &amp; Expected Impact</a:t>
            </a:r>
          </a:p>
          <a:p>
            <a:pPr marL="256032" indent="-256032">
              <a:lnSpc>
                <a:spcPct val="108000"/>
              </a:lnSpc>
              <a:spcBef>
                <a:spcPts val="300"/>
              </a:spcBef>
              <a:spcAft>
                <a:spcPts val="700"/>
              </a:spcAft>
            </a:pPr>
            <a:r>
              <a:rPr b="0" i="0" sz="1600">
                <a:solidFill>
                  <a:srgbClr val="333333"/>
                </a:solidFill>
                <a:latin typeface="Times New Roman"/>
              </a:rPr>
              <a:t>17. System Scope &amp; Limitations</a:t>
            </a:r>
          </a:p>
          <a:p>
            <a:pPr marL="256032" indent="-256032">
              <a:lnSpc>
                <a:spcPct val="108000"/>
              </a:lnSpc>
              <a:spcBef>
                <a:spcPts val="300"/>
              </a:spcBef>
              <a:spcAft>
                <a:spcPts val="700"/>
              </a:spcAft>
            </a:pPr>
            <a:r>
              <a:rPr b="0" i="0" sz="1600">
                <a:solidFill>
                  <a:srgbClr val="333333"/>
                </a:solidFill>
                <a:latin typeface="Times New Roman"/>
              </a:rPr>
              <a:t>18. Future Research Plan &amp; Roadmap</a:t>
            </a:r>
          </a:p>
          <a:p>
            <a:pPr marL="256032" indent="-256032">
              <a:lnSpc>
                <a:spcPct val="108000"/>
              </a:lnSpc>
              <a:spcBef>
                <a:spcPts val="300"/>
              </a:spcBef>
              <a:spcAft>
                <a:spcPts val="700"/>
              </a:spcAft>
            </a:pPr>
            <a:r>
              <a:rPr b="0" i="0" sz="1600">
                <a:solidFill>
                  <a:srgbClr val="333333"/>
                </a:solidFill>
                <a:latin typeface="Times New Roman"/>
              </a:rPr>
              <a:t>19. References</a:t>
            </a:r>
          </a:p>
          <a:p>
            <a:pPr marL="256032" indent="-256032">
              <a:lnSpc>
                <a:spcPct val="108000"/>
              </a:lnSpc>
              <a:spcBef>
                <a:spcPts val="300"/>
              </a:spcBef>
              <a:spcAft>
                <a:spcPts val="700"/>
              </a:spcAft>
            </a:pPr>
            <a:r>
              <a:rPr b="0" i="0" sz="160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governed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80%</a:t>
                      </a:r>
                    </a:p>
                  </a:txBody>
                  <a:tcPr anchor="ctr" marL="91440" marR="91440" marT="45720" marB="45720">
                    <a:solidFill>
                      <a:srgbClr val="F2F4F8"/>
                    </a:solidFill>
                  </a:tcPr>
                </a:tc>
                <a:tc>
                  <a:txBody>
                    <a:bodyPr/>
                    <a:lstStyle/>
                    <a:p>
                      <a:pPr algn="l">
                        <a:defRPr sz="1200">
                          <a:latin typeface="Times New Roman"/>
                        </a:defRPr>
                      </a:pPr>
                      <a:r>
                        <a:t>Metric &amp; Dimension whitelists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70%</a:t>
                      </a:r>
                    </a:p>
                  </a:txBody>
                  <a:tcPr anchor="ctr" marL="91440" marR="91440" marT="45720" marB="45720"/>
                </a:tc>
                <a:tc>
                  <a:txBody>
                    <a:bodyPr/>
                    <a:lstStyle/>
                    <a:p>
                      <a:pPr algn="l">
                        <a:defRPr sz="1200">
                          <a:latin typeface="Times New Roman"/>
                        </a:defRPr>
                      </a:pPr>
                      <a:r>
                        <a:t>JSON Intent Extractor &amp; BFS Join Compiler built</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60%</a:t>
                      </a:r>
                    </a:p>
                  </a:txBody>
                  <a:tcPr anchor="ctr" marL="91440" marR="91440" marT="45720" marB="45720">
                    <a:solidFill>
                      <a:srgbClr val="F2F4F8"/>
                    </a:solidFill>
                  </a:tcPr>
                </a:tc>
                <a:tc>
                  <a:txBody>
                    <a:bodyPr/>
                    <a:lstStyle/>
                    <a:p>
                      <a:pPr algn="l">
                        <a:defRPr sz="1200">
                          <a:latin typeface="Times New Roman"/>
                        </a:defRPr>
                      </a:pPr>
                      <a:r>
                        <a:t>B1 and B3 executed on the 107-query benchmark; B2/B4, correctness annotation, STC, and latency remain</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50%</a:t>
                      </a:r>
                    </a:p>
                  </a:txBody>
                  <a:tcPr anchor="ctr" marL="91440" marR="91440" marT="45720" marB="45720"/>
                </a:tc>
                <a:tc>
                  <a:txBody>
                    <a:bodyPr/>
                    <a:lstStyle/>
                    <a:p>
                      <a:pPr algn="l">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50">
                <a:solidFill>
                  <a:srgbClr val="003366"/>
                </a:solidFill>
                <a:latin typeface="Times New Roman"/>
              </a:rPr>
              <a:t>Evaluation Environment &amp; Database Schema:</a:t>
            </a:r>
          </a:p>
          <a:p>
            <a:pPr marL="256032" indent="-256032">
              <a:lnSpc>
                <a:spcPct val="108000"/>
              </a:lnSpc>
              <a:spcBef>
                <a:spcPts val="300"/>
              </a:spcBef>
              <a:spcAft>
                <a:spcPts val="700"/>
              </a:spcAft>
            </a:pPr>
            <a:r>
              <a:rPr b="0" i="0" sz="125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b="0" i="0" sz="1250">
                <a:solidFill>
                  <a:srgbClr val="333333"/>
                </a:solidFill>
                <a:latin typeface="Times New Roman"/>
              </a:rPr>
              <a:t>• Benchmark dataset contains 107 mixed natural-language reporting requests across 11 core analytical primitives.</a:t>
            </a:r>
          </a:p>
          <a:p>
            <a:pPr marL="0" indent="0">
              <a:lnSpc>
                <a:spcPct val="108000"/>
              </a:lnSpc>
              <a:spcBef>
                <a:spcPts val="1200"/>
              </a:spcBef>
              <a:spcAft>
                <a:spcPts val="500"/>
              </a:spcAft>
            </a:pPr>
            <a:r>
              <a:rPr b="1" i="0" sz="1550">
                <a:solidFill>
                  <a:srgbClr val="003366"/>
                </a:solidFill>
                <a:latin typeface="Times New Roman"/>
              </a:rPr>
              <a:t>Harder Boundary Cases Included in the Same Benchmark:</a:t>
            </a:r>
          </a:p>
          <a:p>
            <a:pPr marL="256032" indent="-256032">
              <a:lnSpc>
                <a:spcPct val="108000"/>
              </a:lnSpc>
              <a:spcBef>
                <a:spcPts val="300"/>
              </a:spcBef>
              <a:spcAft>
                <a:spcPts val="700"/>
              </a:spcAft>
            </a:pPr>
            <a:r>
              <a:rPr b="0" i="0" sz="1250">
                <a:solidFill>
                  <a:srgbClr val="333333"/>
                </a:solidFill>
                <a:latin typeface="Times New Roman"/>
              </a:rPr>
              <a:t>• Review sentiment, forecasting, HR-domain, web-analytics, vague, compound, and disguised write-request cases test safety and correctness under harder inputs.</a:t>
            </a:r>
          </a:p>
          <a:p>
            <a:pPr marL="256032" indent="-256032">
              <a:lnSpc>
                <a:spcPct val="108000"/>
              </a:lnSpc>
              <a:spcBef>
                <a:spcPts val="300"/>
              </a:spcBef>
              <a:spcAft>
                <a:spcPts val="700"/>
              </a:spcAft>
            </a:pPr>
            <a:r>
              <a:rPr b="0" i="0" sz="1250">
                <a:solidFill>
                  <a:srgbClr val="333333"/>
                </a:solidFill>
                <a:latin typeface="Times New Roman"/>
              </a:rPr>
              <a:t>• These cases are treated as part of the same 107-query run, not as a separate benchmark.</a:t>
            </a:r>
          </a:p>
          <a:p>
            <a:pPr marL="0" indent="0">
              <a:lnSpc>
                <a:spcPct val="108000"/>
              </a:lnSpc>
              <a:spcBef>
                <a:spcPts val="1200"/>
              </a:spcBef>
              <a:spcAft>
                <a:spcPts val="500"/>
              </a:spcAft>
            </a:pPr>
            <a:r>
              <a:rPr b="1" i="0" sz="1550">
                <a:solidFill>
                  <a:srgbClr val="003366"/>
                </a:solidFill>
                <a:latin typeface="Times New Roman"/>
              </a:rPr>
              <a:t>Four Baseline Comparisons:</a:t>
            </a:r>
          </a:p>
          <a:p>
            <a:pPr marL="256032" indent="-256032">
              <a:lnSpc>
                <a:spcPct val="108000"/>
              </a:lnSpc>
              <a:spcBef>
                <a:spcPts val="300"/>
              </a:spcBef>
              <a:spcAft>
                <a:spcPts val="700"/>
              </a:spcAft>
            </a:pPr>
            <a:r>
              <a:rPr b="1" i="0" sz="1250">
                <a:solidFill>
                  <a:srgbClr val="003366"/>
                </a:solidFill>
                <a:latin typeface="Times New Roman"/>
              </a:rPr>
              <a:t>• B1 - Direct LLM-to-SQL:</a:t>
            </a:r>
            <a:r>
              <a:rPr b="0" i="0" sz="1250">
                <a:solidFill>
                  <a:srgbClr val="333333"/>
                </a:solidFill>
                <a:latin typeface="Times New Roman"/>
              </a:rPr>
              <a:t> executed against AEGIS.</a:t>
            </a:r>
          </a:p>
          <a:p>
            <a:pPr marL="256032" indent="-256032">
              <a:lnSpc>
                <a:spcPct val="108000"/>
              </a:lnSpc>
              <a:spcBef>
                <a:spcPts val="300"/>
              </a:spcBef>
              <a:spcAft>
                <a:spcPts val="700"/>
              </a:spcAft>
            </a:pPr>
            <a:r>
              <a:rPr b="1" i="0" sz="1250">
                <a:solidFill>
                  <a:srgbClr val="003366"/>
                </a:solidFill>
                <a:latin typeface="Times New Roman"/>
              </a:rPr>
              <a:t>• B2 - Decomposed LLM:</a:t>
            </a:r>
            <a:r>
              <a:rPr b="0" i="0" sz="1250">
                <a:solidFill>
                  <a:srgbClr val="333333"/>
                </a:solidFill>
                <a:latin typeface="Times New Roman"/>
              </a:rPr>
              <a:t> planned full benchmark.</a:t>
            </a:r>
          </a:p>
          <a:p>
            <a:pPr marL="256032" indent="-256032">
              <a:lnSpc>
                <a:spcPct val="108000"/>
              </a:lnSpc>
              <a:spcBef>
                <a:spcPts val="300"/>
              </a:spcBef>
              <a:spcAft>
                <a:spcPts val="700"/>
              </a:spcAft>
            </a:pPr>
            <a:r>
              <a:rPr b="1" i="0" sz="1250">
                <a:solidFill>
                  <a:srgbClr val="003366"/>
                </a:solidFill>
                <a:latin typeface="Times New Roman"/>
              </a:rPr>
              <a:t>• B3 - Template-only:</a:t>
            </a:r>
            <a:r>
              <a:rPr b="0" i="0" sz="1250">
                <a:solidFill>
                  <a:srgbClr val="333333"/>
                </a:solidFill>
                <a:latin typeface="Times New Roman"/>
              </a:rPr>
              <a:t> executed, no LLM.</a:t>
            </a:r>
          </a:p>
          <a:p>
            <a:pPr marL="256032" indent="-256032">
              <a:lnSpc>
                <a:spcPct val="108000"/>
              </a:lnSpc>
              <a:spcBef>
                <a:spcPts val="300"/>
              </a:spcBef>
              <a:spcAft>
                <a:spcPts val="700"/>
              </a:spcAft>
            </a:pPr>
            <a:r>
              <a:rPr b="1" i="0" sz="1250">
                <a:solidFill>
                  <a:srgbClr val="003366"/>
                </a:solidFill>
                <a:latin typeface="Times New Roman"/>
              </a:rPr>
              <a:t>• B4 - AEGIS ablated:</a:t>
            </a:r>
            <a:r>
              <a:rPr b="0" i="0" sz="1250">
                <a:solidFill>
                  <a:srgbClr val="333333"/>
                </a:solidFill>
                <a:latin typeface="Times New Roman"/>
              </a:rPr>
              <a:t> planned future evaluation.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semantic correctness and latency are separate pending measurements.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AEGIS 100% safe (0/107) - Baseline 98.1% (1 genuine violation)</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SQL runs without DB error</a:t>
                      </a:r>
                    </a:p>
                  </a:txBody>
                  <a:tcPr anchor="ctr" marL="91440" marR="91440" marT="45720" marB="45720">
                    <a:solidFill>
                      <a:srgbClr val="F2F4F8"/>
                    </a:solidFill>
                  </a:tcPr>
                </a:tc>
                <a:tc>
                  <a:txBody>
                    <a:bodyPr/>
                    <a:lstStyle/>
                    <a:p>
                      <a:pPr>
                        <a:defRPr sz="1200">
                          <a:latin typeface="Times New Roman"/>
                        </a:defRPr>
                      </a:pPr>
                      <a:r>
                        <a:t>AEGIS 93.5% (100/107) - B1 25.2% (27/107) - B3 97.2% (104/107)</a:t>
                      </a:r>
                    </a:p>
                  </a:txBody>
                  <a:tcPr anchor="ctr" marL="91440" marR="91440" marT="45720" marB="45720">
                    <a:solidFill>
                      <a:srgbClr val="F2F4F8"/>
                    </a:solidFill>
                  </a:tcPr>
                </a:tc>
              </a:tr>
              <a:tr h="768096">
                <a:tc>
                  <a:txBody>
                    <a:bodyPr/>
                    <a:lstStyle/>
                    <a:p>
                      <a:pPr>
                        <a:defRPr sz="1200">
                          <a:latin typeface="Times New Roman"/>
                        </a:defRPr>
                      </a:pPr>
                      <a:r>
                        <a:t>Semantic Correctness / Scope Handling</a:t>
                      </a:r>
                    </a:p>
                  </a:txBody>
                  <a:tcPr anchor="ctr" marL="91440" marR="91440" marT="45720" marB="45720"/>
                </a:tc>
                <a:tc>
                  <a:txBody>
                    <a:bodyPr/>
                    <a:lstStyle/>
                    <a:p>
                      <a:pPr>
                        <a:defRPr sz="1200">
                          <a:latin typeface="Times New Roman"/>
                        </a:defRPr>
                      </a:pPr>
                      <a:r>
                        <a:t>Answer Correctness</a:t>
                      </a:r>
                    </a:p>
                  </a:txBody>
                  <a:tcPr anchor="ctr" marL="91440" marR="91440" marT="45720" marB="45720"/>
                </a:tc>
                <a:tc>
                  <a:txBody>
                    <a:bodyPr/>
                    <a:lstStyle/>
                    <a:p>
                      <a:pPr>
                        <a:defRPr sz="1200">
                          <a:latin typeface="Times New Roman"/>
                        </a:defRPr>
                      </a:pPr>
                      <a:r>
                        <a:t>Separate annotated benchmark needed</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Not yet measured - future work</a:t>
                      </a:r>
                    </a:p>
                  </a:txBody>
                  <a:tcPr anchor="ctr" marL="91440" marR="91440" marT="45720" marB="45720">
                    <a:solidFill>
                      <a:srgbClr val="F2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Complete Remaining Benchmark Work:</a:t>
            </a:r>
          </a:p>
          <a:p>
            <a:pPr marL="457200" indent="0">
              <a:lnSpc>
                <a:spcPct val="108000"/>
              </a:lnSpc>
              <a:spcBef>
                <a:spcPts val="0"/>
              </a:spcBef>
              <a:spcAft>
                <a:spcPts val="800"/>
              </a:spcAft>
            </a:pPr>
            <a:r>
              <a:rPr b="0" i="1" sz="1300">
                <a:solidFill>
                  <a:srgbClr val="5F5F5F"/>
                </a:solidFill>
                <a:latin typeface="Times New Roman"/>
              </a:rPr>
              <a:t>Run B2 and B4, then add correctness annotation, semantic term coverage, and latency measurement for the 107-query dataset.</a:t>
            </a:r>
          </a:p>
          <a:p>
            <a:pPr marL="256032" indent="-256032">
              <a:lnSpc>
                <a:spcPct val="108000"/>
              </a:lnSpc>
              <a:spcBef>
                <a:spcPts val="300"/>
              </a:spcBef>
              <a:spcAft>
                <a:spcPts val="700"/>
              </a:spcAft>
            </a:pPr>
            <a:r>
              <a:rPr b="1" i="0" sz="1500">
                <a:solidFill>
                  <a:srgbClr val="003366"/>
                </a:solidFill>
                <a:latin typeface="Times New Roman"/>
              </a:rPr>
              <a:t>2. Cross-Schema Generalizability Test (WooCommerce):</a:t>
            </a:r>
          </a:p>
          <a:p>
            <a:pPr marL="457200" indent="0">
              <a:lnSpc>
                <a:spcPct val="108000"/>
              </a:lnSpc>
              <a:spcBef>
                <a:spcPts val="0"/>
              </a:spcBef>
              <a:spcAft>
                <a:spcPts val="800"/>
              </a:spcAft>
            </a:pPr>
            <a:r>
              <a:rPr b="0"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i="0" sz="1500">
                <a:solidFill>
                  <a:srgbClr val="003366"/>
                </a:solidFill>
                <a:latin typeface="Times New Roman"/>
              </a:rPr>
              <a:t>3. Advanced Compiler Primitives:</a:t>
            </a:r>
          </a:p>
          <a:p>
            <a:pPr marL="457200" indent="0">
              <a:lnSpc>
                <a:spcPct val="108000"/>
              </a:lnSpc>
              <a:spcBef>
                <a:spcPts val="0"/>
              </a:spcBef>
              <a:spcAft>
                <a:spcPts val="800"/>
              </a:spcAft>
            </a:pPr>
            <a:r>
              <a:rPr b="0"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i="0" sz="1500">
                <a:solidFill>
                  <a:srgbClr val="003366"/>
                </a:solidFill>
                <a:latin typeface="Times New Roman"/>
              </a:rPr>
              <a:t>4. Finishing the Thesis Write-Up:</a:t>
            </a:r>
          </a:p>
          <a:p>
            <a:pPr marL="457200" indent="0">
              <a:lnSpc>
                <a:spcPct val="108000"/>
              </a:lnSpc>
              <a:spcBef>
                <a:spcPts val="0"/>
              </a:spcBef>
              <a:spcAft>
                <a:spcPts val="800"/>
              </a:spcAft>
            </a:pPr>
            <a:r>
              <a:rPr b="0"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