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02-Aug-26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Sunday, August 2,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Sunday, August 2,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Sunday, August 2,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Sunday, August 2,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Sunday, August 2,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Sunday, August 2,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Sunday, August 2,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Sunday, August 2,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Sunday, August 2,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Sunday, August 2,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Sunday, August 2,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Sunday, August 2,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Structural Injection Risk</a:t>
            </a:r>
          </a:p>
          <a:p>
            <a:pPr marL="457200" indent="0">
              <a:lnSpc>
                <a:spcPct val="108000"/>
              </a:lnSpc>
              <a:spcBef>
                <a:spcPts val="0"/>
              </a:spcBef>
              <a:spcAft>
                <a:spcPts val="800"/>
              </a:spcAft>
            </a:pPr>
            <a:r>
              <a:rPr sz="1400" b="0" i="1">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Unbounded Schema Hallucination</a:t>
            </a:r>
          </a:p>
          <a:p>
            <a:pPr marL="457200" indent="0">
              <a:lnSpc>
                <a:spcPct val="108000"/>
              </a:lnSpc>
              <a:spcBef>
                <a:spcPts val="0"/>
              </a:spcBef>
              <a:spcAft>
                <a:spcPts val="800"/>
              </a:spcAft>
            </a:pPr>
            <a:r>
              <a:rPr sz="1400" b="0" i="1">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Access Control &amp; Context Bypass</a:t>
            </a:r>
          </a:p>
          <a:p>
            <a:pPr marL="457200" indent="0">
              <a:lnSpc>
                <a:spcPct val="108000"/>
              </a:lnSpc>
              <a:spcBef>
                <a:spcPts val="0"/>
              </a:spcBef>
              <a:spcAft>
                <a:spcPts val="800"/>
              </a:spcAft>
            </a:pPr>
            <a:r>
              <a:rPr sz="1400" b="0" i="1">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Semantic Layer Position Paper [2]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Identifies controlled data access as a practical requirement for natural language database interfaces in real deployments.</a:t>
            </a:r>
          </a:p>
          <a:p>
            <a:pPr marL="256032" indent="-256032">
              <a:lnSpc>
                <a:spcPct val="108000"/>
              </a:lnSpc>
              <a:spcBef>
                <a:spcPts val="300"/>
              </a:spcBef>
              <a:spcAft>
                <a:spcPts val="700"/>
              </a:spcAft>
            </a:pPr>
            <a:r>
              <a:rPr sz="1100" b="0" i="0">
                <a:solidFill>
                  <a:srgbClr val="333333"/>
                </a:solidFill>
                <a:latin typeface="Times New Roman"/>
              </a:rPr>
              <a:t>• Argues for a semantic-layer abstraction sitting between user language and the physical schema.</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position paper - no working implementation, no safety mechanism, and no evaluation of the proposal.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Seq2SQL [11]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sz="1100" b="0" i="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sz="1100" b="0" i="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sz="1400" b="1" i="0">
                <a:solidFill>
                  <a:srgbClr val="003366"/>
                </a:solidFill>
                <a:latin typeface="Times New Roman"/>
              </a:rPr>
              <a:t>Spider [10]</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10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BIRD [4]</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sz="1100" b="0" i="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sz="1400" b="1" i="0">
                <a:solidFill>
                  <a:srgbClr val="003366"/>
                </a:solidFill>
                <a:latin typeface="Times New Roman"/>
              </a:rPr>
              <a:t>RAT-SQL [9]</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00" b="0" i="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sz="1100" b="0" i="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PICARD [6]</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sz="125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sz="1550" b="1" i="0">
                <a:solidFill>
                  <a:srgbClr val="003366"/>
                </a:solidFill>
                <a:latin typeface="Times New Roman"/>
              </a:rPr>
              <a:t>G-SQL [7] and TriSQL [8]</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sz="1250" b="0" i="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nl4dv [5]</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sz="1400" b="1" i="0">
                <a:solidFill>
                  <a:srgbClr val="003366"/>
                </a:solidFill>
                <a:latin typeface="Times New Roman"/>
              </a:rPr>
              <a:t>DashBot [1]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sz="1400" b="1" i="0">
                <a:solidFill>
                  <a:srgbClr val="003366"/>
                </a:solidFill>
                <a:latin typeface="Times New Roman"/>
              </a:rPr>
              <a:t>Synthesis Across the Five Groups:</a:t>
            </a:r>
          </a:p>
          <a:p>
            <a:pPr marL="256032" indent="-256032">
              <a:lnSpc>
                <a:spcPct val="108000"/>
              </a:lnSpc>
              <a:spcBef>
                <a:spcPts val="300"/>
              </a:spcBef>
              <a:spcAft>
                <a:spcPts val="700"/>
              </a:spcAft>
            </a:pPr>
            <a:r>
              <a:rPr sz="1100" b="0" i="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97536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Synthetic data</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Semantic Layer Position Paper [2]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Position paper</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The only prior semantic-layer proposal [2] is a position paper with no working implementation, safety mechanism, or evaluation.</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sz="1200" b="0" i="1">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0" i="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sz="1700" b="0" i="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sz="1700" b="0" i="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5F5F5F"/>
                </a:solidFill>
                <a:latin typeface="Times New Roman"/>
              </a:rPr>
              <a:t>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5F5F5F"/>
                </a:solidFill>
                <a:latin typeface="Times New Roman"/>
              </a:rPr>
              <a:t>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5F5F5F"/>
                </a:solidFill>
                <a:latin typeface="Times New Roman"/>
              </a:rPr>
              <a:t>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5F5F5F"/>
                </a:solidFill>
                <a:latin typeface="Times New Roman"/>
              </a:rPr>
              <a:t>A reusable architectural pattern - constrain the model's emission space instead of policing its output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5F5F5F"/>
                </a:solidFill>
                <a:latin typeface="Times New Roman"/>
              </a:rPr>
              <a:t>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8125</Words>
  <Application>Microsoft Office PowerPoint</Application>
  <PresentationFormat>Widescreen</PresentationFormat>
  <Paragraphs>518</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2026-08-02T15:48:03Z</dcterms:modified>
</cp:coreProperties>
</file>