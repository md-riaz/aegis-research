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02-Aug-26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showed that aligned training data could teach a model to emit SQL at all, though only over single tables in WikiSQL. Spider then raised the bar substantially by introducing cross-domain schemas and genuine multi-table queries, and it became the standard benchmark the whole field now measures against. Both were essential to getting the field moving. But notice what they measure: correctness of the generated SQL against a gold answer. Neither asks whether the query was permitted, and in both the model is the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databases, value grounding, and attention to whether the query is actually efficient, not just correct. RAT-SQL attacked a different problem: relation-aware schema encoding, explicitly modelling how tables relate, which genuinely improved schema linking on databases the model had never seen. I want to be fair to both - they work, and they improved the numbers. But BIRD still measures generation quality rather than adversarial safety, and RAT-SQL, for all its schema awareness, still ends by emitting a raw SQL string whose safety depends on the model having got it right.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invalid SQL tokens as they are produced, which measurably raises the proportion of parseable queries. G-SQL and TriSQL are the most recent, adding schema-aware rule guidance and multi-stage refinement. Here is the distinction I want the committee to hold on to: PICARD constrains whether the token is valid SQL, not whether the query should have been allowed. A perfectly parseable statement can still drop a table. Syntactic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is the reference work for turning a plain-English question into a chart specification - it handles the analytic task and the visual encoding well. DashBot goes further and composes an entire dashboard using reinforcement learning over extracted insights. Both are strong on exactly the half of the problem the SQL papers ignore. But nl4dv works over in-memory data, not a governed database, and DashBot was evaluated on synthetic data and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Sunday, August 2,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Sunday, August 2,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Sunday, August 2,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Sunday, August 2,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Sunday, August 2,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Sunday, August 2,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Sunday, August 2,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Sunday, August 2,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Sunday, August 2,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Sunday, August 2,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Sunday, August 2,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Sunday, August 2,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Research Background &amp; Context</a:t>
            </a:r>
          </a:p>
          <a:p>
            <a:pPr marL="256032" indent="-256032">
              <a:lnSpc>
                <a:spcPct val="108000"/>
              </a:lnSpc>
              <a:spcBef>
                <a:spcPts val="300"/>
              </a:spcBef>
              <a:spcAft>
                <a:spcPts val="700"/>
              </a:spcAft>
            </a:pPr>
            <a:r>
              <a:rPr sz="1400" b="0" i="0">
                <a:solidFill>
                  <a:srgbClr val="333333"/>
                </a:solidFill>
                <a:latin typeface="Times New Roman"/>
              </a:rPr>
              <a:t>2. Problem Statement &amp; Vulnerability Types</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 &amp; Vulnerability Types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Vulnerability Class I:</a:t>
            </a:r>
            <a:r>
              <a:rPr sz="1600" b="0" i="0">
                <a:solidFill>
                  <a:srgbClr val="333333"/>
                </a:solidFill>
                <a:latin typeface="Times New Roman"/>
              </a:rPr>
              <a:t> Structural Injection Risk</a:t>
            </a:r>
          </a:p>
          <a:p>
            <a:pPr marL="457200" indent="0">
              <a:lnSpc>
                <a:spcPct val="108000"/>
              </a:lnSpc>
              <a:spcBef>
                <a:spcPts val="0"/>
              </a:spcBef>
              <a:spcAft>
                <a:spcPts val="800"/>
              </a:spcAft>
            </a:pPr>
            <a:r>
              <a:rPr sz="1400" b="0" i="1">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Vulnerability Class II:</a:t>
            </a:r>
            <a:r>
              <a:rPr sz="1600" b="0" i="0">
                <a:solidFill>
                  <a:srgbClr val="333333"/>
                </a:solidFill>
                <a:latin typeface="Times New Roman"/>
              </a:rPr>
              <a:t> Unbounded Schema Hallucination</a:t>
            </a:r>
          </a:p>
          <a:p>
            <a:pPr marL="457200" indent="0">
              <a:lnSpc>
                <a:spcPct val="108000"/>
              </a:lnSpc>
              <a:spcBef>
                <a:spcPts val="0"/>
              </a:spcBef>
              <a:spcAft>
                <a:spcPts val="800"/>
              </a:spcAft>
            </a:pPr>
            <a:r>
              <a:rPr sz="1400" b="0" i="1">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Vulnerability Class III:</a:t>
            </a:r>
            <a:r>
              <a:rPr sz="1600" b="0" i="0">
                <a:solidFill>
                  <a:srgbClr val="333333"/>
                </a:solidFill>
                <a:latin typeface="Times New Roman"/>
              </a:rPr>
              <a:t> Access Control &amp; Context Bypass</a:t>
            </a:r>
          </a:p>
          <a:p>
            <a:pPr marL="457200" indent="0">
              <a:lnSpc>
                <a:spcPct val="108000"/>
              </a:lnSpc>
              <a:spcBef>
                <a:spcPts val="0"/>
              </a:spcBef>
              <a:spcAft>
                <a:spcPts val="800"/>
              </a:spcAft>
            </a:pPr>
            <a:r>
              <a:rPr sz="1400" b="0" i="1">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Identifies controlled data access as a practical requirement for natural language database interfaces in real deployments.</a:t>
            </a:r>
          </a:p>
          <a:p>
            <a:pPr marL="256032" indent="-256032">
              <a:lnSpc>
                <a:spcPct val="108000"/>
              </a:lnSpc>
              <a:spcBef>
                <a:spcPts val="300"/>
              </a:spcBef>
              <a:spcAft>
                <a:spcPts val="700"/>
              </a:spcAft>
            </a:pPr>
            <a:r>
              <a:rPr sz="1100" b="0" i="0">
                <a:solidFill>
                  <a:srgbClr val="333333"/>
                </a:solidFill>
                <a:latin typeface="Times New Roman"/>
              </a:rPr>
              <a:t>• Argues for a semantic-layer abstraction sitting between user language and the physical schema.</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position paper - no working implementation, no safety mechanism, and no evaluation of the proposal.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Seq2SQL [11]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Showed that aligned training data can teach a neural model to produce SQL, moving the field decisively toward learned parsers.</a:t>
            </a:r>
          </a:p>
          <a:p>
            <a:pPr marL="256032" indent="-256032">
              <a:lnSpc>
                <a:spcPct val="108000"/>
              </a:lnSpc>
              <a:spcBef>
                <a:spcPts val="300"/>
              </a:spcBef>
              <a:spcAft>
                <a:spcPts val="700"/>
              </a:spcAft>
            </a:pPr>
            <a:r>
              <a:rPr sz="1100" b="0" i="0">
                <a:solidFill>
                  <a:srgbClr val="333333"/>
                </a:solidFill>
                <a:latin typeface="Times New Roman"/>
              </a:rPr>
              <a:t>• Introduced WikiSQL, the first large-scale dataset pairing natural language questions with executable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Restricted to single-table queries, so it never confronts join-path selection.</a:t>
            </a:r>
          </a:p>
          <a:p>
            <a:pPr marL="256032" indent="-256032">
              <a:lnSpc>
                <a:spcPct val="108000"/>
              </a:lnSpc>
              <a:spcBef>
                <a:spcPts val="300"/>
              </a:spcBef>
              <a:spcAft>
                <a:spcPts val="700"/>
              </a:spcAft>
            </a:pPr>
            <a:r>
              <a:rPr sz="1100" b="0" i="0">
                <a:solidFill>
                  <a:srgbClr val="333333"/>
                </a:solidFill>
                <a:latin typeface="Times New Roman"/>
              </a:rPr>
              <a:t>• Measures generation accuracy only, with no notion of execution safety or permission scope.</a:t>
            </a:r>
          </a:p>
          <a:p>
            <a:pPr marL="0" indent="0">
              <a:lnSpc>
                <a:spcPct val="108000"/>
              </a:lnSpc>
              <a:spcBef>
                <a:spcPts val="1200"/>
              </a:spcBef>
              <a:spcAft>
                <a:spcPts val="500"/>
              </a:spcAft>
            </a:pPr>
            <a:r>
              <a:rPr sz="1400" b="1" i="0">
                <a:solidFill>
                  <a:srgbClr val="003366"/>
                </a:solidFill>
                <a:latin typeface="Times New Roman"/>
              </a:rPr>
              <a:t>Spider [10]</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10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benchmark rather than a system - it scores SQL correctness and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BIRD [4]</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Moved benchmark queries closer to production conditions through large databases, value grounding, and query efficiency.</a:t>
            </a:r>
          </a:p>
          <a:p>
            <a:pPr marL="256032" indent="-256032">
              <a:lnSpc>
                <a:spcPct val="108000"/>
              </a:lnSpc>
              <a:spcBef>
                <a:spcPts val="300"/>
              </a:spcBef>
              <a:spcAft>
                <a:spcPts val="700"/>
              </a:spcAft>
            </a:pPr>
            <a:r>
              <a:rPr sz="1100" b="0" i="0">
                <a:solidFill>
                  <a:srgbClr val="333333"/>
                </a:solidFill>
                <a:latin typeface="Times New Roman"/>
              </a:rPr>
              <a:t>• Exposed how far benchmark accuracy sits from real deployment performance.</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Still measures generation quality rather than adversarial safety; the model remains the author of the SQL string.</a:t>
            </a:r>
          </a:p>
          <a:p>
            <a:pPr marL="0" indent="0">
              <a:lnSpc>
                <a:spcPct val="108000"/>
              </a:lnSpc>
              <a:spcBef>
                <a:spcPts val="1200"/>
              </a:spcBef>
              <a:spcAft>
                <a:spcPts val="500"/>
              </a:spcAft>
            </a:pPr>
            <a:r>
              <a:rPr sz="1400" b="1" i="0">
                <a:solidFill>
                  <a:srgbClr val="003366"/>
                </a:solidFill>
                <a:latin typeface="Times New Roman"/>
              </a:rPr>
              <a:t>RAT-SQL [9]</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00" b="0" i="0">
                <a:solidFill>
                  <a:srgbClr val="333333"/>
                </a:solidFill>
                <a:latin typeface="Times New Roman"/>
              </a:rPr>
              <a:t>• Substantially improved schema linking and cross-domain generalization on unseen databases.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Improves accuracy but still emits a raw SQL string; safety depends entirely on the model getting it right.</a:t>
            </a:r>
          </a:p>
          <a:p>
            <a:pPr marL="256032" indent="-256032">
              <a:lnSpc>
                <a:spcPct val="108000"/>
              </a:lnSpc>
              <a:spcBef>
                <a:spcPts val="300"/>
              </a:spcBef>
              <a:spcAft>
                <a:spcPts val="700"/>
              </a:spcAft>
            </a:pPr>
            <a:r>
              <a:rPr sz="1100" b="0" i="0">
                <a:solidFill>
                  <a:srgbClr val="333333"/>
                </a:solidFill>
                <a:latin typeface="Times New Roman"/>
              </a:rPr>
              <a:t>• No permission control, no controlled vocabulary, and no persistence of results.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550" b="1" i="0">
                <a:solidFill>
                  <a:srgbClr val="003366"/>
                </a:solidFill>
                <a:latin typeface="Times New Roman"/>
              </a:rPr>
              <a:t>PICARD [6]</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Constrained decoding that rejects invalid SQL tokens during generation, raising the proportion of parseable queries.</a:t>
            </a:r>
          </a:p>
          <a:p>
            <a:pPr marL="256032" indent="-256032">
              <a:lnSpc>
                <a:spcPct val="108000"/>
              </a:lnSpc>
              <a:spcBef>
                <a:spcPts val="300"/>
              </a:spcBef>
              <a:spcAft>
                <a:spcPts val="700"/>
              </a:spcAft>
            </a:pPr>
            <a:r>
              <a:rPr sz="125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Constrains token validity, not query intent - a syntactically valid statement can still be unauthorized or destructive.</a:t>
            </a:r>
          </a:p>
          <a:p>
            <a:pPr marL="0" indent="0">
              <a:lnSpc>
                <a:spcPct val="108000"/>
              </a:lnSpc>
              <a:spcBef>
                <a:spcPts val="1200"/>
              </a:spcBef>
              <a:spcAft>
                <a:spcPts val="500"/>
              </a:spcAft>
            </a:pPr>
            <a:r>
              <a:rPr sz="1550" b="1" i="0">
                <a:solidFill>
                  <a:srgbClr val="003366"/>
                </a:solidFill>
                <a:latin typeface="Times New Roman"/>
              </a:rPr>
              <a:t>G-SQL [7] and TriSQL [8]</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Add schema-aware rule guidance and dynamic multi-stage refinement to make LLM-based generation more robust.</a:t>
            </a:r>
          </a:p>
          <a:p>
            <a:pPr marL="256032" indent="-256032">
              <a:lnSpc>
                <a:spcPct val="108000"/>
              </a:lnSpc>
              <a:spcBef>
                <a:spcPts val="300"/>
              </a:spcBef>
              <a:spcAft>
                <a:spcPts val="700"/>
              </a:spcAft>
            </a:pPr>
            <a:r>
              <a:rPr sz="1250" b="0" i="0">
                <a:solidFill>
                  <a:srgbClr val="333333"/>
                </a:solidFill>
                <a:latin typeface="Times New Roman"/>
              </a:rPr>
              <a:t>• Represent the current state of the art in improving generation reliability.</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Robustness improves only probabilistically; neither adds a controlled vocabulary, permission enforcement, or a safe-execution guarantee.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nl4dv [5]</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Maps natural language queries to analytic tasks and visual encodings, automating chart selection from a plain-English question.</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Operates over in-memory data rather than a governed database; does not restrict what the model may see or guarantee safe execution.</a:t>
            </a:r>
          </a:p>
          <a:p>
            <a:pPr marL="0" indent="0">
              <a:lnSpc>
                <a:spcPct val="108000"/>
              </a:lnSpc>
              <a:spcBef>
                <a:spcPts val="1200"/>
              </a:spcBef>
              <a:spcAft>
                <a:spcPts val="500"/>
              </a:spcAft>
            </a:pPr>
            <a:r>
              <a:rPr sz="1400" b="1" i="0">
                <a:solidFill>
                  <a:srgbClr val="003366"/>
                </a:solidFill>
                <a:latin typeface="Times New Roman"/>
              </a:rPr>
              <a:t>DashBot [1]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Uses deep reinforcement learning to compose complete dashboards from a set of extracted data insights.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Evaluated on synthetic data; performs no natural-language-to-SQL parsing and provides no semantic layer or safety mechanism.</a:t>
            </a:r>
          </a:p>
          <a:p>
            <a:pPr marL="0" indent="0">
              <a:lnSpc>
                <a:spcPct val="108000"/>
              </a:lnSpc>
              <a:spcBef>
                <a:spcPts val="1200"/>
              </a:spcBef>
              <a:spcAft>
                <a:spcPts val="500"/>
              </a:spcAft>
            </a:pPr>
            <a:r>
              <a:rPr sz="1400" b="1" i="0">
                <a:solidFill>
                  <a:srgbClr val="003366"/>
                </a:solidFill>
                <a:latin typeface="Times New Roman"/>
              </a:rPr>
              <a:t>Synthesis Across the Five Groups:</a:t>
            </a:r>
          </a:p>
          <a:p>
            <a:pPr marL="256032" indent="-256032">
              <a:lnSpc>
                <a:spcPct val="108000"/>
              </a:lnSpc>
              <a:spcBef>
                <a:spcPts val="300"/>
              </a:spcBef>
              <a:spcAft>
                <a:spcPts val="700"/>
              </a:spcAft>
            </a:pPr>
            <a:r>
              <a:rPr sz="1100" b="0" i="0">
                <a:solidFill>
                  <a:srgbClr val="333333"/>
                </a:solidFill>
                <a:latin typeface="Times New Roman"/>
              </a:rPr>
              <a:t>• Each stream solves one half of the problem well and ignores the other - no reviewed system combines a semantic layer, safe SQL, visualization, and widget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[11]</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Synthetic data</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Position paper</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Only prior work [2] proposes a semantic layer, and it is a position paper with no working implementation, safety mechanism, or evaluation.</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sz="1200" b="0" i="1">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1" i="0">
                <a:solidFill>
                  <a:srgbClr val="003366"/>
                </a:solidFill>
                <a:latin typeface="Times New Roman"/>
              </a:rPr>
              <a:t>• Research Question 1 (RQ1):</a:t>
            </a:r>
          </a:p>
          <a:p>
            <a:pPr marL="457200" indent="0">
              <a:lnSpc>
                <a:spcPct val="108000"/>
              </a:lnSpc>
              <a:spcBef>
                <a:spcPts val="0"/>
              </a:spcBef>
              <a:spcAft>
                <a:spcPts val="800"/>
              </a:spcAft>
            </a:pPr>
            <a:r>
              <a:rPr sz="1500" b="0" i="1">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sz="1700" b="1" i="0">
                <a:solidFill>
                  <a:srgbClr val="003366"/>
                </a:solidFill>
                <a:latin typeface="Times New Roman"/>
              </a:rPr>
              <a:t>• Research Question 2 (RQ2):</a:t>
            </a:r>
          </a:p>
          <a:p>
            <a:pPr marL="457200" indent="0">
              <a:lnSpc>
                <a:spcPct val="108000"/>
              </a:lnSpc>
              <a:spcBef>
                <a:spcPts val="0"/>
              </a:spcBef>
              <a:spcAft>
                <a:spcPts val="800"/>
              </a:spcAft>
            </a:pPr>
            <a:r>
              <a:rPr sz="1500" b="0" i="1">
                <a:solidFill>
                  <a:srgbClr val="5F5F5F"/>
                </a:solidFill>
                <a:latin typeface="Times New Roman"/>
              </a:rPr>
              <a:t>Can deterministic query compilation improve database safety and control compared to generative baselines?</a:t>
            </a:r>
          </a:p>
          <a:p>
            <a:pPr marL="256032" indent="-256032">
              <a:lnSpc>
                <a:spcPct val="108000"/>
              </a:lnSpc>
              <a:spcBef>
                <a:spcPts val="300"/>
              </a:spcBef>
              <a:spcAft>
                <a:spcPts val="700"/>
              </a:spcAft>
            </a:pPr>
            <a:r>
              <a:rPr sz="1700" b="1" i="0">
                <a:solidFill>
                  <a:srgbClr val="003366"/>
                </a:solidFill>
                <a:latin typeface="Times New Roman"/>
              </a:rPr>
              <a:t>• Research Question 3 (RQ3):</a:t>
            </a:r>
          </a:p>
          <a:p>
            <a:pPr marL="457200" indent="0">
              <a:lnSpc>
                <a:spcPct val="108000"/>
              </a:lnSpc>
              <a:spcBef>
                <a:spcPts val="0"/>
              </a:spcBef>
              <a:spcAft>
                <a:spcPts val="800"/>
              </a:spcAft>
            </a:pPr>
            <a:r>
              <a:rPr sz="1500" b="0" i="1">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restricting LLM emission space.</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107-query benchmark executed &amp; independently verified via true DB execution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 (see notes).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 — see notes)</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 (see notes)</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5F5F5F"/>
                </a:solidFill>
                <a:latin typeface="Times New Roman"/>
              </a:rPr>
              <a:t>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5F5F5F"/>
                </a:solidFill>
                <a:latin typeface="Times New Roman"/>
              </a:rPr>
              <a:t>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5F5F5F"/>
                </a:solidFill>
                <a:latin typeface="Times New Roman"/>
              </a:rPr>
              <a:t>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5F5F5F"/>
                </a:solidFill>
                <a:latin typeface="Times New Roman"/>
              </a:rPr>
              <a:t>A reusable architectural pattern - constrain the model's emission space instead of policing its output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5F5F5F"/>
                </a:solidFill>
                <a:latin typeface="Times New Roman"/>
              </a:rPr>
              <a:t>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8154</Words>
  <Application>Microsoft Office PowerPoint</Application>
  <PresentationFormat>Widescreen</PresentationFormat>
  <Paragraphs>521</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Research Background &amp; Context</vt:lpstr>
      <vt:lpstr>Problem Statement &amp; Vulnerability Types</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2026-08-02T15:20:23Z</dcterms:modified>
</cp:coreProperties>
</file>