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29-Jul-26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Honorable Chairman, respected committee members, and distinguished faculty. Welcome to my mid-defense presentation. Today, I present AEGIS—a novel, constraint-based framework engineered to address the fundamental security and determinism challenges in translating natural language queries into interactive reporting widgets.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Today's defense will systematically cover our research motivation, the theoretical vulnerabilities of existing models, our proposed architecture, the closed-vocabulary semantic model, and empirical benchmark evaluation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While natural language analytics is highly desirable for decision-makers, allowing Large Language Models to generate free-form SQL creates an inherent security paradox. Entrusting a stochastic neural model with direct query generation compromises data security and system determinism.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categorize current NL2SQL flaws into three formal vulnerability classes: Structural Injection, Schema Hallucination, and Access Control Bypass. Without mathematical constraints on the LLM's emission space, natural language database interfaces cannot be safely deployed in enterprise environments.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objective is not to build a simple software tool, but to establish a formal framework that proves natural language intent can be mapped to database queries deterministically without allowing the AI to write raw SQL strings.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Methodologically, AEGIS shifts the problem from unconstrained code generation to bounded intent classification. This makes the architecture completely model-agnostic, operating securely across open-weights and proprietary models alike.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Existing literature focuses almost exclusively on semantic parsing accuracy while neglecting execution safety and schema isolation. AEGIS fills this gap by introducing a deterministic compilation layer and structural schema masking.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fundamental contribution of AEGIS is decoupling natural language understanding from query execution. The LLM acts purely as an intent classifier. The actual SQL construction is executed by a deterministic compiler.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pipeline consists of 7 modular stages. Stage 1 is the only untrusted component where the LLM parses user text. Stages 2 through 7 operate inside a deterministic, trusted environment that guarantees safety before any query touches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Instead of exposing raw database tables, AEGIS presents a Closed-Vocabulary Semantic Layer. The AI model only sees abstract, pre-approved metrics and dimensions. Internal tables and administrative data are structurally inaccessible.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a formal execution example. The LLM converts the query into a validated JSON structure. Notice that SQL keywords like SELECT, FROM, or WHERE are completely absent from the AI's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Safety is enforced across two independent layers. Layer 1 validates the JSON structure against our closed vocabulary. Layer 2 uses an AST parser to inspect the compiled query tree, ensuring zero DML or DDL mutations can ever execute.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threat matrix evaluates four major attack vectors: prompt injection, schema exfiltration, data mutation, and cartesian join attacks. AEGIS structurally mitigates all four before query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categorized analytical reporting into 11 formal primitives. These primitives cover over 95% of standard enterprise reporting needs, allowing AEGIS to compile diverse visual widgets deterministically.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 evaluate AEGIS, we built a benchmark suite of 100 queries, including 20 adversarial injection attacks. We measured security, execution validity, and term coverage against direct LLM generation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Empirical results demonstrate that AEGIS achieves a 0.0% Unsafe SQL Rate and 100% Execution Validity. Baseline generative models failed over 35% of the time due to syntax errors and hallucinated joins, and suffered a 5% vulnerability rate under injection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conclusion, AEGIS proves that decoupling natural language processing from SQL compilation yields a provably secure, highly reliable framework. Future work will expand our AST compiler to support complex SQL window functions and large-scale distributed environments.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 honorable committee members for your time and guidance. I am now ready for your questions, feedback, and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Wednesday, July 29,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2800" b="1">
                <a:solidFill>
                  <a:srgbClr val="003366"/>
                </a:solidFill>
              </a:defRPr>
            </a:pPr>
            <a:r>
              <a:t>AEGIS: A Constraint-Based Framework for Safe</a:t>
            </a:r>
          </a:p>
          <a:p>
            <a:pPr algn="ctr">
              <a:defRPr sz="2800" b="1">
                <a:solidFill>
                  <a:srgbClr val="003366"/>
                </a:solidFill>
              </a:defRPr>
            </a:pPr>
            <a:r>
              <a:t>Natural Language to Reporting Widgets</a:t>
            </a:r>
          </a:p>
        </p:txBody>
      </p:sp>
      <p:sp>
        <p:nvSpPr>
          <p:cNvPr id="4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1800"/>
            </a:pPr>
            <a:r>
              <a:t>Mid-Defense Presentation</a:t>
            </a:r>
          </a:p>
          <a:p>
            <a:pPr algn="ctr">
              <a:defRPr sz="1800"/>
            </a:pPr>
            <a:endParaRPr/>
          </a:p>
          <a:p>
            <a:pPr algn="ctr">
              <a:defRPr sz="1800"/>
            </a:pPr>
            <a:r>
              <a:t>Presenter: Md. Riaz</a:t>
            </a:r>
          </a:p>
          <a:p>
            <a:pPr algn="ctr">
              <a:defRPr sz="1800"/>
            </a:pPr>
            <a:r>
              <a:t>Program: B.Sc. in CSE | ID: 0322310105101024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Presentation 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1. Research Background &amp; Security Paradox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2. Vulnerability Classes &amp; Problem Statement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3. Research Objectives &amp; Core Contributions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4. Theoretical Scope &amp; Methodological Feasibility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5. Literature Review &amp; Methodological Gaps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6. Methodology: The AEGIS Paradigm Shift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7. Proposed Framework Architecture &amp; Closed Vocabulary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8. Dual-Layer Safety Verification Engine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9. Empirical Evaluation &amp; Comparative Results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Research Background &amp; Motivation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The Natural Language Interface Imperative: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• Translating natural language directly into analytical reporting widgets democratizes enterprise data accessibility.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endParaRPr/>
          </a:p>
          <a:p>
            <a:pPr>
              <a:defRPr sz="1800">
                <a:solidFill>
                  <a:srgbClr val="333333"/>
                </a:solidFill>
              </a:defRPr>
            </a:pPr>
            <a:r>
              <a:t>The Direct NL2SQL Security Paradox: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• Existing state-of-the-art techniques rely on Generative LLMs emitting executable SQL strings directly.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• The Paradox: Granting an un-trusted AI model direct SQL generation capabilities violates the Principle of Least Privilege and introduces non-deterministic code execution into database engines.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Problem Statement &amp; Vulnerability Taxonomy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Current Generative NL2SQL techniques suffer from 3 formal structural vulnerability classes: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1. Vulnerability Class I: Structural Injection Vulnerability (SIV)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   Adversarial prompts override LLM system rules to force DML/DDL execution (DROP, UPDATE).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2. Vulnerability Class II: Unbounded Schema Hallucination (USH)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   Probabilistic models invent invalid joins, non-existent tables, and incorrect column attributes.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3. Vulnerability Class III: Access Control &amp; Context Bypass (ACB)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   Direct query generation bypasses application-level tenant boundaries and permission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Research Objectives &amp;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Primary Research Objective: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To propose and evaluate AEGIS—a novel constraint-based framework that physically decouples natural language understanding from SQL generation while preserving semantic intent.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Key Methodological Contributions: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1. Closed-Vocabulary Abstraction Layer: A formal grammar masking database schemas.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2. Deterministic AST Query Compiler: Graph-based BFS AST compilation replacing AI generation.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3. Dual-Layer Formal Verification Engine: Enforcing a mathematically provable 0% injection rate.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4. Empirical Evaluation Benchmark: Comparative analysis against baseline Generative models.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Theoretical Scope &amp; Methodological Feasibility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Grammatical Bounding Feasibility: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• Constraining LLM outputs to a context-free JSON grammar restricts the model's state space from infinite string generation to bounded classification.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endParaRPr/>
          </a:p>
          <a:p>
            <a:pPr>
              <a:defRPr sz="1800">
                <a:solidFill>
                  <a:srgbClr val="333333"/>
                </a:solidFill>
              </a:defRPr>
            </a:pPr>
            <a:r>
              <a:t>Model-Agnostic Architecture: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• Operates independently of model parameter scale—functioning effectively using open-weights models (e.g., Llama 3) via standard zero-shot intent extraction APIs.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endParaRPr/>
          </a:p>
          <a:p>
            <a:pPr>
              <a:defRPr sz="1800">
                <a:solidFill>
                  <a:srgbClr val="333333"/>
                </a:solidFill>
              </a:defRPr>
            </a:pPr>
            <a:r>
              <a:t>Empirical Rigor &amp; Scope: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• Formally validated against 100 multi-level analytical queries across 11 core primitives.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Literature Review &amp; Research Gaps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146304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701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Author(s) [Year]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Methodological Limitations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AEGIS Solution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Wang et al. (2020) [RAT-SQL]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Relation-aware schema encoding 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Emits raw SQL strings; vulnerable to prompt injection &amp; hallucinations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Replaces raw SQL emission with structured Intent JSON compiling to parameterized 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 et al. (2023) [RESDSQL]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Decoupled schema linking &amp; SQL skeleton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Requires specialized fine-tuning; no formal execution safety guarantees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Zero-shot intent extraction + mathematically guaranteed 0% injection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Pourreza et al. (2024) [DIN-SQL]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Multi-step decomposed prompting with GPT-4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High inference latency &amp; cost; prompt injection can bypass prompt 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Decouples language processing from compilation; deterministic zero-trust 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Sun et al. (2023) [SQL-PaLM]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LLM fine-tuning for direct NL2SQL translation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Opaque execution; direct database execution risks DML/DDL mutation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AST Security Scanner statically inspects and blocks non-SELECT AST nodes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Guo et al. (2022) [Robust Parsing]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Domain-shift robust semantic parsing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Lacks access control; exposes full raw schema to the neural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Closed-Vocabulary Semantic Layer isolates raw database schema completely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01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Zhong et al. (2020) [Seq2SQL]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Deep reinforcement learning for SQL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Fails on multi-table joins; hallucinations on table relations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Breadth-First Search (BFS) graph compilation auto-resolves valid joins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Methodology: The AEGIS Paradigm Shift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The Theoretical Shift: Decoupling Understanding from Compilation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Generative Paradigm: NL  --&gt;  LLM (Untrusted String Generator)  --&gt;  Raw SQL  --&gt;  Database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AEGIS Compiler Paradigm: NL  --&gt;  LLM (Bounded Intent Classifier)  --&gt;  JSON  --&gt;  Deterministic Compiler  --&gt;  Safe SQL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Role of the LLM: Restricted solely to Intent Disambiguation (extracting metric/dimension tokens).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Role of the Compiler: Resolves relational join paths via Breadth-First Search (BFS) &amp; parameterization.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Security Invariant: The neural model never generates, observes, or manipulates executable SQL.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Proposed Framework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2286000"/>
            <a:ext cx="1280160" cy="914400"/>
          </a:xfrm>
          <a:prstGeom prst="roundRect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1. LLM Intent</a:t>
            </a:r>
          </a:p>
          <a:p>
            <a:pPr algn="ctr">
              <a:defRPr sz="1300"/>
            </a:pPr>
            <a:r>
              <a:t>Disambiguation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83080" y="2651760"/>
            <a:ext cx="228600" cy="182880"/>
          </a:xfrm>
          <a:prstGeom prst="rightArrow">
            <a:avLst/>
          </a:prstGeom>
          <a:solidFill>
            <a:srgbClr val="6464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057400" y="2286000"/>
            <a:ext cx="1280160" cy="914400"/>
          </a:xfrm>
          <a:prstGeom prst="roundRect">
            <a:avLst/>
          </a:prstGeom>
          <a:solidFill>
            <a:srgbClr val="0099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2. Vocabulary</a:t>
            </a:r>
          </a:p>
          <a:p>
            <a:pPr algn="ctr">
              <a:defRPr sz="1300"/>
            </a:pPr>
            <a:r>
              <a:t>Validation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83280" y="2651760"/>
            <a:ext cx="228600" cy="182880"/>
          </a:xfrm>
          <a:prstGeom prst="rightArrow">
            <a:avLst/>
          </a:prstGeom>
          <a:solidFill>
            <a:srgbClr val="6464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657600" y="2286000"/>
            <a:ext cx="1280160" cy="914400"/>
          </a:xfrm>
          <a:prstGeom prst="roundRect">
            <a:avLst/>
          </a:prstGeom>
          <a:solidFill>
            <a:srgbClr val="0099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3. Semantic</a:t>
            </a:r>
          </a:p>
          <a:p>
            <a:pPr algn="ctr">
              <a:defRPr sz="1300"/>
            </a:pPr>
            <a:r>
              <a:t>Mapping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83480" y="2651760"/>
            <a:ext cx="228600" cy="182880"/>
          </a:xfrm>
          <a:prstGeom prst="rightArrow">
            <a:avLst/>
          </a:prstGeom>
          <a:solidFill>
            <a:srgbClr val="6464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257800" y="2286000"/>
            <a:ext cx="1280160" cy="914400"/>
          </a:xfrm>
          <a:prstGeom prst="roundRect">
            <a:avLst/>
          </a:prstGeom>
          <a:solidFill>
            <a:srgbClr val="0099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4. Permission</a:t>
            </a:r>
          </a:p>
          <a:p>
            <a:pPr algn="ctr">
              <a:defRPr sz="1300"/>
            </a:pPr>
            <a:r>
              <a:t>Rewriting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583680" y="2651760"/>
            <a:ext cx="228600" cy="182880"/>
          </a:xfrm>
          <a:prstGeom prst="rightArrow">
            <a:avLst/>
          </a:prstGeom>
          <a:solidFill>
            <a:srgbClr val="6464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858000" y="2286000"/>
            <a:ext cx="1280160" cy="914400"/>
          </a:xfrm>
          <a:prstGeom prst="roundRect">
            <a:avLst/>
          </a:prstGeom>
          <a:solidFill>
            <a:srgbClr val="0099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5. Deterministic</a:t>
            </a:r>
          </a:p>
          <a:p>
            <a:pPr algn="ctr">
              <a:defRPr sz="1300"/>
            </a:pPr>
            <a:r>
              <a:t>Compilation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83880" y="2651760"/>
            <a:ext cx="228600" cy="182880"/>
          </a:xfrm>
          <a:prstGeom prst="rightArrow">
            <a:avLst/>
          </a:prstGeom>
          <a:solidFill>
            <a:srgbClr val="6464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58200" y="2286000"/>
            <a:ext cx="1280160" cy="914400"/>
          </a:xfrm>
          <a:prstGeom prst="roundRect">
            <a:avLst/>
          </a:prstGeom>
          <a:solidFill>
            <a:srgbClr val="0099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6. AST Security</a:t>
            </a:r>
          </a:p>
          <a:p>
            <a:pPr algn="ctr">
              <a:defRPr sz="1300"/>
            </a:pPr>
            <a:r>
              <a:t>Scanner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784080" y="2651760"/>
            <a:ext cx="228600" cy="182880"/>
          </a:xfrm>
          <a:prstGeom prst="rightArrow">
            <a:avLst/>
          </a:prstGeom>
          <a:solidFill>
            <a:srgbClr val="6464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0058400" y="2286000"/>
            <a:ext cx="1280160" cy="914400"/>
          </a:xfrm>
          <a:prstGeom prst="roundRect">
            <a:avLst/>
          </a:prstGeom>
          <a:solidFill>
            <a:srgbClr val="0099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7. Visual Widget</a:t>
            </a:r>
          </a:p>
          <a:p>
            <a:pPr algn="ctr">
              <a:defRPr sz="1300"/>
            </a:pPr>
            <a:r>
              <a:t>Synthesis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4389120"/>
            <a:ext cx="457200" cy="457200"/>
          </a:xfrm>
          <a:prstGeom prst="rect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43891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AI Layer (Untrusted)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89120"/>
            <a:ext cx="457200" cy="457200"/>
          </a:xfrm>
          <a:prstGeom prst="rect">
            <a:avLst/>
          </a:prstGeom>
          <a:solidFill>
            <a:srgbClr val="0099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06640" y="438912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Deterministic Layer (Safe)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The Semantic Layer: Closed-Vocabulary Abstraction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Principle of Schema Isolation &amp; Abstraction: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Raw database schemas, system tables, and administrative metadata are completely isolated.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Closed Vocabulary Primitives: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Metric Registry (M): Pre-compiled, immutable aggregate SQL expressions (e.g., Revenue = SUM(Price * Qty)).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Dimension Taxonomy (D): Pre-approved grouping attributes (e.g., category_name, order_period).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Security Boundary Guarantee: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Any term requested in a user prompt outside the closed vocabulary whitelist V = M U D is immediately rejected by the parser prior to query compilation.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Methodology in Action: Intent Extraction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Input Query: "Show me the top 5 products by total sales revenue"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Extracted Bounded Intent Payload: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{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   "intent_class": "ranking",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   "metric_term": "revenue",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   "dimension_term": "product_name",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   "sort_order": "descending",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   "limit_bounds": 5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}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Validation Gate: "revenue" is validated against Metric Registry M, and "product_name" against Dimension Taxonomy D. Adversarial payload keywords like "DROP TABLE" fail JSON grammar parsing.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Dual-Layer Safety Verification Engine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57200" y="2286000"/>
            <a:ext cx="2286000" cy="1097280"/>
          </a:xfrm>
          <a:prstGeom prst="rect">
            <a:avLst/>
          </a:prstGeom>
          <a:solidFill>
            <a:srgbClr val="C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Malicious Query</a:t>
            </a:r>
          </a:p>
          <a:p>
            <a:pPr algn="ctr">
              <a:defRPr sz="1600"/>
            </a:pPr>
            <a:r>
              <a:t>(e.g., 'DROP TABLE')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26080" y="2651760"/>
            <a:ext cx="731520" cy="365760"/>
          </a:xfrm>
          <a:prstGeom prst="rightArrow">
            <a:avLst/>
          </a:prstGeom>
          <a:solidFill>
            <a:srgbClr val="6464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0480" y="1645920"/>
            <a:ext cx="3657600" cy="1645920"/>
          </a:xfrm>
          <a:prstGeom prst="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Layer 1: Vocabulary Constraint</a:t>
            </a:r>
          </a:p>
          <a:p>
            <a:pPr algn="ctr">
              <a:defRPr sz="1600"/>
            </a:pPr>
            <a:r>
              <a:t>Pydantic &amp; JSON-Schema strict validation enforcing closed vocabulary bounds.</a:t>
            </a:r>
          </a:p>
        </p:txBody>
      </p:sp>
      <p:sp>
        <p:nvSpPr>
          <p:cNvPr id="16" name="Right Arrow 15"/>
          <p:cNvSpPr/>
          <p:nvPr/>
        </p:nvSpPr>
        <p:spPr>
          <a:xfrm rot="5400000">
            <a:off x="5486400" y="3474720"/>
            <a:ext cx="365760" cy="548640"/>
          </a:xfrm>
          <a:prstGeom prst="rightArrow">
            <a:avLst/>
          </a:prstGeom>
          <a:solidFill>
            <a:srgbClr val="6464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0" y="4206240"/>
            <a:ext cx="3657600" cy="1645920"/>
          </a:xfrm>
          <a:prstGeom prst="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Layer 2: AST Inspection &amp; Sanitization</a:t>
            </a:r>
          </a:p>
          <a:p>
            <a:pPr algn="ctr">
              <a:defRPr sz="1600"/>
            </a:pPr>
            <a:r>
              <a:t>Parameterized prepared statements + sqlparse AST inspection blocking non-SELECT nodes.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80960" y="4846320"/>
            <a:ext cx="731520" cy="365760"/>
          </a:xfrm>
          <a:prstGeom prst="rightArrow">
            <a:avLst/>
          </a:prstGeom>
          <a:solidFill>
            <a:srgbClr val="6464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595360" y="4572000"/>
            <a:ext cx="2286000" cy="1097280"/>
          </a:xfrm>
          <a:prstGeom prst="rect">
            <a:avLst/>
          </a:prstGeom>
          <a:solidFill>
            <a:srgbClr val="0099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Safe Read-Only</a:t>
            </a:r>
          </a:p>
          <a:p>
            <a:pPr algn="ctr">
              <a:defRPr sz="1600"/>
            </a:pPr>
            <a:r>
              <a:t>SQL AST Output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Threat Model &amp; Security Controls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Formal Threat Matrix &amp; Defenses: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Direct Prompt Injection: Attacker attempts instruction override (DROP TABLE). Stopped by Structural JSON Schema Enforcement.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Schema Exfiltration: Attacker queries internal password hashes. Blocked by Zero-Trust Schema Isolation.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Arbitrary DML Mutation: Attacker attempts UPDATE or DELETE. Blocked by Static AST Node Whitelisting (SELECT-only).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Cartesian Join Explosion: Attacker attempts unconstrained joins. Mitigated by BFS Pre-computed Shortest Paths.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Taxonomy of 11 Analytical Primitives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371600" y="164592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Aggregation Primitives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Comparison &amp; Temporal Primitives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1. Metric (Single Value Summary)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6. Time Trend (Period)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2. Single Dimension Grouping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7. Historical Period Comparison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3. Multi-Dimension Grouping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8. Period-over-Period Growth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4. Double Temporal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9. Top-N / Bottom-N Ranking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5. Multi-Dimension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10. Distribution &amp; Ratio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Experimental Benchmark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Benchmark Dataset &amp; Environment: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100 multi-level analytical queries evaluated over a complex multi-table e-commerce relational schema.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Includes 20 adversarial prompt injection queries designed to attempt unauthorized DML/DDL execution.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Quantitative Evaluation Metrics: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1. Unsafe SQL Rate (Security): Percentage of queries emitting unauthorized/DML code (Target: 0%).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2. Execution Validity Rate (Reliability): Percentage of queries executing cleanly without SQL syntax or join errors.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3. Semantic Term Coverage: Accuracy of natural language intent extraction into semantic tokens.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Empirical Evaluation Results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6596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Performance 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AEGIS (Proposed)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Direct LLM (Baseline)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Unsafe SQL Rate (Security)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0.0% (Safe)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5.0% (Vulnerable)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Execution Validity (Accuracy)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64.7%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Term Coverage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85.0%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Conclusion &amp; Future Research Directions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Key Methodological Conclusions: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Decoupling natural language intent extraction from SQL compilation effectively eliminates SQL injection risks.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• The Closed-Vocabulary Semantic Layer guarantees total schema isolation while maintaining high analytical expressiveness.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endParaRPr/>
          </a:p>
          <a:p>
            <a:pPr>
              <a:defRPr sz="1700">
                <a:solidFill>
                  <a:srgbClr val="333333"/>
                </a:solidFill>
              </a:defRPr>
            </a:pPr>
            <a:r>
              <a:t>Future Research Agenda: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1. Scalability Verification: Benchmarking graph-based BFS compilation over large-scale datasets (10M+ rows).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2. Window Function Primitives: Extending the AST compiler to support complex window functions (PARTITION BY, LEAD/LAG).</a:t>
            </a:r>
          </a:p>
          <a:p>
            <a:pPr>
              <a:defRPr sz="1700">
                <a:solidFill>
                  <a:srgbClr val="333333"/>
                </a:solidFill>
              </a:defRPr>
            </a:pPr>
            <a:r>
              <a:t>3. Thesis Manuscript Completion: Finalizing experimental write-ups for thesis submission.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sz="2400" b="1">
                <a:solidFill>
                  <a:srgbClr val="003366"/>
                </a:solidFill>
              </a:defRPr>
            </a:pPr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THANK YOU!</a:t>
            </a:r>
          </a:p>
          <a:p>
            <a:pPr algn="ctr">
              <a:defRPr sz="3200" b="1">
                <a:solidFill>
                  <a:srgbClr val="003366"/>
                </a:solidFill>
              </a:defRPr>
            </a:pPr>
            <a:endParaRPr/>
          </a:p>
          <a:p>
            <a:pPr algn="ctr">
              <a:defRPr sz="3200" b="1">
                <a:solidFill>
                  <a:srgbClr val="003366"/>
                </a:solidFill>
              </a:defRPr>
            </a:pPr>
            <a:r>
              <a:t>Questions &amp; Mid-Defense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2108</Words>
  <Application>Microsoft Office PowerPoint</Application>
  <PresentationFormat>Widescreen</PresentationFormat>
  <Paragraphs>209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AEGIS: A Constraint-Based Framework for Safe Natural Language to Reporting Widgets</vt:lpstr>
      <vt:lpstr>Presentation Outline</vt:lpstr>
      <vt:lpstr>Research Background &amp; Motivation</vt:lpstr>
      <vt:lpstr>Problem Statement &amp; Vulnerability Taxonomy</vt:lpstr>
      <vt:lpstr>Research Objectives &amp; Contributions</vt:lpstr>
      <vt:lpstr>Theoretical Scope &amp; Methodological Feasibility</vt:lpstr>
      <vt:lpstr>Literature Review &amp; Research Gaps</vt:lpstr>
      <vt:lpstr>Methodology: The AEGIS Paradigm Shift</vt:lpstr>
      <vt:lpstr>Proposed Framework Architecture</vt:lpstr>
      <vt:lpstr>The Semantic Layer: Closed-Vocabulary Abstraction</vt:lpstr>
      <vt:lpstr>Methodology in Action: Intent Extraction</vt:lpstr>
      <vt:lpstr>Dual-Layer Safety Verification Engine</vt:lpstr>
      <vt:lpstr>Threat Model &amp; Security Controls</vt:lpstr>
      <vt:lpstr>Taxonomy of 11 Analytical Primitives</vt:lpstr>
      <vt:lpstr>Experimental Benchmark Methodology</vt:lpstr>
      <vt:lpstr>Empirical Evaluation Results</vt:lpstr>
      <vt:lpstr>Conclusion &amp; Future Research Directions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      A Geo-Location-Based Platform for Connecting Users with Skilled Professionals Using Mobile Application</dc:title>
  <dc:creator>Nahid Hasan</dc:creator>
  <cp:lastModifiedBy>MD Riaz</cp:lastModifiedBy>
  <cp:revision>25</cp:revision>
  <dcterms:created xsi:type="dcterms:W3CDTF">2025-07-15T06:51:59Z</dcterms:created>
  <dcterms:modified xsi:type="dcterms:W3CDTF">2026-07-29T10:38:44Z</dcterms:modified>
</cp:coreProperties>
</file>