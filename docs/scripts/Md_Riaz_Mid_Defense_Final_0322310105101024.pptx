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matches the manuscript's Related Work section exactly (Section 2.2) - RAT-SQL, PICARD, BIRD, G-SQL, and TriSQL - so the committee sees the same literature in the slides as in the written chapter. Across all five, the research focus has been almost exclusively on improving SQL generation quality, while execution safety, permission control, and widget persistence remain unaddressed - which is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synthesis of the five papers just reviewed, not a restatement of the earlier problem statement. All five systems from the literature table ultimately emit a raw SQL string with no structural safety guarantee, which is precisely the gap AEGIS's architecture is designed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 If asked why BFS join resolution instead of hardcoding joins: hardcoding would mean writing a join clause for every metric-dimension combination - 15 x 34 = 510 combinations, many sharing overlapping paths - and any schema change would require updating all of them. BFS over a single join graph means there is exactly one place to define table relationships, and the compiler finds the correct path automatically,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theoretical contribution: a finite registry of approved metrics and dimensions that bounds every reachable query to a Cartesian product of the two, rather than an unconstrained SQL string. If the committee asks for concrete numbers: the current nopCommerce prototype instantiates this model with 15 metrics and 34 dimensions across 11 join paths, touching 12 of the schema's 126 tables - the other 114 are system, CMS, and permission tables with no analytics relevance, so their exclusion isn't a coverage limitation, it is the access-control mechanism itself, working exactly as the formal model predicts.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the manuscript (T1-T4), not an ad-hoc list: T1 prompt injection attempting SQL generation, T2 unauthorized metric or dimension access, T3 unauthorized row access - defended by the Permission Rewriter, Stage 4, which runs after the LLM and cannot be influenced by prompt content - and T4 DML/DDL injection. If asked about denial-of-service via expensive queries: that is explicitly future work in the manuscript, not a claimed defense, so it is deliberately not presented here as a solved threat. Equally important is what's explicitly out of scope: a compromised administrator embedding malicious SQL in a metric definition, a supply-chain compromise of the compiler library, database-level privilege escalation, and LLM provider infrastructure compromise. These require standard operational security controls, not an AEGIS-specific defense. Stating the boundary explicitly is itself part of the contribution - most prior NL2SQL work never defines what its safety claims do and don't cover, which makes security comparisons difficult.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from the committee: why not just use a more capable model and let it write SQL directly? The honest answer is that a stronger model would produce better SQL more often, but AEGIS is not competing on that dimension. It optimizes for a different set of properties - safety as a structural guarantee rather than a probabilistic one, built-in permission enforcement, and full auditability of the 15 metrics and 34 dimensions instead of having to inspect every generated query. The choice is not 'which is smarter' but 'which properties matter for this deployment context' - and for institutional reporting where data privacy and consistent metric definitions matter, structural guarantees win.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trace illustrates the formal claim from the architecture section directly: the LLM's output is a bounded intent object, and the SQL string is assembled afterward from pre-written expressions - the model's own words never appear in the query. Notice that raw SQL keywords like SELECT, FROM, or WHERE are completely absent from the AI's output. An adversarial input such as "DROP TABLE" cannot reach the compiler because it is not a recognized metric or dimension term - it fails at the validation gate, not because the model chose to refuse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compared across four baselines to isolate exactly which component of AEGIS is responsible for each safety and accuracy gain.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against the four named baselines, a planned cross-schema generalizability test on WooCommerce to show the architecture isn't tied to one schema,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sz="2100" b="1">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Gaps Synthesized from the Reviewed Literature (RAT-SQL, PICARD, BIRD, G-SQL, TriSQL):</a:t>
            </a:r>
          </a:p>
          <a:p>
            <a:pPr marL="256032" indent="-256032">
              <a:lnSpc>
                <a:spcPct val="108000"/>
              </a:lnSpc>
              <a:spcBef>
                <a:spcPts val="300"/>
              </a:spcBef>
              <a:spcAft>
                <a:spcPts val="700"/>
              </a:spcAft>
            </a:pPr>
            <a:r>
              <a:rPr b="1" sz="1600">
                <a:solidFill>
                  <a:srgbClr val="003366"/>
                </a:solidFill>
                <a:latin typeface="Times New Roman"/>
              </a:rPr>
              <a:t>• Gap 1:</a:t>
            </a:r>
            <a:r>
              <a:rPr sz="1600">
                <a:solidFill>
                  <a:srgbClr val="333333"/>
                </a:solidFill>
                <a:latin typeface="Times New Roman"/>
              </a:rPr>
              <a:t> No execution safety guarantee</a:t>
            </a:r>
          </a:p>
          <a:p>
            <a:pPr marL="457200" indent="0">
              <a:lnSpc>
                <a:spcPct val="108000"/>
              </a:lnSpc>
              <a:spcBef>
                <a:spcPts val="0"/>
              </a:spcBef>
              <a:spcAft>
                <a:spcPts val="800"/>
              </a:spcAft>
            </a:pPr>
            <a:r>
              <a:rPr i="1" sz="1400">
                <a:solidFill>
                  <a:srgbClr val="5F5F5F"/>
                </a:solidFill>
                <a:latin typeface="Times New Roman"/>
              </a:rPr>
              <a:t>All five ultimately emit a raw SQL string; safety relies on prompt engineering, fine-tuning, or decoding constraints, not structural prevention.</a:t>
            </a:r>
          </a:p>
          <a:p>
            <a:pPr marL="256032" indent="-256032">
              <a:lnSpc>
                <a:spcPct val="108000"/>
              </a:lnSpc>
              <a:spcBef>
                <a:spcPts val="300"/>
              </a:spcBef>
              <a:spcAft>
                <a:spcPts val="700"/>
              </a:spcAft>
            </a:pPr>
            <a:r>
              <a:rPr b="1" sz="1600">
                <a:solidFill>
                  <a:srgbClr val="003366"/>
                </a:solidFill>
                <a:latin typeface="Times New Roman"/>
              </a:rPr>
              <a:t>• Gap 2:</a:t>
            </a:r>
            <a:r>
              <a:rPr sz="1600">
                <a:solidFill>
                  <a:srgbClr val="333333"/>
                </a:solidFill>
                <a:latin typeface="Times New Roman"/>
              </a:rPr>
              <a:t> Schema exposed directly to the model</a:t>
            </a:r>
          </a:p>
          <a:p>
            <a:pPr marL="457200" indent="0">
              <a:lnSpc>
                <a:spcPct val="108000"/>
              </a:lnSpc>
              <a:spcBef>
                <a:spcPts val="0"/>
              </a:spcBef>
              <a:spcAft>
                <a:spcPts val="800"/>
              </a:spcAft>
            </a:pPr>
            <a:r>
              <a:rPr i="1" sz="1400">
                <a:solidFill>
                  <a:srgbClr val="5F5F5F"/>
                </a:solidFill>
                <a:latin typeface="Times New Roman"/>
              </a:rPr>
              <a:t>Schema-linking and value-grounding approaches require exposing table and column definitions directly to the model.</a:t>
            </a:r>
          </a:p>
          <a:p>
            <a:pPr marL="256032" indent="-256032">
              <a:lnSpc>
                <a:spcPct val="108000"/>
              </a:lnSpc>
              <a:spcBef>
                <a:spcPts val="300"/>
              </a:spcBef>
              <a:spcAft>
                <a:spcPts val="700"/>
              </a:spcAft>
            </a:pPr>
            <a:r>
              <a:rPr b="1" sz="1600">
                <a:solidFill>
                  <a:srgbClr val="003366"/>
                </a:solidFill>
                <a:latin typeface="Times New Roman"/>
              </a:rPr>
              <a:t>• Gap 3:</a:t>
            </a:r>
            <a:r>
              <a:rPr sz="1600">
                <a:solidFill>
                  <a:srgbClr val="333333"/>
                </a:solidFill>
                <a:latin typeface="Times New Roman"/>
              </a:rPr>
              <a:t> Understanding and generation are entangled</a:t>
            </a:r>
          </a:p>
          <a:p>
            <a:pPr marL="457200" indent="0">
              <a:lnSpc>
                <a:spcPct val="108000"/>
              </a:lnSpc>
              <a:spcBef>
                <a:spcPts val="0"/>
              </a:spcBef>
              <a:spcAft>
                <a:spcPts val="800"/>
              </a:spcAft>
            </a:pPr>
            <a:r>
              <a:rPr i="1" sz="1400">
                <a:solidFill>
                  <a:srgbClr val="5F5F5F"/>
                </a:solidFill>
                <a:latin typeface="Times New Roman"/>
              </a:rPr>
              <a:t>Language understanding and SQL generation happen in a single step, so there is no checkpoint at which an incorrect or malicious mapping can be caught before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Auditable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of RAT-SQL, DIN-SQL, RESDSQL</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