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05840" y="320040"/>
            <a:ext cx="10698480" cy="502920"/>
          </a:xfrm>
          <a:prstGeom prst="rect">
            <a:avLst/>
          </a:prstGeom>
          <a:solidFill>
            <a:srgbClr val="0D1B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18F01"/>
                </a:solidFill>
                <a:latin typeface="Calibri"/>
              </a:rPr>
              <a:t>PUNDRA UNIVERSITY OF SCIENCE AND TECHNOLOGY  ·  DEPARTMENT OF CSE  ·  8TH SEMESTER THESIS DEFENSE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0058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i="0">
                <a:solidFill>
                  <a:srgbClr val="FFFFFF"/>
                </a:solidFill>
                <a:latin typeface="Calibri Light"/>
              </a:rPr>
              <a:t>AEGIS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33172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 Light"/>
              </a:rPr>
              <a:t>A Safety-by-Design Architecture for
LLM-Driven Self-Service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0E8F3"/>
                </a:solidFill>
                <a:latin typeface="Calibri"/>
              </a:rPr>
              <a:t>Analytics Engine with Guaranteed Injection Safety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3913632"/>
            <a:ext cx="48463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023360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Md. Riaz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0E8F3"/>
                </a:solidFill>
                <a:latin typeface="Calibri"/>
              </a:rPr>
              <a:t>Pundra University of Science and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8AA8C8"/>
                </a:solidFill>
                <a:latin typeface="Calibri"/>
              </a:rPr>
              <a:t>Bachelor of Science in Computer Science &amp; Engineering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Presentation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Problem — Why This Research?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Research Objectives &amp;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What Makes AEGIS Novel?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System Architecture — 7-Stage Pipeline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The Semantic Layer — Core Contribution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4173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453896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How a Query Flows Through AEGIS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221992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2258568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SQL Safety — Formal Guarantee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026664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3063240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Evaluation Results (100-Query Benchmark)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3831336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867912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Ablation Study &amp; Generalizability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4672584"/>
            <a:ext cx="49377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1325880"/>
            <a:ext cx="45720" cy="4846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do we need a new approach to analytics?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SQL Barrier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Business users cannot write SQL.
They wait days for a developer
to build each report.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37160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137160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48132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Injection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192024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LLM-generated SQL can be
manipulated into DROP TABLE or
data exfiltration by a bad prompt.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Hallucination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LLMs invent column names and
join conditions that produce
silently wrong answers.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3611880"/>
            <a:ext cx="5303520" cy="2057400"/>
          </a:xfrm>
          <a:prstGeom prst="rect">
            <a:avLst/>
          </a:prstGeom>
          <a:solidFill>
            <a:srgbClr val="FFF0F0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3611880"/>
            <a:ext cx="164592" cy="20574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37216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Calibri"/>
              </a:rPr>
              <a:t>One-Shot Results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416052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2E"/>
                </a:solidFill>
                <a:latin typeface="Calibri"/>
              </a:rPr>
              <a:t>Existing tools return a one-time
query result — not a refreshable,
reusable dashboard widget.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61% of business reporting questions are recurring — the same report with a different date range or department.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Research Objectives &amp;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09928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Accuracy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417320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1463040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 structured semantic layer guide the LLM to correctly interpret natural-language analytics queries with ≥95% accuracy?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95144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322576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679192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Safety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86584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2432304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structural prevention (template-based compilation) eliminate SQL injection more reliably than detection-based approaches?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64408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29184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648456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Ablation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3355848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340156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How much does each pipeline component (vocabulary injection, BFS joins, safety scanner) contribute to overall accuracy?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33672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" y="4261104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617720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Generalizability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325112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25880" y="4370832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Can AEGIS be adapted to a different e-commerce schema (WooCommerce) without pipeline changes?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5202936"/>
            <a:ext cx="777240" cy="71323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230368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RQ5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5586984"/>
            <a:ext cx="7772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D0E8F3"/>
                </a:solidFill>
                <a:latin typeface="Calibri"/>
              </a:rPr>
              <a:t>Latency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5294376"/>
            <a:ext cx="10515600" cy="54864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25880" y="5340096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1A2E"/>
                </a:solidFill>
                <a:latin typeface="Calibri"/>
              </a:rPr>
              <a:t>Does the safety-first architecture introduce unacceptable overhead for interactive use?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Core Novelty — Structural Safety vs.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What makes AEGIS different from every prior NL2SQL system?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46320"/>
          </a:xfrm>
          <a:prstGeom prst="rect">
            <a:avLst/>
          </a:prstGeom>
          <a:solidFill>
            <a:srgbClr val="FFF5F5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7548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Prior Approaches (End-to-End NL2SQL)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E74C3C"/>
                </a:solidFill>
                <a:latin typeface="Calibri"/>
              </a:rPr>
              <a:t>User Query  →  LLM  →  SQL String  →  Execute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sees the full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writes raw SQL — any output is possible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Injection caught (or missed) by post-hoc filters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Hallucinated columns fail silently at runtime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detection — you can always miss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5349240" cy="4846320"/>
          </a:xfrm>
          <a:prstGeom prst="rect">
            <a:avLst/>
          </a:prstGeom>
          <a:solidFill>
            <a:srgbClr val="F0FFF5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325880"/>
            <a:ext cx="534924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1371600"/>
            <a:ext cx="5166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Calibri"/>
              </a:rPr>
              <a:t>AEGIS (This Thesis)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1">
                <a:solidFill>
                  <a:srgbClr val="27AE60"/>
                </a:solidFill>
                <a:latin typeface="Calibri"/>
              </a:rPr>
              <a:t>User Query  →  LLM  →  Intent JSON  →  Compiler  →  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331720"/>
            <a:ext cx="5074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never sees the database schema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LLM outputs structured JSON — no SQL output channel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SQL generated only from pre-approved templates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Column names are compile-time constants, not LLM output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50" b="0">
                <a:solidFill>
                  <a:srgbClr val="1A1A2E"/>
                </a:solidFill>
                <a:latin typeface="Calibri"/>
              </a:rPr>
              <a:t>Safety = prevention — injection is structurally impossible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286000"/>
            <a:ext cx="640080" cy="6400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3134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6236208"/>
            <a:ext cx="11521440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28192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18F01"/>
                </a:solidFill>
                <a:latin typeface="Calibri"/>
              </a:rPr>
              <a:t>Key Insight: You cannot make LLM-generated SQL safe by checking it. You make it safe by ensuring it is never generated.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System Architecture — 7-Stage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80160"/>
            <a:ext cx="2148840" cy="5074920"/>
          </a:xfrm>
          <a:prstGeom prst="rect">
            <a:avLst/>
          </a:prstGeom>
          <a:solidFill>
            <a:srgbClr val="FFF9F0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371600"/>
            <a:ext cx="2084831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18F01"/>
                </a:solidFill>
                <a:latin typeface="Calibri"/>
              </a:rPr>
              <a:t>LLM
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1280160"/>
            <a:ext cx="9326880" cy="5074920"/>
          </a:xfrm>
          <a:prstGeom prst="rect">
            <a:avLst/>
          </a:prstGeom>
          <a:solidFill>
            <a:srgbClr val="F0F8FF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06040" y="1371600"/>
            <a:ext cx="9235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73A0"/>
                </a:solidFill>
                <a:latin typeface="Calibri"/>
              </a:rPr>
              <a:t>Deterministic Compiler Zone  (LLM output never reaches here as raw text)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Intent
Extraction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LLM maps natural language
to structured IntentObject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intent_parser.py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4767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7568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75688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7568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3055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Coverage
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Rejects queries outside
the semantic vocabulary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6712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run_demo_server.py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39896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39896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39896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Semantic
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13048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Resolves terms to canonical
IDs, expands business logic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13048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31336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mapper.py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76088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04104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04104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04104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8968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Permission
Rewriting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77256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Appends row-level security
WHERE clause predicates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77256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95544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permission_rewriter.py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940296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068312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68312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68312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23176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SQL
Compilation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41464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BFS join resolution +
template-based SQL generation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41464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9752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compiler.py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04504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732520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732520" y="1920240"/>
            <a:ext cx="15087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32520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87384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Visualization
Select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05672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Rule-based chart type
selection (11 primitives)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805672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823960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B2A4A"/>
                </a:solidFill>
                <a:latin typeface="Calibri"/>
              </a:rPr>
              <a:t>visualization.py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68712" y="3657600"/>
            <a:ext cx="128016" cy="128016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396728" y="1920240"/>
            <a:ext cx="15087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96728" y="1920240"/>
            <a:ext cx="150876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96728" y="1956816"/>
            <a:ext cx="1508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51592" y="2377440"/>
            <a:ext cx="139903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73A0"/>
                </a:solidFill>
                <a:latin typeface="Calibri"/>
              </a:rPr>
              <a:t>Widget
Persistence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3108960"/>
            <a:ext cx="13624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SHA-256 dedup, storage
and scheduled refresh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469880" y="5120640"/>
            <a:ext cx="1362456" cy="50292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88168" y="5166360"/>
            <a:ext cx="1325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A73A0"/>
                </a:solidFill>
                <a:latin typeface="Calibri"/>
              </a:rPr>
              <a:t>widget_engine.py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The Semantic Layer — Core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The closed vocabulary that makes structural safety possible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325880"/>
            <a:ext cx="580644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6120" y="1389888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The semantic layer defines the COMPLETE, ENUMERABLE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719072"/>
            <a:ext cx="5715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D0E8F3"/>
                </a:solidFill>
                <a:latin typeface="Calibri"/>
              </a:rPr>
              <a:t>of things AEGIS can answer — everything else is rejected.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231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15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Named SQL aggregate expressions.
LLM picks an ID — compiler inserts
the pre-approved SQL fragment.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revenue, order_count,
avg_order_value, item_quantity,
profit, shipment_count…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80560"/>
            <a:ext cx="562356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34 Dimensions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Grouping &amp; filtering axes.
Covers time, geography, product,
customer, order status, shipment.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order_month, category_name,
customer_email, order_status,
billing_city, store_name…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24231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63640" y="2423160"/>
            <a:ext cx="5623560" cy="41148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4780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11 JOIN Paths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9260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Pre-approved ON clauses.
Compiler runs BFS to find the
minimal join path automatically.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8986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29718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Order→Customer→Address
Order→OrderItem→Product
Product→Category…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80560"/>
            <a:ext cx="56235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4480560"/>
            <a:ext cx="562356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535424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Vocabulary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983480"/>
            <a:ext cx="2834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metric+dimension labels
injected into LLM system prompt.
SYNONYMS = {} intentionally.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4956048"/>
            <a:ext cx="2468880" cy="132588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72600" y="5029200"/>
            <a:ext cx="2331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5B7A"/>
                </a:solidFill>
                <a:latin typeface="Calibri"/>
              </a:rPr>
              <a:t>~1,100 tokens of approved
vocabulary. LLM maps 'sales'
to 'revenue' at inference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15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Every aggregate SQL expression is a fixed, pre-approved constant — the LLM only picks the ID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revenue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SUM(COALESCE(o.OrderTotal,0) - COALESCE(o.RefundedAmount,0))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order_count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o.Id)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325880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325880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362456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avg_order_value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1728216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AVG(COALESCE(o.OrderTotal, 0))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item_quantity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SUM(COALESCE(oi.Quantity, 0))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shipping_cost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SUM(o.OrderShippingExclTax)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2267712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2267712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0768" y="2304288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customer_count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2670048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cu.Id)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7432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refund_count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CASE WHEN o.RefundedAmount &gt; 0 THEN o.Id END)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5196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25196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refund_amount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SUM(o.RefundedAmount)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0" y="3209544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29600" y="3209544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30768" y="3246120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discount_amount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30768" y="3611880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SUM(o.OrderDiscount)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profit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SUM(COALESCE(o.OrderTotal,0) - COALESCE(o.OrderSubtotalExclTax,0))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5196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25196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5312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line_item_revenue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5312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SUM(oi.PriceExclTax)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4151376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29600" y="4151376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0768" y="4187952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tax_amount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8" y="4553712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SUM(o.OrderTax)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7432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line_item_cost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SUM(oi.OriginalProductCost)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5196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25196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45312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line_item_discount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5312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SUM(oi.DiscountAmountExclTax)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5093208"/>
            <a:ext cx="3886200" cy="896112"/>
          </a:xfrm>
          <a:prstGeom prst="rect">
            <a:avLst/>
          </a:prstGeom>
          <a:solidFill>
            <a:srgbClr val="F0F4F8"/>
          </a:solidFill>
          <a:ln w="9525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229600" y="5093208"/>
            <a:ext cx="146304" cy="89611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430768" y="5129784"/>
            <a:ext cx="3630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shipment_count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30768" y="5495544"/>
            <a:ext cx="36301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445B7A"/>
                </a:solidFill>
                <a:latin typeface="Calibri"/>
              </a:rPr>
              <a:t>COUNT(DISTINCT sh.Id)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Semantic Layer — 34 Dimensions &amp; BFS Join Resolution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34 Dimensions by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Products (8)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product_name, product_sku,
product_price, product_cost,
product_stock, product_rating,
product_published, product_created_date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1783080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54680" y="1783080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7832" y="1819656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Orders — Time (5)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27832" y="2167128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order_date, order_month,
order_year, order_id, order_number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2862072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Orders — Status (9)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order_status, payment_status,
shipping_status, payment_method,
currency_code, shipping_method,
OrderStatusId, PaymentStatusId, ShippingStatusId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2862072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54680" y="2862072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27832" y="2898648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Customers (4)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27832" y="3246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customer_name, customer_email,
customer_active,
customer_registration_date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941064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Taxonomy (2)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category_name,
manufacturer_name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3941064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54680" y="3941064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27832" y="39776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Shipments (3)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4325112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tracking_number,
shipped_date, delivery_date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5020056"/>
            <a:ext cx="2697480" cy="329184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Geography (2)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country_name,
billing_city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5020056"/>
            <a:ext cx="2697480" cy="987552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154680" y="5020056"/>
            <a:ext cx="26974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27832" y="505663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Store (1)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27832" y="5404104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store_name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BFS Join Resolution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17373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1A73A0"/>
                </a:solidFill>
                <a:latin typeface="Calibri"/>
              </a:rPr>
              <a:t>Example: "revenue by category"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2194560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2194560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23113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ORDER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binding_table for metric: revenue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944368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2944368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298094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ORDER_ITEM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29184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Order_Item oi ON o.Id = oi.OrderId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694176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694176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3075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40416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 p ON oi.ProductId = p.Id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0" y="4443984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17920" y="4443984"/>
            <a:ext cx="128016" cy="6583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48056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alibri"/>
              </a:rPr>
              <a:t>→  PRODUCT_CAT_MAPPING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0" y="47914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Product_Category_Mapping pcm ON p.Id = pcm.ProductId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5193792"/>
            <a:ext cx="5577840" cy="658368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17920" y="5193792"/>
            <a:ext cx="128016" cy="6583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52303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73A0"/>
                </a:solidFill>
                <a:latin typeface="Calibri"/>
              </a:rPr>
              <a:t>→  CATEGORY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0" y="554126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5B7A"/>
                </a:solidFill>
                <a:latin typeface="Calibri"/>
              </a:rPr>
              <a:t>JOIN Category c ON pcm.CategoryId = c.Id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17920" y="5989320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Calibri"/>
              </a:rPr>
              <a:t>Only 11 pre-approved ON clauses exist — BFS finds the shortest path.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Why Only 12 of 126 Tables? — Scope 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The 114 hidden tables are not analytics tables — their exclusion is a security feature, not a gap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5778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57784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✅  12 Exposed — Analytics Domain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874519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01951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1883663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The core business object — revenue,
status, payment, shipping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578607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06039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587751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What was sold — name, SKU, price,
category, manufacturer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282695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10127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Customers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91839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Who bought — email, registration,
location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3986783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14215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995927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Address → Country for billing region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" y="4690871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718303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Shipments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4700015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Fulfilment — tracking, ship/delivery date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" y="5394959"/>
            <a:ext cx="914400" cy="2926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422391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04103"/>
            <a:ext cx="4297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Multi-store segmentation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72200" y="1325880"/>
            <a:ext cx="566928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1325880"/>
            <a:ext cx="5669280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🔒  114 Hidden — Not Analytics Tables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91072" y="1874519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1901951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1883663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Log, ScheduleTask, Setting, ActivityLog,
GenericAttribute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91072" y="2578607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2606039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587751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Topic, NewsItem, BlogPost,
Poll, PollAnswer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91072" y="3282695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310127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Config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3291839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Language, Currency, LocalizedProperty,
MeasureUnit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91072" y="3986783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4014215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3995927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PermissionRecord, AclRecord,
CustomerPassword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4690871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4718303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Pre-order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4700015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ShoppingCartItem, WishlistItem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91072" y="5394959"/>
            <a:ext cx="914400" cy="29260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5422391"/>
            <a:ext cx="877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Promos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5404103"/>
            <a:ext cx="4389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GiftCard, Discount, RewardPoints,
DiscountUsageHistory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640080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1B2A4A"/>
                </a:solidFill>
                <a:latin typeface="Calibri"/>
              </a:rPr>
              <a:t>Key point: 114 unexposed tables include security-sensitive data (passwords, ACLs) that must NOT be exposed to a self-service analytics tool. Exclusion = access control.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Vocabulary Injection — How the LLM Understands Business Terms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Why SYNONYMS = {}  and why that is a feature, not a bug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25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How it 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55648"/>
            <a:ext cx="548640" cy="54864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79222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79222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Approved vocabulary embedded in system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19456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All 15 metric labels + 34 dimension labels (~1,100 tokens)
are injected into the LLM's system prompt at every request.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218688"/>
            <a:ext cx="548640" cy="54864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325526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LLM performs fuzzy matching at inference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65760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"Show me sales by product line" → LLM maps:
  sales  →  revenue
  product line  →  category_name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81728"/>
            <a:ext cx="548640" cy="5486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4718304"/>
            <a:ext cx="548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18304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Output is a validated IntentObject — no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1206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{"metric": "revenue", "dimension": "category_name",
 "filter": null, "pattern": "ranking"}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1280160"/>
            <a:ext cx="54864" cy="49377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1325880"/>
            <a:ext cx="5577840" cy="14173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38988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18F01"/>
                </a:solidFill>
                <a:latin typeface="Courier New"/>
              </a:rPr>
              <a:t>SYNONYMS = {}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8288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E8F3"/>
                </a:solidFill>
                <a:latin typeface="Calibri"/>
              </a:rPr>
              <a:t>Intentionally empty — and this is a design strength.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28529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Why this is better than a synonym dictionary: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46120"/>
            <a:ext cx="5577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No maintenance burden — new business terms need no code change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LLM handles linguistic variation naturally (plurals, abbreviations, jargon)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Synonym dictionary grows stale; vocabulary injection stays current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3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300" b="0">
                <a:solidFill>
                  <a:srgbClr val="1A1A2E"/>
                </a:solidFill>
                <a:latin typeface="Calibri"/>
              </a:rPr>
              <a:t>Reduces the semantic layer to pure SQL logic — cleaner separation of concerns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5715000"/>
            <a:ext cx="5577840" cy="530352"/>
          </a:xfrm>
          <a:prstGeom prst="rect">
            <a:avLst/>
          </a:prstGeom>
          <a:solidFill>
            <a:srgbClr val="D6EA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5788152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Courier New"/>
              </a:rPr>
              <a:t>Business Logic Mapping:  "abandoned"  →  OrderStatusId =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End-to-End: How a Query Flows Through 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"Show me revenue by product category for this month"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29844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98448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1 — Intent Extraction (LLM)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131673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User: "Show me revenue by product category for this month"
LLM output →  {"metric":"revenue", "dimension":"category_name",
               "filter":{"order_month":"current"}, "pattern":"ranking"}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03704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2203704"/>
            <a:ext cx="164592" cy="82296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2402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18F01"/>
                </a:solidFill>
                <a:latin typeface="Calibri"/>
              </a:rPr>
              <a:t>Stage 2 — Coverage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21992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"revenue" ∈ METRICS ✓    "category_name" ∈ DIMENSIONS ✓
Pattern "ranking" ∈ ANALYTICS_PRIMITIVES ✓    Query accepted.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108960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108960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4553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 3 — Semantic 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27248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Resolves "revenue" → Metric object with sql_expr, binding_table="Order"
Resolves "category_name" → Dimension with required_joins=[...]
Expands filter: order_month="current" → DATE_FORMAT(...) = current month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014216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014216"/>
            <a:ext cx="164592" cy="82296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A73A0"/>
                </a:solidFill>
                <a:latin typeface="Calibri"/>
              </a:rPr>
              <a:t>Stage 4 — Permission Rewriting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032504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Appends row-level security:  AND o.StoreId IN (1,2)  [if user is store-scoped]
Admin users: no additional WHERE predicates appended.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919472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919472"/>
            <a:ext cx="164592" cy="8229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956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7AE60"/>
                </a:solidFill>
                <a:latin typeface="Calibri"/>
              </a:rPr>
              <a:t>Stage 5 — SQL Compilation (BFS + Template)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937760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BFS: Order → OrderItem → Product → Product_Category_Mapping → Category
SELECT c.Name, SUM(o.OrderTotal-o.RefundedAmount) AS revenue
FROM Order o JOIN ... WHERE ... GROUP BY c.Name ORDER BY revenue DESC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5824728"/>
            <a:ext cx="115214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5824728"/>
            <a:ext cx="164592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86130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B2A4A"/>
                </a:solidFill>
                <a:latin typeface="Calibri"/>
              </a:rPr>
              <a:t>Stages 6+7 — Visualization &amp; Widget 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5843016"/>
            <a:ext cx="740664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ourier New"/>
              </a:rPr>
              <a:t>Pattern="ranking" → bar_chart selected automatically
SHA-256 hash: widget already exists → returns cached widget ID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SQL Safety — Formal Guarantee + Two-Layer Defense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25880"/>
            <a:ext cx="11521440" cy="12801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898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18F01"/>
                </a:solidFill>
                <a:latin typeface="Calibri"/>
              </a:rPr>
              <a:t>Formal Safety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FFFFFF"/>
                </a:solidFill>
                <a:latin typeface="Calibri"/>
              </a:rPr>
              <a:t>Given that the SQL compiler only accepts validated IntentObject inputs and generates SQL exclusively from pre-defined templates, the set of possible SQL outputs is finite and enumerable. SQL injection requires generating SQL outside this set — which is architecturally impossible.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7432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Two-Layer SQL Safety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154680"/>
            <a:ext cx="54406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3154680"/>
            <a:ext cx="5440680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200400"/>
            <a:ext cx="5257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1 — Parameterized Template Compilation  (Structural Prevention)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584448"/>
            <a:ext cx="52578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All SQL assembled from named template fragments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User-controlled values bound as SQL parameters — never interpolated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Column and table names are compile-time constants from the semantic layer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LLM output (IntentObject JSON) never concatenated into SQL string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Injection requires escaping the template system — structurally impossible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154680"/>
            <a:ext cx="5669280" cy="2971800"/>
          </a:xfrm>
          <a:prstGeom prst="rect">
            <a:avLst/>
          </a:prstGeom>
          <a:solidFill>
            <a:srgbClr val="F0F8F0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154680"/>
            <a:ext cx="5669280" cy="38404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Layer 2 — Post-Compilation Safety Scanner  (Defense-in-Depth)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584448"/>
            <a:ext cx="548640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Post-compilation scanner checks 16 forbidden patterns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DROP, DELETE, INSERT, UPDATE, TRUNCATE, ALTER, CREATE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UNION, comment sequences (--, /*), hex literals, stacked queries (;)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Catches any hypothetical compiler bug before execution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25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250" b="0">
                <a:solidFill>
                  <a:srgbClr val="1A1A2E"/>
                </a:solidFill>
                <a:latin typeface="Calibri"/>
              </a:rPr>
              <a:t>Defense-in-depth — belt AND suspenders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Evaluation Results — 100-Query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nopCommerce e-commerce domain  |  5 systems compared across 3 safety &amp; accuracy metrics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472184"/>
            <a:ext cx="31455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49040" y="1417320"/>
            <a:ext cx="20116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2192" y="147218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Unsafe 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3387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Execution Validity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417320"/>
            <a:ext cx="24688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472184"/>
            <a:ext cx="2322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801368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1929384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B1: Direct LLM-to-SQL (Llama 3.1 8B)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1801368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2" y="1929384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3387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801368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02752" y="1929384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99.0%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459736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2587752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B2: Decomposed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2459736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22192" y="2587752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3.0%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72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3387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2459736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2587752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97.0%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118104"/>
            <a:ext cx="329184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246120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B3: Template-only (no LLM)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49040" y="3118104"/>
            <a:ext cx="20116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22192" y="3246120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1.0%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6072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3387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66.0%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118104"/>
            <a:ext cx="2468880" cy="658368"/>
          </a:xfrm>
          <a:prstGeom prst="rect">
            <a:avLst/>
          </a:prstGeom>
          <a:solidFill>
            <a:srgbClr val="F0F4F8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3246120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55.0%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3776472"/>
            <a:ext cx="32918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0352" y="3904488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B4: AEGIS ablated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3776472"/>
            <a:ext cx="20116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822192" y="3904488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3387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Calibri"/>
              </a:rPr>
              <a:t>88.7%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776472"/>
            <a:ext cx="24688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02752" y="3904488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A1A2E"/>
                </a:solidFill>
                <a:latin typeface="Calibri"/>
              </a:rPr>
              <a:t>91.0%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434840"/>
            <a:ext cx="329184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4562856"/>
            <a:ext cx="314553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2E"/>
                </a:solidFill>
                <a:latin typeface="Calibri"/>
              </a:rPr>
              <a:t>AEGIS (This Thesis)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4434840"/>
            <a:ext cx="20116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22192" y="4562856"/>
            <a:ext cx="18653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0.0%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6072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3387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0" y="4434840"/>
            <a:ext cx="2468880" cy="658368"/>
          </a:xfrm>
          <a:prstGeom prst="rect">
            <a:avLst/>
          </a:prstGeom>
          <a:solidFill>
            <a:srgbClr val="F0FFF4"/>
          </a:solidFill>
          <a:ln w="9525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02752" y="4562856"/>
            <a:ext cx="232257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27AE60"/>
                </a:solidFill>
                <a:latin typeface="Calibri"/>
              </a:rPr>
              <a:t>100.0%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4434840"/>
            <a:ext cx="10241280" cy="658368"/>
          </a:xfrm>
          <a:prstGeom prst="rect">
            <a:avLst/>
          </a:prstGeom>
          <a:noFill/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72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5577840"/>
            <a:ext cx="3383280" cy="34747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0% Unsafe SQL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Not a statistical finding —
a structural guarantee from
the architecture.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0" y="5577840"/>
            <a:ext cx="3383280" cy="34747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062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Validity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62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query compiles and
executes without error on the
first attempt.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0" y="5577840"/>
            <a:ext cx="3383280" cy="102412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72400" y="5577840"/>
            <a:ext cx="338328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63840" y="562356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100% Coverage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5980176"/>
            <a:ext cx="320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  <a:latin typeface="Calibri"/>
              </a:rPr>
              <a:t>Every benchmark question is
within the semantic layer
vocabulary.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Ablation Study — Contribution of Each Component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Removing each component one at a time to measure its individual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7040880" cy="4846320"/>
          </a:xfrm>
          <a:prstGeom prst="rect">
            <a:avLst/>
          </a:prstGeom>
          <a:solidFill>
            <a:srgbClr val="F0F4F8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0" y="1613916"/>
            <a:ext cx="6444342" cy="230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46320" y="1856232"/>
            <a:ext cx="6444342" cy="212026"/>
          </a:xfrm>
          <a:prstGeom prst="rect">
            <a:avLst/>
          </a:prstGeom>
          <a:solidFill>
            <a:srgbClr val="4FD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08950" y="159562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Calibri"/>
              </a:rPr>
              <a:t>100%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21970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0" y="246202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244507" y="220141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46320" y="2825496"/>
            <a:ext cx="6379899" cy="2302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3067812"/>
            <a:ext cx="6379899" cy="212026"/>
          </a:xfrm>
          <a:prstGeom prst="rect">
            <a:avLst/>
          </a:prstGeom>
          <a:solidFill>
            <a:srgbClr val="429B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44507" y="280720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73A0"/>
                </a:solidFill>
                <a:latin typeface="Calibri"/>
              </a:rPr>
              <a:t>99%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3431286"/>
            <a:ext cx="5716132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20" y="3673602"/>
            <a:ext cx="5864352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0740" y="341299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89%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037076"/>
            <a:ext cx="6122125" cy="2302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46320" y="4279392"/>
            <a:ext cx="5993238" cy="212026"/>
          </a:xfrm>
          <a:prstGeom prst="rect">
            <a:avLst/>
          </a:prstGeom>
          <a:solidFill>
            <a:srgbClr val="FFB7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86733" y="401878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8F01"/>
                </a:solidFill>
                <a:latin typeface="Calibri"/>
              </a:rPr>
              <a:t>95%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4642866"/>
            <a:ext cx="4169489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0" y="4885182"/>
            <a:ext cx="4188822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34097" y="462457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65%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46320" y="5248656"/>
            <a:ext cx="773321" cy="230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46320" y="5490972"/>
            <a:ext cx="579990" cy="212026"/>
          </a:xfrm>
          <a:prstGeom prst="rect">
            <a:avLst/>
          </a:prstGeom>
          <a:solidFill>
            <a:srgbClr val="FF7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37929" y="5230368"/>
            <a:ext cx="640080" cy="2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74C3C"/>
                </a:solidFill>
                <a:latin typeface="Calibri"/>
              </a:rPr>
              <a:t>12%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164134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Calibri"/>
              </a:rPr>
              <a:t>Full AEGIS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224713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Permission Rewriting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85292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Post-compilation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45871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BFS Join Resolution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406450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Business Logic Mappings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467029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− Vocabulary Injection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5276088"/>
            <a:ext cx="4343400" cy="45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LLM Only (No Semantic Layer)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0" y="6080760"/>
            <a:ext cx="292608" cy="1828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60533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Execution Validity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0" y="6080760"/>
            <a:ext cx="292608" cy="182880"/>
          </a:xfrm>
          <a:prstGeom prst="rect">
            <a:avLst/>
          </a:prstGeom>
          <a:solidFill>
            <a:srgbClr val="70D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605332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Coverage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6126480"/>
            <a:ext cx="4434840" cy="47548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181344"/>
            <a:ext cx="4297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18F01"/>
                </a:solidFill>
                <a:latin typeface="Calibri"/>
              </a:rPr>
              <a:t>Vocabulary injection contributes −35.3pp validity — the single most impactful component.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Generalizability — WooCommerce Schema Evaluation (RQ4)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Does AEGIS work beyond the nopCommerce schema it was built 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25880"/>
            <a:ext cx="5349240" cy="41148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What Was Evaluated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1874519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11095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1892807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WooCommerce database — completely different tables,
column names, and relationships from nopCommerce.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" y="2898647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35223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2916935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Built a new semantic layer (12 metrics, 28 dims,
9 join paths) from scratch. Zero pipeline changes.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" y="3922775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59351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Benchmark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941063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Same 100-query evaluation dataset, re-run on
the WooCommerce semantic layer.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" y="4946903"/>
            <a:ext cx="1005840" cy="3474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983479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Constraint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1"/>
            <a:ext cx="4023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Single developer, measured real elapsed time
to build the new semantic layer end-to-end.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1325880"/>
            <a:ext cx="5349240" cy="4892040"/>
          </a:xfrm>
          <a:prstGeom prst="rect">
            <a:avLst/>
          </a:prstGeom>
          <a:solidFill>
            <a:srgbClr val="FFFFFF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92240" y="1325880"/>
            <a:ext cx="53492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137160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98.0%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Intent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60" y="192024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208483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7AE60"/>
                </a:solidFill>
                <a:latin typeface="Calibri"/>
              </a:rPr>
              <a:t>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600" y="292608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Unsafe SQL Queries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14 hrs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Semantic Layer Build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81160" y="3611880"/>
            <a:ext cx="2514600" cy="150876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72600" y="3776472"/>
            <a:ext cx="2331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A0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617720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1A1A2E"/>
                </a:solidFill>
                <a:latin typeface="Calibri"/>
              </a:rPr>
              <a:t>Pipeline Code Changes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212080"/>
            <a:ext cx="5166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1A1A2E"/>
                </a:solidFill>
                <a:latin typeface="Calibri"/>
              </a:rPr>
              <a:t>Conclusion: AEGIS is a reusable architecture, not a one-schema prototype.
Any e-commerce schema can be onboarded by writing a new semantic layer —
no retraining, no pipeline changes, no LLM reconfiguration.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89320" y="1325880"/>
            <a:ext cx="54864" cy="4892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Conclusion &amp; Future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32588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Key Contributions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164592" cy="1115568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A73A0"/>
                </a:solidFill>
                <a:latin typeface="Calibri"/>
              </a:rPr>
              <a:t>Safety-by-Design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First NL2SQL system that makes SQL injection structurally impossible by separating the AI layer from the SQL generation layer.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78308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783080"/>
            <a:ext cx="164592" cy="111556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183794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Semantic Layer with Vocabulary Injection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222199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Closed vocabulary of 15 metrics, 34 dimensions, 11 join paths — with dynamic vocabulary injection replacing static synonym dictionaries.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F18F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017520"/>
            <a:ext cx="164592" cy="11155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F18F01"/>
                </a:solidFill>
                <a:latin typeface="Calibri"/>
              </a:rPr>
              <a:t>Persistent Widget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Turns one-off query results into refreshable dashboard widgets with SHA-256 deduplication and scheduled refresh (61% recurring).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017520"/>
            <a:ext cx="5623560" cy="11155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3017520"/>
            <a:ext cx="164592" cy="11155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9672" y="3072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7AE60"/>
                </a:solidFill>
                <a:latin typeface="Calibri"/>
              </a:rPr>
              <a:t>Formal Safety Proof + Empirical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3456432"/>
            <a:ext cx="521208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Mathematical proof that injection is impossible, validated empirically with 0% unsafe SQL across 100 benchmark queries.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34340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2A4A"/>
                </a:solidFill>
                <a:latin typeface="Calibri"/>
              </a:rPr>
              <a:t>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736592"/>
            <a:ext cx="11521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Extend semantic layer to transactional databases (banking, healthcare, logistics)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Real-time semantic layer editor — add new metrics/dimensions without code deployment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Multi-turn conversational analytics — follow-up questions building on previous widgets</a:t>
            </a:r>
          </a:p>
          <a:p>
            <a:pPr algn="l">
              <a:lnSpc>
                <a:spcPct val="115%"/>
              </a:lnSpc>
              <a:spcBef>
                <a:spcPts val="100"/>
              </a:spcBef>
            </a:pPr>
            <a:r>
              <a:rPr sz="1400" b="0">
                <a:solidFill>
                  <a:srgbClr val="1A73A0"/>
                </a:solidFill>
                <a:latin typeface="Segoe UI Symbol"/>
              </a:rPr>
              <a:t>▸  </a:t>
            </a:r>
            <a:r>
              <a:rPr sz="1400" b="0">
                <a:solidFill>
                  <a:srgbClr val="1A1A2E"/>
                </a:solidFill>
                <a:latin typeface="Calibri"/>
              </a:rPr>
              <a:t>Fine-tune smaller LLM on IntentObject extraction to reduce API latency from 1.85s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 Light"/>
              </a:rPr>
              <a:t>How a WooCommerce Store Owner Deploys AEGIS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49808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8F3"/>
                </a:solidFill>
                <a:latin typeface="Calibri"/>
              </a:rPr>
              <a:t>Only the semantic layer changes — the entire pipeline is reused without modification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AABBCC"/>
                </a:solidFill>
                <a:latin typeface="Calibri"/>
              </a:rPr>
              <a:t>Md. Riaz  |  Pundra University of Science and Technology  |  BSc CSE Thesis Defense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25880"/>
            <a:ext cx="11521440" cy="5029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8988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18F01"/>
                </a:solidFill>
                <a:latin typeface="Calibri"/>
              </a:rPr>
              <a:t>Core rule: write a new semantic_layer.py for your schema. Touch nothing else.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938528"/>
            <a:ext cx="530352" cy="53035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197510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97510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73A0"/>
                </a:solidFill>
                <a:latin typeface="Calibri"/>
              </a:rPr>
              <a:t>Prerequisites  (30 min)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35000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Python 3.10+, pip, Git, MySQL read access
Groq API key (free tier sufficient)
git clone + pip install -r requirements.txt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328416"/>
            <a:ext cx="530352" cy="5303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364992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36499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B2A4A"/>
                </a:solidFill>
                <a:latin typeface="Calibri"/>
              </a:rPr>
              <a:t>Schema Analysis  (2–3 hrs)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3989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Map WooCommerce tables to AEGIS concepts:
  KPIs the business tracks  →  METRICS
  Slice-by axes  →  DIMENSIONS
  Table relationships  →  JOIN_GRAPH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718304"/>
            <a:ext cx="530352" cy="53035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4754880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754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18F01"/>
                </a:solidFill>
                <a:latin typeface="Calibri"/>
              </a:rPr>
              <a:t>Build the Semantic Layer  (8–10 hrs)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12978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WooCommerce result: 12 metrics, 28 dimensions,
9 join paths, 18 tables.
Only file that changes: semantic_layer.py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938528"/>
            <a:ext cx="530352" cy="530352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975104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1975104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A73A0"/>
                </a:solidFill>
                <a:latin typeface="Calibri"/>
              </a:rPr>
              <a:t>Configure Database  (30 min)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235000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Set DB_HOST, DB_NAME, DB_USER, DB_PASSWORD
and LLM_BASE_URL + LLM_API_KEY in .env
(any OpenAI-compatible endpoint)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328416"/>
            <a:ext cx="530352" cy="53035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364992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0" y="336499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B2A4A"/>
                </a:solidFill>
                <a:latin typeface="Calibri"/>
              </a:rPr>
              <a:t>Test  (1–2 hrs)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73989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python -m unittest discover -s tests
python run_demo_cli.py
"Show me revenue by category this month"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4718304"/>
            <a:ext cx="530352" cy="53035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754880"/>
            <a:ext cx="530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7548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7AE60"/>
                </a:solidFill>
                <a:latin typeface="Calibri"/>
              </a:rPr>
              <a:t>Deploy  (30 min)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512978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ourier New"/>
              </a:rPr>
              <a:t>docker-compose up --build
Dashboard at http://localhost:8765
Or: python run_demo_server.py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1874519"/>
            <a:ext cx="54864" cy="42519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44768"/>
            <a:ext cx="11521440" cy="457200"/>
          </a:xfrm>
          <a:prstGeom prst="rect">
            <a:avLst/>
          </a:prstGeom>
          <a:solidFill>
            <a:srgbClr val="F0F4F8"/>
          </a:solidFill>
          <a:ln>
            <a:solidFill>
              <a:srgbClr val="1A7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Schema analysis:  2–3 hrs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24328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97480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Metrics (SQL expressions):  2–3 hrs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28616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01768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Dimensions + join paths:  4–5 hrs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32904" y="6144768"/>
            <a:ext cx="2304288" cy="4572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06056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1A1A2E"/>
                </a:solidFill>
                <a:latin typeface="Calibri"/>
              </a:rPr>
              <a:t>Test &amp; iterate:  2 hrs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37192" y="6144768"/>
            <a:ext cx="2304288" cy="4572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10344" y="6208776"/>
            <a:ext cx="2157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F18F01"/>
                </a:solidFill>
                <a:latin typeface="Calibri"/>
              </a:rPr>
              <a:t>Total:  ~14 hrs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73152" cy="6858000"/>
          </a:xfrm>
          <a:prstGeom prst="rect">
            <a:avLst/>
          </a:prstGeom>
          <a:solidFill>
            <a:srgbClr val="1A73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468880"/>
            <a:ext cx="7589520" cy="50292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D0E8F3"/>
                </a:solidFill>
                <a:latin typeface="Calibri Light"/>
              </a:rPr>
              <a:t>Questions &amp; Discussion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3465576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48840" y="33375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0% SQL injection — structural guarantee, not a detection heuristic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4087368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40" y="39593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100% execution validity — every query correct on first attempt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709160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48840" y="458114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98% accuracy on unseen schema (WooCommerce) — generalizable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0" y="5330952"/>
            <a:ext cx="201168" cy="201168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48840" y="520293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FFFFFF"/>
                </a:solidFill>
                <a:latin typeface="Calibri"/>
              </a:rPr>
              <a:t>14 person-hours to port to a new schema — practical for real deployment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5989320"/>
            <a:ext cx="7589520" cy="32004"/>
          </a:xfrm>
          <a:prstGeom prst="rect">
            <a:avLst/>
          </a:prstGeom>
          <a:solidFill>
            <a:srgbClr val="F18F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608076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A8C8"/>
                </a:solidFill>
                <a:latin typeface="Calibri"/>
              </a:rPr>
              <a:t>Md. Riaz  |  Pundra University of Science and Technology  |  BSc CSE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