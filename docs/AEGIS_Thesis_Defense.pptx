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320040"/>
            <a:ext cx="10698480" cy="502920"/>
          </a:xfrm>
          <a:prstGeom prst="rect">
            <a:avLst/>
          </a:prstGeom>
          <a:solidFill>
            <a:srgbClr val="0D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8F01"/>
                </a:solidFill>
                <a:latin typeface="Calibri"/>
              </a:rPr>
              <a:t>PUNDRA UNIVERSITY OF SCIENCE AND TECHNOLOGY  ·  DEPARTMENT OF CSE  ·  8TH SEMESTER THESIS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058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FFFFFF"/>
                </a:solidFill>
                <a:latin typeface="Calibri Light"/>
              </a:rPr>
              <a:t>AEGIS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331720"/>
            <a:ext cx="7589520" cy="5029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 Light"/>
              </a:rPr>
              <a:t>A Safety-by-Design Architecture for
LLM-Driven Self-Service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564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0E8F3"/>
                </a:solidFill>
                <a:latin typeface="Calibri"/>
              </a:rPr>
              <a:t>Analytics Engine with Guaranteed Injection Safety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3913632"/>
            <a:ext cx="4846320" cy="3200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Md. Riaz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0E8F3"/>
                </a:solidFill>
                <a:latin typeface="Calibri"/>
              </a:rPr>
              <a:t>Pundra University of Science and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8AA8C8"/>
                </a:solidFill>
                <a:latin typeface="Calibri"/>
              </a:rPr>
              <a:t>Bachelor of Science in Computer Science &amp; Engineering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Presentation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538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The Problem — Why This Research?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21992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2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585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Research Objectives &amp;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26664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What Makes AEGIS Novel?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31336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3133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6791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System Architecture — 7-Stage Pipeline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36008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3600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72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The Semantic Layer — Core Contribution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417320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4173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4538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How a Query Flows Through AEGIS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221992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221992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585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SQL Safety — Formal Guarantee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26664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02666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06324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Evaluation Results (100-Query Benchmark)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831336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3133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86791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Ablation Study &amp; Generalizability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636008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672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1325880"/>
            <a:ext cx="45720" cy="4846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Why do we need a new approach to analytics?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SQL Barrier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202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Business users cannot write SQL.
They wait days for a developer
to build each report.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37160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37160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Injection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9202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LLM-generated SQL can be
manipulated into DROP TABLE or
data exfiltration by a bad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1188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61188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216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Hallucination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1605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LLMs invent column names and
join conditions that produce
silently wrong answers.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61188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361188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37216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One-Shot Results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05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Existing tools return a one-time
query result — not a refreshable,
reusable dashboard widget.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18F01"/>
                </a:solidFill>
                <a:latin typeface="Calibri"/>
              </a:rPr>
              <a:t>61% of business reporting questions are recurring — the same report with a different date range or department.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Research Objectives &amp;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417320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46304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Can a structured semantic layer guide the LLM to correctly interpret natural-language analytics queries with ≥95% accuracy?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95144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2257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679192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86584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2432304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Does structural prevention (template-based compilation) eliminate SQL injection more reliably than detection-based approaches?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64408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29184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648456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Ablation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3355848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340156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How much does each pipeline component (vocabulary injection, BFS joins, safety scanner) contribute to overall accuracy?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33672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617720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Generalizability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325112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4370832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Can AEGIS be adapted to a different e-commerce schema (WooCommerce) without pipeline changes?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202936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2303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586984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Latency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5294376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5340096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Does the safety-first architecture introduce unacceptable overhead for interactive use?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Core Novelty — Structural Safety vs.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What makes AEGIS fundamentally different from every prior NL2SQL system?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349240" cy="4846320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34924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Prior Approaches (End-to-End NL2SQL)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1">
                <a:solidFill>
                  <a:srgbClr val="E74C3C"/>
                </a:solidFill>
                <a:latin typeface="Calibri"/>
              </a:rPr>
              <a:t>User Query  →  LLM  →  SQL String  →  Execute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sees the full database schema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writes raw SQL — any output is possible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Injection caught (or missed) by post-hoc filters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Hallucinated columns fail silently at runtime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Safety = detection — you can always miss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5349240" cy="4846320"/>
          </a:xfrm>
          <a:prstGeom prst="rect">
            <a:avLst/>
          </a:prstGeom>
          <a:solidFill>
            <a:srgbClr val="F0FF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1325880"/>
            <a:ext cx="534924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3716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AEGIS (This Thesis)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1">
                <a:solidFill>
                  <a:srgbClr val="27AE60"/>
                </a:solidFill>
                <a:latin typeface="Calibri"/>
              </a:rPr>
              <a:t>User Query  →  LLM  →  Intent JSON  →  Compiler  → 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3172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never sees the database schema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outputs structured JSON — no SQL output channel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SQL generated only from pre-approved templates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Column names are compile-time constants, not LLM output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Safety = prevention — injection is structurally impossible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286000"/>
            <a:ext cx="640080" cy="6400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3134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236208"/>
            <a:ext cx="1152144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2819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18F01"/>
                </a:solidFill>
                <a:latin typeface="Calibri"/>
              </a:rPr>
              <a:t>Key Insight: You cannot make LLM-generated SQL safe by checking it. You make it safe by ensuring it is never generated.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System Architecture — 7-Stage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2148840" cy="5074920"/>
          </a:xfrm>
          <a:prstGeom prst="rect">
            <a:avLst/>
          </a:prstGeom>
          <a:solidFill>
            <a:srgbClr val="FFF9F0"/>
          </a:solidFill>
          <a:ln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371600"/>
            <a:ext cx="20848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18F01"/>
                </a:solidFill>
                <a:latin typeface="Calibri"/>
              </a:rPr>
              <a:t>LLM
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280160"/>
            <a:ext cx="9326880" cy="5074920"/>
          </a:xfrm>
          <a:prstGeom prst="rect">
            <a:avLst/>
          </a:prstGeom>
          <a:solidFill>
            <a:srgbClr val="F0F8FF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37160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3A0"/>
                </a:solidFill>
                <a:latin typeface="Calibri"/>
              </a:rPr>
              <a:t>Deterministic Compiler Zone  (LLM output never reaches here as raw 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Intent
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LLM maps natural language
to structured IntentObject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intent_parser.py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47672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75688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75688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0552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Coverage
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Rejects queries outside
the semantic vocabulary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67128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run_demo_server.py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39896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39896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Semantic
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Resolves terms to canonical
IDs, expands business logic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13048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1336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mapper.py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76088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04104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4104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04104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8968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Permission
Rewriting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77256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Appends row-level security
WHERE clause predicates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77256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95544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permission_rewriter.py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0296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68312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68312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68312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23176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SQL
Compilation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41464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BFS join resolution +
template-based SQL generation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41464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9752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compiler.py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04504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32520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32520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32520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7384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Visualization
Select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05672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Rule-based chart type
selection (11 primitives)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05672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23960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visualization.py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68712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96728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96728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96728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1592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Widget
Persistence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SHA-256 dedup, storage
and scheduled refresh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69880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88168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widget_engine.py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The Semantic Layer — Core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The closed vocabulary that makes structural safety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25880"/>
            <a:ext cx="580644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389888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semantic layer defines the COMPLETE, ENUMERABLE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719072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8F3"/>
                </a:solidFill>
                <a:latin typeface="Calibri"/>
              </a:rPr>
              <a:t>of things AEGIS can answer — everything else is rejected.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231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23160"/>
            <a:ext cx="562356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780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15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Named SQL aggregate expressions.
LLM picks an ID — compiler inserts
the pre-approved SQL fragment.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8986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29718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revenue, order_count,
avg_order_value, refund_rate,
customer_ltv, inventory_turnover…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805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80560"/>
            <a:ext cx="562356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354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34 Dimensions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834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Grouping &amp; filtering axes.
Covers time, geography, product,
customer, order status, shipment.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9560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50292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order_month, category_name,
customer_city, order_status,
price_range, store_name…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2423160"/>
            <a:ext cx="5623560" cy="4114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4780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11 JOIN Paths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9260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Pre-approved ON clauses.
Compiler runs BFS to find the
minimal join path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8986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29718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Order→Customer→Address
Order→OrderItem→Product
Product→Category…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805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480560"/>
            <a:ext cx="562356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5354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Vocabulary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834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All metric+dimension labels
injected into LLM system prompt.
SYNONYMS = {} intentionally.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49560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50292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~1,100 tokens of approved
vocabulary. LLM maps 'sales'
to 'revenue' at inference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Semantic Layer — 15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Every aggregate SQL expression is a fixed, pre-approved constant — the LLM only picks the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SUM(COALESCE(o.OrderTotal, 0) - COALESCE(o.RefundedAmount, 0))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order_count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o.Id)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avg_order_value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AVG(COALESCE(o.OrderTotal, 0))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customer_ltv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SUM(o.OrderTotal) / COUNT(DISTINCT o.CustomerId)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refund_rate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SUM(o.RefundedAmount) / NULLIF(SUM(o.OrderTotal), 0)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new_customer_count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o.CustomerId) WHERE first order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repeat_purchase_rate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COUNT(repeat customers) / COUNT(all customers)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6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cart_abandonment_rate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abandoned carts / total carts initiated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076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product_revenue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076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SUM(oi.PriceExclTax * oi.Quantity)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units_sold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SUM(oi.Quantity)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5196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5312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avg_units_per_order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5312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SUM(oi.Quantity) / COUNT(DISTINCT oi.OrderId)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2960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076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inventory_turnover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076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COGS / ((opening_stock + closing_stock) / 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avg_review_score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AVG(pr.Rating)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5196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fulfillment_rate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100.0 * shipped orders / total orders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2960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3076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avg_shipping_cost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3076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AVG(o.OrderShippingExclTax)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Semantic Layer — 34 Dimensions &amp; BFS Join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34 Dimensions by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819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Time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1671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order_day, order_week, order_month,
order_quarter, order_year, order_hour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1783080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783080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27832" y="1819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Order (5)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1671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order_status, payment_method,
price_range, shipping_method, store_name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862072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862072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8986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 (4)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product_name, category_name,
manufacturer_name, is_free_shipping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2862072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80" y="2862072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27832" y="28986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Customer (5)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27832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customer_city, customer_state,
customer_country, customer_segment, gender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941064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41064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Geography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32511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billing_city, billing_state,
billing_country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3941064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54680" y="3941064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7832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Shipment (4)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432511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shipment_status, delivery_date,
shipping_carrier, days_to_ship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020056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5020056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50566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Review (2)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" y="540410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review_rating_band, review_month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5020056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54680" y="5020056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27832" y="50566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Inventory (5)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27832" y="540410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product_in_stock, stock_level_band,
warehouse_name, reorder_flag, sku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BFS Join Resolution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17373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1A73A0"/>
                </a:solidFill>
                <a:latin typeface="Calibri"/>
              </a:rPr>
              <a:t>Example: "revenue by category"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194560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2194560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2311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ORDER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binding_table for metric: revenue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944368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944368"/>
            <a:ext cx="128016" cy="6583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29809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→  ORDER_ITEM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291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Order_Item oi ON o.Id = oi.OrderId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694176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94176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3075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→ 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0416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Product p ON oi.ProductId = p.Id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43984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43984"/>
            <a:ext cx="128016" cy="6583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48056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→  PRODUCT_CAT_MAPPING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7914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Product_Category_Mapping pcm ON p.Id = pcm.ProductId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5193792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5193792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52303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→  CATEGORY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5412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Category c ON pcm.CategoryId = c.Id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5989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Only 11 pre-approved ON clauses exist — BFS finds the shortest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Vocabulary Injection — How the LLM Understands Business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Why SYNONYMS = {}  and why that is a feature, not a 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55648"/>
            <a:ext cx="548640" cy="54864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9222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9222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73A0"/>
                </a:solidFill>
                <a:latin typeface="Calibri"/>
              </a:rPr>
              <a:t>Approved vocabulary embedded in system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945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All 15 metric labels + 34 dimension labels (~1,100 tokens)
are injected into the LLM's system prompt at every request.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18688"/>
            <a:ext cx="548640" cy="5486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325526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18F01"/>
                </a:solidFill>
                <a:latin typeface="Calibri"/>
              </a:rPr>
              <a:t>LLM performs fuzzy matching at inference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657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"Show me sales by product line" → LLM maps:
  sales  →  revenue
  product line  →  category_name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681728"/>
            <a:ext cx="54864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71830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1830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7AE60"/>
                </a:solidFill>
                <a:latin typeface="Calibri"/>
              </a:rPr>
              <a:t>Output is a validated IntentObject — no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1206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{"metric": "revenue", "dimension": "category_name",
 "filter": null, "pattern": "ranking"}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1280160"/>
            <a:ext cx="54864" cy="49377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325880"/>
            <a:ext cx="5577840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38988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18F01"/>
                </a:solidFill>
                <a:latin typeface="Courier New"/>
              </a:rPr>
              <a:t>SYNONYMS = 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828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8F3"/>
                </a:solidFill>
                <a:latin typeface="Calibri"/>
              </a:rPr>
              <a:t>Intentionally empty — and this is a design strength.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8529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Why this is better than a synonym dictionary: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4612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No maintenance burden — new business terms need no code change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LLM handles linguistic variation naturally (plurals, abbreviations, jargon)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Synonym dictionary grows stale; vocabulary injection stays current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Reduces the semantic layer to pure SQL logic — cleaner separation of concerns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715000"/>
            <a:ext cx="5577840" cy="530352"/>
          </a:xfrm>
          <a:prstGeom prst="rect">
            <a:avLst/>
          </a:prstGeom>
          <a:solidFill>
            <a:srgbClr val="D6EA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578815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ourier New"/>
              </a:rPr>
              <a:t>Business Logic Mapping:  "abandoned"  →  OrderStatusId =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End-to-End: How a Query Flows Through 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"Show me revenue by product category for this month"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98448"/>
            <a:ext cx="164592" cy="82296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3A0"/>
                </a:solidFill>
                <a:latin typeface="Calibri"/>
              </a:rPr>
              <a:t>Stage 1 — Intent Extraction (LLM)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316736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User: "Show me revenue by product category for this month"
LLM output →  {"metric":"revenue", "dimension":"category_name",
               "filter":{"order_month":"current"}, "pattern":"ranking"}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03704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203704"/>
            <a:ext cx="164592" cy="82296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402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18F01"/>
                </a:solidFill>
                <a:latin typeface="Calibri"/>
              </a:rPr>
              <a:t>Stage 2 — Coverage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21992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"revenue" ∈ METRICS ✓    "category_name" ∈ DIMENSIONS ✓
Pattern "ranking" ∈ ANALYTICS_PRIMITIVES ✓    Query accepted.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108960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08960"/>
            <a:ext cx="16459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4553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2A4A"/>
                </a:solidFill>
                <a:latin typeface="Calibri"/>
              </a:rPr>
              <a:t>Stage 3 — Semantic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27248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Resolves "revenue" → Metric object with sql_expr, binding_table="Order"
Resolves "category_name" → Dimension with required_joins=[...]
Expands filter: order_month="current" → DATE_FORMAT(...) = current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014216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014216"/>
            <a:ext cx="164592" cy="82296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5079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3A0"/>
                </a:solidFill>
                <a:latin typeface="Calibri"/>
              </a:rPr>
              <a:t>Stage 4 — Permission Rewriting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032504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Appends row-level security:  AND o.StoreId IN (1,2)  [if user is store-scoped]
Admin users: no additional WHERE predicates appended.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919472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919472"/>
            <a:ext cx="164592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956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Stage 5 — SQL Compilation (BFS + Template)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937760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BFS: Order → OrderItem → Product → Product_Category_Mapping → Category
SELECT c.Name, SUM(o.OrderTotal-o.RefundedAmount) AS revenue
FROM Order o JOIN ... WHERE ... GROUP BY c.Name ORDER BY revenue DESC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824728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5824728"/>
            <a:ext cx="16459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6130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2A4A"/>
                </a:solidFill>
                <a:latin typeface="Calibri"/>
              </a:rPr>
              <a:t>Stages 6+7 — Visualization &amp; Widget Persistence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843016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Pattern="ranking" → bar_chart selected automatically
SHA-256 hash: widget already exists → returns cached widget 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SQL Safety — Formal Guarantee + Two-Layer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11521440" cy="1280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898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8F01"/>
                </a:solidFill>
                <a:latin typeface="Calibri"/>
              </a:rPr>
              <a:t>Formal Safety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Given that the SQL compiler only accepts validated IntentObject inputs and generates SQL exclusively from pre-defined templates, the set of possible SQL outputs is finite and enumerable. SQL injection requires generating SQL outside this set — which is architecturally impossible.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7432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Two-Layer SQL Safety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154680"/>
            <a:ext cx="5440680" cy="2971800"/>
          </a:xfrm>
          <a:prstGeom prst="rect">
            <a:avLst/>
          </a:prstGeom>
          <a:solidFill>
            <a:srgbClr val="F0F8F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3154680"/>
            <a:ext cx="544068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20040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Layer 1 — Parameterized Template Compilation  (Structural Prevention)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84448"/>
            <a:ext cx="52578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All SQL assembled from named template fragments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User-controlled values bound as SQL parameters — never interpolated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Column and table names are compile-time constants from the semantic layer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LLM output (IntentObject JSON) never concatenated into SQL string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Injection requires escaping the template system — structurally impossible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154680"/>
            <a:ext cx="5669280" cy="2971800"/>
          </a:xfrm>
          <a:prstGeom prst="rect">
            <a:avLst/>
          </a:prstGeom>
          <a:solidFill>
            <a:srgbClr val="F0F8F0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154680"/>
            <a:ext cx="566928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Layer 2 — Post-Compilation Safety Scanner  (Defense-in-Depth)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584448"/>
            <a:ext cx="54864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Post-compilation scanner checks 16 forbidden patterns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DROP, DELETE, INSERT, UPDATE, TRUNCATE, ALTER, CREATE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UNION, comment sequences (--, /*), hex literals, stacked queries (;)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Catches any hypothetical compiler bug before execution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Defense-in-depth — belt AND suspenders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Evaluation Results — 100-Query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nopCommerce e-commerce domain  |  5 systems compared across 3 safety &amp; accuracy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72184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40" y="1417320"/>
            <a:ext cx="20116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2" y="147218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Unsafe 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24688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33872" y="147218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Execution Validity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24688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7218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01368"/>
            <a:ext cx="329184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1929384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B1: Direct GPT-4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1801368"/>
            <a:ext cx="20116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2" y="1929384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5.0%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801368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1929384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801368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929384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99.0%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459736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2587752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B2: Schema-Aware Prompt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2459736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22192" y="2587752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3.0%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2459736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33872" y="2587752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97.0%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459736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2587752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97.0%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118104"/>
            <a:ext cx="329184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3246120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B3: Few-Shot NL2SQL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40" y="3118104"/>
            <a:ext cx="20116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22192" y="3246120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1.0%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3118104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33872" y="3246120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66.0%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3118104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246120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55.0%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776472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3904488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B4: RAG-Enhanced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3776472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22192" y="3904488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  <a:latin typeface="Calibri"/>
              </a:rPr>
              <a:t>0.0%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3776472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33872" y="3904488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88.7%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776472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2752" y="3904488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91.0%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434840"/>
            <a:ext cx="329184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456285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AEGIS (This Thesis)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4434840"/>
            <a:ext cx="20116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22192" y="4562856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0.0%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720" y="4434840"/>
            <a:ext cx="24688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33872" y="4562856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100.0%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4434840"/>
            <a:ext cx="24688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02752" y="4562856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100.0%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434840"/>
            <a:ext cx="10241280" cy="658368"/>
          </a:xfrm>
          <a:prstGeom prst="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577840"/>
            <a:ext cx="338328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0% Unsafe SQL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Not a statistical finding —
a structural guarantee from
the architecture.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0" y="5577840"/>
            <a:ext cx="3383280" cy="34747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062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100% Validity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062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Every query compiles and
executes without error on the
first attempt.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72400" y="5577840"/>
            <a:ext cx="338328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100% Coverage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Every benchmark question is
within the semantic layer
vocabulary.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Ablation Study — Contribution of Each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Removing each component one at a time to measure its individual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7040880" cy="484632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1613916"/>
            <a:ext cx="6444342" cy="230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1856232"/>
            <a:ext cx="6444342" cy="212026"/>
          </a:xfrm>
          <a:prstGeom prst="rect">
            <a:avLst/>
          </a:prstGeom>
          <a:solidFill>
            <a:srgbClr val="4FD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08950" y="159562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219706"/>
            <a:ext cx="6379899" cy="2302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2462022"/>
            <a:ext cx="6379899" cy="212026"/>
          </a:xfrm>
          <a:prstGeom prst="rect">
            <a:avLst/>
          </a:prstGeom>
          <a:solidFill>
            <a:srgbClr val="429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4507" y="220141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3A0"/>
                </a:solidFill>
                <a:latin typeface="Calibri"/>
              </a:rPr>
              <a:t>99%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825496"/>
            <a:ext cx="6379899" cy="2302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3067812"/>
            <a:ext cx="6379899" cy="212026"/>
          </a:xfrm>
          <a:prstGeom prst="rect">
            <a:avLst/>
          </a:prstGeom>
          <a:solidFill>
            <a:srgbClr val="429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4507" y="280720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3A0"/>
                </a:solidFill>
                <a:latin typeface="Calibri"/>
              </a:rPr>
              <a:t>99%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3431286"/>
            <a:ext cx="5716132" cy="2302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3673602"/>
            <a:ext cx="5864352" cy="212026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0740" y="341299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8F01"/>
                </a:solidFill>
                <a:latin typeface="Calibri"/>
              </a:rPr>
              <a:t>89%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37076"/>
            <a:ext cx="6122125" cy="2302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4279392"/>
            <a:ext cx="5993238" cy="212026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86733" y="401878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8F01"/>
                </a:solidFill>
                <a:latin typeface="Calibri"/>
              </a:rPr>
              <a:t>95%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4642866"/>
            <a:ext cx="4169489" cy="230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0" y="4885182"/>
            <a:ext cx="4188822" cy="212026"/>
          </a:xfrm>
          <a:prstGeom prst="rect">
            <a:avLst/>
          </a:prstGeom>
          <a:solidFill>
            <a:srgbClr val="FF7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4097" y="462457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  <a:latin typeface="Calibri"/>
              </a:rPr>
              <a:t>65%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5248656"/>
            <a:ext cx="773321" cy="230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5490972"/>
            <a:ext cx="579990" cy="212026"/>
          </a:xfrm>
          <a:prstGeom prst="rect">
            <a:avLst/>
          </a:prstGeom>
          <a:solidFill>
            <a:srgbClr val="FF7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37929" y="523036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  <a:latin typeface="Calibri"/>
              </a:rPr>
              <a:t>12%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164134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Full AEGIS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24713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Permission Rewriting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85292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Post-compilation Scanner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45871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BFS Join Resolution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06450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Business Logic Mappings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67029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Vocabulary Injection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527608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Only (No Semantic Layer)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0" y="6080760"/>
            <a:ext cx="292608" cy="1828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60533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Execution Validity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6080760"/>
            <a:ext cx="292608" cy="182880"/>
          </a:xfrm>
          <a:prstGeom prst="rect">
            <a:avLst/>
          </a:prstGeom>
          <a:solidFill>
            <a:srgbClr val="70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60533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Coverage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126480"/>
            <a:ext cx="4434840" cy="47548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81344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18F01"/>
                </a:solidFill>
                <a:latin typeface="Calibri"/>
              </a:rPr>
              <a:t>Vocabulary injection contributes −35.3pp validity — the single most impactful component.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Generalizability — WooCommerce Schema Evaluation (RQ4)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Does AEGIS work beyond the nopCommerce schema it was built 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3492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34924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What Was Evaluated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874519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11095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892807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WooCommerce database — completely different tables,
column names, and relationships from nopCommerce.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898647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35223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16935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Built a new semantic layer (15 metrics, 34 dims)
from scratch. Zero changes to the pipeline or LLM.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922775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59351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41063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Same 100-query evaluation dataset, re-run on
the WooCommerce semantic layer.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946903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83479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Constraint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1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Single developer, measured real elapsed time
to build the new semantic layer end-to-end.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325880"/>
            <a:ext cx="53492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1325880"/>
            <a:ext cx="53492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3716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192024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08483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7AE60"/>
                </a:solidFill>
                <a:latin typeface="Calibri"/>
              </a:rPr>
              <a:t>98.0%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9260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Intent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60" y="192024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08483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7AE60"/>
                </a:solidFill>
                <a:latin typeface="Calibri"/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9260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Unsafe SQL Queries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61188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77647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A0"/>
                </a:solidFill>
                <a:latin typeface="Calibri"/>
              </a:rPr>
              <a:t>14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61772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Semantic Layer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81160" y="361188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377647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A0"/>
                </a:solidFill>
                <a:latin typeface="Calibr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461772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Pipeline Code Changes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212080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Conclusion: AEGIS is a reusable architecture, not a one-schema prototype.
Any e-commerce schema can be onboarded by writing a new semantic layer —
no retraining, no pipeline changes, no LLM reconfiguration.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164592" cy="11155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8379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73A0"/>
                </a:solidFill>
                <a:latin typeface="Calibri"/>
              </a:rPr>
              <a:t>Safety-by-Design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22199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First NL2SQL system that makes SQL injection structurally impossible by separating the AI layer from the SQL generation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164592" cy="11155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8379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Semantic Layer with Vocabulary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22199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Closed vocabulary of 15 metrics, 34 dimensions, 11 join paths — with dynamic vocabulary injection replacing static synonym dictionaries.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01752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017520"/>
            <a:ext cx="164592" cy="11155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18F01"/>
                </a:solidFill>
                <a:latin typeface="Calibri"/>
              </a:rPr>
              <a:t>Persistent Widget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4564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Turns one-off query results into refreshable dashboard widgets with SHA-256 deduplication and scheduled refresh (61% recurring).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1752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017520"/>
            <a:ext cx="164592" cy="11155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7AE60"/>
                </a:solidFill>
                <a:latin typeface="Calibri"/>
              </a:rPr>
              <a:t>Formal Safety Proof + Empirical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4564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Mathematical proof that injection is impossible, validated empirically with 0% unsafe SQL across 100 benchmark queries.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3434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36592"/>
            <a:ext cx="11521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Extend semantic layer to transactional databases (banking, healthcare, logistics)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Real-time semantic layer editor — add new metrics/dimensions without code deployment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Multi-turn conversational analytics — follow-up questions building on previous widgets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Fine-tune smaller LLM on IntentObject extraction to reduce API latency from 1.85s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468880"/>
            <a:ext cx="7589520" cy="5029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0E8F3"/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465576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3337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0% SQL injection — structural guarantee, not a detection heuristic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4087368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39593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100% execution validity — every query correct on first attempt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709160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458114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98% accuracy on unseen schema (WooCommerce) — generalizable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5330952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520293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14 person-hours to port to a new schema — practical for real deployment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5989320"/>
            <a:ext cx="7589520" cy="3200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60807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A8C8"/>
                </a:solidFill>
                <a:latin typeface="Calibri"/>
              </a:rPr>
              <a:t>Md. Riaz  |  Pundra University of Science and Technology  |  BSc CSE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