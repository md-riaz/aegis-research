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0"/>
            <a:ext cx="73152" cy="6858000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" y="320040"/>
            <a:ext cx="10698480" cy="502920"/>
          </a:xfrm>
          <a:prstGeom prst="rect">
            <a:avLst/>
          </a:prstGeom>
          <a:solidFill>
            <a:srgbClr val="0D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4747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F18F01"/>
                </a:solidFill>
                <a:latin typeface="Calibri"/>
              </a:rPr>
              <a:t>PUNDRA UNIVERSITY OF SCIENCE AND TECHNOLOGY  ·  DEPARTMENT OF CSE  ·  8TH SEMESTER THESIS DEFENSE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00584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600" b="1" i="0">
                <a:solidFill>
                  <a:srgbClr val="FFFFFF"/>
                </a:solidFill>
                <a:latin typeface="Calibri Light"/>
              </a:rPr>
              <a:t>AEGIS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2331720"/>
            <a:ext cx="7589520" cy="50292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42316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 Light"/>
              </a:rPr>
              <a:t>A Safety-by-Design Architecture for
LLM-Driven Self-Service Analytics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56432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D0E8F3"/>
                </a:solidFill>
                <a:latin typeface="Calibri"/>
              </a:rPr>
              <a:t>Analytics Engine with Guaranteed Injection Safety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0" y="3913632"/>
            <a:ext cx="4846320" cy="3200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2336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Md. Riaz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62272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D0E8F3"/>
                </a:solidFill>
                <a:latin typeface="Calibri"/>
              </a:rPr>
              <a:t>Pundra University of Science and Technology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84632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0" i="0">
                <a:solidFill>
                  <a:srgbClr val="8AA8C8"/>
                </a:solidFill>
                <a:latin typeface="Calibri"/>
              </a:rPr>
              <a:t>Bachelor of Science in Computer Science &amp; Engineering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Presentation 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438912" cy="4389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453896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Calibri"/>
              </a:rPr>
              <a:t>The Problem — Why This Research?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21992"/>
            <a:ext cx="438912" cy="4389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221992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258568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Calibri"/>
              </a:rPr>
              <a:t>Research Objectives &amp; Questions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26664"/>
            <a:ext cx="438912" cy="4389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026664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063240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Calibri"/>
              </a:rPr>
              <a:t>What Makes AEGIS Novel?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31336"/>
            <a:ext cx="438912" cy="4389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831336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867912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Calibri"/>
              </a:rPr>
              <a:t>System Architecture — 7-Stage Pipeline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636008"/>
            <a:ext cx="438912" cy="4389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636008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672584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Calibri"/>
              </a:rPr>
              <a:t>The Semantic Layer — Core Contribution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1417320"/>
            <a:ext cx="438912" cy="438912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1417320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453896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Calibri"/>
              </a:rPr>
              <a:t>How a Query Flows Through AEGIS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2221992"/>
            <a:ext cx="438912" cy="438912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221992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2258568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Calibri"/>
              </a:rPr>
              <a:t>SQL Safety — Formal Guarantee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3026664"/>
            <a:ext cx="438912" cy="438912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026664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3063240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Calibri"/>
              </a:rPr>
              <a:t>Evaluation Results (100-Query Benchmark)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3831336"/>
            <a:ext cx="438912" cy="438912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31336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3867912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Calibri"/>
              </a:rPr>
              <a:t>Ablation Study &amp; Generalizability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4636008"/>
            <a:ext cx="438912" cy="438912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636008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4672584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89320" y="1325880"/>
            <a:ext cx="45720" cy="484632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0E8F3"/>
                </a:solidFill>
                <a:latin typeface="Calibri"/>
              </a:rPr>
              <a:t>Why do we need a new approach to analytics?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71600"/>
            <a:ext cx="5303520" cy="2057400"/>
          </a:xfrm>
          <a:prstGeom prst="rect">
            <a:avLst/>
          </a:prstGeom>
          <a:solidFill>
            <a:srgbClr val="FFF0F0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371600"/>
            <a:ext cx="164592" cy="20574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48132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4C3C"/>
                </a:solidFill>
                <a:latin typeface="Calibri"/>
              </a:rPr>
              <a:t>SQL Barrier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92024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2E"/>
                </a:solidFill>
                <a:latin typeface="Calibri"/>
              </a:rPr>
              <a:t>Business users cannot write SQL.
They wait days for a developer
to build each report.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371600"/>
            <a:ext cx="5303520" cy="2057400"/>
          </a:xfrm>
          <a:prstGeom prst="rect">
            <a:avLst/>
          </a:prstGeom>
          <a:solidFill>
            <a:srgbClr val="FFF0F0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35040" y="1371600"/>
            <a:ext cx="164592" cy="20574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91072" y="148132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4C3C"/>
                </a:solidFill>
                <a:latin typeface="Calibri"/>
              </a:rPr>
              <a:t>Injection Risk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1072" y="192024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2E"/>
                </a:solidFill>
                <a:latin typeface="Calibri"/>
              </a:rPr>
              <a:t>LLM-generated SQL can be
manipulated into DROP TABLE or
data exfiltration by a bad prompt.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611880"/>
            <a:ext cx="5303520" cy="2057400"/>
          </a:xfrm>
          <a:prstGeom prst="rect">
            <a:avLst/>
          </a:prstGeom>
          <a:solidFill>
            <a:srgbClr val="FFF0F0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3611880"/>
            <a:ext cx="164592" cy="20574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372160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4C3C"/>
                </a:solidFill>
                <a:latin typeface="Calibri"/>
              </a:rPr>
              <a:t>Hallucination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16052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2E"/>
                </a:solidFill>
                <a:latin typeface="Calibri"/>
              </a:rPr>
              <a:t>LLMs invent column names and
join conditions that produce
silently wrong answers.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3611880"/>
            <a:ext cx="5303520" cy="2057400"/>
          </a:xfrm>
          <a:prstGeom prst="rect">
            <a:avLst/>
          </a:prstGeom>
          <a:solidFill>
            <a:srgbClr val="FFF0F0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35040" y="3611880"/>
            <a:ext cx="164592" cy="20574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91072" y="372160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4C3C"/>
                </a:solidFill>
                <a:latin typeface="Calibri"/>
              </a:rPr>
              <a:t>One-Shot Results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1072" y="416052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2E"/>
                </a:solidFill>
                <a:latin typeface="Calibri"/>
              </a:rPr>
              <a:t>Existing tools return a one-time
query result — not a refreshable,
reusable dashboard widget.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897880"/>
            <a:ext cx="11430000" cy="457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18F01"/>
                </a:solidFill>
                <a:latin typeface="Calibri"/>
              </a:rPr>
              <a:t>61% of business reporting questions are recurring — the same report with a different date range or department.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Research Objectives &amp;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25880"/>
            <a:ext cx="777240" cy="71323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353312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18F01"/>
                </a:solidFill>
                <a:latin typeface="Calibri"/>
              </a:rPr>
              <a:t>RQ1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709928"/>
            <a:ext cx="777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D0E8F3"/>
                </a:solidFill>
                <a:latin typeface="Calibri"/>
              </a:rPr>
              <a:t>Accuracy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1417320"/>
            <a:ext cx="10515600" cy="548640"/>
          </a:xfrm>
          <a:prstGeom prst="rect">
            <a:avLst/>
          </a:prstGeom>
          <a:solidFill>
            <a:srgbClr val="F0F4F8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1463040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Calibri"/>
              </a:rPr>
              <a:t>Can a structured semantic layer guide the LLM to correctly interpret natural-language analytics queries with ≥95% accuracy?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295144"/>
            <a:ext cx="777240" cy="71323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2322576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18F01"/>
                </a:solidFill>
                <a:latin typeface="Calibri"/>
              </a:rPr>
              <a:t>RQ2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2679192"/>
            <a:ext cx="777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D0E8F3"/>
                </a:solidFill>
                <a:latin typeface="Calibri"/>
              </a:rPr>
              <a:t>Safety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88720" y="2386584"/>
            <a:ext cx="10515600" cy="548640"/>
          </a:xfrm>
          <a:prstGeom prst="rect">
            <a:avLst/>
          </a:prstGeom>
          <a:solidFill>
            <a:srgbClr val="F0F4F8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2432304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Calibri"/>
              </a:rPr>
              <a:t>Does structural prevention (template-based compilation) eliminate SQL injection more reliably than detection-based approaches?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264408"/>
            <a:ext cx="777240" cy="71323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291840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18F01"/>
                </a:solidFill>
                <a:latin typeface="Calibri"/>
              </a:rPr>
              <a:t>RQ3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3648456"/>
            <a:ext cx="777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D0E8F3"/>
                </a:solidFill>
                <a:latin typeface="Calibri"/>
              </a:rPr>
              <a:t>Ablation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88720" y="3355848"/>
            <a:ext cx="10515600" cy="548640"/>
          </a:xfrm>
          <a:prstGeom prst="rect">
            <a:avLst/>
          </a:prstGeom>
          <a:solidFill>
            <a:srgbClr val="F0F4F8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25880" y="3401568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Calibri"/>
              </a:rPr>
              <a:t>How much does each pipeline component (vocabulary injection, BFS joins, safety scanner) contribute to overall accuracy?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4233672"/>
            <a:ext cx="777240" cy="71323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4261104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18F01"/>
                </a:solidFill>
                <a:latin typeface="Calibri"/>
              </a:rPr>
              <a:t>RQ4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4617720"/>
            <a:ext cx="777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D0E8F3"/>
                </a:solidFill>
                <a:latin typeface="Calibri"/>
              </a:rPr>
              <a:t>Generalizability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88720" y="4325112"/>
            <a:ext cx="10515600" cy="548640"/>
          </a:xfrm>
          <a:prstGeom prst="rect">
            <a:avLst/>
          </a:prstGeom>
          <a:solidFill>
            <a:srgbClr val="F0F4F8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25880" y="4370832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Calibri"/>
              </a:rPr>
              <a:t>Can AEGIS be adapted to a different e-commerce schema (WooCommerce) without pipeline changes?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5202936"/>
            <a:ext cx="777240" cy="71323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5230368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18F01"/>
                </a:solidFill>
                <a:latin typeface="Calibri"/>
              </a:rPr>
              <a:t>RQ5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5586984"/>
            <a:ext cx="777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D0E8F3"/>
                </a:solidFill>
                <a:latin typeface="Calibri"/>
              </a:rPr>
              <a:t>Latency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88720" y="5294376"/>
            <a:ext cx="10515600" cy="548640"/>
          </a:xfrm>
          <a:prstGeom prst="rect">
            <a:avLst/>
          </a:prstGeom>
          <a:solidFill>
            <a:srgbClr val="F0F4F8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25880" y="5340096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Calibri"/>
              </a:rPr>
              <a:t>Does the safety-first architecture introduce unacceptable overhead for interactive use?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Core Novelty — Structural Safety vs.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0E8F3"/>
                </a:solidFill>
                <a:latin typeface="Calibri"/>
              </a:rPr>
              <a:t>What makes AEGIS fundamentally different from every prior NL2SQL system?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25880"/>
            <a:ext cx="5349240" cy="4846320"/>
          </a:xfrm>
          <a:prstGeom prst="rect">
            <a:avLst/>
          </a:prstGeom>
          <a:solidFill>
            <a:srgbClr val="FFF5F5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25880"/>
            <a:ext cx="5349240" cy="47548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371600"/>
            <a:ext cx="5166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Calibri"/>
              </a:rPr>
              <a:t>Prior Approaches (End-to-End NL2SQL)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20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1">
                <a:solidFill>
                  <a:srgbClr val="E74C3C"/>
                </a:solidFill>
                <a:latin typeface="Calibri"/>
              </a:rPr>
              <a:t>User Query  →  LLM  →  SQL String  →  Execute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31720"/>
            <a:ext cx="5074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3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350" b="0">
                <a:solidFill>
                  <a:srgbClr val="1A1A2E"/>
                </a:solidFill>
                <a:latin typeface="Calibri"/>
              </a:rPr>
              <a:t>LLM sees the full database schema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3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350" b="0">
                <a:solidFill>
                  <a:srgbClr val="1A1A2E"/>
                </a:solidFill>
                <a:latin typeface="Calibri"/>
              </a:rPr>
              <a:t>LLM writes raw SQL — any output is possible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3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350" b="0">
                <a:solidFill>
                  <a:srgbClr val="1A1A2E"/>
                </a:solidFill>
                <a:latin typeface="Calibri"/>
              </a:rPr>
              <a:t>Injection caught (or missed) by post-hoc filters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3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350" b="0">
                <a:solidFill>
                  <a:srgbClr val="1A1A2E"/>
                </a:solidFill>
                <a:latin typeface="Calibri"/>
              </a:rPr>
              <a:t>Hallucinated columns fail silently at runtime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3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350" b="0">
                <a:solidFill>
                  <a:srgbClr val="1A1A2E"/>
                </a:solidFill>
                <a:latin typeface="Calibri"/>
              </a:rPr>
              <a:t>Safety = detection — you can always miss 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325880"/>
            <a:ext cx="5349240" cy="4846320"/>
          </a:xfrm>
          <a:prstGeom prst="rect">
            <a:avLst/>
          </a:prstGeom>
          <a:solidFill>
            <a:srgbClr val="F0FFF5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92240" y="1325880"/>
            <a:ext cx="5349240" cy="4754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1371600"/>
            <a:ext cx="5166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Calibri"/>
              </a:rPr>
              <a:t>AEGIS (This Thesis)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920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1">
                <a:solidFill>
                  <a:srgbClr val="27AE60"/>
                </a:solidFill>
                <a:latin typeface="Calibri"/>
              </a:rPr>
              <a:t>User Query  →  LLM  →  Intent JSON  →  Compiler  →  SQL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331720"/>
            <a:ext cx="5074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3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350" b="0">
                <a:solidFill>
                  <a:srgbClr val="1A1A2E"/>
                </a:solidFill>
                <a:latin typeface="Calibri"/>
              </a:rPr>
              <a:t>LLM never sees the database schema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3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350" b="0">
                <a:solidFill>
                  <a:srgbClr val="1A1A2E"/>
                </a:solidFill>
                <a:latin typeface="Calibri"/>
              </a:rPr>
              <a:t>LLM outputs structured JSON — no SQL output channel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3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350" b="0">
                <a:solidFill>
                  <a:srgbClr val="1A1A2E"/>
                </a:solidFill>
                <a:latin typeface="Calibri"/>
              </a:rPr>
              <a:t>SQL generated only from pre-approved templates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3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350" b="0">
                <a:solidFill>
                  <a:srgbClr val="1A1A2E"/>
                </a:solidFill>
                <a:latin typeface="Calibri"/>
              </a:rPr>
              <a:t>Column names are compile-time constants, not LLM output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3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350" b="0">
                <a:solidFill>
                  <a:srgbClr val="1A1A2E"/>
                </a:solidFill>
                <a:latin typeface="Calibri"/>
              </a:rPr>
              <a:t>Safety = prevention — injection is structurally impossible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60720" y="2286000"/>
            <a:ext cx="640080" cy="640080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0" y="231343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VS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6236208"/>
            <a:ext cx="11521440" cy="457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28192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18F01"/>
                </a:solidFill>
                <a:latin typeface="Calibri"/>
              </a:rPr>
              <a:t>Key Insight: You cannot make LLM-generated SQL safe by checking it. You make it safe by ensuring it is never generated.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System Architecture — 7-Stage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80160"/>
            <a:ext cx="2148840" cy="5074920"/>
          </a:xfrm>
          <a:prstGeom prst="rect">
            <a:avLst/>
          </a:prstGeom>
          <a:solidFill>
            <a:srgbClr val="FFF9F0"/>
          </a:solidFill>
          <a:ln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1371600"/>
            <a:ext cx="208483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18F01"/>
                </a:solidFill>
                <a:latin typeface="Calibri"/>
              </a:rPr>
              <a:t>LLM
Zone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0" y="1280160"/>
            <a:ext cx="9326880" cy="5074920"/>
          </a:xfrm>
          <a:prstGeom prst="rect">
            <a:avLst/>
          </a:prstGeom>
          <a:solidFill>
            <a:srgbClr val="F0F8FF"/>
          </a:solidFill>
          <a:ln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06040" y="1371600"/>
            <a:ext cx="9235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3A0"/>
                </a:solidFill>
                <a:latin typeface="Calibri"/>
              </a:rPr>
              <a:t>Deterministic Compiler Zone  (LLM output never reaches here as raw text)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920240"/>
            <a:ext cx="15087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1920240"/>
            <a:ext cx="1508760" cy="384048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1956816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" y="2377440"/>
            <a:ext cx="139903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73A0"/>
                </a:solidFill>
                <a:latin typeface="Calibri"/>
              </a:rPr>
              <a:t>Intent
Extraction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3108960"/>
            <a:ext cx="13624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Calibri"/>
              </a:rPr>
              <a:t>LLM maps natural language
to structured IntentObject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4632" y="5120640"/>
            <a:ext cx="1362456" cy="502920"/>
          </a:xfrm>
          <a:prstGeom prst="rect">
            <a:avLst/>
          </a:prstGeom>
          <a:solidFill>
            <a:srgbClr val="F0F4F8"/>
          </a:solidFill>
          <a:ln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516636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1A73A0"/>
                </a:solidFill>
                <a:latin typeface="Calibri"/>
              </a:rPr>
              <a:t>intent_parser.py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47672" y="3657600"/>
            <a:ext cx="128016" cy="128016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75688" y="1920240"/>
            <a:ext cx="15087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075688" y="1920240"/>
            <a:ext cx="15087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75688" y="1956816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30552" y="2377440"/>
            <a:ext cx="139903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Coverage
Validation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3108960"/>
            <a:ext cx="13624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Calibri"/>
              </a:rPr>
              <a:t>Rejects queries outside
the semantic vocabulary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48840" y="5120640"/>
            <a:ext cx="1362456" cy="502920"/>
          </a:xfrm>
          <a:prstGeom prst="rect">
            <a:avLst/>
          </a:prstGeom>
          <a:solidFill>
            <a:srgbClr val="F0F4F8"/>
          </a:solidFill>
          <a:ln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67128" y="516636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1B2A4A"/>
                </a:solidFill>
                <a:latin typeface="Calibri"/>
              </a:rPr>
              <a:t>run_demo_server.py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11880" y="3657600"/>
            <a:ext cx="128016" cy="128016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39896" y="1920240"/>
            <a:ext cx="15087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739896" y="1920240"/>
            <a:ext cx="1508760" cy="384048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39896" y="1956816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94760" y="2377440"/>
            <a:ext cx="139903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73A0"/>
                </a:solidFill>
                <a:latin typeface="Calibri"/>
              </a:rPr>
              <a:t>Semantic
Mapping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13048" y="3108960"/>
            <a:ext cx="13624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Calibri"/>
              </a:rPr>
              <a:t>Resolves terms to canonical
IDs, expands business logic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813048" y="5120640"/>
            <a:ext cx="1362456" cy="502920"/>
          </a:xfrm>
          <a:prstGeom prst="rect">
            <a:avLst/>
          </a:prstGeom>
          <a:solidFill>
            <a:srgbClr val="F0F4F8"/>
          </a:solidFill>
          <a:ln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31336" y="516636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1A73A0"/>
                </a:solidFill>
                <a:latin typeface="Calibri"/>
              </a:rPr>
              <a:t>mapper.py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76088" y="3657600"/>
            <a:ext cx="128016" cy="128016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04104" y="1920240"/>
            <a:ext cx="15087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404104" y="1920240"/>
            <a:ext cx="15087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04104" y="1956816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58968" y="2377440"/>
            <a:ext cx="139903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Permission
Rewriting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77256" y="3108960"/>
            <a:ext cx="13624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Calibri"/>
              </a:rPr>
              <a:t>Appends row-level security
WHERE clause predicates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77256" y="5120640"/>
            <a:ext cx="1362456" cy="502920"/>
          </a:xfrm>
          <a:prstGeom prst="rect">
            <a:avLst/>
          </a:prstGeom>
          <a:solidFill>
            <a:srgbClr val="F0F4F8"/>
          </a:solidFill>
          <a:ln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95544" y="516636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1B2A4A"/>
                </a:solidFill>
                <a:latin typeface="Calibri"/>
              </a:rPr>
              <a:t>permission_rewriter.py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940296" y="3657600"/>
            <a:ext cx="128016" cy="128016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068312" y="1920240"/>
            <a:ext cx="15087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068312" y="1920240"/>
            <a:ext cx="1508760" cy="384048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68312" y="1956816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23176" y="2377440"/>
            <a:ext cx="139903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73A0"/>
                </a:solidFill>
                <a:latin typeface="Calibri"/>
              </a:rPr>
              <a:t>SQL
Compilation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41464" y="3108960"/>
            <a:ext cx="13624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Calibri"/>
              </a:rPr>
              <a:t>BFS join resolution +
template-based SQL generation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41464" y="5120640"/>
            <a:ext cx="1362456" cy="502920"/>
          </a:xfrm>
          <a:prstGeom prst="rect">
            <a:avLst/>
          </a:prstGeom>
          <a:solidFill>
            <a:srgbClr val="F0F4F8"/>
          </a:solidFill>
          <a:ln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59752" y="516636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1A73A0"/>
                </a:solidFill>
                <a:latin typeface="Calibri"/>
              </a:rPr>
              <a:t>compiler.py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604504" y="3657600"/>
            <a:ext cx="128016" cy="128016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732520" y="1920240"/>
            <a:ext cx="15087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732520" y="1920240"/>
            <a:ext cx="15087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32520" y="1956816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87384" y="2377440"/>
            <a:ext cx="139903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Visualization
Select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805672" y="3108960"/>
            <a:ext cx="13624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Calibri"/>
              </a:rPr>
              <a:t>Rule-based chart type
selection (11 primitives)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805672" y="5120640"/>
            <a:ext cx="1362456" cy="502920"/>
          </a:xfrm>
          <a:prstGeom prst="rect">
            <a:avLst/>
          </a:prstGeom>
          <a:solidFill>
            <a:srgbClr val="F0F4F8"/>
          </a:solidFill>
          <a:ln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823960" y="516636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1B2A4A"/>
                </a:solidFill>
                <a:latin typeface="Calibri"/>
              </a:rPr>
              <a:t>visualization.py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268712" y="3657600"/>
            <a:ext cx="128016" cy="128016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396728" y="1920240"/>
            <a:ext cx="15087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396728" y="1920240"/>
            <a:ext cx="1508760" cy="384048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396728" y="1956816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51592" y="2377440"/>
            <a:ext cx="139903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73A0"/>
                </a:solidFill>
                <a:latin typeface="Calibri"/>
              </a:rPr>
              <a:t>Widget
Persistence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469880" y="3108960"/>
            <a:ext cx="13624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Calibri"/>
              </a:rPr>
              <a:t>SHA-256 dedup, storage
and scheduled refresh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469880" y="5120640"/>
            <a:ext cx="1362456" cy="502920"/>
          </a:xfrm>
          <a:prstGeom prst="rect">
            <a:avLst/>
          </a:prstGeom>
          <a:solidFill>
            <a:srgbClr val="F0F4F8"/>
          </a:solidFill>
          <a:ln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488168" y="516636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1A73A0"/>
                </a:solidFill>
                <a:latin typeface="Calibri"/>
              </a:rPr>
              <a:t>widget_engine.py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The Semantic Layer — Core Contribution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0E8F3"/>
                </a:solidFill>
                <a:latin typeface="Calibri"/>
              </a:rPr>
              <a:t>The closed vocabulary that makes structural safety possible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325880"/>
            <a:ext cx="5806440" cy="914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6120" y="1389888"/>
            <a:ext cx="5715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The semantic layer defines the COMPLETE, ENUMERABLE 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1719072"/>
            <a:ext cx="5715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0E8F3"/>
                </a:solidFill>
                <a:latin typeface="Calibri"/>
              </a:rPr>
              <a:t>of things AEGIS can answer — everything else is rejected.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423160"/>
            <a:ext cx="56235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2423160"/>
            <a:ext cx="5623560" cy="411480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478024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15 Metrics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926080"/>
            <a:ext cx="28346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Named SQL aggregate expressions.
LLM picks an ID — compiler inserts
the pre-approved SQL fragment.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37560" y="2898648"/>
            <a:ext cx="2468880" cy="1325880"/>
          </a:xfrm>
          <a:prstGeom prst="rect">
            <a:avLst/>
          </a:prstGeom>
          <a:solidFill>
            <a:srgbClr val="F0F4F8"/>
          </a:solidFill>
          <a:ln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29000" y="2971800"/>
            <a:ext cx="2331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5B7A"/>
                </a:solidFill>
                <a:latin typeface="Calibri"/>
              </a:rPr>
              <a:t>revenue, order_count,
avg_order_value, refund_rate,
customer_ltv, inventory_turnover…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80560"/>
            <a:ext cx="56235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4480560"/>
            <a:ext cx="562356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535424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34 Dimensions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983480"/>
            <a:ext cx="28346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Grouping &amp; filtering axes.
Covers time, geography, product,
customer, order status, shipment.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37560" y="4956048"/>
            <a:ext cx="2468880" cy="1325880"/>
          </a:xfrm>
          <a:prstGeom prst="rect">
            <a:avLst/>
          </a:prstGeom>
          <a:solidFill>
            <a:srgbClr val="F0F4F8"/>
          </a:solidFill>
          <a:ln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29000" y="5029200"/>
            <a:ext cx="2331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5B7A"/>
                </a:solidFill>
                <a:latin typeface="Calibri"/>
              </a:rPr>
              <a:t>order_month, category_name,
customer_city, order_status,
price_range, store_name…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2423160"/>
            <a:ext cx="56235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3640" y="2423160"/>
            <a:ext cx="5623560" cy="411480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2478024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11 JOIN Paths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926080"/>
            <a:ext cx="28346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Pre-approved ON clauses.
Compiler runs BFS to find the
minimal join path automatically.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81160" y="2898648"/>
            <a:ext cx="2468880" cy="1325880"/>
          </a:xfrm>
          <a:prstGeom prst="rect">
            <a:avLst/>
          </a:prstGeom>
          <a:solidFill>
            <a:srgbClr val="F0F4F8"/>
          </a:solidFill>
          <a:ln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72600" y="2971800"/>
            <a:ext cx="2331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5B7A"/>
                </a:solidFill>
                <a:latin typeface="Calibri"/>
              </a:rPr>
              <a:t>Order→Customer→Address
Order→OrderItem→Product
Product→Category…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4480560"/>
            <a:ext cx="56235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63640" y="4480560"/>
            <a:ext cx="5623560" cy="411480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4535424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Vocabulary Injection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4983480"/>
            <a:ext cx="28346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All metric+dimension labels
injected into LLM system prompt.
SYNONYMS = {} intentionally.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81160" y="4956048"/>
            <a:ext cx="2468880" cy="1325880"/>
          </a:xfrm>
          <a:prstGeom prst="rect">
            <a:avLst/>
          </a:prstGeom>
          <a:solidFill>
            <a:srgbClr val="F0F4F8"/>
          </a:solidFill>
          <a:ln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72600" y="5029200"/>
            <a:ext cx="2331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5B7A"/>
                </a:solidFill>
                <a:latin typeface="Calibri"/>
              </a:rPr>
              <a:t>~1,100 tokens of approved
vocabulary. LLM maps 'sales'
to 'revenue' at inference time.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Semantic Layer — 15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0E8F3"/>
                </a:solidFill>
                <a:latin typeface="Calibri"/>
              </a:rPr>
              <a:t>Every aggregate SQL expression is a fixed, pre-approved constant — the LLM only picks the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325880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325880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1362456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revenue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1728216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SUM(COALESCE(o.OrderTotal, 0) - COALESCE(o.RefundedAmount, 0))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60" y="1325880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1325880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362456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order_count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728216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COUNT(DISTINCT o.Id)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1325880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325880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1362456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avg_order_value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1728216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AVG(COALESCE(o.OrderTotal, 0))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267712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2267712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2304288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customer_ltv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" y="2670048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SUM(o.OrderTotal) / COUNT(DISTINCT o.CustomerId)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1960" y="2267712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51960" y="2267712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3128" y="2304288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refund_rate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2670048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100.0 * SUM(o.RefundedAmount) / NULLIF(SUM(o.OrderTotal), 0)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0" y="2267712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29600" y="2267712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0768" y="2304288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new_customer_count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30768" y="2670048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COUNT(DISTINCT o.CustomerId) WHERE first order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209544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3209544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3246120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repeat_purchase_rate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" y="3611880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100.0 * COUNT(repeat customers) / COUNT(all customers)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51960" y="3209544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251960" y="3209544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53128" y="3246120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cart_abandonment_rate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53128" y="3611880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100.0 * abandoned carts / total carts initiated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0" y="3209544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29600" y="3209544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30768" y="3246120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product_revenue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30768" y="3611880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SUM(oi.PriceExclTax * oi.Quantity)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4151376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74320" y="4151376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" y="4187952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units_sold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5488" y="4553712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SUM(oi.Quantity)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51960" y="4151376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251960" y="4151376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53128" y="4187952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avg_units_per_order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53128" y="4553712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SUM(oi.Quantity) / COUNT(DISTINCT oi.OrderId)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29600" y="4151376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229600" y="4151376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30768" y="4187952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inventory_turnover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30768" y="4553712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COGS / ((opening_stock + closing_stock) / 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5093208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74320" y="5093208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5488" y="5129784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avg_review_score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" y="5495544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AVG(pr.Rating)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251960" y="5093208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251960" y="5093208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453128" y="5129784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fulfillment_rate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53128" y="5495544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100.0 * shipped orders / total orders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29600" y="5093208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229600" y="5093208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430768" y="5129784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avg_shipping_cost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30768" y="5495544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AVG(o.OrderShippingExclTax)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Semantic Layer — 34 Dimensions &amp; BFS Join Resolution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3258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2A4A"/>
                </a:solidFill>
                <a:latin typeface="Calibri"/>
              </a:rPr>
              <a:t>34 Dimensions by Category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783080"/>
            <a:ext cx="269748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783080"/>
            <a:ext cx="2697480" cy="329184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181965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Time (6)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2167128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order_day, order_week, order_month,
order_quarter, order_year, order_hour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54680" y="1783080"/>
            <a:ext cx="269748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54680" y="1783080"/>
            <a:ext cx="2697480" cy="32918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27832" y="181965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Order (5)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27832" y="2167128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order_status, payment_method,
price_range, shipping_method, store_name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862072"/>
            <a:ext cx="269748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2862072"/>
            <a:ext cx="2697480" cy="329184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" y="289864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Product (4)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" y="32461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product_name, category_name,
manufacturer_name, is_free_shipping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54680" y="2862072"/>
            <a:ext cx="269748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154680" y="2862072"/>
            <a:ext cx="2697480" cy="32918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27832" y="289864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Customer (5)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27832" y="32461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customer_city, customer_state,
customer_country, customer_segment, gender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941064"/>
            <a:ext cx="269748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3941064"/>
            <a:ext cx="2697480" cy="329184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3192" y="39776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Geography (3)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3192" y="432511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billing_city, billing_state,
billing_country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54680" y="3941064"/>
            <a:ext cx="269748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154680" y="3941064"/>
            <a:ext cx="2697480" cy="32918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27832" y="39776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Shipment (4)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27832" y="432511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shipment_status, delivery_date,
shipping_carrier, days_to_ship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5020056"/>
            <a:ext cx="269748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20040" y="5020056"/>
            <a:ext cx="2697480" cy="329184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3192" y="505663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Review (2)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3192" y="5404104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review_rating_band, review_month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54680" y="5020056"/>
            <a:ext cx="269748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154680" y="5020056"/>
            <a:ext cx="2697480" cy="32918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27832" y="505663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Inventory (5)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27832" y="5404104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product_in_stock, stock_level_band,
warehouse_name, reorder_flag, sku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89320" y="1325880"/>
            <a:ext cx="54864" cy="489204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17920" y="132588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2A4A"/>
                </a:solidFill>
                <a:latin typeface="Calibri"/>
              </a:rPr>
              <a:t>BFS Join Resolution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0" y="173736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1A73A0"/>
                </a:solidFill>
                <a:latin typeface="Calibri"/>
              </a:rPr>
              <a:t>Example: "revenue by category"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7920" y="2194560"/>
            <a:ext cx="5577840" cy="658368"/>
          </a:xfrm>
          <a:prstGeom prst="rect">
            <a:avLst/>
          </a:prstGeom>
          <a:solidFill>
            <a:srgbClr val="F0F4F8"/>
          </a:solidFill>
          <a:ln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17920" y="2194560"/>
            <a:ext cx="128016" cy="658368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2231136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ORDER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2542032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5B7A"/>
                </a:solidFill>
                <a:latin typeface="Calibri"/>
              </a:rPr>
              <a:t>binding_table for metric: revenue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17920" y="2944368"/>
            <a:ext cx="5577840" cy="658368"/>
          </a:xfrm>
          <a:prstGeom prst="rect">
            <a:avLst/>
          </a:prstGeom>
          <a:solidFill>
            <a:srgbClr val="F0F4F8"/>
          </a:solidFill>
          <a:ln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17920" y="2944368"/>
            <a:ext cx="128016" cy="65836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0" y="2980944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Calibri"/>
              </a:rPr>
              <a:t>→  ORDER_ITEM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329184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5B7A"/>
                </a:solidFill>
                <a:latin typeface="Calibri"/>
              </a:rPr>
              <a:t>JOIN Order_Item oi ON o.Id = oi.OrderId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17920" y="3694176"/>
            <a:ext cx="5577840" cy="658368"/>
          </a:xfrm>
          <a:prstGeom prst="rect">
            <a:avLst/>
          </a:prstGeom>
          <a:solidFill>
            <a:srgbClr val="F0F4F8"/>
          </a:solidFill>
          <a:ln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217920" y="3694176"/>
            <a:ext cx="128016" cy="658368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0" y="3730752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→  PRODUCT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0" y="4041648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5B7A"/>
                </a:solidFill>
                <a:latin typeface="Calibri"/>
              </a:rPr>
              <a:t>JOIN Product p ON oi.ProductId = p.Id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17920" y="4443984"/>
            <a:ext cx="5577840" cy="658368"/>
          </a:xfrm>
          <a:prstGeom prst="rect">
            <a:avLst/>
          </a:prstGeom>
          <a:solidFill>
            <a:srgbClr val="F0F4F8"/>
          </a:solidFill>
          <a:ln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17920" y="4443984"/>
            <a:ext cx="128016" cy="65836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00800" y="448056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Calibri"/>
              </a:rPr>
              <a:t>→  PRODUCT_CAT_MAPPING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0" y="4791456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5B7A"/>
                </a:solidFill>
                <a:latin typeface="Calibri"/>
              </a:rPr>
              <a:t>JOIN Product_Category_Mapping pcm ON p.Id = pcm.ProductId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17920" y="5193792"/>
            <a:ext cx="5577840" cy="658368"/>
          </a:xfrm>
          <a:prstGeom prst="rect">
            <a:avLst/>
          </a:prstGeom>
          <a:solidFill>
            <a:srgbClr val="F0F4F8"/>
          </a:solidFill>
          <a:ln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217920" y="5193792"/>
            <a:ext cx="128016" cy="658368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0" y="5230368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→  CATEGORY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00800" y="5541264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5B7A"/>
                </a:solidFill>
                <a:latin typeface="Calibri"/>
              </a:rPr>
              <a:t>JOIN Category c ON pcm.CategoryId = c.Id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17920" y="598932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  <a:latin typeface="Calibri"/>
              </a:rPr>
              <a:t>Only 11 pre-approved ON clauses exist — BFS finds the shortest path.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Vocabulary Injection — How the LLM Understands Business Terms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0E8F3"/>
                </a:solidFill>
                <a:latin typeface="Calibri"/>
              </a:rPr>
              <a:t>Why SYNONYMS = {}  and why that is a feature, not a bug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2588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2A4A"/>
                </a:solidFill>
                <a:latin typeface="Calibri"/>
              </a:rPr>
              <a:t>How it works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755648"/>
            <a:ext cx="548640" cy="548640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792224"/>
            <a:ext cx="548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1792224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A73A0"/>
                </a:solidFill>
                <a:latin typeface="Calibri"/>
              </a:rPr>
              <a:t>Approved vocabulary embedded in system prompt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19456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All 15 metric labels + 34 dimension labels (~1,100 tokens)
are injected into the LLM's system prompt at every request.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3218688"/>
            <a:ext cx="548640" cy="548640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" y="3255264"/>
            <a:ext cx="548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55264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F18F01"/>
                </a:solidFill>
                <a:latin typeface="Calibri"/>
              </a:rPr>
              <a:t>LLM performs fuzzy matching at inference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65760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"Show me sales by product line" → LLM maps:
  sales  →  revenue
  product line  →  category_name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681728"/>
            <a:ext cx="548640" cy="5486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4718304"/>
            <a:ext cx="548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718304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27AE60"/>
                </a:solidFill>
                <a:latin typeface="Calibri"/>
              </a:rPr>
              <a:t>Output is a validated IntentObject — no SQL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12064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{"metric": "revenue", "dimension": "category_name",
 "filter": null, "pattern": "ranking"}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89320" y="1280160"/>
            <a:ext cx="54864" cy="49377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1325880"/>
            <a:ext cx="5577840" cy="14173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1389888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18F01"/>
                </a:solidFill>
                <a:latin typeface="Courier New"/>
              </a:rPr>
              <a:t>SYNONYMS = 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18288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E8F3"/>
                </a:solidFill>
                <a:latin typeface="Calibri"/>
              </a:rPr>
              <a:t>Intentionally empty — and this is a design strength.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2852928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Why this is better than a synonym dictionary: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3246120"/>
            <a:ext cx="5577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30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300" b="0">
                <a:solidFill>
                  <a:srgbClr val="1A1A2E"/>
                </a:solidFill>
                <a:latin typeface="Calibri"/>
              </a:rPr>
              <a:t>No maintenance burden — new business terms need no code change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30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300" b="0">
                <a:solidFill>
                  <a:srgbClr val="1A1A2E"/>
                </a:solidFill>
                <a:latin typeface="Calibri"/>
              </a:rPr>
              <a:t>LLM handles linguistic variation naturally (plurals, abbreviations, jargon)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30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300" b="0">
                <a:solidFill>
                  <a:srgbClr val="1A1A2E"/>
                </a:solidFill>
                <a:latin typeface="Calibri"/>
              </a:rPr>
              <a:t>Synonym dictionary grows stale; vocabulary injection stays current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30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300" b="0">
                <a:solidFill>
                  <a:srgbClr val="1A1A2E"/>
                </a:solidFill>
                <a:latin typeface="Calibri"/>
              </a:rPr>
              <a:t>Reduces the semantic layer to pure SQL logic — cleaner separation of concerns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5715000"/>
            <a:ext cx="5577840" cy="530352"/>
          </a:xfrm>
          <a:prstGeom prst="rect">
            <a:avLst/>
          </a:prstGeom>
          <a:solidFill>
            <a:srgbClr val="D6EAF8"/>
          </a:solidFill>
          <a:ln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0" y="5788152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Courier New"/>
              </a:rPr>
              <a:t>Business Logic Mapping:  "abandoned"  →  OrderStatusId = 40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End-to-End: How a Query Flows Through AEGIS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0E8F3"/>
                </a:solidFill>
                <a:latin typeface="Calibri"/>
              </a:rPr>
              <a:t>"Show me revenue by product category for this month"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98448"/>
            <a:ext cx="115214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298448"/>
            <a:ext cx="164592" cy="822960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502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73A0"/>
                </a:solidFill>
                <a:latin typeface="Calibri"/>
              </a:rPr>
              <a:t>Stage 1 — Intent Extraction (LLM)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1316736"/>
            <a:ext cx="740664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ourier New"/>
              </a:rPr>
              <a:t>User: "Show me revenue by product category for this month"
LLM output →  {"metric":"revenue", "dimension":"category_name",
               "filter":{"order_month":"current"}, "pattern":"ranking"}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203704"/>
            <a:ext cx="115214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2203704"/>
            <a:ext cx="164592" cy="822960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240280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18F01"/>
                </a:solidFill>
                <a:latin typeface="Calibri"/>
              </a:rPr>
              <a:t>Stage 2 — Coverage 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221992"/>
            <a:ext cx="740664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ourier New"/>
              </a:rPr>
              <a:t>"revenue" ∈ METRICS ✓    "category_name" ∈ DIMENSIONS ✓
Pattern "ranking" ∈ ANALYTICS_PRIMITIVES ✓    Query accepted.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108960"/>
            <a:ext cx="115214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3108960"/>
            <a:ext cx="164592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145536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B2A4A"/>
                </a:solidFill>
                <a:latin typeface="Calibri"/>
              </a:rPr>
              <a:t>Stage 3 — Semantic Mapping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3127248"/>
            <a:ext cx="740664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ourier New"/>
              </a:rPr>
              <a:t>Resolves "revenue" → Metric object with sql_expr, binding_table="Order"
Resolves "category_name" → Dimension with required_joins=[...]
Expands filter: order_month="current" → DATE_FORMAT(...) = current month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4014216"/>
            <a:ext cx="115214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4014216"/>
            <a:ext cx="164592" cy="822960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050792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73A0"/>
                </a:solidFill>
                <a:latin typeface="Calibri"/>
              </a:rPr>
              <a:t>Stage 4 — Permission Rewriting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4032504"/>
            <a:ext cx="740664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ourier New"/>
              </a:rPr>
              <a:t>Appends row-level security:  AND o.StoreId IN (1,2)  [if user is store-scoped]
Admin users: no additional WHERE predicates appended.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4919472"/>
            <a:ext cx="115214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4919472"/>
            <a:ext cx="164592" cy="8229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4956048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7AE60"/>
                </a:solidFill>
                <a:latin typeface="Calibri"/>
              </a:rPr>
              <a:t>Stage 5 — SQL Compilation (BFS + Template)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4937760"/>
            <a:ext cx="740664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ourier New"/>
              </a:rPr>
              <a:t>BFS: Order → OrderItem → Product → Product_Category_Mapping → Category
SELECT c.Name, SUM(o.OrderTotal-o.RefundedAmount) AS revenue
FROM Order o JOIN ... WHERE ... GROUP BY c.Name ORDER BY revenue DESC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5824728"/>
            <a:ext cx="115214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5824728"/>
            <a:ext cx="164592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86130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B2A4A"/>
                </a:solidFill>
                <a:latin typeface="Calibri"/>
              </a:rPr>
              <a:t>Stages 6+7 — Visualization &amp; Widget Persistence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5843016"/>
            <a:ext cx="740664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ourier New"/>
              </a:rPr>
              <a:t>Pattern="ranking" → bar_chart selected automatically
SHA-256 hash: widget already exists → returns cached widget ID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SQL Safety — Formal Guarantee + Two-Layer Defense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25880"/>
            <a:ext cx="11521440" cy="12801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8988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18F01"/>
                </a:solidFill>
                <a:latin typeface="Calibri"/>
              </a:rPr>
              <a:t>Formal Safety Claim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5564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FFFFFF"/>
                </a:solidFill>
                <a:latin typeface="Calibri"/>
              </a:rPr>
              <a:t>Given that the SQL compiler only accepts validated IntentObject inputs and generates SQL exclusively from pre-defined templates, the set of possible SQL outputs is finite and enumerable. SQL injection requires generating SQL outside this set — which is architecturally impossible.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274320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2A4A"/>
                </a:solidFill>
                <a:latin typeface="Calibri"/>
              </a:rPr>
              <a:t>Two-Layer SQL Safety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3154680"/>
            <a:ext cx="5440680" cy="2971800"/>
          </a:xfrm>
          <a:prstGeom prst="rect">
            <a:avLst/>
          </a:prstGeom>
          <a:solidFill>
            <a:srgbClr val="F0F8F0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3154680"/>
            <a:ext cx="5440680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200400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Layer 1 — Parameterized Template Compilation  (Structural Prevention)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584448"/>
            <a:ext cx="525780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2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250" b="0">
                <a:solidFill>
                  <a:srgbClr val="1A1A2E"/>
                </a:solidFill>
                <a:latin typeface="Calibri"/>
              </a:rPr>
              <a:t>All SQL assembled from named template fragments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2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250" b="0">
                <a:solidFill>
                  <a:srgbClr val="1A1A2E"/>
                </a:solidFill>
                <a:latin typeface="Calibri"/>
              </a:rPr>
              <a:t>User-controlled values bound as SQL parameters — never interpolated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2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250" b="0">
                <a:solidFill>
                  <a:srgbClr val="1A1A2E"/>
                </a:solidFill>
                <a:latin typeface="Calibri"/>
              </a:rPr>
              <a:t>Column and table names are compile-time constants from the semantic layer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2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250" b="0">
                <a:solidFill>
                  <a:srgbClr val="1A1A2E"/>
                </a:solidFill>
                <a:latin typeface="Calibri"/>
              </a:rPr>
              <a:t>LLM output (IntentObject JSON) never concatenated into SQL string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2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250" b="0">
                <a:solidFill>
                  <a:srgbClr val="1A1A2E"/>
                </a:solidFill>
                <a:latin typeface="Calibri"/>
              </a:rPr>
              <a:t>Injection requires escaping the template system — structurally impossible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3154680"/>
            <a:ext cx="5669280" cy="2971800"/>
          </a:xfrm>
          <a:prstGeom prst="rect">
            <a:avLst/>
          </a:prstGeom>
          <a:solidFill>
            <a:srgbClr val="F0F8F0"/>
          </a:solidFill>
          <a:ln w="1270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3154680"/>
            <a:ext cx="5669280" cy="384048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32004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Layer 2 — Post-Compilation Safety Scanner  (Defense-in-Depth)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3584448"/>
            <a:ext cx="548640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2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250" b="0">
                <a:solidFill>
                  <a:srgbClr val="1A1A2E"/>
                </a:solidFill>
                <a:latin typeface="Calibri"/>
              </a:rPr>
              <a:t>Post-compilation scanner checks 16 forbidden patterns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2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250" b="0">
                <a:solidFill>
                  <a:srgbClr val="1A1A2E"/>
                </a:solidFill>
                <a:latin typeface="Calibri"/>
              </a:rPr>
              <a:t>DROP, DELETE, INSERT, UPDATE, TRUNCATE, ALTER, CREATE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2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250" b="0">
                <a:solidFill>
                  <a:srgbClr val="1A1A2E"/>
                </a:solidFill>
                <a:latin typeface="Calibri"/>
              </a:rPr>
              <a:t>UNION, comment sequences (--, /*), hex literals, stacked queries (;)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2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250" b="0">
                <a:solidFill>
                  <a:srgbClr val="1A1A2E"/>
                </a:solidFill>
                <a:latin typeface="Calibri"/>
              </a:rPr>
              <a:t>Catches any hypothetical compiler bug before execution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2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250" b="0">
                <a:solidFill>
                  <a:srgbClr val="1A1A2E"/>
                </a:solidFill>
                <a:latin typeface="Calibri"/>
              </a:rPr>
              <a:t>Defense-in-depth — belt AND suspenders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Evaluation Results — 100-Query Benchmark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0E8F3"/>
                </a:solidFill>
                <a:latin typeface="Calibri"/>
              </a:rPr>
              <a:t>nopCommerce e-commerce domain  |  5 systems compared across 3 safety &amp; accuracy metrics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329184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472184"/>
            <a:ext cx="31455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49040" y="1417320"/>
            <a:ext cx="201168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22192" y="1472184"/>
            <a:ext cx="1865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Unsafe SQL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246888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33872" y="1472184"/>
            <a:ext cx="2322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Execution Validity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417320"/>
            <a:ext cx="246888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2" y="1472184"/>
            <a:ext cx="2322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Coverage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1801368"/>
            <a:ext cx="3291840" cy="658368"/>
          </a:xfrm>
          <a:prstGeom prst="rect">
            <a:avLst/>
          </a:prstGeom>
          <a:solidFill>
            <a:srgbClr val="F0F4F8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1929384"/>
            <a:ext cx="314553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B1: Direct GPT-4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49040" y="1801368"/>
            <a:ext cx="2011680" cy="658368"/>
          </a:xfrm>
          <a:prstGeom prst="rect">
            <a:avLst/>
          </a:prstGeom>
          <a:solidFill>
            <a:srgbClr val="F0F4F8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22192" y="1929384"/>
            <a:ext cx="18653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74C3C"/>
                </a:solidFill>
                <a:latin typeface="Calibri"/>
              </a:rPr>
              <a:t>5.0%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0" y="1801368"/>
            <a:ext cx="2468880" cy="658368"/>
          </a:xfrm>
          <a:prstGeom prst="rect">
            <a:avLst/>
          </a:prstGeom>
          <a:solidFill>
            <a:srgbClr val="F0F4F8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33872" y="1929384"/>
            <a:ext cx="23225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1A2E"/>
                </a:solidFill>
                <a:latin typeface="Calibri"/>
              </a:rPr>
              <a:t>99.0%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1801368"/>
            <a:ext cx="2468880" cy="658368"/>
          </a:xfrm>
          <a:prstGeom prst="rect">
            <a:avLst/>
          </a:prstGeom>
          <a:solidFill>
            <a:srgbClr val="F0F4F8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02752" y="1929384"/>
            <a:ext cx="23225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1A2E"/>
                </a:solidFill>
                <a:latin typeface="Calibri"/>
              </a:rPr>
              <a:t>99.0%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459736"/>
            <a:ext cx="32918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0352" y="2587752"/>
            <a:ext cx="314553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B2: Schema-Aware Prompt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2459736"/>
            <a:ext cx="20116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22192" y="2587752"/>
            <a:ext cx="18653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74C3C"/>
                </a:solidFill>
                <a:latin typeface="Calibri"/>
              </a:rPr>
              <a:t>3.0%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760720" y="2459736"/>
            <a:ext cx="24688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33872" y="2587752"/>
            <a:ext cx="23225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1A2E"/>
                </a:solidFill>
                <a:latin typeface="Calibri"/>
              </a:rPr>
              <a:t>97.0%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2459736"/>
            <a:ext cx="24688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2752" y="2587752"/>
            <a:ext cx="23225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1A2E"/>
                </a:solidFill>
                <a:latin typeface="Calibri"/>
              </a:rPr>
              <a:t>97.0%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118104"/>
            <a:ext cx="3291840" cy="658368"/>
          </a:xfrm>
          <a:prstGeom prst="rect">
            <a:avLst/>
          </a:prstGeom>
          <a:solidFill>
            <a:srgbClr val="F0F4F8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" y="3246120"/>
            <a:ext cx="314553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B3: Few-Shot NL2SQL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49040" y="3118104"/>
            <a:ext cx="2011680" cy="658368"/>
          </a:xfrm>
          <a:prstGeom prst="rect">
            <a:avLst/>
          </a:prstGeom>
          <a:solidFill>
            <a:srgbClr val="F0F4F8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22192" y="3246120"/>
            <a:ext cx="18653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74C3C"/>
                </a:solidFill>
                <a:latin typeface="Calibri"/>
              </a:rPr>
              <a:t>1.0%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60720" y="3118104"/>
            <a:ext cx="2468880" cy="658368"/>
          </a:xfrm>
          <a:prstGeom prst="rect">
            <a:avLst/>
          </a:prstGeom>
          <a:solidFill>
            <a:srgbClr val="F0F4F8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33872" y="3246120"/>
            <a:ext cx="23225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74C3C"/>
                </a:solidFill>
                <a:latin typeface="Calibri"/>
              </a:rPr>
              <a:t>66.0%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0" y="3118104"/>
            <a:ext cx="2468880" cy="658368"/>
          </a:xfrm>
          <a:prstGeom prst="rect">
            <a:avLst/>
          </a:prstGeom>
          <a:solidFill>
            <a:srgbClr val="F0F4F8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02752" y="3246120"/>
            <a:ext cx="23225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74C3C"/>
                </a:solidFill>
                <a:latin typeface="Calibri"/>
              </a:rPr>
              <a:t>55.0%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3776472"/>
            <a:ext cx="32918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0352" y="3904488"/>
            <a:ext cx="314553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B4: RAG-Enhanced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49040" y="3776472"/>
            <a:ext cx="20116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822192" y="3904488"/>
            <a:ext cx="18653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7AE60"/>
                </a:solidFill>
                <a:latin typeface="Calibri"/>
              </a:rPr>
              <a:t>0.0%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760720" y="3776472"/>
            <a:ext cx="24688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33872" y="3904488"/>
            <a:ext cx="23225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74C3C"/>
                </a:solidFill>
                <a:latin typeface="Calibri"/>
              </a:rPr>
              <a:t>88.7%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29600" y="3776472"/>
            <a:ext cx="24688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02752" y="3904488"/>
            <a:ext cx="23225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1A2E"/>
                </a:solidFill>
                <a:latin typeface="Calibri"/>
              </a:rPr>
              <a:t>91.0%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4434840"/>
            <a:ext cx="3291840" cy="658368"/>
          </a:xfrm>
          <a:prstGeom prst="rect">
            <a:avLst/>
          </a:prstGeom>
          <a:solidFill>
            <a:srgbClr val="F0FFF4"/>
          </a:solidFill>
          <a:ln w="9525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0352" y="4562856"/>
            <a:ext cx="314553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Calibri"/>
              </a:rPr>
              <a:t>AEGIS (This Thesis)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749040" y="4434840"/>
            <a:ext cx="2011680" cy="658368"/>
          </a:xfrm>
          <a:prstGeom prst="rect">
            <a:avLst/>
          </a:prstGeom>
          <a:solidFill>
            <a:srgbClr val="F0FFF4"/>
          </a:solidFill>
          <a:ln w="9525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822192" y="4562856"/>
            <a:ext cx="18653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7AE60"/>
                </a:solidFill>
                <a:latin typeface="Calibri"/>
              </a:rPr>
              <a:t>0.0%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760720" y="4434840"/>
            <a:ext cx="2468880" cy="658368"/>
          </a:xfrm>
          <a:prstGeom prst="rect">
            <a:avLst/>
          </a:prstGeom>
          <a:solidFill>
            <a:srgbClr val="F0FFF4"/>
          </a:solidFill>
          <a:ln w="9525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33872" y="4562856"/>
            <a:ext cx="23225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7AE60"/>
                </a:solidFill>
                <a:latin typeface="Calibri"/>
              </a:rPr>
              <a:t>100.0%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29600" y="4434840"/>
            <a:ext cx="2468880" cy="658368"/>
          </a:xfrm>
          <a:prstGeom prst="rect">
            <a:avLst/>
          </a:prstGeom>
          <a:solidFill>
            <a:srgbClr val="F0FFF4"/>
          </a:solidFill>
          <a:ln w="9525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02752" y="4562856"/>
            <a:ext cx="23225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7AE60"/>
                </a:solidFill>
                <a:latin typeface="Calibri"/>
              </a:rPr>
              <a:t>100.0%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7200" y="4434840"/>
            <a:ext cx="10241280" cy="658368"/>
          </a:xfrm>
          <a:prstGeom prst="rect">
            <a:avLst/>
          </a:prstGeom>
          <a:noFill/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57200" y="5577840"/>
            <a:ext cx="3383280" cy="1024128"/>
          </a:xfrm>
          <a:prstGeom prst="rect">
            <a:avLst/>
          </a:prstGeom>
          <a:solidFill>
            <a:srgbClr val="FFFFFF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57200" y="5577840"/>
            <a:ext cx="3383280" cy="34747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62356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0% Unsafe SQL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5980176"/>
            <a:ext cx="3200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Calibri"/>
              </a:rPr>
              <a:t>Not a statistical finding —
a structural guarantee from
the architecture.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14800" y="5577840"/>
            <a:ext cx="3383280" cy="1024128"/>
          </a:xfrm>
          <a:prstGeom prst="rect">
            <a:avLst/>
          </a:prstGeom>
          <a:solidFill>
            <a:srgbClr val="FFFFFF"/>
          </a:solidFill>
          <a:ln w="1905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114800" y="5577840"/>
            <a:ext cx="3383280" cy="34747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06240" y="562356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100% Validity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06240" y="5980176"/>
            <a:ext cx="3200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Calibri"/>
              </a:rPr>
              <a:t>Every query compiles and
executes without error on the
first attempt.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772400" y="5577840"/>
            <a:ext cx="3383280" cy="1024128"/>
          </a:xfrm>
          <a:prstGeom prst="rect">
            <a:avLst/>
          </a:prstGeom>
          <a:solidFill>
            <a:srgbClr val="FFFFFF"/>
          </a:solidFill>
          <a:ln w="1905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772400" y="5577840"/>
            <a:ext cx="3383280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863840" y="562356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100% Coverage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63840" y="5980176"/>
            <a:ext cx="3200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Calibri"/>
              </a:rPr>
              <a:t>Every benchmark question is
within the semantic layer
vocabulary.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Ablation Study — Contribution of Each 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0E8F3"/>
                </a:solidFill>
                <a:latin typeface="Calibri"/>
              </a:rPr>
              <a:t>Removing each component one at a time to measure its individual contribution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1371600"/>
            <a:ext cx="7040880" cy="4846320"/>
          </a:xfrm>
          <a:prstGeom prst="rect">
            <a:avLst/>
          </a:prstGeom>
          <a:solidFill>
            <a:srgbClr val="F0F4F8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46320" y="1613916"/>
            <a:ext cx="6444342" cy="230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46320" y="1856232"/>
            <a:ext cx="6444342" cy="212026"/>
          </a:xfrm>
          <a:prstGeom prst="rect">
            <a:avLst/>
          </a:prstGeom>
          <a:solidFill>
            <a:srgbClr val="4FD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08950" y="1595628"/>
            <a:ext cx="640080" cy="2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7AE60"/>
                </a:solidFill>
                <a:latin typeface="Calibri"/>
              </a:rPr>
              <a:t>100%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2219706"/>
            <a:ext cx="6379899" cy="230200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2462022"/>
            <a:ext cx="6379899" cy="212026"/>
          </a:xfrm>
          <a:prstGeom prst="rect">
            <a:avLst/>
          </a:prstGeom>
          <a:solidFill>
            <a:srgbClr val="429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244507" y="2201418"/>
            <a:ext cx="640080" cy="2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73A0"/>
                </a:solidFill>
                <a:latin typeface="Calibri"/>
              </a:rPr>
              <a:t>99%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0" y="2825496"/>
            <a:ext cx="6379899" cy="230200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3067812"/>
            <a:ext cx="6379899" cy="212026"/>
          </a:xfrm>
          <a:prstGeom prst="rect">
            <a:avLst/>
          </a:prstGeom>
          <a:solidFill>
            <a:srgbClr val="429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244507" y="2807208"/>
            <a:ext cx="640080" cy="2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73A0"/>
                </a:solidFill>
                <a:latin typeface="Calibri"/>
              </a:rPr>
              <a:t>99%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46320" y="3431286"/>
            <a:ext cx="5716132" cy="230200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46320" y="3673602"/>
            <a:ext cx="5864352" cy="212026"/>
          </a:xfrm>
          <a:prstGeom prst="rect">
            <a:avLst/>
          </a:prstGeom>
          <a:solidFill>
            <a:srgbClr val="FFB7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80740" y="3412998"/>
            <a:ext cx="640080" cy="2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8F01"/>
                </a:solidFill>
                <a:latin typeface="Calibri"/>
              </a:rPr>
              <a:t>89%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4037076"/>
            <a:ext cx="6122125" cy="230200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4279392"/>
            <a:ext cx="5993238" cy="212026"/>
          </a:xfrm>
          <a:prstGeom prst="rect">
            <a:avLst/>
          </a:prstGeom>
          <a:solidFill>
            <a:srgbClr val="FFB7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86733" y="4018788"/>
            <a:ext cx="640080" cy="2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8F01"/>
                </a:solidFill>
                <a:latin typeface="Calibri"/>
              </a:rPr>
              <a:t>95%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46320" y="4642866"/>
            <a:ext cx="4169489" cy="2302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846320" y="4885182"/>
            <a:ext cx="4188822" cy="212026"/>
          </a:xfrm>
          <a:prstGeom prst="rect">
            <a:avLst/>
          </a:prstGeom>
          <a:solidFill>
            <a:srgbClr val="FF7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34097" y="4624578"/>
            <a:ext cx="640080" cy="2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74C3C"/>
                </a:solidFill>
                <a:latin typeface="Calibri"/>
              </a:rPr>
              <a:t>65%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5248656"/>
            <a:ext cx="773321" cy="2302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46320" y="5490972"/>
            <a:ext cx="579990" cy="212026"/>
          </a:xfrm>
          <a:prstGeom prst="rect">
            <a:avLst/>
          </a:prstGeom>
          <a:solidFill>
            <a:srgbClr val="FF7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37929" y="5230368"/>
            <a:ext cx="640080" cy="2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74C3C"/>
                </a:solidFill>
                <a:latin typeface="Calibri"/>
              </a:rPr>
              <a:t>12%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1641348"/>
            <a:ext cx="4343400" cy="4543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7AE60"/>
                </a:solidFill>
                <a:latin typeface="Calibri"/>
              </a:rPr>
              <a:t>Full AEGIS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2247138"/>
            <a:ext cx="4343400" cy="4543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− Permission Rewriting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2852928"/>
            <a:ext cx="4343400" cy="4543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− Post-compilation Scanner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" y="3458718"/>
            <a:ext cx="4343400" cy="4543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− BFS Join Resolution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4064508"/>
            <a:ext cx="4343400" cy="4543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− Business Logic Mappings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" y="4670298"/>
            <a:ext cx="4343400" cy="4543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− Vocabulary Injection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5276088"/>
            <a:ext cx="4343400" cy="4543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LLM Only (No Semantic Layer)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0" y="6080760"/>
            <a:ext cx="292608" cy="182880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49240" y="605332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Execution Validity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0" y="6080760"/>
            <a:ext cx="292608" cy="182880"/>
          </a:xfrm>
          <a:prstGeom prst="rect">
            <a:avLst/>
          </a:prstGeom>
          <a:solidFill>
            <a:srgbClr val="70D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35240" y="605332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Coverage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6126480"/>
            <a:ext cx="4434840" cy="47548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181344"/>
            <a:ext cx="4297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18F01"/>
                </a:solidFill>
                <a:latin typeface="Calibri"/>
              </a:rPr>
              <a:t>Vocabulary injection contributes −35.3pp validity — the single most impactful component.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Generalizability — WooCommerce Schema Evaluation (RQ4)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0E8F3"/>
                </a:solidFill>
                <a:latin typeface="Calibri"/>
              </a:rPr>
              <a:t>Does AEGIS work beyond the nopCommerce schema it was built 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25880"/>
            <a:ext cx="534924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25880"/>
            <a:ext cx="5349240" cy="411480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371600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What Was Evaluated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" y="1874519"/>
            <a:ext cx="1005840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911095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Schema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1892807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WooCommerce database — completely different tables,
column names, and relationships from nopCommerce.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" y="2898647"/>
            <a:ext cx="1005840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35223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2916935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Built a new semantic layer (15 metrics, 34 dims)
from scratch. Zero changes to the pipeline or LLM.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" y="3922775"/>
            <a:ext cx="1005840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959351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Benchmark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941063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Same 100-query evaluation dataset, re-run on
the WooCommerce semantic layer.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" y="4946903"/>
            <a:ext cx="1005840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983479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Constraint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965191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Single developer, measured real elapsed time
to build the new semantic layer end-to-end.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0" y="1325880"/>
            <a:ext cx="534924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92240" y="1325880"/>
            <a:ext cx="5349240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1371600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Results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0" y="1920240"/>
            <a:ext cx="2514600" cy="1508760"/>
          </a:xfrm>
          <a:prstGeom prst="rect">
            <a:avLst/>
          </a:prstGeom>
          <a:solidFill>
            <a:srgbClr val="F0F4F8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0" y="2084832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7AE60"/>
                </a:solidFill>
                <a:latin typeface="Calibri"/>
              </a:rPr>
              <a:t>98.0%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2926080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A2E"/>
                </a:solidFill>
                <a:latin typeface="Calibri"/>
              </a:rPr>
              <a:t>Intent Accuracy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81160" y="1920240"/>
            <a:ext cx="2514600" cy="1508760"/>
          </a:xfrm>
          <a:prstGeom prst="rect">
            <a:avLst/>
          </a:prstGeom>
          <a:solidFill>
            <a:srgbClr val="F0F4F8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72600" y="2084832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7AE60"/>
                </a:solidFill>
                <a:latin typeface="Calibri"/>
              </a:rPr>
              <a:t>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2600" y="2926080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A2E"/>
                </a:solidFill>
                <a:latin typeface="Calibri"/>
              </a:rPr>
              <a:t>Unsafe SQL Queries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0" y="3611880"/>
            <a:ext cx="2514600" cy="1508760"/>
          </a:xfrm>
          <a:prstGeom prst="rect">
            <a:avLst/>
          </a:prstGeom>
          <a:solidFill>
            <a:srgbClr val="F0F4F8"/>
          </a:solidFill>
          <a:ln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3776472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A73A0"/>
                </a:solidFill>
                <a:latin typeface="Calibri"/>
              </a:rPr>
              <a:t>14 hrs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617720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A2E"/>
                </a:solidFill>
                <a:latin typeface="Calibri"/>
              </a:rPr>
              <a:t>Semantic Layer Build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81160" y="3611880"/>
            <a:ext cx="2514600" cy="1508760"/>
          </a:xfrm>
          <a:prstGeom prst="rect">
            <a:avLst/>
          </a:prstGeom>
          <a:solidFill>
            <a:srgbClr val="F0F4F8"/>
          </a:solidFill>
          <a:ln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72600" y="3776472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A73A0"/>
                </a:solidFill>
                <a:latin typeface="Calibri"/>
              </a:rPr>
              <a:t>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72600" y="4617720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A2E"/>
                </a:solidFill>
                <a:latin typeface="Calibri"/>
              </a:rPr>
              <a:t>Pipeline Code Changes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5212080"/>
            <a:ext cx="5166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1A1A2E"/>
                </a:solidFill>
                <a:latin typeface="Calibri"/>
              </a:rPr>
              <a:t>Conclusion: AEGIS is a reusable architecture, not a one-schema prototype.
Any e-commerce schema can be onboarded by writing a new semantic layer —
no retraining, no pipeline changes, no LLM reconfiguration.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89320" y="1325880"/>
            <a:ext cx="54864" cy="489204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Conclusion &amp; Future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32588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2A4A"/>
                </a:solidFill>
                <a:latin typeface="Calibri"/>
              </a:rPr>
              <a:t>Key Contributions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783080"/>
            <a:ext cx="562356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783080"/>
            <a:ext cx="164592" cy="1115568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83794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A73A0"/>
                </a:solidFill>
                <a:latin typeface="Calibri"/>
              </a:rPr>
              <a:t>Safety-by-Design 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2221992"/>
            <a:ext cx="52120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First NL2SQL system that makes SQL injection structurally impossible by separating the AI layer from the SQL generation layer.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783080"/>
            <a:ext cx="562356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783080"/>
            <a:ext cx="164592" cy="111556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9672" y="183794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Semantic Layer with Vocabulary Injection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2221992"/>
            <a:ext cx="52120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Closed vocabulary of 15 metrics, 34 dimensions, 11 join paths — with dynamic vocabulary injection replacing static synonym dictionaries.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017520"/>
            <a:ext cx="562356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3017520"/>
            <a:ext cx="164592" cy="1115568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" y="3072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F18F01"/>
                </a:solidFill>
                <a:latin typeface="Calibri"/>
              </a:rPr>
              <a:t>Persistent Widget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" y="3456432"/>
            <a:ext cx="52120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Turns one-off query results into refreshable dashboard widgets with SHA-256 deduplication and scheduled refresh (61% recurring).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017520"/>
            <a:ext cx="562356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3017520"/>
            <a:ext cx="164592" cy="111556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9672" y="3072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27AE60"/>
                </a:solidFill>
                <a:latin typeface="Calibri"/>
              </a:rPr>
              <a:t>Formal Safety Proof + Empirical Validation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3456432"/>
            <a:ext cx="52120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Mathematical proof that injection is impossible, validated empirically with 0% unsafe SQL across 100 benchmark queries.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434340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2A4A"/>
                </a:solidFill>
                <a:latin typeface="Calibri"/>
              </a:rPr>
              <a:t>Future Work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" y="4736592"/>
            <a:ext cx="11521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40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400" b="0">
                <a:solidFill>
                  <a:srgbClr val="1A1A2E"/>
                </a:solidFill>
                <a:latin typeface="Calibri"/>
              </a:rPr>
              <a:t>Extend semantic layer to transactional databases (banking, healthcare, logistics)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40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400" b="0">
                <a:solidFill>
                  <a:srgbClr val="1A1A2E"/>
                </a:solidFill>
                <a:latin typeface="Calibri"/>
              </a:rPr>
              <a:t>Real-time semantic layer editor — add new metrics/dimensions without code deployment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40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400" b="0">
                <a:solidFill>
                  <a:srgbClr val="1A1A2E"/>
                </a:solidFill>
                <a:latin typeface="Calibri"/>
              </a:rPr>
              <a:t>Multi-turn conversational analytics — follow-up questions building on previous widgets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40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400" b="0">
                <a:solidFill>
                  <a:srgbClr val="1A1A2E"/>
                </a:solidFill>
                <a:latin typeface="Calibri"/>
              </a:rPr>
              <a:t>Fine-tune smaller LLM on IntentObject extraction to reduce API latency from 1.85s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How a WooCommerce Store Owner Deploys AEGIS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0E8F3"/>
                </a:solidFill>
                <a:latin typeface="Calibri"/>
              </a:rPr>
              <a:t>Only the semantic layer changes — the entire pipeline is reused without modification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25880"/>
            <a:ext cx="11521440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389888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18F01"/>
                </a:solidFill>
                <a:latin typeface="Calibri"/>
              </a:rPr>
              <a:t>Core rule: write a new semantic_layer.py for your schema. Touch nothing else.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938528"/>
            <a:ext cx="530352" cy="53035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1975104"/>
            <a:ext cx="530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97510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1A73A0"/>
                </a:solidFill>
                <a:latin typeface="Calibri"/>
              </a:rPr>
              <a:t>Prerequisites  (30 min)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350008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Python 3.10+, pip, Git, MySQL read access
Groq API key (free tier sufficient)
git clone + pip install -r requirements.txt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328416"/>
            <a:ext cx="530352" cy="53035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3364992"/>
            <a:ext cx="530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36499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1B2A4A"/>
                </a:solidFill>
                <a:latin typeface="Calibri"/>
              </a:rPr>
              <a:t>Schema Analysis  (2–3 hrs)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739896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Map WooCommerce tables to AEGIS concepts:
  KPIs the business tracks  →  METRICS
  Slice-by axes  →  DIMENSIONS
  Table relationships  →  JOIN_GRAPH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718304"/>
            <a:ext cx="530352" cy="530352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4754880"/>
            <a:ext cx="530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7548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18F01"/>
                </a:solidFill>
                <a:latin typeface="Calibri"/>
              </a:rPr>
              <a:t>Build the Semantic Layer  (8–10 hrs)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129784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WooCommerce result: 12 metrics, 28 dimensions,
9 join paths, 18 tables.
Only file that changes: semantic_layer.py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1938528"/>
            <a:ext cx="530352" cy="53035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1975104"/>
            <a:ext cx="530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1975104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1A73A0"/>
                </a:solidFill>
                <a:latin typeface="Calibri"/>
              </a:rPr>
              <a:t>Configure Database  (30 min)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2350008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ourier New"/>
              </a:rPr>
              <a:t>Set DB_HOST, DB_NAME, DB_USER, DB_PASSWORD
and GROQ_API_KEY in .env
No code changes to database_client.py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2240" y="3328416"/>
            <a:ext cx="530352" cy="53035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3364992"/>
            <a:ext cx="530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0" y="3364992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1B2A4A"/>
                </a:solidFill>
                <a:latin typeface="Calibri"/>
              </a:rPr>
              <a:t>Test  (1–2 hrs)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3739896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ourier New"/>
              </a:rPr>
              <a:t>python -m unittest discover -s tests
python run_demo_cli.py
"Show me revenue by category this month"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92240" y="4718304"/>
            <a:ext cx="530352" cy="5303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4754880"/>
            <a:ext cx="530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0" y="4754880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27AE60"/>
                </a:solidFill>
                <a:latin typeface="Calibri"/>
              </a:rPr>
              <a:t>Deploy  (30 min)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5129784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ourier New"/>
              </a:rPr>
              <a:t>docker-compose up --build
Dashboard at http://localhost:8765
Or: python run_demo_server.py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35040" y="1874519"/>
            <a:ext cx="54864" cy="42519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0040" y="6144768"/>
            <a:ext cx="11521440" cy="457200"/>
          </a:xfrm>
          <a:prstGeom prst="rect">
            <a:avLst/>
          </a:prstGeom>
          <a:solidFill>
            <a:srgbClr val="F0F4F8"/>
          </a:solidFill>
          <a:ln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0040" y="6144768"/>
            <a:ext cx="2304288" cy="457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3192" y="6208776"/>
            <a:ext cx="21579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1A1A2E"/>
                </a:solidFill>
                <a:latin typeface="Calibri"/>
              </a:rPr>
              <a:t>Schema analysis:  2–3 hrs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624328" y="6144768"/>
            <a:ext cx="2304288" cy="457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97480" y="6208776"/>
            <a:ext cx="21579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1A1A2E"/>
                </a:solidFill>
                <a:latin typeface="Calibri"/>
              </a:rPr>
              <a:t>Metrics (SQL expressions):  2–3 hrs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28616" y="6144768"/>
            <a:ext cx="2304288" cy="457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01768" y="6208776"/>
            <a:ext cx="21579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1A1A2E"/>
                </a:solidFill>
                <a:latin typeface="Calibri"/>
              </a:rPr>
              <a:t>Dimensions + join paths:  4–5 hrs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232904" y="6144768"/>
            <a:ext cx="2304288" cy="457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06056" y="6208776"/>
            <a:ext cx="21579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1A1A2E"/>
                </a:solidFill>
                <a:latin typeface="Calibri"/>
              </a:rPr>
              <a:t>Test &amp; iterate:  2 hrs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537192" y="6144768"/>
            <a:ext cx="2304288" cy="457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610344" y="6208776"/>
            <a:ext cx="21579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18F01"/>
                </a:solidFill>
                <a:latin typeface="Calibri"/>
              </a:rPr>
              <a:t>Total:  ~14 hrs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0"/>
            <a:ext cx="73152" cy="6858000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424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  <a:latin typeface="Calibri Light"/>
              </a:rPr>
              <a:t>Thank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2468880"/>
            <a:ext cx="7589520" cy="50292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D0E8F3"/>
                </a:solidFill>
                <a:latin typeface="Calibri Light"/>
              </a:rPr>
              <a:t>Questions &amp; Discussion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3465576"/>
            <a:ext cx="201168" cy="201168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48840" y="33375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FFFFFF"/>
                </a:solidFill>
                <a:latin typeface="Calibri"/>
              </a:rPr>
              <a:t>0% SQL injection — structural guarantee, not a detection heuristic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0" y="4087368"/>
            <a:ext cx="201168" cy="201168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48840" y="395935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FFFFFF"/>
                </a:solidFill>
                <a:latin typeface="Calibri"/>
              </a:rPr>
              <a:t>100% execution validity — every query correct on first attempt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4709160"/>
            <a:ext cx="201168" cy="201168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48840" y="4581144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FFFFFF"/>
                </a:solidFill>
                <a:latin typeface="Calibri"/>
              </a:rPr>
              <a:t>98% accuracy on unseen schema (WooCommerce) — generalizable architecture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0" y="5330952"/>
            <a:ext cx="201168" cy="201168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48840" y="5202936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FFFFFF"/>
                </a:solidFill>
                <a:latin typeface="Calibri"/>
              </a:rPr>
              <a:t>14 person-hours to port to a new schema — practical for real deployment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0" y="5989320"/>
            <a:ext cx="7589520" cy="3200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608076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AA8C8"/>
                </a:solidFill>
                <a:latin typeface="Calibri"/>
              </a:rPr>
              <a:t>Md. Riaz  |  Pundra University of Science and Technology  |  BSc CSE  |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