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80" r:id="rId2"/>
    <p:sldId id="258" r:id="rId3"/>
    <p:sldId id="262" r:id="rId4"/>
    <p:sldId id="272" r:id="rId5"/>
    <p:sldId id="273" r:id="rId6"/>
    <p:sldId id="274" r:id="rId7"/>
    <p:sldId id="266" r:id="rId8"/>
    <p:sldId id="281" r:id="rId9"/>
    <p:sldId id="275" r:id="rId10"/>
    <p:sldId id="265" r:id="rId11"/>
    <p:sldId id="279" r:id="rId12"/>
    <p:sldId id="276" r:id="rId13"/>
    <p:sldId id="277" r:id="rId14"/>
    <p:sldId id="27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947" autoAdjust="0"/>
  </p:normalViewPr>
  <p:slideViewPr>
    <p:cSldViewPr snapToGrid="0">
      <p:cViewPr varScale="1">
        <p:scale>
          <a:sx n="80" d="100"/>
          <a:sy n="80" d="100"/>
        </p:scale>
        <p:origin x="78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f4d8f2ff1fab8696" providerId="LiveId" clId="{6076A033-F814-43EC-BAD4-D3E9CD528560}"/>
    <pc:docChg chg="undo custSel addSld delSld modSld sldOrd">
      <pc:chgData name="" userId="f4d8f2ff1fab8696" providerId="LiveId" clId="{6076A033-F814-43EC-BAD4-D3E9CD528560}" dt="2025-07-28T09:05:59.615" v="546" actId="2165"/>
      <pc:docMkLst>
        <pc:docMk/>
      </pc:docMkLst>
      <pc:sldChg chg="modSp">
        <pc:chgData name="" userId="f4d8f2ff1fab8696" providerId="LiveId" clId="{6076A033-F814-43EC-BAD4-D3E9CD528560}" dt="2025-07-28T08:06:27.013" v="538" actId="20577"/>
        <pc:sldMkLst>
          <pc:docMk/>
          <pc:sldMk cId="3823569037" sldId="258"/>
        </pc:sldMkLst>
        <pc:spChg chg="mod">
          <ac:chgData name="" userId="f4d8f2ff1fab8696" providerId="LiveId" clId="{6076A033-F814-43EC-BAD4-D3E9CD528560}" dt="2025-07-28T08:06:27.013" v="538" actId="20577"/>
          <ac:spMkLst>
            <pc:docMk/>
            <pc:sldMk cId="3823569037" sldId="258"/>
            <ac:spMk id="2" creationId="{6BC6C76A-A86F-10CD-8AA9-08DD876FDA3C}"/>
          </ac:spMkLst>
        </pc:spChg>
      </pc:sldChg>
      <pc:sldChg chg="modSp">
        <pc:chgData name="" userId="f4d8f2ff1fab8696" providerId="LiveId" clId="{6076A033-F814-43EC-BAD4-D3E9CD528560}" dt="2025-07-26T01:37:23.605" v="189" actId="20577"/>
        <pc:sldMkLst>
          <pc:docMk/>
          <pc:sldMk cId="2880622157" sldId="262"/>
        </pc:sldMkLst>
        <pc:spChg chg="mod">
          <ac:chgData name="" userId="f4d8f2ff1fab8696" providerId="LiveId" clId="{6076A033-F814-43EC-BAD4-D3E9CD528560}" dt="2025-07-26T01:37:23.605" v="189" actId="20577"/>
          <ac:spMkLst>
            <pc:docMk/>
            <pc:sldMk cId="2880622157" sldId="262"/>
            <ac:spMk id="2" creationId="{1488030F-6781-E30C-C2EA-89EFDDD97879}"/>
          </ac:spMkLst>
        </pc:spChg>
      </pc:sldChg>
      <pc:sldChg chg="del">
        <pc:chgData name="" userId="f4d8f2ff1fab8696" providerId="LiveId" clId="{6076A033-F814-43EC-BAD4-D3E9CD528560}" dt="2025-07-28T07:59:42.215" v="495" actId="2696"/>
        <pc:sldMkLst>
          <pc:docMk/>
          <pc:sldMk cId="578654065" sldId="263"/>
        </pc:sldMkLst>
      </pc:sldChg>
      <pc:sldChg chg="delSp modSp">
        <pc:chgData name="" userId="f4d8f2ff1fab8696" providerId="LiveId" clId="{6076A033-F814-43EC-BAD4-D3E9CD528560}" dt="2025-07-28T05:40:31.236" v="438"/>
        <pc:sldMkLst>
          <pc:docMk/>
          <pc:sldMk cId="1797169635" sldId="265"/>
        </pc:sldMkLst>
        <pc:spChg chg="del mod">
          <ac:chgData name="" userId="f4d8f2ff1fab8696" providerId="LiveId" clId="{6076A033-F814-43EC-BAD4-D3E9CD528560}" dt="2025-07-26T01:36:21.301" v="186" actId="478"/>
          <ac:spMkLst>
            <pc:docMk/>
            <pc:sldMk cId="1797169635" sldId="265"/>
            <ac:spMk id="16" creationId="{F3AA687C-CC6A-A901-5435-8246F996FB1A}"/>
          </ac:spMkLst>
        </pc:spChg>
        <pc:graphicFrameChg chg="mod modGraphic">
          <ac:chgData name="" userId="f4d8f2ff1fab8696" providerId="LiveId" clId="{6076A033-F814-43EC-BAD4-D3E9CD528560}" dt="2025-07-27T10:07:49.880" v="437" actId="1076"/>
          <ac:graphicFrameMkLst>
            <pc:docMk/>
            <pc:sldMk cId="1797169635" sldId="265"/>
            <ac:graphicFrameMk id="8" creationId="{86CF76A0-55B8-1DD6-0403-37346961EE64}"/>
          </ac:graphicFrameMkLst>
        </pc:graphicFrameChg>
        <pc:picChg chg="del">
          <ac:chgData name="" userId="f4d8f2ff1fab8696" providerId="LiveId" clId="{6076A033-F814-43EC-BAD4-D3E9CD528560}" dt="2025-07-28T05:40:31.236" v="438"/>
          <ac:picMkLst>
            <pc:docMk/>
            <pc:sldMk cId="1797169635" sldId="265"/>
            <ac:picMk id="9" creationId="{D0F6F6D9-9AEF-479E-931F-2764926FB7AD}"/>
          </ac:picMkLst>
        </pc:picChg>
      </pc:sldChg>
      <pc:sldChg chg="addSp delSp modSp">
        <pc:chgData name="" userId="f4d8f2ff1fab8696" providerId="LiveId" clId="{6076A033-F814-43EC-BAD4-D3E9CD528560}" dt="2025-07-27T10:05:52.351" v="422" actId="20577"/>
        <pc:sldMkLst>
          <pc:docMk/>
          <pc:sldMk cId="2931877305" sldId="266"/>
        </pc:sldMkLst>
        <pc:spChg chg="mod">
          <ac:chgData name="" userId="f4d8f2ff1fab8696" providerId="LiveId" clId="{6076A033-F814-43EC-BAD4-D3E9CD528560}" dt="2025-07-27T10:03:19.840" v="402" actId="1076"/>
          <ac:spMkLst>
            <pc:docMk/>
            <pc:sldMk cId="2931877305" sldId="266"/>
            <ac:spMk id="2" creationId="{5012DA85-FCA7-FBF3-CD69-5EC1E2BF5071}"/>
          </ac:spMkLst>
        </pc:spChg>
        <pc:spChg chg="add mod">
          <ac:chgData name="" userId="f4d8f2ff1fab8696" providerId="LiveId" clId="{6076A033-F814-43EC-BAD4-D3E9CD528560}" dt="2025-07-27T10:05:52.351" v="422" actId="20577"/>
          <ac:spMkLst>
            <pc:docMk/>
            <pc:sldMk cId="2931877305" sldId="266"/>
            <ac:spMk id="9" creationId="{F022BD4D-DC5A-437F-B8ED-5D57C97F571E}"/>
          </ac:spMkLst>
        </pc:spChg>
        <pc:spChg chg="add del mod">
          <ac:chgData name="" userId="f4d8f2ff1fab8696" providerId="LiveId" clId="{6076A033-F814-43EC-BAD4-D3E9CD528560}" dt="2025-07-27T06:51:27.767" v="215"/>
          <ac:spMkLst>
            <pc:docMk/>
            <pc:sldMk cId="2931877305" sldId="266"/>
            <ac:spMk id="12" creationId="{9F21AF51-169C-4EC5-A95F-4B8FFE5D19F4}"/>
          </ac:spMkLst>
        </pc:spChg>
        <pc:graphicFrameChg chg="add mod modGraphic">
          <ac:chgData name="" userId="f4d8f2ff1fab8696" providerId="LiveId" clId="{6076A033-F814-43EC-BAD4-D3E9CD528560}" dt="2025-07-27T10:03:35.504" v="404" actId="14100"/>
          <ac:graphicFrameMkLst>
            <pc:docMk/>
            <pc:sldMk cId="2931877305" sldId="266"/>
            <ac:graphicFrameMk id="8" creationId="{DC3A6A28-20E2-4756-BDC9-435CCD298380}"/>
          </ac:graphicFrameMkLst>
        </pc:graphicFrameChg>
        <pc:graphicFrameChg chg="del">
          <ac:chgData name="" userId="f4d8f2ff1fab8696" providerId="LiveId" clId="{6076A033-F814-43EC-BAD4-D3E9CD528560}" dt="2025-07-26T01:05:20.445" v="0" actId="478"/>
          <ac:graphicFrameMkLst>
            <pc:docMk/>
            <pc:sldMk cId="2931877305" sldId="266"/>
            <ac:graphicFrameMk id="17" creationId="{FE838691-08F9-5C5B-4D8E-CEDC2EB15A8A}"/>
          </ac:graphicFrameMkLst>
        </pc:graphicFrameChg>
        <pc:picChg chg="add del mod">
          <ac:chgData name="" userId="f4d8f2ff1fab8696" providerId="LiveId" clId="{6076A033-F814-43EC-BAD4-D3E9CD528560}" dt="2025-07-27T09:45:13.828" v="369" actId="478"/>
          <ac:picMkLst>
            <pc:docMk/>
            <pc:sldMk cId="2931877305" sldId="266"/>
            <ac:picMk id="13" creationId="{114D9BBD-FC6E-44BD-9FE9-AD83A133344C}"/>
          </ac:picMkLst>
        </pc:picChg>
      </pc:sldChg>
      <pc:sldChg chg="addSp delSp modSp">
        <pc:chgData name="" userId="f4d8f2ff1fab8696" providerId="LiveId" clId="{6076A033-F814-43EC-BAD4-D3E9CD528560}" dt="2025-07-28T09:05:59.615" v="546" actId="2165"/>
        <pc:sldMkLst>
          <pc:docMk/>
          <pc:sldMk cId="3520039749" sldId="273"/>
        </pc:sldMkLst>
        <pc:spChg chg="del mod">
          <ac:chgData name="" userId="f4d8f2ff1fab8696" providerId="LiveId" clId="{6076A033-F814-43EC-BAD4-D3E9CD528560}" dt="2025-07-27T09:34:41.633" v="309"/>
          <ac:spMkLst>
            <pc:docMk/>
            <pc:sldMk cId="3520039749" sldId="273"/>
            <ac:spMk id="2" creationId="{39EC5AF7-8658-81B1-FE2A-8869EDF414AD}"/>
          </ac:spMkLst>
        </pc:spChg>
        <pc:graphicFrameChg chg="add mod modGraphic">
          <ac:chgData name="" userId="f4d8f2ff1fab8696" providerId="LiveId" clId="{6076A033-F814-43EC-BAD4-D3E9CD528560}" dt="2025-07-28T09:05:59.615" v="546" actId="2165"/>
          <ac:graphicFrameMkLst>
            <pc:docMk/>
            <pc:sldMk cId="3520039749" sldId="273"/>
            <ac:graphicFrameMk id="8" creationId="{F4192972-0460-48E5-A0C1-4D199CF7E644}"/>
          </ac:graphicFrameMkLst>
        </pc:graphicFrameChg>
      </pc:sldChg>
      <pc:sldChg chg="addSp delSp modSp">
        <pc:chgData name="" userId="f4d8f2ff1fab8696" providerId="LiveId" clId="{6076A033-F814-43EC-BAD4-D3E9CD528560}" dt="2025-07-27T10:05:39.056" v="419" actId="20577"/>
        <pc:sldMkLst>
          <pc:docMk/>
          <pc:sldMk cId="1537257661" sldId="275"/>
        </pc:sldMkLst>
        <pc:spChg chg="add mod">
          <ac:chgData name="" userId="f4d8f2ff1fab8696" providerId="LiveId" clId="{6076A033-F814-43EC-BAD4-D3E9CD528560}" dt="2025-07-27T10:05:39.056" v="419" actId="20577"/>
          <ac:spMkLst>
            <pc:docMk/>
            <pc:sldMk cId="1537257661" sldId="275"/>
            <ac:spMk id="8" creationId="{7012A754-1B7E-493B-BF6F-9285040FDB99}"/>
          </ac:spMkLst>
        </pc:spChg>
        <pc:spChg chg="add del mod">
          <ac:chgData name="" userId="f4d8f2ff1fab8696" providerId="LiveId" clId="{6076A033-F814-43EC-BAD4-D3E9CD528560}" dt="2025-07-27T09:43:28.093" v="366" actId="1076"/>
          <ac:spMkLst>
            <pc:docMk/>
            <pc:sldMk cId="1537257661" sldId="275"/>
            <ac:spMk id="15" creationId="{F81CFEAA-339D-870C-8D2D-A4A71549C65B}"/>
          </ac:spMkLst>
        </pc:spChg>
        <pc:picChg chg="add mod">
          <ac:chgData name="" userId="f4d8f2ff1fab8696" providerId="LiveId" clId="{6076A033-F814-43EC-BAD4-D3E9CD528560}" dt="2025-07-27T09:43:52.261" v="368" actId="1076"/>
          <ac:picMkLst>
            <pc:docMk/>
            <pc:sldMk cId="1537257661" sldId="275"/>
            <ac:picMk id="2" creationId="{8F8D40F7-646F-46EC-9E68-B42222FB5C99}"/>
          </ac:picMkLst>
        </pc:picChg>
      </pc:sldChg>
      <pc:sldChg chg="addSp modSp">
        <pc:chgData name="" userId="f4d8f2ff1fab8696" providerId="LiveId" clId="{6076A033-F814-43EC-BAD4-D3E9CD528560}" dt="2025-07-28T07:57:42.905" v="471" actId="113"/>
        <pc:sldMkLst>
          <pc:docMk/>
          <pc:sldMk cId="2417298339" sldId="279"/>
        </pc:sldMkLst>
        <pc:spChg chg="add mod">
          <ac:chgData name="" userId="f4d8f2ff1fab8696" providerId="LiveId" clId="{6076A033-F814-43EC-BAD4-D3E9CD528560}" dt="2025-07-28T07:57:42.905" v="471" actId="113"/>
          <ac:spMkLst>
            <pc:docMk/>
            <pc:sldMk cId="2417298339" sldId="279"/>
            <ac:spMk id="2" creationId="{48A70716-DB63-4DC4-88D1-72E770BEA7C5}"/>
          </ac:spMkLst>
        </pc:spChg>
        <pc:spChg chg="mod">
          <ac:chgData name="" userId="f4d8f2ff1fab8696" providerId="LiveId" clId="{6076A033-F814-43EC-BAD4-D3E9CD528560}" dt="2025-07-26T01:21:36.237" v="103"/>
          <ac:spMkLst>
            <pc:docMk/>
            <pc:sldMk cId="2417298339" sldId="279"/>
            <ac:spMk id="15" creationId="{BA9BFD68-9113-4352-7F59-A4A786765854}"/>
          </ac:spMkLst>
        </pc:spChg>
        <pc:picChg chg="add">
          <ac:chgData name="" userId="f4d8f2ff1fab8696" providerId="LiveId" clId="{6076A033-F814-43EC-BAD4-D3E9CD528560}" dt="2025-07-28T05:40:35.938" v="439"/>
          <ac:picMkLst>
            <pc:docMk/>
            <pc:sldMk cId="2417298339" sldId="279"/>
            <ac:picMk id="12" creationId="{8C964887-4CE1-4E1F-99A2-8E9107D358A5}"/>
          </ac:picMkLst>
        </pc:picChg>
      </pc:sldChg>
      <pc:sldChg chg="add del">
        <pc:chgData name="" userId="f4d8f2ff1fab8696" providerId="LiveId" clId="{6076A033-F814-43EC-BAD4-D3E9CD528560}" dt="2025-07-27T06:53:45.257" v="219"/>
        <pc:sldMkLst>
          <pc:docMk/>
          <pc:sldMk cId="409708041" sldId="281"/>
        </pc:sldMkLst>
      </pc:sldChg>
      <pc:sldChg chg="addSp delSp modSp add ord">
        <pc:chgData name="" userId="f4d8f2ff1fab8696" providerId="LiveId" clId="{6076A033-F814-43EC-BAD4-D3E9CD528560}" dt="2025-07-28T07:57:03.841" v="463" actId="20577"/>
        <pc:sldMkLst>
          <pc:docMk/>
          <pc:sldMk cId="621732278" sldId="281"/>
        </pc:sldMkLst>
        <pc:spChg chg="add del mod">
          <ac:chgData name="" userId="f4d8f2ff1fab8696" providerId="LiveId" clId="{6076A033-F814-43EC-BAD4-D3E9CD528560}" dt="2025-07-27T07:01:29.931" v="253"/>
          <ac:spMkLst>
            <pc:docMk/>
            <pc:sldMk cId="621732278" sldId="281"/>
            <ac:spMk id="2" creationId="{2F525677-DAE0-4139-8570-FD73C9D464B3}"/>
          </ac:spMkLst>
        </pc:spChg>
        <pc:spChg chg="add mod">
          <ac:chgData name="" userId="f4d8f2ff1fab8696" providerId="LiveId" clId="{6076A033-F814-43EC-BAD4-D3E9CD528560}" dt="2025-07-28T07:57:03.841" v="463" actId="20577"/>
          <ac:spMkLst>
            <pc:docMk/>
            <pc:sldMk cId="621732278" sldId="281"/>
            <ac:spMk id="2" creationId="{A3C11115-8084-4CFA-B3C9-1E0CEB869824}"/>
          </ac:spMkLst>
        </pc:spChg>
        <pc:spChg chg="add del mod">
          <ac:chgData name="" userId="f4d8f2ff1fab8696" providerId="LiveId" clId="{6076A033-F814-43EC-BAD4-D3E9CD528560}" dt="2025-07-27T07:00:28.878" v="245"/>
          <ac:spMkLst>
            <pc:docMk/>
            <pc:sldMk cId="621732278" sldId="281"/>
            <ac:spMk id="8" creationId="{7210CE14-C56F-45AC-B2DA-7A45328681D6}"/>
          </ac:spMkLst>
        </pc:spChg>
        <pc:spChg chg="del mod">
          <ac:chgData name="" userId="f4d8f2ff1fab8696" providerId="LiveId" clId="{6076A033-F814-43EC-BAD4-D3E9CD528560}" dt="2025-07-27T06:55:41.713" v="232"/>
          <ac:spMkLst>
            <pc:docMk/>
            <pc:sldMk cId="621732278" sldId="281"/>
            <ac:spMk id="9" creationId="{C986DA02-5A4C-815F-83DF-605B8E02202B}"/>
          </ac:spMkLst>
        </pc:spChg>
        <pc:spChg chg="add mod">
          <ac:chgData name="" userId="f4d8f2ff1fab8696" providerId="LiveId" clId="{6076A033-F814-43EC-BAD4-D3E9CD528560}" dt="2025-07-27T07:03:25.080" v="294" actId="1076"/>
          <ac:spMkLst>
            <pc:docMk/>
            <pc:sldMk cId="621732278" sldId="281"/>
            <ac:spMk id="13" creationId="{298D74E9-3518-4499-A40E-30A746388AC4}"/>
          </ac:spMkLst>
        </pc:spChg>
        <pc:spChg chg="mod">
          <ac:chgData name="" userId="f4d8f2ff1fab8696" providerId="LiveId" clId="{6076A033-F814-43EC-BAD4-D3E9CD528560}" dt="2025-07-27T06:55:01.096" v="225" actId="113"/>
          <ac:spMkLst>
            <pc:docMk/>
            <pc:sldMk cId="621732278" sldId="281"/>
            <ac:spMk id="14" creationId="{ADA49868-C096-C261-4481-C6C03FF8D335}"/>
          </ac:spMkLst>
        </pc:spChg>
        <pc:picChg chg="add mod">
          <ac:chgData name="" userId="f4d8f2ff1fab8696" providerId="LiveId" clId="{6076A033-F814-43EC-BAD4-D3E9CD528560}" dt="2025-07-28T07:56:43.148" v="456" actId="1076"/>
          <ac:picMkLst>
            <pc:docMk/>
            <pc:sldMk cId="621732278" sldId="281"/>
            <ac:picMk id="12" creationId="{F582A496-1CDD-4339-BB5E-37156A80CD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9ED17C-F12B-40CB-B332-C6480DB8E7F0}" type="datetimeFigureOut">
              <a:rPr lang="en-US" smtClean="0"/>
              <a:t>8/14/2025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46629-DDE9-4049-9809-56964DD20E02}" type="slidenum">
              <a:rPr lang="en-US" smtClean="0"/>
              <a:t>‹#›</a:t>
            </a:fld>
            <a:endParaRPr lang="en-US"/>
          </a:p>
        </p:txBody>
      </p:sp>
    </p:spTree>
    <p:extLst>
      <p:ext uri="{BB962C8B-B14F-4D97-AF65-F5344CB8AC3E}">
        <p14:creationId xmlns:p14="http://schemas.microsoft.com/office/powerpoint/2010/main" val="1368661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10A2-2799-FE5F-7ED3-EB6017D4A1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FDB441-FC1F-DE44-F6CE-9071CC1BB9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99C45D-883E-7779-00CB-DBC9446D193D}"/>
              </a:ext>
            </a:extLst>
          </p:cNvPr>
          <p:cNvSpPr>
            <a:spLocks noGrp="1"/>
          </p:cNvSpPr>
          <p:nvPr>
            <p:ph type="dt" sz="half" idx="10"/>
          </p:nvPr>
        </p:nvSpPr>
        <p:spPr/>
        <p:txBody>
          <a:bodyPr/>
          <a:lstStyle/>
          <a:p>
            <a:fld id="{0EB26F32-91A8-4340-868D-5E0A85BEE796}" type="datetime2">
              <a:rPr lang="en-US" smtClean="0"/>
              <a:t>Thursday, August 14, 2025</a:t>
            </a:fld>
            <a:endParaRPr lang="en-US"/>
          </a:p>
        </p:txBody>
      </p:sp>
      <p:sp>
        <p:nvSpPr>
          <p:cNvPr id="5" name="Footer Placeholder 4">
            <a:extLst>
              <a:ext uri="{FF2B5EF4-FFF2-40B4-BE49-F238E27FC236}">
                <a16:creationId xmlns:a16="http://schemas.microsoft.com/office/drawing/2014/main" id="{9AD1568B-516F-8789-445D-64FD01EABD06}"/>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5691F1F7-A3B0-7732-298C-5AA7838DF9BC}"/>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20845790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5FF4E-617C-962C-941E-340049DCD5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D138BE-F1A8-1373-5286-AABA55AAB9A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910DC0-4A9D-C5CF-F3D5-178353D0CA71}"/>
              </a:ext>
            </a:extLst>
          </p:cNvPr>
          <p:cNvSpPr>
            <a:spLocks noGrp="1"/>
          </p:cNvSpPr>
          <p:nvPr>
            <p:ph type="dt" sz="half" idx="10"/>
          </p:nvPr>
        </p:nvSpPr>
        <p:spPr/>
        <p:txBody>
          <a:bodyPr/>
          <a:lstStyle/>
          <a:p>
            <a:fld id="{BF5A2554-468B-44E7-959E-8F3376471EAD}" type="datetime2">
              <a:rPr lang="en-US" smtClean="0"/>
              <a:t>Thursday, August 14, 2025</a:t>
            </a:fld>
            <a:endParaRPr lang="en-US"/>
          </a:p>
        </p:txBody>
      </p:sp>
      <p:sp>
        <p:nvSpPr>
          <p:cNvPr id="5" name="Footer Placeholder 4">
            <a:extLst>
              <a:ext uri="{FF2B5EF4-FFF2-40B4-BE49-F238E27FC236}">
                <a16:creationId xmlns:a16="http://schemas.microsoft.com/office/drawing/2014/main" id="{E56BBE8E-91E4-ED3B-758D-71E53DC60591}"/>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D1F98918-B618-D501-E52B-6715935ACBFB}"/>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39406200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0F9C9-C56B-F97A-7A67-5F80EF6599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DD72EF-0371-4EF3-F13B-00B9A9A288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422793C-09E8-86E9-6545-F087C62A7C7E}"/>
              </a:ext>
            </a:extLst>
          </p:cNvPr>
          <p:cNvSpPr>
            <a:spLocks noGrp="1"/>
          </p:cNvSpPr>
          <p:nvPr>
            <p:ph type="dt" sz="half" idx="10"/>
          </p:nvPr>
        </p:nvSpPr>
        <p:spPr/>
        <p:txBody>
          <a:bodyPr/>
          <a:lstStyle/>
          <a:p>
            <a:fld id="{91B59EFF-22CB-4D13-B295-F8753D08A73B}" type="datetime2">
              <a:rPr lang="en-US" smtClean="0"/>
              <a:t>Thursday, August 14, 2025</a:t>
            </a:fld>
            <a:endParaRPr lang="en-US"/>
          </a:p>
        </p:txBody>
      </p:sp>
      <p:sp>
        <p:nvSpPr>
          <p:cNvPr id="5" name="Footer Placeholder 4">
            <a:extLst>
              <a:ext uri="{FF2B5EF4-FFF2-40B4-BE49-F238E27FC236}">
                <a16:creationId xmlns:a16="http://schemas.microsoft.com/office/drawing/2014/main" id="{B4A0B9DE-F9AF-C044-B742-EE46DA54C508}"/>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C532D79C-9841-FDA0-404A-39F5A0A2B668}"/>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9331596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4FE28-B718-D71C-2EA9-1B632A6367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8EE841-31A1-54CE-183E-5A44AAFA392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73B3D6-8DC7-44CC-9B9B-B93034578A9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4ECBA-B5CC-A31F-146E-6A782EECF512}"/>
              </a:ext>
            </a:extLst>
          </p:cNvPr>
          <p:cNvSpPr>
            <a:spLocks noGrp="1"/>
          </p:cNvSpPr>
          <p:nvPr>
            <p:ph type="dt" sz="half" idx="10"/>
          </p:nvPr>
        </p:nvSpPr>
        <p:spPr/>
        <p:txBody>
          <a:bodyPr/>
          <a:lstStyle/>
          <a:p>
            <a:fld id="{6055A188-44D0-4F09-95D3-72A118F02586}" type="datetime2">
              <a:rPr lang="en-US" smtClean="0"/>
              <a:t>Thursday, August 14, 2025</a:t>
            </a:fld>
            <a:endParaRPr lang="en-US"/>
          </a:p>
        </p:txBody>
      </p:sp>
      <p:sp>
        <p:nvSpPr>
          <p:cNvPr id="6" name="Footer Placeholder 5">
            <a:extLst>
              <a:ext uri="{FF2B5EF4-FFF2-40B4-BE49-F238E27FC236}">
                <a16:creationId xmlns:a16="http://schemas.microsoft.com/office/drawing/2014/main" id="{10FC95A0-8502-DDB7-350B-69039640528D}"/>
              </a:ext>
            </a:extLst>
          </p:cNvPr>
          <p:cNvSpPr>
            <a:spLocks noGrp="1"/>
          </p:cNvSpPr>
          <p:nvPr>
            <p:ph type="ftr" sz="quarter" idx="11"/>
          </p:nvPr>
        </p:nvSpPr>
        <p:spPr/>
        <p:txBody>
          <a:bodyPr/>
          <a:lstStyle/>
          <a:p>
            <a:r>
              <a:rPr lang="en-US"/>
              <a:t>Department of Computer Science &amp; Engineering, PUB</a:t>
            </a:r>
          </a:p>
        </p:txBody>
      </p:sp>
      <p:sp>
        <p:nvSpPr>
          <p:cNvPr id="7" name="Slide Number Placeholder 6">
            <a:extLst>
              <a:ext uri="{FF2B5EF4-FFF2-40B4-BE49-F238E27FC236}">
                <a16:creationId xmlns:a16="http://schemas.microsoft.com/office/drawing/2014/main" id="{38C0FE03-C2CF-FF0D-DA8E-6C168AD822BF}"/>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7085692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391A6-EBFE-2902-D783-CC57008B1D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DF28CB-12B2-F1D2-C8B6-22F92B2B71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6B5252-2284-738C-D8D3-FDA5C61CFC1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61ED42-0717-CEDF-F130-83B329241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E235ED-66DF-805B-6261-6000A6BB05A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E731C4-35E1-2943-49BF-A9F49F00C522}"/>
              </a:ext>
            </a:extLst>
          </p:cNvPr>
          <p:cNvSpPr>
            <a:spLocks noGrp="1"/>
          </p:cNvSpPr>
          <p:nvPr>
            <p:ph type="dt" sz="half" idx="10"/>
          </p:nvPr>
        </p:nvSpPr>
        <p:spPr/>
        <p:txBody>
          <a:bodyPr/>
          <a:lstStyle/>
          <a:p>
            <a:fld id="{8153173E-BCA8-4A3A-AC75-A00FF2F39098}" type="datetime2">
              <a:rPr lang="en-US" smtClean="0"/>
              <a:t>Thursday, August 14, 2025</a:t>
            </a:fld>
            <a:endParaRPr lang="en-US"/>
          </a:p>
        </p:txBody>
      </p:sp>
      <p:sp>
        <p:nvSpPr>
          <p:cNvPr id="8" name="Footer Placeholder 7">
            <a:extLst>
              <a:ext uri="{FF2B5EF4-FFF2-40B4-BE49-F238E27FC236}">
                <a16:creationId xmlns:a16="http://schemas.microsoft.com/office/drawing/2014/main" id="{4578AF73-A3F6-154D-BBC0-390E58653938}"/>
              </a:ext>
            </a:extLst>
          </p:cNvPr>
          <p:cNvSpPr>
            <a:spLocks noGrp="1"/>
          </p:cNvSpPr>
          <p:nvPr>
            <p:ph type="ftr" sz="quarter" idx="11"/>
          </p:nvPr>
        </p:nvSpPr>
        <p:spPr/>
        <p:txBody>
          <a:bodyPr/>
          <a:lstStyle/>
          <a:p>
            <a:r>
              <a:rPr lang="en-US"/>
              <a:t>Department of Computer Science &amp; Engineering, PUB</a:t>
            </a:r>
          </a:p>
        </p:txBody>
      </p:sp>
      <p:sp>
        <p:nvSpPr>
          <p:cNvPr id="9" name="Slide Number Placeholder 8">
            <a:extLst>
              <a:ext uri="{FF2B5EF4-FFF2-40B4-BE49-F238E27FC236}">
                <a16:creationId xmlns:a16="http://schemas.microsoft.com/office/drawing/2014/main" id="{DE319234-EC89-C0B4-E246-54794909DD97}"/>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42796142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0A47B-3B21-F564-4C44-F3F39C8CDF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8F16C-025D-E8CF-C55B-9A48EA5D02D5}"/>
              </a:ext>
            </a:extLst>
          </p:cNvPr>
          <p:cNvSpPr>
            <a:spLocks noGrp="1"/>
          </p:cNvSpPr>
          <p:nvPr>
            <p:ph type="dt" sz="half" idx="10"/>
          </p:nvPr>
        </p:nvSpPr>
        <p:spPr/>
        <p:txBody>
          <a:bodyPr/>
          <a:lstStyle/>
          <a:p>
            <a:fld id="{E58D53B1-6CA6-43AD-AFC7-3BAAD7905353}" type="datetime2">
              <a:rPr lang="en-US" smtClean="0"/>
              <a:t>Thursday, August 14, 2025</a:t>
            </a:fld>
            <a:endParaRPr lang="en-US"/>
          </a:p>
        </p:txBody>
      </p:sp>
      <p:sp>
        <p:nvSpPr>
          <p:cNvPr id="4" name="Footer Placeholder 3">
            <a:extLst>
              <a:ext uri="{FF2B5EF4-FFF2-40B4-BE49-F238E27FC236}">
                <a16:creationId xmlns:a16="http://schemas.microsoft.com/office/drawing/2014/main" id="{E086437C-4EC8-2BEE-1B01-39179C281BB4}"/>
              </a:ext>
            </a:extLst>
          </p:cNvPr>
          <p:cNvSpPr>
            <a:spLocks noGrp="1"/>
          </p:cNvSpPr>
          <p:nvPr>
            <p:ph type="ftr" sz="quarter" idx="11"/>
          </p:nvPr>
        </p:nvSpPr>
        <p:spPr/>
        <p:txBody>
          <a:bodyPr/>
          <a:lstStyle/>
          <a:p>
            <a:r>
              <a:rPr lang="en-US"/>
              <a:t>Department of Computer Science &amp; Engineering, PUB</a:t>
            </a:r>
          </a:p>
        </p:txBody>
      </p:sp>
      <p:sp>
        <p:nvSpPr>
          <p:cNvPr id="5" name="Slide Number Placeholder 4">
            <a:extLst>
              <a:ext uri="{FF2B5EF4-FFF2-40B4-BE49-F238E27FC236}">
                <a16:creationId xmlns:a16="http://schemas.microsoft.com/office/drawing/2014/main" id="{9529B9CD-31B6-F216-04D7-2D8490988F43}"/>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34019787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5D2B2E-62E1-D996-0F7D-965298FD88A5}"/>
              </a:ext>
            </a:extLst>
          </p:cNvPr>
          <p:cNvSpPr>
            <a:spLocks noGrp="1"/>
          </p:cNvSpPr>
          <p:nvPr>
            <p:ph type="dt" sz="half" idx="10"/>
          </p:nvPr>
        </p:nvSpPr>
        <p:spPr/>
        <p:txBody>
          <a:bodyPr/>
          <a:lstStyle/>
          <a:p>
            <a:fld id="{E8161911-596A-4E6F-AD9C-B71EEA0CF3A6}" type="datetime2">
              <a:rPr lang="en-US" smtClean="0"/>
              <a:t>Thursday, August 14, 2025</a:t>
            </a:fld>
            <a:endParaRPr lang="en-US"/>
          </a:p>
        </p:txBody>
      </p:sp>
      <p:sp>
        <p:nvSpPr>
          <p:cNvPr id="3" name="Footer Placeholder 2">
            <a:extLst>
              <a:ext uri="{FF2B5EF4-FFF2-40B4-BE49-F238E27FC236}">
                <a16:creationId xmlns:a16="http://schemas.microsoft.com/office/drawing/2014/main" id="{F5718A65-0619-BBB3-D0F3-1A04A23521B8}"/>
              </a:ext>
            </a:extLst>
          </p:cNvPr>
          <p:cNvSpPr>
            <a:spLocks noGrp="1"/>
          </p:cNvSpPr>
          <p:nvPr>
            <p:ph type="ftr" sz="quarter" idx="11"/>
          </p:nvPr>
        </p:nvSpPr>
        <p:spPr/>
        <p:txBody>
          <a:bodyPr/>
          <a:lstStyle/>
          <a:p>
            <a:r>
              <a:rPr lang="en-US"/>
              <a:t>Department of Computer Science &amp; Engineering, PUB</a:t>
            </a:r>
          </a:p>
        </p:txBody>
      </p:sp>
      <p:sp>
        <p:nvSpPr>
          <p:cNvPr id="4" name="Slide Number Placeholder 3">
            <a:extLst>
              <a:ext uri="{FF2B5EF4-FFF2-40B4-BE49-F238E27FC236}">
                <a16:creationId xmlns:a16="http://schemas.microsoft.com/office/drawing/2014/main" id="{C62E0F82-47F7-3C1D-3991-A97DD022121C}"/>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14513218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FD86-268A-E8B1-DF2B-67C9077B41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599890-208F-07F8-6D61-A8A5E54507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65E985-C31A-EC84-643D-A298C147F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988AD1E-D15F-13DF-D0EE-3045E9BD972F}"/>
              </a:ext>
            </a:extLst>
          </p:cNvPr>
          <p:cNvSpPr>
            <a:spLocks noGrp="1"/>
          </p:cNvSpPr>
          <p:nvPr>
            <p:ph type="dt" sz="half" idx="10"/>
          </p:nvPr>
        </p:nvSpPr>
        <p:spPr/>
        <p:txBody>
          <a:bodyPr/>
          <a:lstStyle/>
          <a:p>
            <a:fld id="{36C82B00-7004-42D2-934B-515D1C4746E6}" type="datetime2">
              <a:rPr lang="en-US" smtClean="0"/>
              <a:t>Thursday, August 14, 2025</a:t>
            </a:fld>
            <a:endParaRPr lang="en-US"/>
          </a:p>
        </p:txBody>
      </p:sp>
      <p:sp>
        <p:nvSpPr>
          <p:cNvPr id="6" name="Footer Placeholder 5">
            <a:extLst>
              <a:ext uri="{FF2B5EF4-FFF2-40B4-BE49-F238E27FC236}">
                <a16:creationId xmlns:a16="http://schemas.microsoft.com/office/drawing/2014/main" id="{08A0CA75-AA80-CA9F-0583-3D76A1D1EB84}"/>
              </a:ext>
            </a:extLst>
          </p:cNvPr>
          <p:cNvSpPr>
            <a:spLocks noGrp="1"/>
          </p:cNvSpPr>
          <p:nvPr>
            <p:ph type="ftr" sz="quarter" idx="11"/>
          </p:nvPr>
        </p:nvSpPr>
        <p:spPr/>
        <p:txBody>
          <a:bodyPr/>
          <a:lstStyle/>
          <a:p>
            <a:r>
              <a:rPr lang="en-US"/>
              <a:t>Department of Computer Science &amp; Engineering, PUB</a:t>
            </a:r>
          </a:p>
        </p:txBody>
      </p:sp>
      <p:sp>
        <p:nvSpPr>
          <p:cNvPr id="7" name="Slide Number Placeholder 6">
            <a:extLst>
              <a:ext uri="{FF2B5EF4-FFF2-40B4-BE49-F238E27FC236}">
                <a16:creationId xmlns:a16="http://schemas.microsoft.com/office/drawing/2014/main" id="{F873539F-6D07-DFE8-9D8E-4D0C9B7DFA87}"/>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16450510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43D71-67DB-BE48-8413-73578AF97B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5F6471-82C4-C1F2-457E-5700D30BEA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DEDCB74-DE1A-64CE-E074-6211862034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E2EFCFA-3DB2-F7EC-E730-4AAEBE53AEAD}"/>
              </a:ext>
            </a:extLst>
          </p:cNvPr>
          <p:cNvSpPr>
            <a:spLocks noGrp="1"/>
          </p:cNvSpPr>
          <p:nvPr>
            <p:ph type="dt" sz="half" idx="10"/>
          </p:nvPr>
        </p:nvSpPr>
        <p:spPr/>
        <p:txBody>
          <a:bodyPr/>
          <a:lstStyle/>
          <a:p>
            <a:fld id="{B0C2A020-4EAE-4E4F-8C9E-951F4F971C76}" type="datetime2">
              <a:rPr lang="en-US" smtClean="0"/>
              <a:t>Thursday, August 14, 2025</a:t>
            </a:fld>
            <a:endParaRPr lang="en-US"/>
          </a:p>
        </p:txBody>
      </p:sp>
      <p:sp>
        <p:nvSpPr>
          <p:cNvPr id="6" name="Footer Placeholder 5">
            <a:extLst>
              <a:ext uri="{FF2B5EF4-FFF2-40B4-BE49-F238E27FC236}">
                <a16:creationId xmlns:a16="http://schemas.microsoft.com/office/drawing/2014/main" id="{1BDC0783-E417-3900-5A15-F51D98BC1BA1}"/>
              </a:ext>
            </a:extLst>
          </p:cNvPr>
          <p:cNvSpPr>
            <a:spLocks noGrp="1"/>
          </p:cNvSpPr>
          <p:nvPr>
            <p:ph type="ftr" sz="quarter" idx="11"/>
          </p:nvPr>
        </p:nvSpPr>
        <p:spPr/>
        <p:txBody>
          <a:bodyPr/>
          <a:lstStyle/>
          <a:p>
            <a:r>
              <a:rPr lang="en-US"/>
              <a:t>Department of Computer Science &amp; Engineering, PUB</a:t>
            </a:r>
          </a:p>
        </p:txBody>
      </p:sp>
      <p:sp>
        <p:nvSpPr>
          <p:cNvPr id="7" name="Slide Number Placeholder 6">
            <a:extLst>
              <a:ext uri="{FF2B5EF4-FFF2-40B4-BE49-F238E27FC236}">
                <a16:creationId xmlns:a16="http://schemas.microsoft.com/office/drawing/2014/main" id="{6F6B4EA3-183F-C894-634E-C87BFD306370}"/>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41062460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1E11E-BBAC-E306-F0F6-8C56428592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5E9375-E4F8-5E47-F749-0E43582A325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69470-97B2-066F-3D3E-E9A4FB0264D6}"/>
              </a:ext>
            </a:extLst>
          </p:cNvPr>
          <p:cNvSpPr>
            <a:spLocks noGrp="1"/>
          </p:cNvSpPr>
          <p:nvPr>
            <p:ph type="dt" sz="half" idx="10"/>
          </p:nvPr>
        </p:nvSpPr>
        <p:spPr/>
        <p:txBody>
          <a:bodyPr/>
          <a:lstStyle/>
          <a:p>
            <a:fld id="{7C1C06AA-0BDC-429B-AE85-E36D6466E38F}" type="datetime2">
              <a:rPr lang="en-US" smtClean="0"/>
              <a:t>Thursday, August 14, 2025</a:t>
            </a:fld>
            <a:endParaRPr lang="en-US"/>
          </a:p>
        </p:txBody>
      </p:sp>
      <p:sp>
        <p:nvSpPr>
          <p:cNvPr id="5" name="Footer Placeholder 4">
            <a:extLst>
              <a:ext uri="{FF2B5EF4-FFF2-40B4-BE49-F238E27FC236}">
                <a16:creationId xmlns:a16="http://schemas.microsoft.com/office/drawing/2014/main" id="{E0706243-198A-3AF4-6167-B23E62CC7287}"/>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B4F4819B-7F1A-1712-57FD-A38659BB87D1}"/>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26940168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2B1DF7-140F-18DE-6C89-ED937C3F58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AED161-72AA-0748-E7D9-A9002D3E617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42EE77-787F-8250-D203-870E3BDCC612}"/>
              </a:ext>
            </a:extLst>
          </p:cNvPr>
          <p:cNvSpPr>
            <a:spLocks noGrp="1"/>
          </p:cNvSpPr>
          <p:nvPr>
            <p:ph type="dt" sz="half" idx="10"/>
          </p:nvPr>
        </p:nvSpPr>
        <p:spPr/>
        <p:txBody>
          <a:bodyPr/>
          <a:lstStyle/>
          <a:p>
            <a:fld id="{B911CE58-21A7-48A7-8899-442DC8E1F8DD}" type="datetime2">
              <a:rPr lang="en-US" smtClean="0"/>
              <a:t>Thursday, August 14, 2025</a:t>
            </a:fld>
            <a:endParaRPr lang="en-US"/>
          </a:p>
        </p:txBody>
      </p:sp>
      <p:sp>
        <p:nvSpPr>
          <p:cNvPr id="5" name="Footer Placeholder 4">
            <a:extLst>
              <a:ext uri="{FF2B5EF4-FFF2-40B4-BE49-F238E27FC236}">
                <a16:creationId xmlns:a16="http://schemas.microsoft.com/office/drawing/2014/main" id="{A755A889-6AB3-60FB-051F-B1DD3B910BB0}"/>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9C774A74-18F7-DE41-0F12-EABFBBB6F4AA}"/>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1708299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ED10EF-3C6F-5653-1C40-257FA515FA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F79F23-7CA2-A3B1-C6F7-BBA7DE0077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6A714A-5F1A-95E3-6CA0-47E2358F4C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2E878E-58C3-45D4-9533-4D4E368A52BC}" type="datetime2">
              <a:rPr lang="en-US" smtClean="0"/>
              <a:t>Thursday, August 14, 2025</a:t>
            </a:fld>
            <a:endParaRPr lang="en-US"/>
          </a:p>
        </p:txBody>
      </p:sp>
      <p:sp>
        <p:nvSpPr>
          <p:cNvPr id="5" name="Footer Placeholder 4">
            <a:extLst>
              <a:ext uri="{FF2B5EF4-FFF2-40B4-BE49-F238E27FC236}">
                <a16:creationId xmlns:a16="http://schemas.microsoft.com/office/drawing/2014/main" id="{B217EFD6-72B9-7DEE-473C-C500D5DC1A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Science &amp; Engineering, PUB</a:t>
            </a:r>
          </a:p>
        </p:txBody>
      </p:sp>
      <p:sp>
        <p:nvSpPr>
          <p:cNvPr id="6" name="Slide Number Placeholder 5">
            <a:extLst>
              <a:ext uri="{FF2B5EF4-FFF2-40B4-BE49-F238E27FC236}">
                <a16:creationId xmlns:a16="http://schemas.microsoft.com/office/drawing/2014/main" id="{6D0DB06F-F648-F322-F9B5-751401074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5837F-C97E-4545-805A-A81BC2BC5EE4}" type="slidenum">
              <a:rPr lang="en-US" smtClean="0"/>
              <a:t>‹#›</a:t>
            </a:fld>
            <a:endParaRPr lang="en-US"/>
          </a:p>
        </p:txBody>
      </p:sp>
    </p:spTree>
    <p:extLst>
      <p:ext uri="{BB962C8B-B14F-4D97-AF65-F5344CB8AC3E}">
        <p14:creationId xmlns:p14="http://schemas.microsoft.com/office/powerpoint/2010/main" val="2295838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56/NEJMp1702071"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B66772-B55C-1D12-5D61-E8EC4706175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1788784-87C6-172F-A601-27FBE6CC7B77}"/>
              </a:ext>
            </a:extLst>
          </p:cNvPr>
          <p:cNvSpPr/>
          <p:nvPr/>
        </p:nvSpPr>
        <p:spPr>
          <a:xfrm>
            <a:off x="0" y="0"/>
            <a:ext cx="12192000" cy="3429000"/>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98F0BE6-78F2-02F9-D248-84F8830244BB}"/>
              </a:ext>
            </a:extLst>
          </p:cNvPr>
          <p:cNvSpPr>
            <a:spLocks noGrp="1"/>
          </p:cNvSpPr>
          <p:nvPr>
            <p:ph type="ctrTitle"/>
          </p:nvPr>
        </p:nvSpPr>
        <p:spPr>
          <a:xfrm>
            <a:off x="1767838" y="2817327"/>
            <a:ext cx="9144000" cy="619813"/>
          </a:xfrm>
          <a:effectLst>
            <a:outerShdw blurRad="63500" sx="102000" sy="102000" algn="ctr" rotWithShape="0">
              <a:prstClr val="black">
                <a:alpha val="40000"/>
              </a:prstClr>
            </a:outerShdw>
          </a:effectLst>
        </p:spPr>
        <p:txBody>
          <a:bodyPr>
            <a:noAutofit/>
          </a:bodyPr>
          <a:lstStyle/>
          <a:p>
            <a:r>
              <a:rPr lang="en-US" sz="3200" b="1" dirty="0">
                <a:latin typeface="Times New Roman" panose="02020603050405020304" pitchFamily="18" charset="0"/>
                <a:cs typeface="Times New Roman" panose="02020603050405020304" pitchFamily="18" charset="0"/>
              </a:rPr>
              <a:t>"AI-Based Drug Recommendation System Using Pharmacy Records “</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E6EABC3-6E3F-A7EB-AC1E-ED8D4674875C}"/>
              </a:ext>
            </a:extLst>
          </p:cNvPr>
          <p:cNvSpPr/>
          <p:nvPr/>
        </p:nvSpPr>
        <p:spPr>
          <a:xfrm>
            <a:off x="0" y="5946468"/>
            <a:ext cx="12192000" cy="931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A3809E84-3498-F2DF-68F1-37E995B0A3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9203" y="641463"/>
            <a:ext cx="753594" cy="746088"/>
          </a:xfrm>
          <a:prstGeom prst="rect">
            <a:avLst/>
          </a:prstGeom>
          <a:effectLst>
            <a:outerShdw blurRad="50800" dist="38100" dir="2700000" algn="tl" rotWithShape="0">
              <a:prstClr val="black">
                <a:alpha val="40000"/>
              </a:prstClr>
            </a:outerShdw>
          </a:effectLst>
        </p:spPr>
      </p:pic>
      <p:sp>
        <p:nvSpPr>
          <p:cNvPr id="14" name="Subtitle 2">
            <a:extLst>
              <a:ext uri="{FF2B5EF4-FFF2-40B4-BE49-F238E27FC236}">
                <a16:creationId xmlns:a16="http://schemas.microsoft.com/office/drawing/2014/main" id="{DC9AC173-7758-3BAA-0295-E642544F43AA}"/>
              </a:ext>
            </a:extLst>
          </p:cNvPr>
          <p:cNvSpPr>
            <a:spLocks noGrp="1"/>
          </p:cNvSpPr>
          <p:nvPr/>
        </p:nvSpPr>
        <p:spPr>
          <a:xfrm>
            <a:off x="1523998" y="1668557"/>
            <a:ext cx="9144000" cy="4050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200" dirty="0">
                <a:latin typeface="Times New Roman" panose="02020603050405020304" pitchFamily="18" charset="0"/>
                <a:cs typeface="Times New Roman" panose="02020603050405020304" pitchFamily="18" charset="0"/>
              </a:rPr>
              <a:t>Presentation on</a:t>
            </a:r>
          </a:p>
        </p:txBody>
      </p:sp>
      <p:sp>
        <p:nvSpPr>
          <p:cNvPr id="15" name="TextBox 14">
            <a:extLst>
              <a:ext uri="{FF2B5EF4-FFF2-40B4-BE49-F238E27FC236}">
                <a16:creationId xmlns:a16="http://schemas.microsoft.com/office/drawing/2014/main" id="{3EC9586B-4521-9380-81B1-B4C07911EFC3}"/>
              </a:ext>
            </a:extLst>
          </p:cNvPr>
          <p:cNvSpPr txBox="1"/>
          <p:nvPr/>
        </p:nvSpPr>
        <p:spPr>
          <a:xfrm>
            <a:off x="3282222" y="6089006"/>
            <a:ext cx="5627553" cy="646331"/>
          </a:xfrm>
          <a:prstGeom prst="rect">
            <a:avLst/>
          </a:prstGeom>
          <a:noFill/>
        </p:spPr>
        <p:txBody>
          <a:bodyPr wrap="square" rtlCol="0">
            <a:sp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Department of Computer Science &amp; Engineering</a:t>
            </a:r>
          </a:p>
          <a:p>
            <a:pPr algn="ctr"/>
            <a:r>
              <a:rPr lang="en-US" sz="1600" dirty="0">
                <a:solidFill>
                  <a:schemeClr val="bg1"/>
                </a:solidFill>
                <a:latin typeface="Times New Roman" panose="02020603050405020304" pitchFamily="18" charset="0"/>
                <a:cs typeface="Times New Roman" panose="02020603050405020304" pitchFamily="18" charset="0"/>
              </a:rPr>
              <a:t>Pundra University of Science &amp; Technology, Bogura – 5800 </a:t>
            </a:r>
          </a:p>
        </p:txBody>
      </p:sp>
      <p:grpSp>
        <p:nvGrpSpPr>
          <p:cNvPr id="4" name="Group 3">
            <a:extLst>
              <a:ext uri="{FF2B5EF4-FFF2-40B4-BE49-F238E27FC236}">
                <a16:creationId xmlns:a16="http://schemas.microsoft.com/office/drawing/2014/main" id="{43D4F9AD-B535-52BB-EE98-41BFEEDAB561}"/>
              </a:ext>
            </a:extLst>
          </p:cNvPr>
          <p:cNvGrpSpPr/>
          <p:nvPr/>
        </p:nvGrpSpPr>
        <p:grpSpPr>
          <a:xfrm>
            <a:off x="1523998" y="3521840"/>
            <a:ext cx="4091611" cy="2712860"/>
            <a:chOff x="1209040" y="2139718"/>
            <a:chExt cx="3881120" cy="3575209"/>
          </a:xfrm>
        </p:grpSpPr>
        <p:sp>
          <p:nvSpPr>
            <p:cNvPr id="5" name="TextBox 4">
              <a:extLst>
                <a:ext uri="{FF2B5EF4-FFF2-40B4-BE49-F238E27FC236}">
                  <a16:creationId xmlns:a16="http://schemas.microsoft.com/office/drawing/2014/main" id="{558D16E7-323C-1E02-33D8-210F35899D1F}"/>
                </a:ext>
              </a:extLst>
            </p:cNvPr>
            <p:cNvSpPr txBox="1"/>
            <p:nvPr/>
          </p:nvSpPr>
          <p:spPr>
            <a:xfrm>
              <a:off x="2418104" y="2139718"/>
              <a:ext cx="1389873" cy="486733"/>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Presented By</a:t>
              </a:r>
            </a:p>
          </p:txBody>
        </p:sp>
        <p:sp>
          <p:nvSpPr>
            <p:cNvPr id="6" name="TextBox 5">
              <a:extLst>
                <a:ext uri="{FF2B5EF4-FFF2-40B4-BE49-F238E27FC236}">
                  <a16:creationId xmlns:a16="http://schemas.microsoft.com/office/drawing/2014/main" id="{497BB801-D31A-DFDC-8A5A-08E7F59F3E27}"/>
                </a:ext>
              </a:extLst>
            </p:cNvPr>
            <p:cNvSpPr txBox="1"/>
            <p:nvPr/>
          </p:nvSpPr>
          <p:spPr>
            <a:xfrm>
              <a:off x="1209040" y="2632284"/>
              <a:ext cx="3881120" cy="3082643"/>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Md.Riazul Hasan</a:t>
              </a:r>
            </a:p>
            <a:p>
              <a:pPr algn="ctr"/>
              <a:r>
                <a:rPr lang="en-US" dirty="0">
                  <a:latin typeface="Times New Roman" panose="02020603050405020304" pitchFamily="18" charset="0"/>
                  <a:cs typeface="Times New Roman" panose="02020603050405020304" pitchFamily="18" charset="0"/>
                </a:rPr>
                <a:t>Program: B.Sc. in CSE (HSC)</a:t>
              </a:r>
            </a:p>
            <a:p>
              <a:pPr algn="ctr"/>
              <a:r>
                <a:rPr lang="en-US" dirty="0">
                  <a:latin typeface="Times New Roman" panose="02020603050405020304" pitchFamily="18" charset="0"/>
                  <a:cs typeface="Times New Roman" panose="02020603050405020304" pitchFamily="18" charset="0"/>
                </a:rPr>
                <a:t>ID:  01921206025</a:t>
              </a:r>
            </a:p>
            <a:p>
              <a:pPr algn="ctr"/>
              <a:r>
                <a:rPr lang="en-US" dirty="0">
                  <a:latin typeface="Times New Roman" panose="02020603050405020304" pitchFamily="18" charset="0"/>
                  <a:cs typeface="Times New Roman" panose="02020603050405020304" pitchFamily="18" charset="0"/>
                </a:rPr>
                <a:t>Batch: 19</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a:t>
              </a:r>
            </a:p>
            <a:p>
              <a:pPr algn="ctr"/>
              <a:r>
                <a:rPr lang="en-US" dirty="0">
                  <a:latin typeface="Times New Roman" panose="02020603050405020304" pitchFamily="18" charset="0"/>
                  <a:cs typeface="Times New Roman" panose="02020603050405020304" pitchFamily="18" charset="0"/>
                </a:rPr>
                <a:t>Semester: 8</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a:t>
              </a:r>
            </a:p>
            <a:p>
              <a:pPr algn="ctr"/>
              <a:r>
                <a:rPr lang="en-US" dirty="0">
                  <a:latin typeface="Times New Roman" panose="02020603050405020304" pitchFamily="18" charset="0"/>
                  <a:cs typeface="Times New Roman" panose="02020603050405020304" pitchFamily="18" charset="0"/>
                </a:rPr>
                <a:t>Session: Spring - 2025</a:t>
              </a:r>
            </a:p>
            <a:p>
              <a:pPr algn="ctr"/>
              <a:endParaRPr lang="en-US" i="1" dirty="0">
                <a:latin typeface="Times New Roman" panose="02020603050405020304" pitchFamily="18" charset="0"/>
                <a:cs typeface="Times New Roman" panose="02020603050405020304" pitchFamily="18" charset="0"/>
              </a:endParaRPr>
            </a:p>
            <a:p>
              <a:pPr algn="ctr"/>
              <a:endParaRPr lang="en-US" i="1" dirty="0">
                <a:latin typeface="Times New Roman" panose="02020603050405020304" pitchFamily="18" charset="0"/>
                <a:cs typeface="Times New Roman" panose="02020603050405020304" pitchFamily="18" charset="0"/>
              </a:endParaRPr>
            </a:p>
          </p:txBody>
        </p:sp>
      </p:grpSp>
      <p:grpSp>
        <p:nvGrpSpPr>
          <p:cNvPr id="8" name="Group 7">
            <a:extLst>
              <a:ext uri="{FF2B5EF4-FFF2-40B4-BE49-F238E27FC236}">
                <a16:creationId xmlns:a16="http://schemas.microsoft.com/office/drawing/2014/main" id="{69418CE6-4989-F65F-CD6D-46B83EC44A92}"/>
              </a:ext>
            </a:extLst>
          </p:cNvPr>
          <p:cNvGrpSpPr/>
          <p:nvPr/>
        </p:nvGrpSpPr>
        <p:grpSpPr>
          <a:xfrm>
            <a:off x="8133522" y="3521840"/>
            <a:ext cx="3200400" cy="1923747"/>
            <a:chOff x="1209040" y="2216642"/>
            <a:chExt cx="3881120" cy="1923747"/>
          </a:xfrm>
        </p:grpSpPr>
        <p:sp>
          <p:nvSpPr>
            <p:cNvPr id="9" name="TextBox 8">
              <a:extLst>
                <a:ext uri="{FF2B5EF4-FFF2-40B4-BE49-F238E27FC236}">
                  <a16:creationId xmlns:a16="http://schemas.microsoft.com/office/drawing/2014/main" id="{941A4E93-3B65-0F90-F077-DBBEBCB49231}"/>
                </a:ext>
              </a:extLst>
            </p:cNvPr>
            <p:cNvSpPr txBox="1"/>
            <p:nvPr/>
          </p:nvSpPr>
          <p:spPr>
            <a:xfrm>
              <a:off x="2169276" y="2216642"/>
              <a:ext cx="1960647"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Supervised By</a:t>
              </a:r>
            </a:p>
          </p:txBody>
        </p:sp>
        <p:sp>
          <p:nvSpPr>
            <p:cNvPr id="11" name="TextBox 10">
              <a:extLst>
                <a:ext uri="{FF2B5EF4-FFF2-40B4-BE49-F238E27FC236}">
                  <a16:creationId xmlns:a16="http://schemas.microsoft.com/office/drawing/2014/main" id="{F104304E-6177-217B-FE0F-EFF08C6D9242}"/>
                </a:ext>
              </a:extLst>
            </p:cNvPr>
            <p:cNvSpPr txBox="1"/>
            <p:nvPr/>
          </p:nvSpPr>
          <p:spPr>
            <a:xfrm>
              <a:off x="1209040" y="2632284"/>
              <a:ext cx="3881120" cy="1508105"/>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Mst. Sahela Rahman</a:t>
              </a:r>
            </a:p>
            <a:p>
              <a:pPr algn="ctr"/>
              <a:r>
                <a:rPr lang="en-US" dirty="0">
                  <a:latin typeface="Times New Roman" panose="02020603050405020304" pitchFamily="18" charset="0"/>
                  <a:cs typeface="Times New Roman" panose="02020603050405020304" pitchFamily="18" charset="0"/>
                </a:rPr>
                <a:t>Lecturer</a:t>
              </a:r>
            </a:p>
            <a:p>
              <a:pPr algn="ctr"/>
              <a:r>
                <a:rPr lang="en-US" dirty="0">
                  <a:latin typeface="Times New Roman" panose="02020603050405020304" pitchFamily="18" charset="0"/>
                  <a:cs typeface="Times New Roman" panose="02020603050405020304" pitchFamily="18" charset="0"/>
                </a:rPr>
                <a:t>Dept. of CSE, PUB </a:t>
              </a:r>
            </a:p>
            <a:p>
              <a:endParaRPr lang="en-US" i="1" dirty="0">
                <a:latin typeface="Times New Roman" panose="02020603050405020304" pitchFamily="18" charset="0"/>
                <a:cs typeface="Times New Roman" panose="02020603050405020304" pitchFamily="18" charset="0"/>
              </a:endParaRPr>
            </a:p>
            <a:p>
              <a:endParaRPr lang="en-US" i="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0105039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92D2D3C-6D65-666A-F31D-9B6019426E6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388CB1B-A43A-BE41-5EF7-F8E75B602485}"/>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408431F-F848-D589-F3FD-3000CE280D9A}"/>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61623BD3-272D-7E5C-15F6-BA3C0AA1CBE6}"/>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99204495-AEDE-C6BB-FF37-725EC13706C9}"/>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6E7D443C-A9DD-3101-5592-C663025D0FF0}"/>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2</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F3E920C-4154-EE3F-FC3F-CA8908153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B8262C06-A001-4FB5-44DA-941ED2302A25}"/>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F0855F84-7D5E-FD02-1DAA-D81F165B76A2}"/>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Outline</a:t>
            </a:r>
          </a:p>
        </p:txBody>
      </p:sp>
      <p:sp>
        <p:nvSpPr>
          <p:cNvPr id="2" name="TextBox 1">
            <a:extLst>
              <a:ext uri="{FF2B5EF4-FFF2-40B4-BE49-F238E27FC236}">
                <a16:creationId xmlns:a16="http://schemas.microsoft.com/office/drawing/2014/main" id="{6BC6C76A-A86F-10CD-8AA9-08DD876FDA3C}"/>
              </a:ext>
            </a:extLst>
          </p:cNvPr>
          <p:cNvSpPr txBox="1"/>
          <p:nvPr/>
        </p:nvSpPr>
        <p:spPr>
          <a:xfrm>
            <a:off x="1273976" y="1434436"/>
            <a:ext cx="10079824" cy="3416320"/>
          </a:xfrm>
          <a:prstGeom prst="rect">
            <a:avLst/>
          </a:prstGeom>
          <a:noFill/>
        </p:spPr>
        <p:txBody>
          <a:bodyPr wrap="square" rtlCol="0">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Introduction</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Objectives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Literature Review</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Problem Statement</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Dataset</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System Overview</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Methodology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Result Analysis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Beneficiaries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Conclusion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Future Work</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Refences</a:t>
            </a:r>
          </a:p>
        </p:txBody>
      </p:sp>
    </p:spTree>
    <p:extLst>
      <p:ext uri="{BB962C8B-B14F-4D97-AF65-F5344CB8AC3E}">
        <p14:creationId xmlns:p14="http://schemas.microsoft.com/office/powerpoint/2010/main" val="38235690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4E237D4-C3EC-D2A7-C20E-B3DC940278B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B84D36D-3BC5-9B1F-6B68-375699CFC73E}"/>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8C76FE1-7EA3-CCF7-0A2A-E0B3FC3FC6E3}"/>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363E76BD-7964-15CE-AE5B-D9E7DC457FFE}"/>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C3301E0-6453-6EFA-D782-00331C274194}"/>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7AFC1256-DF5D-1BAF-FA43-F3ADBA36CA4E}"/>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3</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0138384-90C2-81BE-3308-769C9ABD82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CB4E7E67-917B-A0E7-DFAC-8D7180804ECA}"/>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21DC1782-A99A-56BF-529A-55EA36C5D983}"/>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Introduction</a:t>
            </a:r>
          </a:p>
        </p:txBody>
      </p:sp>
      <p:sp>
        <p:nvSpPr>
          <p:cNvPr id="2" name="TextBox 1">
            <a:extLst>
              <a:ext uri="{FF2B5EF4-FFF2-40B4-BE49-F238E27FC236}">
                <a16:creationId xmlns:a16="http://schemas.microsoft.com/office/drawing/2014/main" id="{1488030F-6781-E30C-C2EA-89EFDDD97879}"/>
              </a:ext>
            </a:extLst>
          </p:cNvPr>
          <p:cNvSpPr txBox="1"/>
          <p:nvPr/>
        </p:nvSpPr>
        <p:spPr>
          <a:xfrm>
            <a:off x="1273976" y="1772809"/>
            <a:ext cx="9043504" cy="1754326"/>
          </a:xfrm>
          <a:prstGeom prst="rect">
            <a:avLst/>
          </a:prstGeom>
          <a:noFill/>
        </p:spPr>
        <p:txBody>
          <a:bodyPr wrap="square" rtlCol="0">
            <a:spAutoFit/>
          </a:bodyPr>
          <a:lstStyle/>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"AI + Pharmacy Records = Faster &amp; Accurate Disease Diagnosis"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Manual Diagnosis →  Slow &amp; Error-prone</a:t>
            </a:r>
          </a:p>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AI-based Pharmacy Analysis → Fast &amp; Data-driven</a:t>
            </a:r>
          </a:p>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Better Patient Outcomes →  Early Detection, Accurate Treatment</a:t>
            </a:r>
          </a:p>
          <a:p>
            <a:endParaRPr lang="en-US" dirty="0"/>
          </a:p>
        </p:txBody>
      </p:sp>
    </p:spTree>
    <p:extLst>
      <p:ext uri="{BB962C8B-B14F-4D97-AF65-F5344CB8AC3E}">
        <p14:creationId xmlns:p14="http://schemas.microsoft.com/office/powerpoint/2010/main" val="28806221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279AF21-5248-8137-E3F5-0327F49C1B8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4CCAF60-B8B2-115A-F5A9-CF59EA5EB712}"/>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8CB0D02-7BEF-B68F-5353-FF8F827FB3D4}"/>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DE53D78-D1D4-B6BF-D3E7-B61DF103C74F}"/>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D2998CB3-6305-E569-ACF6-16E02FA06D23}"/>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D89727CD-22C3-BF5F-3DF7-BD321CB3678F}"/>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4</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442AC2F-2743-C437-9EAB-64B561FCD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37A2BBEC-BB8F-160B-9E04-5DCD849ACAD8}"/>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E23A58D8-B3D3-7398-E46A-DEC6560F5715}"/>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Objectives</a:t>
            </a:r>
          </a:p>
        </p:txBody>
      </p:sp>
      <p:sp>
        <p:nvSpPr>
          <p:cNvPr id="2" name="TextBox 1">
            <a:extLst>
              <a:ext uri="{FF2B5EF4-FFF2-40B4-BE49-F238E27FC236}">
                <a16:creationId xmlns:a16="http://schemas.microsoft.com/office/drawing/2014/main" id="{0551AB33-53F8-0645-4D3C-48063DC85AD2}"/>
              </a:ext>
            </a:extLst>
          </p:cNvPr>
          <p:cNvSpPr txBox="1"/>
          <p:nvPr/>
        </p:nvSpPr>
        <p:spPr>
          <a:xfrm>
            <a:off x="1273976" y="1520423"/>
            <a:ext cx="10079824" cy="1477328"/>
          </a:xfrm>
          <a:prstGeom prst="rect">
            <a:avLst/>
          </a:prstGeom>
          <a:noFill/>
        </p:spPr>
        <p:txBody>
          <a:bodyPr wrap="square" rtlCol="0">
            <a:spAutoFit/>
          </a:bodyPr>
          <a:lstStyle/>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Develop an ML-based model for drug recommendation using pharmacy records.</a:t>
            </a:r>
          </a:p>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Identify patterns in frequently diagnosed diseases.</a:t>
            </a:r>
          </a:p>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Ensure accurate and reliable medication prediction.</a:t>
            </a:r>
          </a:p>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Support healthcare providers with data-driven decision-making.</a:t>
            </a:r>
          </a:p>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Can be integrated into EHR or pharmacy management systems.</a:t>
            </a:r>
          </a:p>
        </p:txBody>
      </p:sp>
    </p:spTree>
    <p:extLst>
      <p:ext uri="{BB962C8B-B14F-4D97-AF65-F5344CB8AC3E}">
        <p14:creationId xmlns:p14="http://schemas.microsoft.com/office/powerpoint/2010/main" val="32192229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2A0CE22-DF05-7C7D-9440-D660236EA63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67910DE-0736-7AF8-B7DF-A15378F8197B}"/>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0D918E6-3C04-8F0F-4BBC-7DA70E0EE3A3}"/>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61AC07F1-1F6C-3269-14E2-6D03FE30B7BA}"/>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9040464-D86E-E3E2-102E-87F1E2253B2B}"/>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FECF4FAC-2EDA-87E0-D21F-0AD3F71151F9}"/>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5</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41C5E80-84E3-A3B5-E0CE-7647615D23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619B6089-CF59-E5D7-C054-D8A8FB011B4D}"/>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AB438825-8BC8-F549-F034-CE2E51859953}"/>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Literature Review (1/1)</a:t>
            </a:r>
          </a:p>
        </p:txBody>
      </p:sp>
      <p:graphicFrame>
        <p:nvGraphicFramePr>
          <p:cNvPr id="8" name="Table 7">
            <a:extLst>
              <a:ext uri="{FF2B5EF4-FFF2-40B4-BE49-F238E27FC236}">
                <a16:creationId xmlns:a16="http://schemas.microsoft.com/office/drawing/2014/main" id="{F4192972-0460-48E5-A0C1-4D199CF7E644}"/>
              </a:ext>
            </a:extLst>
          </p:cNvPr>
          <p:cNvGraphicFramePr>
            <a:graphicFrameLocks noGrp="1"/>
          </p:cNvGraphicFramePr>
          <p:nvPr>
            <p:extLst>
              <p:ext uri="{D42A27DB-BD31-4B8C-83A1-F6EECF244321}">
                <p14:modId xmlns:p14="http://schemas.microsoft.com/office/powerpoint/2010/main" val="2413120575"/>
              </p:ext>
            </p:extLst>
          </p:nvPr>
        </p:nvGraphicFramePr>
        <p:xfrm>
          <a:off x="681035" y="1735355"/>
          <a:ext cx="10829925" cy="3116714"/>
        </p:xfrm>
        <a:graphic>
          <a:graphicData uri="http://schemas.openxmlformats.org/drawingml/2006/table">
            <a:tbl>
              <a:tblPr firstRow="1" firstCol="1" bandRow="1">
                <a:tableStyleId>{5C22544A-7EE6-4342-B048-85BDC9FD1C3A}</a:tableStyleId>
              </a:tblPr>
              <a:tblGrid>
                <a:gridCol w="3314700">
                  <a:extLst>
                    <a:ext uri="{9D8B030D-6E8A-4147-A177-3AD203B41FA5}">
                      <a16:colId xmlns:a16="http://schemas.microsoft.com/office/drawing/2014/main" val="2401550550"/>
                    </a:ext>
                  </a:extLst>
                </a:gridCol>
                <a:gridCol w="4048125">
                  <a:extLst>
                    <a:ext uri="{9D8B030D-6E8A-4147-A177-3AD203B41FA5}">
                      <a16:colId xmlns:a16="http://schemas.microsoft.com/office/drawing/2014/main" val="378698024"/>
                    </a:ext>
                  </a:extLst>
                </a:gridCol>
                <a:gridCol w="3467100">
                  <a:extLst>
                    <a:ext uri="{9D8B030D-6E8A-4147-A177-3AD203B41FA5}">
                      <a16:colId xmlns:a16="http://schemas.microsoft.com/office/drawing/2014/main" val="2808132885"/>
                    </a:ext>
                  </a:extLst>
                </a:gridCol>
              </a:tblGrid>
              <a:tr h="492231">
                <a:tc>
                  <a:txBody>
                    <a:bodyPr/>
                    <a:lstStyle/>
                    <a:p>
                      <a:pPr marL="0" marR="0" algn="ctr">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Title</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tc>
                  <a:txBody>
                    <a:bodyPr/>
                    <a:lstStyle/>
                    <a:p>
                      <a:pPr marL="0" marR="0" algn="ctr">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Limitations Identified</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tc>
                  <a:txBody>
                    <a:bodyPr/>
                    <a:lstStyle/>
                    <a:p>
                      <a:pPr marL="0" marR="0" algn="ctr">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Does Our Work Solve This?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extLst>
                  <a:ext uri="{0D108BD9-81ED-4DB2-BD59-A6C34878D82A}">
                    <a16:rowId xmlns:a16="http://schemas.microsoft.com/office/drawing/2014/main" val="3379367234"/>
                  </a:ext>
                </a:extLst>
              </a:tr>
              <a:tr h="624634">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01.A Survey of Personalized Medicine Recommendation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Single-disease focus, lack of generalization, no feedback use</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Yes – Our system supports multi-disease &amp; feedback-aware models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extLst>
                  <a:ext uri="{0D108BD9-81ED-4DB2-BD59-A6C34878D82A}">
                    <a16:rowId xmlns:a16="http://schemas.microsoft.com/office/drawing/2014/main" val="3884586"/>
                  </a:ext>
                </a:extLst>
              </a:tr>
              <a:tr h="402418">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02.AI-driven innovations in pharmaceuticals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Data bias, lack of interpretability, validation gap</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Yes – Our approach emphasizes explainable AI and real-world integration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extLst>
                  <a:ext uri="{0D108BD9-81ED-4DB2-BD59-A6C34878D82A}">
                    <a16:rowId xmlns:a16="http://schemas.microsoft.com/office/drawing/2014/main" val="3039815231"/>
                  </a:ext>
                </a:extLst>
              </a:tr>
              <a:tr h="541196">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04.Comparison of pharmacy DB methods.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Low accuracy for non-integrated data sources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Yes – Our model handles real-time data across systems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extLst>
                  <a:ext uri="{0D108BD9-81ED-4DB2-BD59-A6C34878D82A}">
                    <a16:rowId xmlns:a16="http://schemas.microsoft.com/office/drawing/2014/main" val="1562735614"/>
                  </a:ext>
                </a:extLst>
              </a:tr>
              <a:tr h="381239">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05.ML &amp; Prediction in Medicine (Beyond Hype)</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Bias, outdated data, lack of causality</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Yes – We plan to use real-time adaptive models and causal analysis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9" marR="769" marT="769" marB="769" anchor="ctr"/>
                </a:tc>
                <a:extLst>
                  <a:ext uri="{0D108BD9-81ED-4DB2-BD59-A6C34878D82A}">
                    <a16:rowId xmlns:a16="http://schemas.microsoft.com/office/drawing/2014/main" val="1536029736"/>
                  </a:ext>
                </a:extLst>
              </a:tr>
            </a:tbl>
          </a:graphicData>
        </a:graphic>
      </p:graphicFrame>
    </p:spTree>
    <p:extLst>
      <p:ext uri="{BB962C8B-B14F-4D97-AF65-F5344CB8AC3E}">
        <p14:creationId xmlns:p14="http://schemas.microsoft.com/office/powerpoint/2010/main" val="35200397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AD8AC3-F4E5-BA60-2C20-1EF34078231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E20B376-A589-5ACC-A82A-0CC32E26D565}"/>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40FAF23-7254-5C9A-43C8-D44436615C3A}"/>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9548ABE5-C0B8-C8B3-2846-87E765C3AF2E}"/>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DEE40CAF-3685-329B-3C2C-A2FB67E77E5D}"/>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DAD7B557-45B8-1A0D-D57D-7740A275F70D}"/>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6</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FA5A8AC-1FE7-7D05-41DF-9A7791E628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2B96F00E-DC09-621B-1F88-3A7B34D7A491}"/>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EC7A1791-C0F2-1DCC-6822-2E964510A047}"/>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Problem Statement</a:t>
            </a:r>
          </a:p>
        </p:txBody>
      </p:sp>
      <p:sp>
        <p:nvSpPr>
          <p:cNvPr id="2" name="TextBox 1">
            <a:extLst>
              <a:ext uri="{FF2B5EF4-FFF2-40B4-BE49-F238E27FC236}">
                <a16:creationId xmlns:a16="http://schemas.microsoft.com/office/drawing/2014/main" id="{36FB8792-E8E8-ED5E-3D63-6FEEFCD5A592}"/>
              </a:ext>
            </a:extLst>
          </p:cNvPr>
          <p:cNvSpPr txBox="1"/>
          <p:nvPr/>
        </p:nvSpPr>
        <p:spPr>
          <a:xfrm>
            <a:off x="1273976" y="1505650"/>
            <a:ext cx="10079824" cy="1754326"/>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Current medicine recommendation relies largely on manual processes and human judgment, which can cause errors, inefficiencies, and inconsistent drug suggestions. This issue matters because incorrect or delayed recommendations can harm patient health, increase risks of side effects, and strain healthcare systems. Automating this process with AI can improve accuracy, speed, and reliability, benefiting patients, doctors, pharmacists, and the overall healthcare community by ensuring better treatment decisions and outcomes.</a:t>
            </a:r>
          </a:p>
        </p:txBody>
      </p:sp>
    </p:spTree>
    <p:extLst>
      <p:ext uri="{BB962C8B-B14F-4D97-AF65-F5344CB8AC3E}">
        <p14:creationId xmlns:p14="http://schemas.microsoft.com/office/powerpoint/2010/main" val="20789730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EB9B9E-06E3-D305-CFCE-17EC9499812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0F9B092-0314-9CCE-B87B-0F25D1A9ABF9}"/>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A6F65A0-1CD4-5F04-B5FC-718CCBA328D6}"/>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F79AF7E9-C24C-964E-C94B-765E3F16B3F6}"/>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FB306B6-801F-4013-5C01-9EF06FBCD52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5261037F-2F78-C623-D3BE-4BDD97AD99B8}"/>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7</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1BCADC3-3091-A299-C588-BBAB4ADA00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DC639E24-561A-1C81-904D-BFABD9DD1D96}"/>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BFD8569D-6723-496E-A8EB-9722F704348F}"/>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Dataset</a:t>
            </a:r>
          </a:p>
        </p:txBody>
      </p:sp>
      <p:sp>
        <p:nvSpPr>
          <p:cNvPr id="2" name="TextBox 1">
            <a:extLst>
              <a:ext uri="{FF2B5EF4-FFF2-40B4-BE49-F238E27FC236}">
                <a16:creationId xmlns:a16="http://schemas.microsoft.com/office/drawing/2014/main" id="{5012DA85-FCA7-FBF3-CD69-5EC1E2BF5071}"/>
              </a:ext>
            </a:extLst>
          </p:cNvPr>
          <p:cNvSpPr txBox="1"/>
          <p:nvPr/>
        </p:nvSpPr>
        <p:spPr>
          <a:xfrm>
            <a:off x="809028" y="1487139"/>
            <a:ext cx="5011916" cy="3693319"/>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Name &amp; Source : </a:t>
            </a:r>
          </a:p>
          <a:p>
            <a:pPr lvl="1" algn="just"/>
            <a:r>
              <a:rPr lang="en-US" dirty="0">
                <a:latin typeface="Times New Roman" panose="02020603050405020304" pitchFamily="18" charset="0"/>
                <a:cs typeface="Times New Roman" panose="02020603050405020304" pitchFamily="18" charset="0"/>
              </a:rPr>
              <a:t>Manually collected from a local retail pharmacy Size: Total 1,665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Number of Classes : </a:t>
            </a:r>
          </a:p>
          <a:p>
            <a:pPr lvl="1" algn="just"/>
            <a:r>
              <a:rPr lang="en-US" dirty="0">
                <a:latin typeface="Times New Roman" panose="02020603050405020304" pitchFamily="18" charset="0"/>
                <a:cs typeface="Times New Roman" panose="02020603050405020304" pitchFamily="18" charset="0"/>
              </a:rPr>
              <a:t>181 unique disease categories (balanced distribution)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Type &amp; Format : </a:t>
            </a:r>
          </a:p>
          <a:p>
            <a:pPr lvl="1"/>
            <a:r>
              <a:rPr lang="en-US" dirty="0">
                <a:latin typeface="Times New Roman" panose="02020603050405020304" pitchFamily="18" charset="0"/>
                <a:cs typeface="Times New Roman" panose="02020603050405020304" pitchFamily="18" charset="0"/>
              </a:rPr>
              <a:t>Structured CSV file ( Fields include Patient ID, Date, Symptoms, Disease, Medicines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Relevance to Project : </a:t>
            </a:r>
          </a:p>
          <a:p>
            <a:pPr lvl="1" algn="just"/>
            <a:r>
              <a:rPr lang="en-US" dirty="0">
                <a:latin typeface="Times New Roman" panose="02020603050405020304" pitchFamily="18" charset="0"/>
                <a:cs typeface="Times New Roman" panose="02020603050405020304" pitchFamily="18" charset="0"/>
              </a:rPr>
              <a:t>Reflects real-world prescription behavior Supports medicine prediction based on symptoms/disease </a:t>
            </a:r>
          </a:p>
        </p:txBody>
      </p:sp>
      <p:graphicFrame>
        <p:nvGraphicFramePr>
          <p:cNvPr id="8" name="Table 7">
            <a:extLst>
              <a:ext uri="{FF2B5EF4-FFF2-40B4-BE49-F238E27FC236}">
                <a16:creationId xmlns:a16="http://schemas.microsoft.com/office/drawing/2014/main" id="{DC3A6A28-20E2-4756-BDC9-435CCD298380}"/>
              </a:ext>
            </a:extLst>
          </p:cNvPr>
          <p:cNvGraphicFramePr>
            <a:graphicFrameLocks noGrp="1"/>
          </p:cNvGraphicFramePr>
          <p:nvPr>
            <p:extLst>
              <p:ext uri="{D42A27DB-BD31-4B8C-83A1-F6EECF244321}">
                <p14:modId xmlns:p14="http://schemas.microsoft.com/office/powerpoint/2010/main" val="2099143165"/>
              </p:ext>
            </p:extLst>
          </p:nvPr>
        </p:nvGraphicFramePr>
        <p:xfrm>
          <a:off x="6095998" y="1838325"/>
          <a:ext cx="5861685" cy="2925697"/>
        </p:xfrm>
        <a:graphic>
          <a:graphicData uri="http://schemas.openxmlformats.org/drawingml/2006/table">
            <a:tbl>
              <a:tblPr firstRow="1" firstCol="1" bandRow="1">
                <a:tableStyleId>{5C22544A-7EE6-4342-B048-85BDC9FD1C3A}</a:tableStyleId>
              </a:tblPr>
              <a:tblGrid>
                <a:gridCol w="1140460">
                  <a:extLst>
                    <a:ext uri="{9D8B030D-6E8A-4147-A177-3AD203B41FA5}">
                      <a16:colId xmlns:a16="http://schemas.microsoft.com/office/drawing/2014/main" val="935147675"/>
                    </a:ext>
                  </a:extLst>
                </a:gridCol>
                <a:gridCol w="1134745">
                  <a:extLst>
                    <a:ext uri="{9D8B030D-6E8A-4147-A177-3AD203B41FA5}">
                      <a16:colId xmlns:a16="http://schemas.microsoft.com/office/drawing/2014/main" val="12321961"/>
                    </a:ext>
                  </a:extLst>
                </a:gridCol>
                <a:gridCol w="1153795">
                  <a:extLst>
                    <a:ext uri="{9D8B030D-6E8A-4147-A177-3AD203B41FA5}">
                      <a16:colId xmlns:a16="http://schemas.microsoft.com/office/drawing/2014/main" val="1638617282"/>
                    </a:ext>
                  </a:extLst>
                </a:gridCol>
                <a:gridCol w="1144270">
                  <a:extLst>
                    <a:ext uri="{9D8B030D-6E8A-4147-A177-3AD203B41FA5}">
                      <a16:colId xmlns:a16="http://schemas.microsoft.com/office/drawing/2014/main" val="1538320498"/>
                    </a:ext>
                  </a:extLst>
                </a:gridCol>
                <a:gridCol w="1288415">
                  <a:extLst>
                    <a:ext uri="{9D8B030D-6E8A-4147-A177-3AD203B41FA5}">
                      <a16:colId xmlns:a16="http://schemas.microsoft.com/office/drawing/2014/main" val="3685618577"/>
                    </a:ext>
                  </a:extLst>
                </a:gridCol>
              </a:tblGrid>
              <a:tr h="328201">
                <a:tc>
                  <a:txBody>
                    <a:bodyPr/>
                    <a:lstStyle/>
                    <a:p>
                      <a:pPr marL="0" marR="0" algn="just"/>
                      <a:r>
                        <a:rPr lang="en-US" sz="1400">
                          <a:effectLst/>
                        </a:rPr>
                        <a:t>Patient ID</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Date</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Symptoms</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Disease</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Medicines</a:t>
                      </a:r>
                      <a:endParaRPr lang="en-US" sz="1100">
                        <a:effectLst/>
                        <a:latin typeface="Cambria" panose="020405030504060302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825975709"/>
                  </a:ext>
                </a:extLst>
              </a:tr>
              <a:tr h="708408">
                <a:tc>
                  <a:txBody>
                    <a:bodyPr/>
                    <a:lstStyle/>
                    <a:p>
                      <a:pPr marL="0" marR="0" algn="just"/>
                      <a:r>
                        <a:rPr lang="en-US" sz="1400">
                          <a:effectLst/>
                        </a:rPr>
                        <a:t>0001</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2024-04-12</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Pimples, oily skin</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Acne</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Benzoyl Peroxide, Clindamycin</a:t>
                      </a:r>
                      <a:endParaRPr lang="en-US" sz="1100">
                        <a:effectLst/>
                        <a:latin typeface="Cambria" panose="020405030504060302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80015514"/>
                  </a:ext>
                </a:extLst>
              </a:tr>
              <a:tr h="708408">
                <a:tc>
                  <a:txBody>
                    <a:bodyPr/>
                    <a:lstStyle/>
                    <a:p>
                      <a:pPr marL="0" marR="0" algn="just"/>
                      <a:r>
                        <a:rPr lang="en-US" sz="1400">
                          <a:effectLst/>
                        </a:rPr>
                        <a:t>0002</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2024-04-15</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dirty="0">
                          <a:effectLst/>
                        </a:rPr>
                        <a:t>chest pain, shortness of breath</a:t>
                      </a:r>
                      <a:endParaRPr lang="en-US" sz="1100" dirty="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Angina</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Nitroglycerin, Aspirin</a:t>
                      </a:r>
                      <a:endParaRPr lang="en-US" sz="1100">
                        <a:effectLst/>
                        <a:latin typeface="Cambria" panose="020405030504060302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63314586"/>
                  </a:ext>
                </a:extLst>
              </a:tr>
              <a:tr h="708408">
                <a:tc>
                  <a:txBody>
                    <a:bodyPr/>
                    <a:lstStyle/>
                    <a:p>
                      <a:pPr marL="0" marR="0" algn="just"/>
                      <a:r>
                        <a:rPr lang="en-US" sz="1400">
                          <a:effectLst/>
                        </a:rPr>
                        <a:t>0003</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2024-05-12</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sneezing, runny nose, itchy eyes</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Allergic Rhinitis</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Loratadine, Fluticasone</a:t>
                      </a:r>
                      <a:endParaRPr lang="en-US" sz="1100">
                        <a:effectLst/>
                        <a:latin typeface="Cambria" panose="020405030504060302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71695946"/>
                  </a:ext>
                </a:extLst>
              </a:tr>
              <a:tr h="472272">
                <a:tc>
                  <a:txBody>
                    <a:bodyPr/>
                    <a:lstStyle/>
                    <a:p>
                      <a:pPr marL="0" marR="0" algn="just"/>
                      <a:r>
                        <a:rPr lang="en-US" sz="1400">
                          <a:effectLst/>
                        </a:rPr>
                        <a:t>0004</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2024-08-20</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fever, rash, joint pain</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a:effectLst/>
                        </a:rPr>
                        <a:t>Dengue</a:t>
                      </a:r>
                      <a:endParaRPr lang="en-US" sz="1100">
                        <a:effectLst/>
                        <a:latin typeface="Cambria" panose="02040503050406030204" pitchFamily="18" charset="0"/>
                        <a:ea typeface="Times New Roman" panose="02020603050405020304" pitchFamily="18" charset="0"/>
                      </a:endParaRPr>
                    </a:p>
                  </a:txBody>
                  <a:tcPr marL="68580" marR="68580" marT="0" marB="0"/>
                </a:tc>
                <a:tc>
                  <a:txBody>
                    <a:bodyPr/>
                    <a:lstStyle/>
                    <a:p>
                      <a:pPr marL="0" marR="0" algn="just"/>
                      <a:r>
                        <a:rPr lang="en-US" sz="1400" dirty="0">
                          <a:effectLst/>
                        </a:rPr>
                        <a:t>Acetaminophen, Hydration</a:t>
                      </a:r>
                      <a:endParaRPr lang="en-US" sz="1100" dirty="0">
                        <a:effectLst/>
                        <a:latin typeface="Cambria" panose="020405030504060302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905253"/>
                  </a:ext>
                </a:extLst>
              </a:tr>
            </a:tbl>
          </a:graphicData>
        </a:graphic>
      </p:graphicFrame>
      <p:sp>
        <p:nvSpPr>
          <p:cNvPr id="9" name="Rectangle 8">
            <a:extLst>
              <a:ext uri="{FF2B5EF4-FFF2-40B4-BE49-F238E27FC236}">
                <a16:creationId xmlns:a16="http://schemas.microsoft.com/office/drawing/2014/main" id="{F022BD4D-DC5A-437F-B8ED-5D57C97F571E}"/>
              </a:ext>
            </a:extLst>
          </p:cNvPr>
          <p:cNvSpPr/>
          <p:nvPr/>
        </p:nvSpPr>
        <p:spPr>
          <a:xfrm>
            <a:off x="7125518" y="5049653"/>
            <a:ext cx="3802644" cy="261610"/>
          </a:xfrm>
          <a:prstGeom prst="rect">
            <a:avLst/>
          </a:prstGeom>
        </p:spPr>
        <p:txBody>
          <a:bodyPr wrap="none">
            <a:spAutoFit/>
          </a:bodyPr>
          <a:lstStyle/>
          <a:p>
            <a:r>
              <a:rPr lang="en-US" sz="1100" dirty="0">
                <a:solidFill>
                  <a:srgbClr val="000000"/>
                </a:solidFill>
                <a:latin typeface="Cambria" panose="02040503050406030204" pitchFamily="18" charset="0"/>
                <a:ea typeface="MS Mincho" panose="02020609040205080304" pitchFamily="49" charset="-128"/>
                <a:cs typeface="Times New Roman" panose="02020603050405020304" pitchFamily="18" charset="0"/>
              </a:rPr>
              <a:t>Table 1.1: </a:t>
            </a:r>
            <a:r>
              <a:rPr lang="en-US" sz="1100" dirty="0">
                <a:latin typeface="Cambria" panose="02040503050406030204" pitchFamily="18" charset="0"/>
                <a:ea typeface="MS Mincho" panose="02020609040205080304" pitchFamily="49" charset="-128"/>
                <a:cs typeface="Times New Roman" panose="02020603050405020304" pitchFamily="18" charset="0"/>
              </a:rPr>
              <a:t>Overview of the raw dataset before preprocessing</a:t>
            </a:r>
            <a:endParaRPr lang="en-US" dirty="0"/>
          </a:p>
        </p:txBody>
      </p:sp>
    </p:spTree>
    <p:extLst>
      <p:ext uri="{BB962C8B-B14F-4D97-AF65-F5344CB8AC3E}">
        <p14:creationId xmlns:p14="http://schemas.microsoft.com/office/powerpoint/2010/main" val="29318773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DA44E46-E6F8-EFA4-DC54-CD29C8EC7AC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E8CF1CA-41C8-C75C-6822-63C72B995E5B}"/>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C7D7A76-2B3A-2C04-CAC3-B50BFE3519C3}"/>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2DC4AF93-D273-6AD9-40FB-55ED5F7CAB76}"/>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88A527A-5E71-DE2C-5025-6E9DBD58E1AA}"/>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9BA84079-A1C5-524B-0F0B-6A6FED8B85AA}"/>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8</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B3B88B0-8430-7B77-A1A0-030FE78AE9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2E06FAFD-F0E5-481F-560F-C39C3CAB914D}"/>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ADA49868-C096-C261-4481-C6C03FF8D335}"/>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System Overview</a:t>
            </a:r>
          </a:p>
        </p:txBody>
      </p:sp>
      <p:sp>
        <p:nvSpPr>
          <p:cNvPr id="13" name="Rectangle 2">
            <a:extLst>
              <a:ext uri="{FF2B5EF4-FFF2-40B4-BE49-F238E27FC236}">
                <a16:creationId xmlns:a16="http://schemas.microsoft.com/office/drawing/2014/main" id="{298D74E9-3518-4499-A40E-30A746388AC4}"/>
              </a:ext>
            </a:extLst>
          </p:cNvPr>
          <p:cNvSpPr>
            <a:spLocks noChangeArrowheads="1"/>
          </p:cNvSpPr>
          <p:nvPr/>
        </p:nvSpPr>
        <p:spPr bwMode="auto">
          <a:xfrm>
            <a:off x="699602" y="2141430"/>
            <a:ext cx="413634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gives symptoms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Symptoms are converted to feature vectors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model predicts disease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Medicine is looked up</a:t>
            </a:r>
          </a:p>
          <a:p>
            <a:pPr marL="285750" indent="-28575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Disease + medicine is shown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A3C11115-8084-4CFA-B3C9-1E0CEB869824}"/>
              </a:ext>
            </a:extLst>
          </p:cNvPr>
          <p:cNvSpPr/>
          <p:nvPr/>
        </p:nvSpPr>
        <p:spPr>
          <a:xfrm>
            <a:off x="5426500" y="5367920"/>
            <a:ext cx="6096000" cy="461665"/>
          </a:xfrm>
          <a:prstGeom prst="rect">
            <a:avLst/>
          </a:prstGeom>
        </p:spPr>
        <p:txBody>
          <a:bodyPr>
            <a:spAutoFit/>
          </a:bodyPr>
          <a:lstStyle/>
          <a:p>
            <a:pPr algn="ctr"/>
            <a:r>
              <a:rPr lang="en-US" sz="1200" dirty="0">
                <a:latin typeface="Times New Roman" panose="02020603050405020304" pitchFamily="18" charset="0"/>
                <a:ea typeface="Times New Roman" panose="02020603050405020304" pitchFamily="18" charset="0"/>
              </a:rPr>
              <a:t>Figure 1.1: Flowchart representing the overall system workflow from symptom input to medicine recommendation.</a:t>
            </a:r>
          </a:p>
        </p:txBody>
      </p:sp>
      <p:pic>
        <p:nvPicPr>
          <p:cNvPr id="15" name="Picture 14" descr="C:\Users\User\AppData\Local\Microsoft\Windows\INetCache\Content.MSO\D203362C.tmp">
            <a:extLst>
              <a:ext uri="{FF2B5EF4-FFF2-40B4-BE49-F238E27FC236}">
                <a16:creationId xmlns:a16="http://schemas.microsoft.com/office/drawing/2014/main" id="{F4D29D74-118A-4645-AB5D-C3B00C1424F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785927" y="1505650"/>
            <a:ext cx="2734945" cy="3784627"/>
          </a:xfrm>
          <a:prstGeom prst="rect">
            <a:avLst/>
          </a:prstGeom>
          <a:noFill/>
          <a:ln>
            <a:noFill/>
          </a:ln>
        </p:spPr>
      </p:pic>
    </p:spTree>
    <p:extLst>
      <p:ext uri="{BB962C8B-B14F-4D97-AF65-F5344CB8AC3E}">
        <p14:creationId xmlns:p14="http://schemas.microsoft.com/office/powerpoint/2010/main" val="6217322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E86D2EB-4BAB-EC43-6876-3A8C6844E5F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9506184-19DE-DD14-4265-C14731E7D6F5}"/>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627FDBD-398A-EF96-E53E-7772EE4CB561}"/>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9DD50166-CE18-8B12-2B90-D7B207D2CB5C}"/>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96EFFD3D-C8D5-79A7-271C-AFEB319CADC5}"/>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2C8ABA8A-A8CA-645E-326B-69E30364CE73}"/>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9</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2E6C94F-53C4-6DDB-627D-CADB29CC6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5F2DA8EB-3EB4-8E6F-B2BA-4C350868B291}"/>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C0A37693-CFD4-C0DB-66C5-727146CFB9E9}"/>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Methodology</a:t>
            </a:r>
          </a:p>
        </p:txBody>
      </p:sp>
      <p:sp>
        <p:nvSpPr>
          <p:cNvPr id="15" name="Rectangle 5">
            <a:extLst>
              <a:ext uri="{FF2B5EF4-FFF2-40B4-BE49-F238E27FC236}">
                <a16:creationId xmlns:a16="http://schemas.microsoft.com/office/drawing/2014/main" id="{F81CFEAA-339D-870C-8D2D-A4A71549C65B}"/>
              </a:ext>
            </a:extLst>
          </p:cNvPr>
          <p:cNvSpPr>
            <a:spLocks noChangeArrowheads="1"/>
          </p:cNvSpPr>
          <p:nvPr/>
        </p:nvSpPr>
        <p:spPr bwMode="auto">
          <a:xfrm rot="10800000" flipV="1">
            <a:off x="939332" y="1773941"/>
            <a:ext cx="469819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Dataset: Collected pharmacy record dataset (raw + preprocessed)</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Algorithms: Random Forest</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Steps:</a:t>
            </a:r>
          </a:p>
          <a:p>
            <a:pPr marL="742950" lvl="1"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Data Cleaning</a:t>
            </a:r>
          </a:p>
          <a:p>
            <a:pPr marL="742950" lvl="1"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Feature Extraction</a:t>
            </a:r>
          </a:p>
          <a:p>
            <a:pPr marL="742950" lvl="1"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Model Training &amp; Testing</a:t>
            </a:r>
          </a:p>
          <a:p>
            <a:pPr marL="742950" lvl="1"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Cross-validation used for performance check</a:t>
            </a:r>
          </a:p>
        </p:txBody>
      </p:sp>
      <p:pic>
        <p:nvPicPr>
          <p:cNvPr id="2" name="Picture 1">
            <a:extLst>
              <a:ext uri="{FF2B5EF4-FFF2-40B4-BE49-F238E27FC236}">
                <a16:creationId xmlns:a16="http://schemas.microsoft.com/office/drawing/2014/main" id="{8F8D40F7-646F-46EC-9E68-B42222FB5C99}"/>
              </a:ext>
            </a:extLst>
          </p:cNvPr>
          <p:cNvPicPr>
            <a:picLocks noChangeAspect="1"/>
          </p:cNvPicPr>
          <p:nvPr/>
        </p:nvPicPr>
        <p:blipFill>
          <a:blip r:embed="rId3"/>
          <a:stretch>
            <a:fillRect/>
          </a:stretch>
        </p:blipFill>
        <p:spPr>
          <a:xfrm>
            <a:off x="5637531" y="2120588"/>
            <a:ext cx="5864860" cy="2005758"/>
          </a:xfrm>
          <a:prstGeom prst="rect">
            <a:avLst/>
          </a:prstGeom>
        </p:spPr>
      </p:pic>
      <p:sp>
        <p:nvSpPr>
          <p:cNvPr id="8" name="Rectangle 7">
            <a:extLst>
              <a:ext uri="{FF2B5EF4-FFF2-40B4-BE49-F238E27FC236}">
                <a16:creationId xmlns:a16="http://schemas.microsoft.com/office/drawing/2014/main" id="{7012A754-1B7E-493B-BF6F-9285040FDB99}"/>
              </a:ext>
            </a:extLst>
          </p:cNvPr>
          <p:cNvSpPr/>
          <p:nvPr/>
        </p:nvSpPr>
        <p:spPr>
          <a:xfrm>
            <a:off x="6466495" y="4472993"/>
            <a:ext cx="3515706" cy="276999"/>
          </a:xfrm>
          <a:prstGeom prst="rect">
            <a:avLst/>
          </a:prstGeom>
        </p:spPr>
        <p:txBody>
          <a:bodyPr wrap="none">
            <a:spAutoFit/>
          </a:bodyPr>
          <a:lstStyle/>
          <a:p>
            <a:pPr algn="ctr"/>
            <a:r>
              <a:rPr lang="en-US" sz="1100" dirty="0">
                <a:solidFill>
                  <a:srgbClr val="000000"/>
                </a:solidFill>
                <a:latin typeface="Times New Roman" panose="02020603050405020304" pitchFamily="18" charset="0"/>
                <a:ea typeface="Times New Roman" panose="02020603050405020304" pitchFamily="18" charset="0"/>
              </a:rPr>
              <a:t>Table 1.2: </a:t>
            </a:r>
            <a:r>
              <a:rPr lang="en-US" sz="1200" dirty="0">
                <a:latin typeface="Times New Roman" panose="02020603050405020304" pitchFamily="18" charset="0"/>
                <a:ea typeface="Times New Roman" panose="02020603050405020304" pitchFamily="18" charset="0"/>
              </a:rPr>
              <a:t>Overview of the dataset after preprocessing.</a:t>
            </a:r>
          </a:p>
        </p:txBody>
      </p:sp>
    </p:spTree>
    <p:extLst>
      <p:ext uri="{BB962C8B-B14F-4D97-AF65-F5344CB8AC3E}">
        <p14:creationId xmlns:p14="http://schemas.microsoft.com/office/powerpoint/2010/main" val="15372576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91DBA9-A005-01FA-5C9F-D8F5DDFF4BB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B4FA841-8C26-1EE4-F0AF-EE954A393194}"/>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420C699-4F46-8978-B20A-5D0801D8E36B}"/>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8D1A2C7C-8EE0-484C-101D-F1C492587B51}"/>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ADA0B8A-BC95-67A2-E121-9D466C0429E7}"/>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DC8AE492-334F-65FD-094A-952E55D45439}"/>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10</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280C0CD-C337-7BEC-E950-2EAE0B9BA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F0E1B6F1-E901-465D-25B6-D7720AFB2F1C}"/>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90461A1F-C9B9-3790-9FCB-3A36BC91C20C}"/>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Result Analysis</a:t>
            </a:r>
          </a:p>
        </p:txBody>
      </p:sp>
      <p:graphicFrame>
        <p:nvGraphicFramePr>
          <p:cNvPr id="8" name="Table 7">
            <a:extLst>
              <a:ext uri="{FF2B5EF4-FFF2-40B4-BE49-F238E27FC236}">
                <a16:creationId xmlns:a16="http://schemas.microsoft.com/office/drawing/2014/main" id="{86CF76A0-55B8-1DD6-0403-37346961EE64}"/>
              </a:ext>
            </a:extLst>
          </p:cNvPr>
          <p:cNvGraphicFramePr>
            <a:graphicFrameLocks noGrp="1"/>
          </p:cNvGraphicFramePr>
          <p:nvPr>
            <p:extLst>
              <p:ext uri="{D42A27DB-BD31-4B8C-83A1-F6EECF244321}">
                <p14:modId xmlns:p14="http://schemas.microsoft.com/office/powerpoint/2010/main" val="1752276391"/>
              </p:ext>
            </p:extLst>
          </p:nvPr>
        </p:nvGraphicFramePr>
        <p:xfrm>
          <a:off x="838200" y="1675657"/>
          <a:ext cx="5726899" cy="3855720"/>
        </p:xfrm>
        <a:graphic>
          <a:graphicData uri="http://schemas.openxmlformats.org/drawingml/2006/table">
            <a:tbl>
              <a:tblPr firstRow="1" bandRow="1">
                <a:tableStyleId>{3B4B98B0-60AC-42C2-AFA5-B58CD77FA1E5}</a:tableStyleId>
              </a:tblPr>
              <a:tblGrid>
                <a:gridCol w="1601604">
                  <a:extLst>
                    <a:ext uri="{9D8B030D-6E8A-4147-A177-3AD203B41FA5}">
                      <a16:colId xmlns:a16="http://schemas.microsoft.com/office/drawing/2014/main" val="320473676"/>
                    </a:ext>
                  </a:extLst>
                </a:gridCol>
                <a:gridCol w="4125295">
                  <a:extLst>
                    <a:ext uri="{9D8B030D-6E8A-4147-A177-3AD203B41FA5}">
                      <a16:colId xmlns:a16="http://schemas.microsoft.com/office/drawing/2014/main" val="175036545"/>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Aspect  </a:t>
                      </a:r>
                    </a:p>
                  </a:txBody>
                  <a:tcPr/>
                </a:tc>
                <a:tc>
                  <a:txBody>
                    <a:bodyPr/>
                    <a:lstStyle/>
                    <a:p>
                      <a:pPr algn="ctr"/>
                      <a:r>
                        <a:rPr lang="en-US" dirty="0">
                          <a:latin typeface="Times New Roman" panose="02020603050405020304" pitchFamily="18" charset="0"/>
                          <a:cs typeface="Times New Roman" panose="02020603050405020304" pitchFamily="18" charset="0"/>
                        </a:rPr>
                        <a:t>Details </a:t>
                      </a:r>
                    </a:p>
                  </a:txBody>
                  <a:tcPr/>
                </a:tc>
                <a:extLst>
                  <a:ext uri="{0D108BD9-81ED-4DB2-BD59-A6C34878D82A}">
                    <a16:rowId xmlns:a16="http://schemas.microsoft.com/office/drawing/2014/main" val="121321362"/>
                  </a:ext>
                </a:extLst>
              </a:tr>
              <a:tr h="370840">
                <a:tc>
                  <a:txBody>
                    <a:bodyPr/>
                    <a:lstStyle/>
                    <a:p>
                      <a:pPr algn="ctr"/>
                      <a:r>
                        <a:rPr lang="en-US" dirty="0">
                          <a:latin typeface="Times New Roman" panose="02020603050405020304" pitchFamily="18" charset="0"/>
                          <a:cs typeface="Times New Roman" panose="02020603050405020304" pitchFamily="18" charset="0"/>
                        </a:rPr>
                        <a:t>Models Tested</a:t>
                      </a:r>
                    </a:p>
                  </a:txBody>
                  <a:tcPr/>
                </a:tc>
                <a:tc>
                  <a:txBody>
                    <a:bodyPr/>
                    <a:lstStyle/>
                    <a:p>
                      <a:pPr algn="l"/>
                      <a:r>
                        <a:rPr lang="en-US" dirty="0">
                          <a:latin typeface="Times New Roman" panose="02020603050405020304" pitchFamily="18" charset="0"/>
                          <a:cs typeface="Times New Roman" panose="02020603050405020304" pitchFamily="18" charset="0"/>
                        </a:rPr>
                        <a:t> Random Forest (Best Performer)</a:t>
                      </a:r>
                    </a:p>
                  </a:txBody>
                  <a:tcPr/>
                </a:tc>
                <a:extLst>
                  <a:ext uri="{0D108BD9-81ED-4DB2-BD59-A6C34878D82A}">
                    <a16:rowId xmlns:a16="http://schemas.microsoft.com/office/drawing/2014/main" val="4185075337"/>
                  </a:ext>
                </a:extLst>
              </a:tr>
              <a:tr h="370840">
                <a:tc>
                  <a:txBody>
                    <a:bodyPr/>
                    <a:lstStyle/>
                    <a:p>
                      <a:pPr algn="ctr"/>
                      <a:r>
                        <a:rPr lang="en-US" dirty="0">
                          <a:latin typeface="Times New Roman" panose="02020603050405020304" pitchFamily="18" charset="0"/>
                          <a:cs typeface="Times New Roman" panose="02020603050405020304" pitchFamily="18" charset="0"/>
                        </a:rPr>
                        <a:t>Accuracy</a:t>
                      </a:r>
                    </a:p>
                  </a:txBody>
                  <a:tcPr/>
                </a:tc>
                <a:tc>
                  <a:txBody>
                    <a:bodyPr/>
                    <a:lstStyle/>
                    <a:p>
                      <a:pPr algn="l"/>
                      <a:r>
                        <a:rPr lang="en-US" dirty="0">
                          <a:latin typeface="Times New Roman" panose="02020603050405020304" pitchFamily="18" charset="0"/>
                          <a:cs typeface="Times New Roman" panose="02020603050405020304" pitchFamily="18" charset="0"/>
                        </a:rPr>
                        <a:t>91% (on train/test split)</a:t>
                      </a:r>
                    </a:p>
                  </a:txBody>
                  <a:tcPr/>
                </a:tc>
                <a:extLst>
                  <a:ext uri="{0D108BD9-81ED-4DB2-BD59-A6C34878D82A}">
                    <a16:rowId xmlns:a16="http://schemas.microsoft.com/office/drawing/2014/main" val="2762134125"/>
                  </a:ext>
                </a:extLst>
              </a:tr>
              <a:tr h="370840">
                <a:tc>
                  <a:txBody>
                    <a:bodyPr/>
                    <a:lstStyle/>
                    <a:p>
                      <a:pPr algn="ctr"/>
                      <a:r>
                        <a:rPr lang="en-US" dirty="0">
                          <a:latin typeface="Times New Roman" panose="02020603050405020304" pitchFamily="18" charset="0"/>
                          <a:cs typeface="Times New Roman" panose="02020603050405020304" pitchFamily="18" charset="0"/>
                        </a:rPr>
                        <a:t>Cross-Validation Score</a:t>
                      </a:r>
                    </a:p>
                  </a:txBody>
                  <a:tcPr/>
                </a:tc>
                <a:tc>
                  <a:txBody>
                    <a:bodyPr/>
                    <a:lstStyle/>
                    <a:p>
                      <a:pPr algn="l"/>
                      <a:r>
                        <a:rPr lang="en-US" dirty="0">
                          <a:latin typeface="Times New Roman" panose="02020603050405020304" pitchFamily="18" charset="0"/>
                          <a:cs typeface="Times New Roman" panose="02020603050405020304" pitchFamily="18" charset="0"/>
                        </a:rPr>
                        <a:t>85% (using 5-fold cross-validation)</a:t>
                      </a:r>
                    </a:p>
                  </a:txBody>
                  <a:tcPr/>
                </a:tc>
                <a:extLst>
                  <a:ext uri="{0D108BD9-81ED-4DB2-BD59-A6C34878D82A}">
                    <a16:rowId xmlns:a16="http://schemas.microsoft.com/office/drawing/2014/main" val="2703304822"/>
                  </a:ext>
                </a:extLst>
              </a:tr>
              <a:tr h="370840">
                <a:tc>
                  <a:txBody>
                    <a:bodyPr/>
                    <a:lstStyle/>
                    <a:p>
                      <a:pPr algn="ctr"/>
                      <a:r>
                        <a:rPr lang="en-US" dirty="0">
                          <a:latin typeface="Times New Roman" panose="02020603050405020304" pitchFamily="18" charset="0"/>
                          <a:cs typeface="Times New Roman" panose="02020603050405020304" pitchFamily="18" charset="0"/>
                        </a:rPr>
                        <a:t>Best Model Reasoning</a:t>
                      </a:r>
                    </a:p>
                  </a:txBody>
                  <a:tcPr/>
                </a:tc>
                <a:tc>
                  <a:txBody>
                    <a:bodyPr/>
                    <a:lstStyle/>
                    <a:p>
                      <a:pPr marL="0" indent="0" algn="l">
                        <a:buFontTx/>
                        <a:buNone/>
                      </a:pPr>
                      <a:r>
                        <a:rPr lang="en-US" dirty="0">
                          <a:latin typeface="Times New Roman" panose="02020603050405020304" pitchFamily="18" charset="0"/>
                          <a:cs typeface="Times New Roman" panose="02020603050405020304" pitchFamily="18" charset="0"/>
                        </a:rPr>
                        <a:t>-Highest accuracy &amp; recall</a:t>
                      </a:r>
                    </a:p>
                    <a:p>
                      <a:pPr marL="0" indent="0" algn="l">
                        <a:buFontTx/>
                        <a:buNone/>
                      </a:pPr>
                      <a:r>
                        <a:rPr lang="en-US" dirty="0">
                          <a:latin typeface="Times New Roman" panose="02020603050405020304" pitchFamily="18" charset="0"/>
                          <a:cs typeface="Times New Roman" panose="02020603050405020304" pitchFamily="18" charset="0"/>
                        </a:rPr>
                        <a:t>- Handles noise well</a:t>
                      </a:r>
                    </a:p>
                    <a:p>
                      <a:pPr marL="0" indent="0" algn="l">
                        <a:buFontTx/>
                        <a:buNone/>
                      </a:pPr>
                      <a:r>
                        <a:rPr lang="en-US" dirty="0">
                          <a:latin typeface="Times New Roman" panose="02020603050405020304" pitchFamily="18" charset="0"/>
                          <a:cs typeface="Times New Roman" panose="02020603050405020304" pitchFamily="18" charset="0"/>
                        </a:rPr>
                        <a:t>- Less overfitting</a:t>
                      </a:r>
                    </a:p>
                  </a:txBody>
                  <a:tcPr/>
                </a:tc>
                <a:extLst>
                  <a:ext uri="{0D108BD9-81ED-4DB2-BD59-A6C34878D82A}">
                    <a16:rowId xmlns:a16="http://schemas.microsoft.com/office/drawing/2014/main" val="266651256"/>
                  </a:ext>
                </a:extLst>
              </a:tr>
              <a:tr h="370840">
                <a:tc>
                  <a:txBody>
                    <a:bodyPr/>
                    <a:lstStyle/>
                    <a:p>
                      <a:pPr algn="ctr"/>
                      <a:r>
                        <a:rPr lang="en-US" dirty="0">
                          <a:latin typeface="Times New Roman" panose="02020603050405020304" pitchFamily="18" charset="0"/>
                          <a:cs typeface="Times New Roman" panose="02020603050405020304" pitchFamily="18" charset="0"/>
                        </a:rPr>
                        <a:t>Cross-Validation Purpose</a:t>
                      </a:r>
                    </a:p>
                  </a:txBody>
                  <a:tcPr/>
                </a:tc>
                <a:tc>
                  <a:txBody>
                    <a:bodyPr/>
                    <a:lstStyle/>
                    <a:p>
                      <a:pPr algn="l"/>
                      <a:r>
                        <a:rPr lang="en-US" dirty="0">
                          <a:latin typeface="Times New Roman" panose="02020603050405020304" pitchFamily="18" charset="0"/>
                          <a:cs typeface="Times New Roman" panose="02020603050405020304" pitchFamily="18" charset="0"/>
                        </a:rPr>
                        <a:t>Ensure generalization </a:t>
                      </a:r>
                    </a:p>
                    <a:p>
                      <a:pPr algn="l"/>
                      <a:r>
                        <a:rPr lang="en-US" dirty="0">
                          <a:latin typeface="Times New Roman" panose="02020603050405020304" pitchFamily="18" charset="0"/>
                          <a:cs typeface="Times New Roman" panose="02020603050405020304" pitchFamily="18" charset="0"/>
                        </a:rPr>
                        <a:t>Detect overfitting</a:t>
                      </a:r>
                    </a:p>
                  </a:txBody>
                  <a:tcPr/>
                </a:tc>
                <a:extLst>
                  <a:ext uri="{0D108BD9-81ED-4DB2-BD59-A6C34878D82A}">
                    <a16:rowId xmlns:a16="http://schemas.microsoft.com/office/drawing/2014/main" val="2340026722"/>
                  </a:ext>
                </a:extLst>
              </a:tr>
            </a:tbl>
          </a:graphicData>
        </a:graphic>
      </p:graphicFrame>
    </p:spTree>
    <p:extLst>
      <p:ext uri="{BB962C8B-B14F-4D97-AF65-F5344CB8AC3E}">
        <p14:creationId xmlns:p14="http://schemas.microsoft.com/office/powerpoint/2010/main" val="17971696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2379E3-79D7-3EE0-CDA5-B4CDB706D81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70ABCB7-24B7-992B-5714-3CE0902B4FD4}"/>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7219371-E15B-93C2-5F6A-AFD1B61498EB}"/>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5180CB98-F8B4-88B7-0EAC-51670B72D230}"/>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0F01A9F-5BB0-203A-3775-D745D85E76EE}"/>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694B2F13-7D82-EC17-9CE2-0247D732A06A}"/>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11</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5842B2C-2138-1C6C-ED98-E8C7833C2B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769639F1-4E14-0320-B12C-AA8B06E80382}"/>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8D6483AD-3F69-C9A4-B886-E39C8295E7E2}"/>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Result Analysis (contd..)</a:t>
            </a:r>
          </a:p>
        </p:txBody>
      </p:sp>
      <p:sp>
        <p:nvSpPr>
          <p:cNvPr id="15" name="Rectangle 5">
            <a:extLst>
              <a:ext uri="{FF2B5EF4-FFF2-40B4-BE49-F238E27FC236}">
                <a16:creationId xmlns:a16="http://schemas.microsoft.com/office/drawing/2014/main" id="{BA9BFD68-9113-4352-7F59-A4A786765854}"/>
              </a:ext>
            </a:extLst>
          </p:cNvPr>
          <p:cNvSpPr>
            <a:spLocks noChangeArrowheads="1"/>
          </p:cNvSpPr>
          <p:nvPr/>
        </p:nvSpPr>
        <p:spPr bwMode="auto">
          <a:xfrm rot="10800000" flipV="1">
            <a:off x="1273974" y="1945117"/>
            <a:ext cx="100798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Test Accuracy: 91%</a:t>
            </a:r>
          </a:p>
          <a:p>
            <a:pPr marL="285750" lvl="0" indent="-285750" eaLnBrk="0" fontAlgn="base" hangingPunct="0">
              <a:spcBef>
                <a:spcPct val="0"/>
              </a:spcBef>
              <a:spcAft>
                <a:spcPct val="0"/>
              </a:spcAf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Cross-Validation (5-fold) Accuracy: 85%</a:t>
            </a:r>
          </a:p>
          <a:p>
            <a:pPr marL="285750" lvl="0" indent="-285750" eaLnBrk="0" fontAlgn="base" hangingPunct="0">
              <a:spcBef>
                <a:spcPct val="0"/>
              </a:spcBef>
              <a:spcAft>
                <a:spcPct val="0"/>
              </a:spcAf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model shows strong performance in disease prediction.</a:t>
            </a:r>
          </a:p>
          <a:p>
            <a:pPr marL="285750" lvl="0" indent="-285750" eaLnBrk="0" fontAlgn="base" hangingPunct="0">
              <a:spcBef>
                <a:spcPct val="0"/>
              </a:spcBef>
              <a:spcAft>
                <a:spcPct val="0"/>
              </a:spcAf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5-fold CV ensures robustness and reduces overfitting risk.</a:t>
            </a:r>
          </a:p>
        </p:txBody>
      </p:sp>
      <p:pic>
        <p:nvPicPr>
          <p:cNvPr id="12" name="Picture 11">
            <a:extLst>
              <a:ext uri="{FF2B5EF4-FFF2-40B4-BE49-F238E27FC236}">
                <a16:creationId xmlns:a16="http://schemas.microsoft.com/office/drawing/2014/main" id="{8C964887-4CE1-4E1F-99A2-8E9107D358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6649" y="1675657"/>
            <a:ext cx="3133726" cy="3314071"/>
          </a:xfrm>
          <a:prstGeom prst="rect">
            <a:avLst/>
          </a:prstGeom>
        </p:spPr>
      </p:pic>
      <p:sp>
        <p:nvSpPr>
          <p:cNvPr id="2" name="Rectangle 1">
            <a:extLst>
              <a:ext uri="{FF2B5EF4-FFF2-40B4-BE49-F238E27FC236}">
                <a16:creationId xmlns:a16="http://schemas.microsoft.com/office/drawing/2014/main" id="{48A70716-DB63-4DC4-88D1-72E770BEA7C5}"/>
              </a:ext>
            </a:extLst>
          </p:cNvPr>
          <p:cNvSpPr/>
          <p:nvPr/>
        </p:nvSpPr>
        <p:spPr>
          <a:xfrm>
            <a:off x="7548933" y="5043843"/>
            <a:ext cx="3009158" cy="276999"/>
          </a:xfrm>
          <a:prstGeom prst="rect">
            <a:avLst/>
          </a:prstGeom>
        </p:spPr>
        <p:txBody>
          <a:bodyPr wrap="none">
            <a:spAutoFit/>
          </a:bodyPr>
          <a:lstStyle/>
          <a:p>
            <a:pPr algn="ctr"/>
            <a:r>
              <a:rPr lang="en-US" sz="1200" dirty="0">
                <a:latin typeface="Times New Roman" panose="02020603050405020304" pitchFamily="18" charset="0"/>
                <a:ea typeface="Times New Roman" panose="02020603050405020304" pitchFamily="18" charset="0"/>
              </a:rPr>
              <a:t>Figure 1.2: Comparison of Model Accuracies</a:t>
            </a:r>
          </a:p>
        </p:txBody>
      </p:sp>
    </p:spTree>
    <p:extLst>
      <p:ext uri="{BB962C8B-B14F-4D97-AF65-F5344CB8AC3E}">
        <p14:creationId xmlns:p14="http://schemas.microsoft.com/office/powerpoint/2010/main" val="2417298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9240734-7FD1-BAE3-14D5-8C69681A719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C731D5A-5479-DF82-9487-45EEF98DE1D6}"/>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B2624B2-23BD-B3ED-5243-5C7E7C3C83D1}"/>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622D4DC8-D8B2-C286-DC58-CD09B2FD8E35}"/>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DA08CBDF-CC83-220B-9B91-789642FD2F49}"/>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48BDC633-126E-3E75-388D-9C77B329F30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12</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6623D2E-1238-4F96-B6CE-1BD41350B3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4CE37B7-E074-E8D7-046A-4D6573E29C13}"/>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8F78DE31-8C60-16D9-F387-9D384226F8E1}"/>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Beneficiaries</a:t>
            </a:r>
          </a:p>
        </p:txBody>
      </p:sp>
      <p:sp>
        <p:nvSpPr>
          <p:cNvPr id="15" name="Rectangle 5">
            <a:extLst>
              <a:ext uri="{FF2B5EF4-FFF2-40B4-BE49-F238E27FC236}">
                <a16:creationId xmlns:a16="http://schemas.microsoft.com/office/drawing/2014/main" id="{1F0F9589-147F-E74A-D3BF-F8DDF30F0F71}"/>
              </a:ext>
            </a:extLst>
          </p:cNvPr>
          <p:cNvSpPr>
            <a:spLocks noChangeArrowheads="1"/>
          </p:cNvSpPr>
          <p:nvPr/>
        </p:nvSpPr>
        <p:spPr bwMode="auto">
          <a:xfrm rot="10800000" flipV="1">
            <a:off x="1273976" y="1321427"/>
            <a:ext cx="1007982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a:t>
            </a:r>
          </a:p>
          <a:p>
            <a:pPr marL="28575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Patients </a:t>
            </a:r>
          </a:p>
          <a:p>
            <a:pPr lvl="1"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Faster, safer, and more accurate medication recommendations.</a:t>
            </a:r>
          </a:p>
          <a:p>
            <a:pPr marL="28575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Doctors &amp; Pharmacists</a:t>
            </a:r>
          </a:p>
          <a:p>
            <a:pPr lvl="1"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Reliable AI-based decision support and reduced workload.</a:t>
            </a:r>
          </a:p>
          <a:p>
            <a:pPr marL="28575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Hospitals &amp; Clinics</a:t>
            </a:r>
          </a:p>
          <a:p>
            <a:pPr lvl="1"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Streamlined workflows and improved treatment efficiency.</a:t>
            </a:r>
          </a:p>
          <a:p>
            <a:pPr marL="28575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Healthcare Systems</a:t>
            </a:r>
          </a:p>
          <a:p>
            <a:pPr lvl="1"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Scalable automation and better data-driven resource management.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98272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E68F01-8B08-F7C5-6B08-09F060FED06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27F4D14-B94A-4628-DABD-C4205A9BBA3A}"/>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0CAE95C-2630-7CF1-CA23-63C7B23BAE2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81F82E73-59E9-C9A2-CE5B-B8D5F1C2A627}"/>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0E13D2F-1073-EAA7-86AE-B1A2DE01E3CA}"/>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CF0939DE-C880-C82B-9CC0-5C15E9F60A5C}"/>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13</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59D298B-0058-4276-A050-884CE9FA7B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2BF41F14-B8C2-6D74-2650-5B4E428C1980}"/>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9EB329B7-97E8-352F-B72F-9693992D1AF8}"/>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Conclusion</a:t>
            </a:r>
          </a:p>
        </p:txBody>
      </p:sp>
      <p:sp>
        <p:nvSpPr>
          <p:cNvPr id="15" name="Rectangle 5">
            <a:extLst>
              <a:ext uri="{FF2B5EF4-FFF2-40B4-BE49-F238E27FC236}">
                <a16:creationId xmlns:a16="http://schemas.microsoft.com/office/drawing/2014/main" id="{D942A234-8041-B864-E239-4B3ADE94B16A}"/>
              </a:ext>
            </a:extLst>
          </p:cNvPr>
          <p:cNvSpPr>
            <a:spLocks noChangeArrowheads="1"/>
          </p:cNvSpPr>
          <p:nvPr/>
        </p:nvSpPr>
        <p:spPr bwMode="auto">
          <a:xfrm rot="10800000" flipV="1">
            <a:off x="1140482" y="1595659"/>
            <a:ext cx="991103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The system effectively automates drug recommendations with high accuracy, laying a strong foundation for future healthcare solutions integrating real-time data. While results are promising, further work is needed to improve scalability, test in clinical settings, and optimize performance. This project marks an important step toward AI-driven medical support that can enhance healthcare outcomes.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8556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9B8240F-F03B-3235-4B7C-3E81222DAC2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68E001B-3CA0-1E0B-D2E5-25F5C0AB850C}"/>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7675B39-8DD7-26A9-594A-CFCD598F4D27}"/>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C19FE101-3B98-7BD4-0A05-BF1705B74D5F}"/>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E5B88B8-C1D3-0B7D-7E90-B0A6E2DBCBAA}"/>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3C378B25-6C48-AFD6-9207-ECF17F12B2FC}"/>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14</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AC29848-E38B-FE18-69BF-3AD5BFC3B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D5250D6-D5A5-C7CC-145B-A6FB657F4E75}"/>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82F135B9-5FE6-B778-C704-6047653E14DF}"/>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Future Work</a:t>
            </a:r>
          </a:p>
        </p:txBody>
      </p:sp>
      <p:sp>
        <p:nvSpPr>
          <p:cNvPr id="15" name="Rectangle 5">
            <a:extLst>
              <a:ext uri="{FF2B5EF4-FFF2-40B4-BE49-F238E27FC236}">
                <a16:creationId xmlns:a16="http://schemas.microsoft.com/office/drawing/2014/main" id="{54E303ED-A76C-72B6-1BC4-DF2025BF42EB}"/>
              </a:ext>
            </a:extLst>
          </p:cNvPr>
          <p:cNvSpPr>
            <a:spLocks noChangeArrowheads="1"/>
          </p:cNvSpPr>
          <p:nvPr/>
        </p:nvSpPr>
        <p:spPr bwMode="auto">
          <a:xfrm rot="10800000" flipV="1">
            <a:off x="1314615" y="1689260"/>
            <a:ext cx="100798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Explore additional ML models like Random Forest and SVM to improve accuracy and robustness.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Enable real-time data input via web forms or APIs for instant recommendations.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Create a user-friendly web or mobile interface for healthcare professionals and patients.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Integrate with pharmacy databases for live updates and dynamic drug recommendations.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69931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DA44E46-E6F8-EFA4-DC54-CD29C8EC7AC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E8CF1CA-41C8-C75C-6822-63C72B995E5B}"/>
              </a:ext>
            </a:extLst>
          </p:cNvPr>
          <p:cNvSpPr/>
          <p:nvPr/>
        </p:nvSpPr>
        <p:spPr>
          <a:xfrm>
            <a:off x="0" y="0"/>
            <a:ext cx="12192000" cy="115823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C7D7A76-2B3A-2C04-CAC3-B50BFE3519C3}"/>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2DC4AF93-D273-6AD9-40FB-55ED5F7CAB76}"/>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Thursday, August 14,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88A527A-5E71-DE2C-5025-6E9DBD58E1AA}"/>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9BA84079-A1C5-524B-0F0B-6A6FED8B85AA}"/>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15</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B3B88B0-8430-7B77-A1A0-030FE78AE9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2E06FAFD-F0E5-481F-560F-C39C3CAB914D}"/>
              </a:ext>
            </a:extLst>
          </p:cNvPr>
          <p:cNvSpPr/>
          <p:nvPr/>
        </p:nvSpPr>
        <p:spPr>
          <a:xfrm>
            <a:off x="-1" y="1153362"/>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ADA49868-C096-C261-4481-C6C03FF8D335}"/>
              </a:ext>
            </a:extLst>
          </p:cNvPr>
          <p:cNvSpPr>
            <a:spLocks noGrp="1"/>
          </p:cNvSpPr>
          <p:nvPr>
            <p:ph type="ctrTitle"/>
          </p:nvPr>
        </p:nvSpPr>
        <p:spPr>
          <a:xfrm>
            <a:off x="1273976" y="347413"/>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References</a:t>
            </a:r>
          </a:p>
        </p:txBody>
      </p:sp>
      <p:sp>
        <p:nvSpPr>
          <p:cNvPr id="9" name="TextBox 8">
            <a:extLst>
              <a:ext uri="{FF2B5EF4-FFF2-40B4-BE49-F238E27FC236}">
                <a16:creationId xmlns:a16="http://schemas.microsoft.com/office/drawing/2014/main" id="{C986DA02-5A4C-815F-83DF-605B8E02202B}"/>
              </a:ext>
            </a:extLst>
          </p:cNvPr>
          <p:cNvSpPr txBox="1"/>
          <p:nvPr/>
        </p:nvSpPr>
        <p:spPr>
          <a:xfrm>
            <a:off x="1273976" y="1357786"/>
            <a:ext cx="10161104" cy="4524315"/>
          </a:xfrm>
          <a:prstGeom prst="rect">
            <a:avLst/>
          </a:prstGeom>
          <a:noFill/>
        </p:spPr>
        <p:txBody>
          <a:bodyPr wrap="square" rtlCol="0">
            <a:spAutoFit/>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[1] Chen, J. H., &amp; Asch, S. M. (2017). Machine learning and prediction in medicine — Beyond the peak of inflated expectations. New England Journal of Medicine, 376(26), 2507–2509. </a:t>
            </a:r>
            <a:r>
              <a:rPr lang="en-US" dirty="0">
                <a:latin typeface="Times New Roman" panose="02020603050405020304" pitchFamily="18" charset="0"/>
                <a:cs typeface="Times New Roman" panose="02020603050405020304" pitchFamily="18" charset="0"/>
                <a:hlinkClick r:id="rId3"/>
              </a:rPr>
              <a:t>https://doi.org/10.1056/NEJMp1702071</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 A. Rajkomar, J. Dean, and I. Kohane, "Machine learning in medicine," </a:t>
            </a:r>
            <a:r>
              <a:rPr lang="en-US" i="1" dirty="0">
                <a:latin typeface="Times New Roman" panose="02020603050405020304" pitchFamily="18" charset="0"/>
                <a:cs typeface="Times New Roman" panose="02020603050405020304" pitchFamily="18" charset="0"/>
              </a:rPr>
              <a:t>New England Journal of Medicine</a:t>
            </a:r>
            <a:r>
              <a:rPr lang="en-US" dirty="0">
                <a:latin typeface="Times New Roman" panose="02020603050405020304" pitchFamily="18" charset="0"/>
                <a:cs typeface="Times New Roman" panose="02020603050405020304" pitchFamily="18" charset="0"/>
              </a:rPr>
              <a:t>, vol. 380, no. 14, pp. 1347–1358, 2019, doi: 10.1056/NEJMra1814259.</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[3] H. Kaur and V. Kumari, "Predictive modelling and analytics for diabetes using a machine learning approach," </a:t>
            </a:r>
            <a:r>
              <a:rPr lang="en-US" i="1" dirty="0">
                <a:latin typeface="Times New Roman" panose="02020603050405020304" pitchFamily="18" charset="0"/>
                <a:cs typeface="Times New Roman" panose="02020603050405020304" pitchFamily="18" charset="0"/>
              </a:rPr>
              <a:t>Applied Computing and Informatics</a:t>
            </a:r>
            <a:r>
              <a:rPr lang="en-US" dirty="0">
                <a:latin typeface="Times New Roman" panose="02020603050405020304" pitchFamily="18" charset="0"/>
                <a:cs typeface="Times New Roman" panose="02020603050405020304" pitchFamily="18" charset="0"/>
              </a:rPr>
              <a:t>, vol. 18, no. 1, pp. 90–100, 2020, doi: 10.1016/j.aci.2019.12.003.</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[4] E. Choi, A. Schuetz, W. F. Stewart, and J. Sun, "Using recurrent neural network models for early detection of heart failure onset," </a:t>
            </a:r>
            <a:r>
              <a:rPr lang="en-US" i="1" dirty="0">
                <a:latin typeface="Times New Roman" panose="02020603050405020304" pitchFamily="18" charset="0"/>
                <a:cs typeface="Times New Roman" panose="02020603050405020304" pitchFamily="18" charset="0"/>
              </a:rPr>
              <a:t>Journal of the American Medical Informatics Association</a:t>
            </a:r>
            <a:r>
              <a:rPr lang="en-US" dirty="0">
                <a:latin typeface="Times New Roman" panose="02020603050405020304" pitchFamily="18" charset="0"/>
                <a:cs typeface="Times New Roman" panose="02020603050405020304" pitchFamily="18" charset="0"/>
              </a:rPr>
              <a:t>, vol. 24, no. 2, pp. 361–370, 2016, doi: 10.1093/jamia/ocw112</a:t>
            </a:r>
            <a:r>
              <a:rPr lang="en-US" dirty="0"/>
              <a:t>.</a:t>
            </a:r>
          </a:p>
          <a:p>
            <a:pPr marL="342900" indent="-342900" algn="just">
              <a:buFont typeface="+mj-lt"/>
              <a:buAutoNum type="arabicPeriod"/>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82505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bg1"/>
            </a:gs>
            <a:gs pos="100000">
              <a:schemeClr val="tx2">
                <a:lumMod val="20000"/>
                <a:lumOff val="80000"/>
              </a:schemeClr>
            </a:gs>
          </a:gsLst>
          <a:lin ang="0" scaled="1"/>
          <a:tileRect/>
        </a:gradFill>
        <a:effectLst/>
      </p:bgPr>
    </p:bg>
    <p:spTree>
      <p:nvGrpSpPr>
        <p:cNvPr id="1" name="">
          <a:extLst>
            <a:ext uri="{FF2B5EF4-FFF2-40B4-BE49-F238E27FC236}">
              <a16:creationId xmlns:a16="http://schemas.microsoft.com/office/drawing/2014/main" id="{B03C81D3-9AAD-9C2A-A92F-CB5D864074D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B1BB63B-9C1F-188B-A83F-25B8B5956DCA}"/>
              </a:ext>
            </a:extLst>
          </p:cNvPr>
          <p:cNvSpPr/>
          <p:nvPr/>
        </p:nvSpPr>
        <p:spPr>
          <a:xfrm>
            <a:off x="0" y="-54442"/>
            <a:ext cx="12192000" cy="6410792"/>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1F82947-A3C0-DF81-11AD-BAD3B1D2E89B}"/>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F78AF7A5-9504-C86E-C764-A6DC3EE68AE1}"/>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8" name="Subtitle 2">
            <a:extLst>
              <a:ext uri="{FF2B5EF4-FFF2-40B4-BE49-F238E27FC236}">
                <a16:creationId xmlns:a16="http://schemas.microsoft.com/office/drawing/2014/main" id="{5CC07F2C-4EA2-A2B4-152C-2432208EF229}"/>
              </a:ext>
            </a:extLst>
          </p:cNvPr>
          <p:cNvSpPr>
            <a:spLocks noGrp="1"/>
          </p:cNvSpPr>
          <p:nvPr/>
        </p:nvSpPr>
        <p:spPr>
          <a:xfrm>
            <a:off x="1192696" y="3240439"/>
            <a:ext cx="3428465" cy="61981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i="1" dirty="0">
                <a:solidFill>
                  <a:srgbClr val="C00000"/>
                </a:solidFill>
                <a:latin typeface="Times New Roman" panose="02020603050405020304" pitchFamily="18" charset="0"/>
                <a:cs typeface="Times New Roman" panose="02020603050405020304" pitchFamily="18" charset="0"/>
              </a:rPr>
              <a:t>Any Questions?</a:t>
            </a:r>
          </a:p>
        </p:txBody>
      </p:sp>
      <p:sp>
        <p:nvSpPr>
          <p:cNvPr id="14" name="Title 1">
            <a:extLst>
              <a:ext uri="{FF2B5EF4-FFF2-40B4-BE49-F238E27FC236}">
                <a16:creationId xmlns:a16="http://schemas.microsoft.com/office/drawing/2014/main" id="{53E24287-C5CD-245E-8FED-DBE06B479230}"/>
              </a:ext>
            </a:extLst>
          </p:cNvPr>
          <p:cNvSpPr>
            <a:spLocks noGrp="1"/>
          </p:cNvSpPr>
          <p:nvPr>
            <p:ph type="ctrTitle"/>
          </p:nvPr>
        </p:nvSpPr>
        <p:spPr>
          <a:xfrm>
            <a:off x="1192696" y="2396720"/>
            <a:ext cx="4637833" cy="910935"/>
          </a:xfrm>
          <a:effectLst>
            <a:outerShdw blurRad="63500" sx="102000" sy="102000" algn="ctr" rotWithShape="0">
              <a:prstClr val="black">
                <a:alpha val="40000"/>
              </a:prstClr>
            </a:outerShdw>
          </a:effectLst>
        </p:spPr>
        <p:txBody>
          <a:bodyPr>
            <a:noAutofit/>
          </a:bodyPr>
          <a:lstStyle/>
          <a:p>
            <a:pPr algn="l"/>
            <a:r>
              <a:rPr lang="en-US" b="1" dirty="0">
                <a:solidFill>
                  <a:schemeClr val="tx2">
                    <a:lumMod val="50000"/>
                  </a:schemeClr>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2630351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6AE03F0-D7C9-495F-941E-2E576E798994}" vid="{7B8EA328-E8FE-4A33-85EE-4C4AE220A4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FY_Presentaion_Template[1]</Template>
  <TotalTime>514</TotalTime>
  <Words>1216</Words>
  <Application>Microsoft Office PowerPoint</Application>
  <PresentationFormat>Widescreen</PresentationFormat>
  <Paragraphs>201</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MS Mincho</vt:lpstr>
      <vt:lpstr>Arial</vt:lpstr>
      <vt:lpstr>Calibri</vt:lpstr>
      <vt:lpstr>Calibri Light</vt:lpstr>
      <vt:lpstr>Cambria</vt:lpstr>
      <vt:lpstr>Times New Roman</vt:lpstr>
      <vt:lpstr>Wingdings</vt:lpstr>
      <vt:lpstr>Office Theme</vt:lpstr>
      <vt:lpstr>"AI-Based Drug Recommendation System Using Pharmacy Records “ </vt:lpstr>
      <vt:lpstr>Outline</vt:lpstr>
      <vt:lpstr>Introduction</vt:lpstr>
      <vt:lpstr>Objectives</vt:lpstr>
      <vt:lpstr>Literature Review (1/1)</vt:lpstr>
      <vt:lpstr>Problem Statement</vt:lpstr>
      <vt:lpstr>Dataset</vt:lpstr>
      <vt:lpstr>System Overview</vt:lpstr>
      <vt:lpstr>Methodology</vt:lpstr>
      <vt:lpstr>Result Analysis</vt:lpstr>
      <vt:lpstr>Result Analysis (contd..)</vt:lpstr>
      <vt:lpstr>Beneficiaries</vt:lpstr>
      <vt:lpstr>Conclusion</vt:lpstr>
      <vt:lpstr>Future Work</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Drug Recommendation System Using Pharmacy Records “</dc:title>
  <dc:creator>User</dc:creator>
  <cp:lastModifiedBy>User</cp:lastModifiedBy>
  <cp:revision>18</cp:revision>
  <dcterms:created xsi:type="dcterms:W3CDTF">2025-07-25T13:49:46Z</dcterms:created>
  <dcterms:modified xsi:type="dcterms:W3CDTF">2025-08-14T15:09:13Z</dcterms:modified>
</cp:coreProperties>
</file>