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sldIdLst>
    <p:sldId id="259" r:id="rId2"/>
    <p:sldId id="278" r:id="rId3"/>
    <p:sldId id="260" r:id="rId4"/>
    <p:sldId id="261" r:id="rId5"/>
    <p:sldId id="264" r:id="rId6"/>
    <p:sldId id="265" r:id="rId7"/>
    <p:sldId id="279" r:id="rId8"/>
    <p:sldId id="280" r:id="rId9"/>
    <p:sldId id="267" r:id="rId10"/>
    <p:sldId id="281" r:id="rId11"/>
    <p:sldId id="287" r:id="rId12"/>
    <p:sldId id="283" r:id="rId13"/>
    <p:sldId id="269" r:id="rId14"/>
    <p:sldId id="270" r:id="rId15"/>
    <p:sldId id="271" r:id="rId16"/>
    <p:sldId id="273" r:id="rId17"/>
    <p:sldId id="284" r:id="rId18"/>
    <p:sldId id="285" r:id="rId19"/>
    <p:sldId id="274" r:id="rId20"/>
    <p:sldId id="275" r:id="rId21"/>
    <p:sldId id="276" r:id="rId22"/>
    <p:sldId id="28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FA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6" autoAdjust="0"/>
    <p:restoredTop sz="94660"/>
  </p:normalViewPr>
  <p:slideViewPr>
    <p:cSldViewPr>
      <p:cViewPr varScale="1">
        <p:scale>
          <a:sx n="83" d="100"/>
          <a:sy n="83" d="100"/>
        </p:scale>
        <p:origin x="146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256520-099E-4134-A45F-2E17D9298BA4}"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256520-099E-4134-A45F-2E17D9298BA4}"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256520-099E-4134-A45F-2E17D9298BA4}"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256520-099E-4134-A45F-2E17D9298BA4}"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256520-099E-4134-A45F-2E17D9298BA4}" type="datetimeFigureOut">
              <a:rPr lang="en-US" smtClean="0"/>
              <a:pPr/>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256520-099E-4134-A45F-2E17D9298BA4}" type="datetimeFigureOut">
              <a:rPr lang="en-US" smtClean="0"/>
              <a:pPr/>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256520-099E-4134-A45F-2E17D9298BA4}"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256520-099E-4134-A45F-2E17D9298BA4}"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256520-099E-4134-A45F-2E17D9298BA4}"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256520-099E-4134-A45F-2E17D9298BA4}"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256520-099E-4134-A45F-2E17D9298BA4}"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F5FC59-25EF-4DA3-962A-B3C188638931}" type="slidenum">
              <a:rPr lang="en-US" smtClean="0"/>
              <a:pPr/>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BB256520-099E-4134-A45F-2E17D9298BA4}" type="datetimeFigureOut">
              <a:rPr lang="en-US" smtClean="0"/>
              <a:pPr/>
              <a:t>2/2/2026</a:t>
            </a:fld>
            <a:endParaRPr lang="en-US"/>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B0F5FC59-25EF-4DA3-962A-B3C18863893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kaggle.com/datasets/masoudnickparvar/brain-tumor-mri-dataset"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s (1)"/>
          <p:cNvPicPr>
            <a:picLocks noChangeAspect="1"/>
          </p:cNvPicPr>
          <p:nvPr/>
        </p:nvPicPr>
        <p:blipFill>
          <a:blip r:embed="rId2"/>
          <a:stretch>
            <a:fillRect/>
          </a:stretch>
        </p:blipFill>
        <p:spPr>
          <a:xfrm>
            <a:off x="3810000" y="76200"/>
            <a:ext cx="1077595" cy="934720"/>
          </a:xfrm>
          <a:prstGeom prst="rect">
            <a:avLst/>
          </a:prstGeom>
        </p:spPr>
      </p:pic>
      <p:sp>
        <p:nvSpPr>
          <p:cNvPr id="4" name="Text Box 3"/>
          <p:cNvSpPr txBox="1"/>
          <p:nvPr/>
        </p:nvSpPr>
        <p:spPr>
          <a:xfrm>
            <a:off x="3505200" y="1136650"/>
            <a:ext cx="1851025" cy="368300"/>
          </a:xfrm>
          <a:prstGeom prst="rect">
            <a:avLst/>
          </a:prstGeom>
          <a:noFill/>
        </p:spPr>
        <p:txBody>
          <a:bodyPr wrap="square" rtlCol="0">
            <a:spAutoFit/>
          </a:bodyPr>
          <a:lstStyle/>
          <a:p>
            <a:pPr algn="ctr"/>
            <a:r>
              <a:rPr lang="en-US"/>
              <a:t>Presentation on</a:t>
            </a:r>
          </a:p>
        </p:txBody>
      </p:sp>
      <p:sp>
        <p:nvSpPr>
          <p:cNvPr id="5" name="Text Box 4"/>
          <p:cNvSpPr txBox="1"/>
          <p:nvPr/>
        </p:nvSpPr>
        <p:spPr>
          <a:xfrm>
            <a:off x="228600" y="1626972"/>
            <a:ext cx="8915400" cy="646331"/>
          </a:xfrm>
          <a:prstGeom prst="rect">
            <a:avLst/>
          </a:prstGeom>
          <a:noFill/>
        </p:spPr>
        <p:txBody>
          <a:bodyPr wrap="square" rtlCol="0">
            <a:spAutoFit/>
          </a:bodyPr>
          <a:lstStyle/>
          <a:p>
            <a:pPr algn="ctr"/>
            <a:r>
              <a:rPr lang="en-US" altLang="en-US" b="1" dirty="0"/>
              <a:t>Enhancing Clinical Interpretability in Brain Tumor Diagnosis: A Deep Learning  Framework  with Explainable AI</a:t>
            </a:r>
            <a:endParaRPr lang="en-US" b="1" dirty="0"/>
          </a:p>
        </p:txBody>
      </p:sp>
      <p:sp>
        <p:nvSpPr>
          <p:cNvPr id="6" name="Text Box 5"/>
          <p:cNvSpPr txBox="1"/>
          <p:nvPr/>
        </p:nvSpPr>
        <p:spPr>
          <a:xfrm>
            <a:off x="-57208" y="2351749"/>
            <a:ext cx="9141460" cy="1139825"/>
          </a:xfrm>
          <a:prstGeom prst="rect">
            <a:avLst/>
          </a:prstGeom>
          <a:noFill/>
        </p:spPr>
        <p:txBody>
          <a:bodyPr wrap="square" rtlCol="0">
            <a:noAutofit/>
          </a:bodyPr>
          <a:lstStyle/>
          <a:p>
            <a:pPr algn="ctr"/>
            <a:r>
              <a:rPr lang="en-US" altLang="en-US" dirty="0"/>
              <a:t>Under the Course of </a:t>
            </a:r>
          </a:p>
          <a:p>
            <a:pPr algn="ctr"/>
            <a:endParaRPr lang="en-US" altLang="en-US" dirty="0"/>
          </a:p>
          <a:p>
            <a:pPr algn="ctr"/>
            <a:r>
              <a:rPr lang="en-US" altLang="en-US" dirty="0"/>
              <a:t>Course Title: Thesis or Project work  </a:t>
            </a:r>
          </a:p>
          <a:p>
            <a:pPr algn="ctr"/>
            <a:r>
              <a:rPr lang="en-US" altLang="en-US" dirty="0"/>
              <a:t>Course Code: CSE-499(B) </a:t>
            </a:r>
          </a:p>
        </p:txBody>
      </p:sp>
      <p:cxnSp>
        <p:nvCxnSpPr>
          <p:cNvPr id="7" name="Straight Connector 6"/>
          <p:cNvCxnSpPr/>
          <p:nvPr/>
        </p:nvCxnSpPr>
        <p:spPr>
          <a:xfrm flipH="1">
            <a:off x="4419600" y="3731260"/>
            <a:ext cx="31115" cy="2593340"/>
          </a:xfrm>
          <a:prstGeom prst="line">
            <a:avLst/>
          </a:prstGeom>
          <a:ln w="31750" cap="rnd">
            <a:solidFill>
              <a:schemeClr val="accent4"/>
            </a:solidFill>
            <a:round/>
          </a:ln>
        </p:spPr>
        <p:style>
          <a:lnRef idx="0">
            <a:srgbClr val="FFFFFF"/>
          </a:lnRef>
          <a:fillRef idx="0">
            <a:srgbClr val="FFFFFF"/>
          </a:fillRef>
          <a:effectRef idx="0">
            <a:srgbClr val="FFFFFF"/>
          </a:effectRef>
          <a:fontRef idx="minor">
            <a:schemeClr val="tx1"/>
          </a:fontRef>
        </p:style>
      </p:cxnSp>
      <p:sp>
        <p:nvSpPr>
          <p:cNvPr id="9" name="Text Box 8"/>
          <p:cNvSpPr txBox="1"/>
          <p:nvPr/>
        </p:nvSpPr>
        <p:spPr>
          <a:xfrm>
            <a:off x="4575810" y="3962400"/>
            <a:ext cx="4425315" cy="1476375"/>
          </a:xfrm>
          <a:prstGeom prst="rect">
            <a:avLst/>
          </a:prstGeom>
          <a:noFill/>
        </p:spPr>
        <p:txBody>
          <a:bodyPr wrap="square" rtlCol="0">
            <a:spAutoFit/>
          </a:bodyPr>
          <a:lstStyle/>
          <a:p>
            <a:r>
              <a:rPr lang="en-US" altLang="en-US" sz="1600" dirty="0"/>
              <a:t> </a:t>
            </a:r>
            <a:r>
              <a:rPr lang="en-US" altLang="en-US" b="1" dirty="0"/>
              <a:t>Supervisor ,</a:t>
            </a:r>
          </a:p>
          <a:p>
            <a:endParaRPr lang="en-US" altLang="en-US" dirty="0"/>
          </a:p>
          <a:p>
            <a:r>
              <a:rPr lang="en-US" altLang="en-US" dirty="0"/>
              <a:t>Md</a:t>
            </a:r>
            <a:r>
              <a:rPr lang="en-US" altLang="en-US" dirty="0" smtClean="0"/>
              <a:t>. Forhan </a:t>
            </a:r>
            <a:r>
              <a:rPr lang="en-US" altLang="en-US" dirty="0"/>
              <a:t>Shahriar Fahim  </a:t>
            </a:r>
          </a:p>
          <a:p>
            <a:r>
              <a:rPr lang="en-US" altLang="en-US" dirty="0"/>
              <a:t>Lecturer  </a:t>
            </a:r>
          </a:p>
          <a:p>
            <a:r>
              <a:rPr lang="en-US" altLang="en-US" dirty="0"/>
              <a:t>Dept</a:t>
            </a:r>
            <a:r>
              <a:rPr lang="en-US" altLang="en-US" dirty="0" smtClean="0"/>
              <a:t>. of CSE</a:t>
            </a:r>
            <a:endParaRPr lang="en-US" altLang="en-US" dirty="0"/>
          </a:p>
        </p:txBody>
      </p:sp>
      <p:sp>
        <p:nvSpPr>
          <p:cNvPr id="10" name="Text Box 9"/>
          <p:cNvSpPr txBox="1"/>
          <p:nvPr/>
        </p:nvSpPr>
        <p:spPr>
          <a:xfrm>
            <a:off x="334010" y="3893185"/>
            <a:ext cx="3715385" cy="2376170"/>
          </a:xfrm>
          <a:prstGeom prst="rect">
            <a:avLst/>
          </a:prstGeom>
          <a:noFill/>
        </p:spPr>
        <p:txBody>
          <a:bodyPr wrap="square" rtlCol="0">
            <a:noAutofit/>
          </a:bodyPr>
          <a:lstStyle/>
          <a:p>
            <a:r>
              <a:rPr lang="en-US" altLang="en-US" b="1" dirty="0"/>
              <a:t>Prepared by ,</a:t>
            </a:r>
          </a:p>
          <a:p>
            <a:endParaRPr lang="en-US" altLang="en-US" b="1" dirty="0"/>
          </a:p>
          <a:p>
            <a:r>
              <a:rPr lang="en-US" altLang="en-US" dirty="0"/>
              <a:t>Sadia Akter  </a:t>
            </a:r>
          </a:p>
          <a:p>
            <a:r>
              <a:rPr lang="en-US" altLang="en-US" dirty="0"/>
              <a:t>ID	 :0322210205101127  </a:t>
            </a:r>
          </a:p>
          <a:p>
            <a:r>
              <a:rPr lang="en-US" altLang="en-US" dirty="0"/>
              <a:t>Semester:8th </a:t>
            </a:r>
          </a:p>
          <a:p>
            <a:r>
              <a:rPr lang="en-US" altLang="en-US" dirty="0"/>
              <a:t>Batch	 :20th </a:t>
            </a:r>
          </a:p>
          <a:p>
            <a:r>
              <a:rPr lang="en-US" altLang="en-US" dirty="0"/>
              <a:t>Session   </a:t>
            </a:r>
            <a:r>
              <a:rPr lang="en-US" altLang="en-US" dirty="0" smtClean="0"/>
              <a:t>:Spring-22  </a:t>
            </a:r>
            <a:endParaRPr lang="en-US" altLang="en-US" dirty="0"/>
          </a:p>
          <a:p>
            <a:r>
              <a:rPr lang="en-US" altLang="en-US" dirty="0"/>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005" y="609600"/>
            <a:ext cx="7848600" cy="5262979"/>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Outlines</a:t>
            </a:r>
          </a:p>
          <a:p>
            <a:pPr algn="ctr"/>
            <a:endParaRPr lang="en-US" sz="2000" b="1" dirty="0" smtClean="0">
              <a:latin typeface="Times New Roman" panose="02020603050405020304" pitchFamily="18" charset="0"/>
              <a:cs typeface="Times New Roman" panose="02020603050405020304" pitchFamily="18" charset="0"/>
            </a:endParaRPr>
          </a:p>
          <a:p>
            <a:endParaRPr lang="en-US" dirty="0" smtClean="0"/>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Related work</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Dataset</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Model Architecture</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Training and validation performance</a:t>
            </a:r>
            <a:endParaRPr lang="en-US" sz="2000" b="1" dirty="0" smtClean="0"/>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Confusion matrix</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Classification report</a:t>
            </a:r>
          </a:p>
          <a:p>
            <a:pPr>
              <a:buFont typeface="Wingdings" panose="05000000000000000000" pitchFamily="2" charset="2"/>
              <a:buChar char="ü"/>
            </a:pPr>
            <a:r>
              <a:rPr lang="en-US" altLang="en-US" sz="2000" dirty="0" smtClean="0">
                <a:latin typeface="Times New Roman" pitchFamily="18" charset="0"/>
                <a:cs typeface="Times New Roman" pitchFamily="18" charset="0"/>
              </a:rPr>
              <a:t>Explainable AI using  Grad-CAM</a:t>
            </a:r>
          </a:p>
          <a:p>
            <a:pPr>
              <a:buFont typeface="Wingdings" panose="05000000000000000000" pitchFamily="2" charset="2"/>
              <a:buChar char="ü"/>
            </a:pPr>
            <a:r>
              <a:rPr lang="en-US" sz="2000" dirty="0" smtClean="0">
                <a:latin typeface="Times New Roman" pitchFamily="18" charset="0"/>
                <a:cs typeface="Times New Roman" pitchFamily="18" charset="0"/>
              </a:rPr>
              <a:t>Comparative analysis</a:t>
            </a:r>
          </a:p>
          <a:p>
            <a:pPr>
              <a:buFont typeface="Wingdings" panose="05000000000000000000" pitchFamily="2" charset="2"/>
              <a:buChar char="ü"/>
            </a:pPr>
            <a:r>
              <a:rPr lang="en-US" sz="2000" dirty="0" smtClean="0">
                <a:latin typeface="Times New Roman" pitchFamily="18" charset="0"/>
                <a:cs typeface="Times New Roman" pitchFamily="18" charset="0"/>
              </a:rPr>
              <a:t>Conclusion and future works</a:t>
            </a:r>
          </a:p>
          <a:p>
            <a:pPr>
              <a:buFont typeface="Wingdings" panose="05000000000000000000" pitchFamily="2" charset="2"/>
              <a:buChar char="ü"/>
            </a:pPr>
            <a:r>
              <a:rPr lang="en-US" sz="2000" dirty="0" smtClean="0">
                <a:latin typeface="Times New Roman" pitchFamily="18" charset="0"/>
                <a:cs typeface="Times New Roman" pitchFamily="18" charset="0"/>
              </a:rPr>
              <a:t>Reference</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1219200"/>
            <a:ext cx="3733800" cy="5105400"/>
          </a:xfrm>
          <a:prstGeom prst="rect">
            <a:avLst/>
          </a:prstGeom>
          <a:noFill/>
        </p:spPr>
        <p:txBody>
          <a:bodyPr wrap="square" rtlCol="0">
            <a:noAutofit/>
          </a:bodyPr>
          <a:lstStyle/>
          <a:p>
            <a:endParaRPr lang="en-US" altLang="en-US" sz="2000" b="1"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smtClean="0">
                <a:latin typeface="Times New Roman" panose="02020603050405020304" pitchFamily="18" charset="0"/>
                <a:cs typeface="Times New Roman" panose="02020603050405020304" pitchFamily="18" charset="0"/>
              </a:rPr>
              <a:t>Brain </a:t>
            </a:r>
            <a:r>
              <a:rPr lang="en-US" altLang="en-US" dirty="0">
                <a:latin typeface="Times New Roman" panose="02020603050405020304" pitchFamily="18" charset="0"/>
                <a:cs typeface="Times New Roman" panose="02020603050405020304" pitchFamily="18" charset="0"/>
              </a:rPr>
              <a:t>tumor diagnosis is critical and often delayed in developing </a:t>
            </a:r>
            <a:r>
              <a:rPr lang="en-US" altLang="en-US" dirty="0" smtClean="0">
                <a:latin typeface="Times New Roman" panose="02020603050405020304" pitchFamily="18" charset="0"/>
                <a:cs typeface="Times New Roman" panose="02020603050405020304" pitchFamily="18" charset="0"/>
              </a:rPr>
              <a:t>countries.</a:t>
            </a: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Manual MRI analysis is slow and depends on limited expert </a:t>
            </a:r>
            <a:r>
              <a:rPr lang="en-US" altLang="en-US" dirty="0" smtClean="0">
                <a:latin typeface="Times New Roman" panose="02020603050405020304" pitchFamily="18" charset="0"/>
                <a:cs typeface="Times New Roman" panose="02020603050405020304" pitchFamily="18" charset="0"/>
              </a:rPr>
              <a:t>radiologists.</a:t>
            </a: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Transfer learning–based CNNs enable accurate automated </a:t>
            </a:r>
            <a:r>
              <a:rPr lang="en-US" altLang="en-US" dirty="0" smtClean="0">
                <a:latin typeface="Times New Roman" panose="02020603050405020304" pitchFamily="18" charset="0"/>
                <a:cs typeface="Times New Roman" panose="02020603050405020304" pitchFamily="18" charset="0"/>
              </a:rPr>
              <a:t>classification.</a:t>
            </a: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XAI (Grad-CAM) improves interpretability and clinical </a:t>
            </a:r>
            <a:r>
              <a:rPr lang="en-US" altLang="en-US" dirty="0" smtClean="0">
                <a:latin typeface="Times New Roman" panose="02020603050405020304" pitchFamily="18" charset="0"/>
                <a:cs typeface="Times New Roman" panose="02020603050405020304" pitchFamily="18" charset="0"/>
              </a:rPr>
              <a:t>trust.</a:t>
            </a: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This work aims to support early detection and better </a:t>
            </a:r>
            <a:r>
              <a:rPr lang="en-US" altLang="en-US" dirty="0" smtClean="0">
                <a:latin typeface="Times New Roman" panose="02020603050405020304" pitchFamily="18" charset="0"/>
                <a:cs typeface="Times New Roman" panose="02020603050405020304" pitchFamily="18" charset="0"/>
              </a:rPr>
              <a:t>decision-making.</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0366" y="1752600"/>
            <a:ext cx="2628900" cy="2819400"/>
          </a:xfrm>
          <a:prstGeom prst="rect">
            <a:avLst/>
          </a:prstGeom>
        </p:spPr>
      </p:pic>
      <p:sp>
        <p:nvSpPr>
          <p:cNvPr id="4" name="TextBox 3"/>
          <p:cNvSpPr txBox="1"/>
          <p:nvPr/>
        </p:nvSpPr>
        <p:spPr>
          <a:xfrm>
            <a:off x="5638800" y="4739733"/>
            <a:ext cx="3352800" cy="338554"/>
          </a:xfrm>
          <a:prstGeom prst="rect">
            <a:avLst/>
          </a:prstGeom>
          <a:noFill/>
        </p:spPr>
        <p:txBody>
          <a:bodyPr wrap="square" rtlCol="0">
            <a:spAutoFit/>
          </a:bodyPr>
          <a:lstStyle/>
          <a:p>
            <a:r>
              <a:rPr lang="en-US" sz="1600" b="1" dirty="0" smtClean="0">
                <a:latin typeface="Times New Roman" panose="02020603050405020304" pitchFamily="18" charset="0"/>
                <a:cs typeface="Times New Roman" panose="02020603050405020304" pitchFamily="18" charset="0"/>
              </a:rPr>
              <a:t>Figure 1: AI detects brain tumors</a:t>
            </a:r>
            <a:endParaRPr lang="en-US" sz="16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3546" y="570924"/>
            <a:ext cx="9144000" cy="677108"/>
          </a:xfrm>
          <a:prstGeom prst="rect">
            <a:avLst/>
          </a:prstGeom>
          <a:noFill/>
        </p:spPr>
        <p:txBody>
          <a:bodyPr wrap="square" rtlCol="0">
            <a:spAutoFit/>
          </a:bodyPr>
          <a:lstStyle/>
          <a:p>
            <a:pPr algn="ctr"/>
            <a:r>
              <a:rPr lang="en-US" altLang="en-US" sz="2000" b="1" dirty="0" smtClean="0">
                <a:latin typeface="Times New Roman" panose="02020603050405020304" pitchFamily="18" charset="0"/>
                <a:cs typeface="Times New Roman" panose="02020603050405020304" pitchFamily="18" charset="0"/>
              </a:rPr>
              <a:t>Introduction</a:t>
            </a:r>
            <a:endParaRPr lang="en-US" altLang="en-US" sz="2000" b="1" dirty="0">
              <a:latin typeface="Times New Roman" panose="02020603050405020304" pitchFamily="18" charset="0"/>
              <a:cs typeface="Times New Roman" panose="02020603050405020304" pitchFamily="18" charset="0"/>
            </a:endParaRPr>
          </a:p>
          <a:p>
            <a:pPr algn="ct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2590800"/>
            <a:ext cx="8382000" cy="369332"/>
          </a:xfrm>
          <a:prstGeom prst="rect">
            <a:avLst/>
          </a:prstGeom>
          <a:noFill/>
        </p:spPr>
        <p:txBody>
          <a:bodyPr wrap="square" rtlCol="0">
            <a:spAutoFit/>
          </a:bodyPr>
          <a:lstStyle/>
          <a:p>
            <a:endParaRPr lang="en-US" dirty="0" smtClean="0"/>
          </a:p>
        </p:txBody>
      </p:sp>
      <p:sp>
        <p:nvSpPr>
          <p:cNvPr id="7" name="TextBox 6"/>
          <p:cNvSpPr txBox="1"/>
          <p:nvPr/>
        </p:nvSpPr>
        <p:spPr>
          <a:xfrm>
            <a:off x="609600" y="2743200"/>
            <a:ext cx="8382000" cy="369332"/>
          </a:xfrm>
          <a:prstGeom prst="rect">
            <a:avLst/>
          </a:prstGeom>
          <a:noFill/>
        </p:spPr>
        <p:txBody>
          <a:bodyPr wrap="square" rtlCol="0">
            <a:spAutoFit/>
          </a:bodyPr>
          <a:lstStyle/>
          <a:p>
            <a:endParaRPr lang="en-US" dirty="0" smtClean="0"/>
          </a:p>
        </p:txBody>
      </p:sp>
      <p:sp>
        <p:nvSpPr>
          <p:cNvPr id="4" name="Text Box 3"/>
          <p:cNvSpPr txBox="1"/>
          <p:nvPr/>
        </p:nvSpPr>
        <p:spPr>
          <a:xfrm>
            <a:off x="319148" y="626764"/>
            <a:ext cx="8643620" cy="4343400"/>
          </a:xfrm>
          <a:prstGeom prst="rect">
            <a:avLst/>
          </a:prstGeom>
          <a:noFill/>
        </p:spPr>
        <p:txBody>
          <a:bodyPr wrap="square" rtlCol="0">
            <a:noAutofit/>
          </a:bodyPr>
          <a:lstStyle/>
          <a:p>
            <a:pPr algn="ctr"/>
            <a:r>
              <a:rPr lang="en-US" sz="2000" b="1" dirty="0" smtClean="0">
                <a:latin typeface="Times New Roman" panose="02020603050405020304" pitchFamily="18" charset="0"/>
                <a:cs typeface="Times New Roman" panose="02020603050405020304" pitchFamily="18" charset="0"/>
                <a:sym typeface="+mn-ea"/>
              </a:rPr>
              <a:t>Objectives</a:t>
            </a:r>
          </a:p>
          <a:p>
            <a:pPr algn="ctr"/>
            <a:endParaRPr lang="en-US" sz="2000" b="1" dirty="0" smtClean="0">
              <a:latin typeface="Times New Roman" panose="02020603050405020304" pitchFamily="18" charset="0"/>
              <a:cs typeface="Times New Roman" panose="02020603050405020304" pitchFamily="18" charset="0"/>
              <a:sym typeface="+mn-ea"/>
            </a:endParaRPr>
          </a:p>
          <a:p>
            <a:pPr algn="ctr"/>
            <a:endParaRPr lang="en-US" sz="2000" b="1" dirty="0" smtClean="0">
              <a:latin typeface="Times New Roman" panose="02020603050405020304" pitchFamily="18" charset="0"/>
              <a:cs typeface="Times New Roman" panose="02020603050405020304" pitchFamily="18" charset="0"/>
              <a:sym typeface="+mn-ea"/>
            </a:endParaRPr>
          </a:p>
          <a:p>
            <a:pPr algn="just"/>
            <a:r>
              <a:rPr lang="en-US" dirty="0" smtClean="0">
                <a:latin typeface="Times New Roman" pitchFamily="18" charset="0"/>
                <a:cs typeface="Times New Roman" pitchFamily="18" charset="0"/>
              </a:rPr>
              <a:t>1. To </a:t>
            </a:r>
            <a:r>
              <a:rPr lang="en-US" dirty="0">
                <a:latin typeface="Times New Roman" pitchFamily="18" charset="0"/>
                <a:cs typeface="Times New Roman" pitchFamily="18" charset="0"/>
              </a:rPr>
              <a:t>design a VGG16-based CNN for brain tumor classification. </a:t>
            </a:r>
            <a:endParaRPr lang="en-US" dirty="0" smtClean="0">
              <a:latin typeface="Times New Roman" pitchFamily="18" charset="0"/>
              <a:cs typeface="Times New Roman" pitchFamily="18" charset="0"/>
            </a:endParaRPr>
          </a:p>
          <a:p>
            <a:pPr marL="342900" indent="-342900" algn="just">
              <a:buFont typeface="+mj-lt"/>
              <a:buAutoNum type="arabicPeriod"/>
            </a:pP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2. To classify MRI brain images into multiple categories with high accuracy. </a:t>
            </a:r>
          </a:p>
          <a:p>
            <a:pPr marL="342900" indent="-342900" algn="just">
              <a:buFont typeface="+mj-lt"/>
              <a:buAutoNum type="arabicPeriod"/>
            </a:pP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3. To evaluate the performance of the proposed model using standard confusion matrix. </a:t>
            </a:r>
          </a:p>
          <a:p>
            <a:pPr marL="342900" indent="-342900" algn="just">
              <a:buFont typeface="+mj-lt"/>
              <a:buAutoNum type="arabicPeriod"/>
            </a:pP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4. To use </a:t>
            </a:r>
            <a:r>
              <a:rPr lang="en-US" dirty="0">
                <a:latin typeface="Times New Roman" pitchFamily="18" charset="0"/>
                <a:cs typeface="Times New Roman" pitchFamily="18" charset="0"/>
              </a:rPr>
              <a:t>Grad-CAM for model interpretability</a:t>
            </a:r>
            <a:r>
              <a:rPr lang="en-US" dirty="0" smtClean="0">
                <a:latin typeface="Times New Roman" pitchFamily="18" charset="0"/>
                <a:cs typeface="Times New Roman" pitchFamily="18" charset="0"/>
              </a:rPr>
              <a:t>.</a:t>
            </a:r>
          </a:p>
          <a:p>
            <a:pPr marL="342900" indent="-342900" algn="just">
              <a:buFont typeface="+mj-lt"/>
              <a:buAutoNum type="arabicPeriod"/>
            </a:pP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5. To </a:t>
            </a:r>
            <a:r>
              <a:rPr lang="en-US" dirty="0">
                <a:latin typeface="Times New Roman" pitchFamily="18" charset="0"/>
                <a:cs typeface="Times New Roman" pitchFamily="18" charset="0"/>
              </a:rPr>
              <a:t>support brain tumor diagnosis in resource-limited settings.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4615" y="533400"/>
            <a:ext cx="8874125" cy="6056630"/>
          </a:xfrm>
          <a:prstGeom prst="rect">
            <a:avLst/>
          </a:prstGeom>
          <a:noFill/>
        </p:spPr>
        <p:txBody>
          <a:bodyPr wrap="square" rtlCol="0">
            <a:noAutofit/>
          </a:bodyPr>
          <a:lstStyle/>
          <a:p>
            <a:pPr algn="ctr"/>
            <a:r>
              <a:rPr lang="en-US" sz="2400" b="1"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Related Works</a:t>
            </a:r>
          </a:p>
          <a:p>
            <a:pPr algn="ctr"/>
            <a:endParaRPr lang="en-US" sz="2000" dirty="0" smtClean="0">
              <a:latin typeface="Times New Roman" panose="02020603050405020304" pitchFamily="18" charset="0"/>
              <a:cs typeface="Times New Roman" panose="02020603050405020304" pitchFamily="18" charset="0"/>
            </a:endParaRPr>
          </a:p>
          <a:p>
            <a:endParaRPr lang="en-US" sz="1600" dirty="0"/>
          </a:p>
        </p:txBody>
      </p:sp>
      <p:graphicFrame>
        <p:nvGraphicFramePr>
          <p:cNvPr id="7" name="Table 6"/>
          <p:cNvGraphicFramePr>
            <a:graphicFrameLocks noGrp="1"/>
          </p:cNvGraphicFramePr>
          <p:nvPr>
            <p:extLst>
              <p:ext uri="{D42A27DB-BD31-4B8C-83A1-F6EECF244321}">
                <p14:modId xmlns:p14="http://schemas.microsoft.com/office/powerpoint/2010/main" val="2308225110"/>
              </p:ext>
            </p:extLst>
          </p:nvPr>
        </p:nvGraphicFramePr>
        <p:xfrm>
          <a:off x="381000" y="1524000"/>
          <a:ext cx="8381999" cy="4536354"/>
        </p:xfrm>
        <a:graphic>
          <a:graphicData uri="http://schemas.openxmlformats.org/drawingml/2006/table">
            <a:tbl>
              <a:tblPr firstRow="1" bandRow="1">
                <a:tableStyleId>{00A15C55-8517-42AA-B614-E9B94910E393}</a:tableStyleId>
              </a:tblPr>
              <a:tblGrid>
                <a:gridCol w="1568245">
                  <a:extLst>
                    <a:ext uri="{9D8B030D-6E8A-4147-A177-3AD203B41FA5}">
                      <a16:colId xmlns:a16="http://schemas.microsoft.com/office/drawing/2014/main" val="20000"/>
                    </a:ext>
                  </a:extLst>
                </a:gridCol>
                <a:gridCol w="1415845">
                  <a:extLst>
                    <a:ext uri="{9D8B030D-6E8A-4147-A177-3AD203B41FA5}">
                      <a16:colId xmlns:a16="http://schemas.microsoft.com/office/drawing/2014/main" val="20001"/>
                    </a:ext>
                  </a:extLst>
                </a:gridCol>
                <a:gridCol w="1415845">
                  <a:extLst>
                    <a:ext uri="{9D8B030D-6E8A-4147-A177-3AD203B41FA5}">
                      <a16:colId xmlns:a16="http://schemas.microsoft.com/office/drawing/2014/main" val="20002"/>
                    </a:ext>
                  </a:extLst>
                </a:gridCol>
                <a:gridCol w="1415845">
                  <a:extLst>
                    <a:ext uri="{9D8B030D-6E8A-4147-A177-3AD203B41FA5}">
                      <a16:colId xmlns:a16="http://schemas.microsoft.com/office/drawing/2014/main" val="20003"/>
                    </a:ext>
                  </a:extLst>
                </a:gridCol>
                <a:gridCol w="2566219">
                  <a:extLst>
                    <a:ext uri="{9D8B030D-6E8A-4147-A177-3AD203B41FA5}">
                      <a16:colId xmlns:a16="http://schemas.microsoft.com/office/drawing/2014/main" val="20004"/>
                    </a:ext>
                  </a:extLst>
                </a:gridCol>
              </a:tblGrid>
              <a:tr h="914400">
                <a:tc>
                  <a:txBody>
                    <a:bodyPr/>
                    <a:lstStyle/>
                    <a:p>
                      <a:r>
                        <a:rPr lang="en-US" dirty="0" smtClean="0">
                          <a:latin typeface="Times New Roman" pitchFamily="18" charset="0"/>
                          <a:cs typeface="Times New Roman" pitchFamily="18" charset="0"/>
                        </a:rPr>
                        <a:t>Author(year)</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Model</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Tumor Classes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Accurecy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Limitation</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893881">
                <a:tc>
                  <a:txBody>
                    <a:bodyPr/>
                    <a:lstStyle/>
                    <a:p>
                      <a:r>
                        <a:rPr lang="en-US" dirty="0" smtClean="0">
                          <a:latin typeface="Times New Roman" pitchFamily="18" charset="0"/>
                          <a:cs typeface="Times New Roman" pitchFamily="18" charset="0"/>
                        </a:rPr>
                        <a:t>Zhang et al.(2018)[1]</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VGG16(Transfer</a:t>
                      </a:r>
                      <a:r>
                        <a:rPr lang="en-US" baseline="0" dirty="0" smtClean="0">
                          <a:latin typeface="Times New Roman" pitchFamily="18" charset="0"/>
                          <a:cs typeface="Times New Roman" pitchFamily="18" charset="0"/>
                        </a:rPr>
                        <a:t> Learning)</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Multiclass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96.0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Reduced precision for pituitary tumors, no XAI integration</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184073">
                <a:tc>
                  <a:txBody>
                    <a:bodyPr/>
                    <a:lstStyle/>
                    <a:p>
                      <a:r>
                        <a:rPr lang="en-US" dirty="0" smtClean="0">
                          <a:latin typeface="Times New Roman" pitchFamily="18" charset="0"/>
                          <a:cs typeface="Times New Roman" pitchFamily="18" charset="0"/>
                        </a:rPr>
                        <a:t>Abdel- Basset et al.(2020)[2]</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Custom CNN+ Handcrafted Features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Glioma , Meningioma</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98.0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Large model size, explainability not included</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518834">
                <a:tc>
                  <a:txBody>
                    <a:bodyPr/>
                    <a:lstStyle/>
                    <a:p>
                      <a:r>
                        <a:rPr lang="en-US" dirty="0" smtClean="0">
                          <a:latin typeface="Times New Roman" pitchFamily="18" charset="0"/>
                          <a:cs typeface="Times New Roman" pitchFamily="18" charset="0"/>
                        </a:rPr>
                        <a:t>Chowdhury et al.(2021)[3]</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CNN-LSTM Hybride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Multiclass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97.9</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Increased complexity, longer training time, limited dataset diversity</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162" y="685800"/>
            <a:ext cx="8763000" cy="5715000"/>
          </a:xfrm>
          <a:prstGeom prst="rect">
            <a:avLst/>
          </a:prstGeom>
          <a:noFill/>
        </p:spPr>
        <p:txBody>
          <a:bodyPr wrap="square" rtlCol="0">
            <a:noAutofit/>
          </a:bodyPr>
          <a:lstStyle/>
          <a:p>
            <a:pPr algn="ctr"/>
            <a:r>
              <a:rPr lang="en-US" sz="2000" b="1" dirty="0" smtClean="0">
                <a:latin typeface="Times New Roman" panose="02020603050405020304" pitchFamily="18" charset="0"/>
                <a:cs typeface="Times New Roman" panose="02020603050405020304" pitchFamily="18" charset="0"/>
              </a:rPr>
              <a:t>  Related Works</a:t>
            </a:r>
          </a:p>
          <a:p>
            <a:pPr algn="ctr"/>
            <a:endParaRPr lang="en-US" sz="2000" b="1" dirty="0">
              <a:latin typeface="Times New Roman" panose="02020603050405020304" pitchFamily="18" charset="0"/>
              <a:cs typeface="Times New Roman" panose="02020603050405020304" pitchFamily="18" charset="0"/>
            </a:endParaRPr>
          </a:p>
          <a:p>
            <a:pPr algn="ctr"/>
            <a:endParaRPr lang="en-US" sz="2000" b="1" dirty="0" smtClean="0">
              <a:latin typeface="Times New Roman" panose="02020603050405020304" pitchFamily="18" charset="0"/>
              <a:cs typeface="Times New Roman" panose="02020603050405020304" pitchFamily="18" charset="0"/>
            </a:endParaRPr>
          </a:p>
          <a:p>
            <a:endParaRPr lang="en-US" sz="2400" b="1" dirty="0" smtClean="0"/>
          </a:p>
        </p:txBody>
      </p:sp>
      <p:graphicFrame>
        <p:nvGraphicFramePr>
          <p:cNvPr id="7" name="Table 6"/>
          <p:cNvGraphicFramePr>
            <a:graphicFrameLocks noGrp="1"/>
          </p:cNvGraphicFramePr>
          <p:nvPr>
            <p:extLst>
              <p:ext uri="{D42A27DB-BD31-4B8C-83A1-F6EECF244321}">
                <p14:modId xmlns:p14="http://schemas.microsoft.com/office/powerpoint/2010/main" val="1461046903"/>
              </p:ext>
            </p:extLst>
          </p:nvPr>
        </p:nvGraphicFramePr>
        <p:xfrm>
          <a:off x="533400" y="1676400"/>
          <a:ext cx="8245938" cy="4315550"/>
        </p:xfrm>
        <a:graphic>
          <a:graphicData uri="http://schemas.openxmlformats.org/drawingml/2006/table">
            <a:tbl>
              <a:tblPr firstRow="1" bandRow="1">
                <a:tableStyleId>{00A15C55-8517-42AA-B614-E9B94910E393}</a:tableStyleId>
              </a:tblPr>
              <a:tblGrid>
                <a:gridCol w="1600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331224">
                  <a:extLst>
                    <a:ext uri="{9D8B030D-6E8A-4147-A177-3AD203B41FA5}">
                      <a16:colId xmlns:a16="http://schemas.microsoft.com/office/drawing/2014/main" val="20003"/>
                    </a:ext>
                  </a:extLst>
                </a:gridCol>
                <a:gridCol w="2571314">
                  <a:extLst>
                    <a:ext uri="{9D8B030D-6E8A-4147-A177-3AD203B41FA5}">
                      <a16:colId xmlns:a16="http://schemas.microsoft.com/office/drawing/2014/main" val="20004"/>
                    </a:ext>
                  </a:extLst>
                </a:gridCol>
              </a:tblGrid>
              <a:tr h="914400">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Author(year)</a:t>
                      </a:r>
                    </a:p>
                    <a:p>
                      <a:endParaRPr lang="en-US" dirty="0"/>
                    </a:p>
                  </a:txBody>
                  <a:tcPr/>
                </a:tc>
                <a:tc>
                  <a:txBody>
                    <a:bodyPr/>
                    <a:lstStyle/>
                    <a:p>
                      <a:r>
                        <a:rPr lang="en-US" dirty="0" smtClean="0">
                          <a:latin typeface="Times New Roman" pitchFamily="18" charset="0"/>
                          <a:cs typeface="Times New Roman" pitchFamily="18" charset="0"/>
                        </a:rPr>
                        <a:t>Model</a:t>
                      </a:r>
                    </a:p>
                    <a:p>
                      <a:endParaRPr lang="en-US" dirty="0"/>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Tumor Classes</a:t>
                      </a:r>
                    </a:p>
                    <a:p>
                      <a:endParaRPr lang="en-US" dirty="0"/>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Accurecy (%)</a:t>
                      </a:r>
                    </a:p>
                    <a:p>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Limitation</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977990">
                <a:tc>
                  <a:txBody>
                    <a:bodyPr/>
                    <a:lstStyle/>
                    <a:p>
                      <a:r>
                        <a:rPr lang="en-US" dirty="0" smtClean="0">
                          <a:latin typeface="Times New Roman" pitchFamily="18" charset="0"/>
                          <a:cs typeface="Times New Roman" pitchFamily="18" charset="0"/>
                        </a:rPr>
                        <a:t>Patel et al.(2020)[4]</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CNN + Attention Mechanism</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Glioma  , Meningioma  , Pituitary</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98.2</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No Grad-CAM/XAI, visual interpretability missing</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234440">
                <a:tc>
                  <a:txBody>
                    <a:bodyPr/>
                    <a:lstStyle/>
                    <a:p>
                      <a:r>
                        <a:rPr lang="en-US" dirty="0" smtClean="0">
                          <a:latin typeface="Times New Roman" pitchFamily="18" charset="0"/>
                          <a:cs typeface="Times New Roman" pitchFamily="18" charset="0"/>
                        </a:rPr>
                        <a:t>Sharma et al.(2020)[5]</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ResNet50, InceptionV3, Custom CNN</a:t>
                      </a:r>
                      <a:endParaRPr lang="en-US" dirty="0">
                        <a:latin typeface="Times New Roman" pitchFamily="18" charset="0"/>
                        <a:cs typeface="Times New Roman" pitchFamily="18" charset="0"/>
                      </a:endParaRPr>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Multiclass</a:t>
                      </a:r>
                    </a:p>
                    <a:p>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98.5</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Small class subsets underperformed, no XAI</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952801">
                <a:tc>
                  <a:txBody>
                    <a:bodyPr/>
                    <a:lstStyle/>
                    <a:p>
                      <a:r>
                        <a:rPr lang="en-US" dirty="0" smtClean="0">
                          <a:latin typeface="Times New Roman" pitchFamily="18" charset="0"/>
                          <a:cs typeface="Times New Roman" pitchFamily="18" charset="0"/>
                        </a:rPr>
                        <a:t>Haque &amp; Islam (2021)[6]</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VGG16 (No selective fine-tuning)</a:t>
                      </a:r>
                      <a:endParaRPr lang="en-US" dirty="0">
                        <a:latin typeface="Times New Roman" pitchFamily="18" charset="0"/>
                        <a:cs typeface="Times New Roman" pitchFamily="18" charset="0"/>
                      </a:endParaRPr>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Multiclass</a:t>
                      </a:r>
                    </a:p>
                    <a:p>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98.5</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Lack of explainability, limited data augmentation</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508804390"/>
              </p:ext>
            </p:extLst>
          </p:nvPr>
        </p:nvGraphicFramePr>
        <p:xfrm>
          <a:off x="457200" y="1600200"/>
          <a:ext cx="8229599" cy="4622194"/>
        </p:xfrm>
        <a:graphic>
          <a:graphicData uri="http://schemas.openxmlformats.org/drawingml/2006/table">
            <a:tbl>
              <a:tblPr firstRow="1" bandRow="1">
                <a:tableStyleId>{00A15C55-8517-42AA-B614-E9B94910E393}</a:tableStyleId>
              </a:tblPr>
              <a:tblGrid>
                <a:gridCol w="1524000">
                  <a:extLst>
                    <a:ext uri="{9D8B030D-6E8A-4147-A177-3AD203B41FA5}">
                      <a16:colId xmlns:a16="http://schemas.microsoft.com/office/drawing/2014/main" val="20000"/>
                    </a:ext>
                  </a:extLst>
                </a:gridCol>
                <a:gridCol w="1307690">
                  <a:extLst>
                    <a:ext uri="{9D8B030D-6E8A-4147-A177-3AD203B41FA5}">
                      <a16:colId xmlns:a16="http://schemas.microsoft.com/office/drawing/2014/main" val="20001"/>
                    </a:ext>
                  </a:extLst>
                </a:gridCol>
                <a:gridCol w="1415845">
                  <a:extLst>
                    <a:ext uri="{9D8B030D-6E8A-4147-A177-3AD203B41FA5}">
                      <a16:colId xmlns:a16="http://schemas.microsoft.com/office/drawing/2014/main" val="20002"/>
                    </a:ext>
                  </a:extLst>
                </a:gridCol>
                <a:gridCol w="1415845">
                  <a:extLst>
                    <a:ext uri="{9D8B030D-6E8A-4147-A177-3AD203B41FA5}">
                      <a16:colId xmlns:a16="http://schemas.microsoft.com/office/drawing/2014/main" val="20003"/>
                    </a:ext>
                  </a:extLst>
                </a:gridCol>
                <a:gridCol w="2566219">
                  <a:extLst>
                    <a:ext uri="{9D8B030D-6E8A-4147-A177-3AD203B41FA5}">
                      <a16:colId xmlns:a16="http://schemas.microsoft.com/office/drawing/2014/main" val="20004"/>
                    </a:ext>
                  </a:extLst>
                </a:gridCol>
              </a:tblGrid>
              <a:tr h="993924">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b="1" dirty="0" smtClean="0">
                          <a:latin typeface="Times New Roman" pitchFamily="18" charset="0"/>
                          <a:cs typeface="Times New Roman" pitchFamily="18" charset="0"/>
                        </a:rPr>
                        <a:t>Author(year)</a:t>
                      </a:r>
                    </a:p>
                  </a:txBody>
                  <a:tcPr/>
                </a:tc>
                <a:tc>
                  <a:txBody>
                    <a:bodyPr/>
                    <a:lstStyle/>
                    <a:p>
                      <a:pPr algn="l"/>
                      <a:r>
                        <a:rPr lang="en-US" b="1" dirty="0" smtClean="0">
                          <a:latin typeface="Times New Roman" pitchFamily="18" charset="0"/>
                          <a:cs typeface="Times New Roman" pitchFamily="18" charset="0"/>
                        </a:rPr>
                        <a:t>Model</a:t>
                      </a:r>
                      <a:endParaRPr lang="en-US" b="1" dirty="0">
                        <a:latin typeface="Times New Roman" pitchFamily="18" charset="0"/>
                        <a:cs typeface="Times New Roman" pitchFamily="18" charset="0"/>
                      </a:endParaRPr>
                    </a:p>
                  </a:txBody>
                  <a:tcPr/>
                </a:tc>
                <a:tc>
                  <a:txBody>
                    <a:bodyPr/>
                    <a:lstStyle/>
                    <a:p>
                      <a:pPr algn="l"/>
                      <a:r>
                        <a:rPr lang="en-US" b="1" dirty="0" smtClean="0">
                          <a:latin typeface="Times New Roman" pitchFamily="18" charset="0"/>
                          <a:cs typeface="Times New Roman" pitchFamily="18" charset="0"/>
                        </a:rPr>
                        <a:t>Tumor classes</a:t>
                      </a:r>
                      <a:endParaRPr lang="en-US" b="1" dirty="0">
                        <a:latin typeface="Times New Roman" pitchFamily="18" charset="0"/>
                        <a:cs typeface="Times New Roman" pitchFamily="18" charset="0"/>
                      </a:endParaRPr>
                    </a:p>
                  </a:txBody>
                  <a:tcPr/>
                </a:tc>
                <a:tc>
                  <a:txBody>
                    <a:bodyPr/>
                    <a:lstStyle/>
                    <a:p>
                      <a:pPr algn="l"/>
                      <a:r>
                        <a:rPr lang="en-US" b="1" dirty="0" smtClean="0">
                          <a:latin typeface="Times New Roman" pitchFamily="18" charset="0"/>
                          <a:cs typeface="Times New Roman" pitchFamily="18" charset="0"/>
                        </a:rPr>
                        <a:t>Accurecy (%)</a:t>
                      </a:r>
                      <a:endParaRPr lang="en-US" b="1" dirty="0">
                        <a:latin typeface="Times New Roman" pitchFamily="18" charset="0"/>
                        <a:cs typeface="Times New Roman" pitchFamily="18" charset="0"/>
                      </a:endParaRPr>
                    </a:p>
                  </a:txBody>
                  <a:tcPr/>
                </a:tc>
                <a:tc>
                  <a:txBody>
                    <a:bodyPr/>
                    <a:lstStyle/>
                    <a:p>
                      <a:pPr algn="l"/>
                      <a:r>
                        <a:rPr lang="en-US" b="1" dirty="0" smtClean="0">
                          <a:latin typeface="Times New Roman" pitchFamily="18" charset="0"/>
                          <a:cs typeface="Times New Roman" pitchFamily="18" charset="0"/>
                        </a:rPr>
                        <a:t>Limitation</a:t>
                      </a:r>
                      <a:endParaRPr lang="en-US" b="1"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908707">
                <a:tc>
                  <a:txBody>
                    <a:bodyPr/>
                    <a:lstStyle/>
                    <a:p>
                      <a:pPr algn="l"/>
                      <a:r>
                        <a:rPr lang="en-US" dirty="0" smtClean="0">
                          <a:latin typeface="Times New Roman" pitchFamily="18" charset="0"/>
                          <a:cs typeface="Times New Roman" pitchFamily="18" charset="0"/>
                        </a:rPr>
                        <a:t>Jain et al.[7] </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Custom Deep CNN</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Multiclass</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~96.8</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Overfitting, limited data diversity, unstable class-wise performance</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411680">
                <a:tc>
                  <a:txBody>
                    <a:bodyPr/>
                    <a:lstStyle/>
                    <a:p>
                      <a:pPr algn="l"/>
                      <a:r>
                        <a:rPr lang="en-US" dirty="0" smtClean="0">
                          <a:latin typeface="Times New Roman" pitchFamily="18" charset="0"/>
                          <a:cs typeface="Times New Roman" pitchFamily="18" charset="0"/>
                        </a:rPr>
                        <a:t>Kaur et al. (2021)[8]</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ResNet50, DenseNet121, MobileNetV2</a:t>
                      </a:r>
                      <a:endParaRPr lang="en-US" dirty="0">
                        <a:latin typeface="Times New Roman" pitchFamily="18" charset="0"/>
                        <a:cs typeface="Times New Roman" pitchFamily="18" charset="0"/>
                      </a:endParaRPr>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Multiclass</a:t>
                      </a:r>
                    </a:p>
                    <a:p>
                      <a:pPr algn="l"/>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98.1</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No XAI integration, interpretability limited</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250830">
                <a:tc>
                  <a:txBody>
                    <a:bodyPr/>
                    <a:lstStyle/>
                    <a:p>
                      <a:pPr algn="l"/>
                      <a:r>
                        <a:rPr lang="en-US" dirty="0" smtClean="0">
                          <a:latin typeface="Times New Roman" pitchFamily="18" charset="0"/>
                          <a:cs typeface="Times New Roman" pitchFamily="18" charset="0"/>
                        </a:rPr>
                        <a:t>Patel &amp; Shah (2019)[9]</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InceptionV3</a:t>
                      </a:r>
                      <a:endParaRPr lang="en-US" dirty="0">
                        <a:latin typeface="Times New Roman" pitchFamily="18" charset="0"/>
                        <a:cs typeface="Times New Roman" pitchFamily="18" charset="0"/>
                      </a:endParaRPr>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Multiclass</a:t>
                      </a:r>
                    </a:p>
                    <a:p>
                      <a:pPr algn="l"/>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97.9</a:t>
                      </a:r>
                      <a:endParaRPr lang="en-US" dirty="0">
                        <a:latin typeface="Times New Roman" pitchFamily="18" charset="0"/>
                        <a:cs typeface="Times New Roman" pitchFamily="18" charset="0"/>
                      </a:endParaRPr>
                    </a:p>
                  </a:txBody>
                  <a:tcPr/>
                </a:tc>
                <a:tc>
                  <a:txBody>
                    <a:bodyPr/>
                    <a:lstStyle/>
                    <a:p>
                      <a:pPr algn="l"/>
                      <a:r>
                        <a:rPr lang="en-US" dirty="0" smtClean="0">
                          <a:latin typeface="Times New Roman" pitchFamily="18" charset="0"/>
                          <a:cs typeface="Times New Roman" pitchFamily="18" charset="0"/>
                        </a:rPr>
                        <a:t>High model complexity, no explainability</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457200" y="733455"/>
            <a:ext cx="8458200"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Related Works</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94695273"/>
              </p:ext>
            </p:extLst>
          </p:nvPr>
        </p:nvGraphicFramePr>
        <p:xfrm>
          <a:off x="533400" y="1600200"/>
          <a:ext cx="8229599" cy="2770568"/>
        </p:xfrm>
        <a:graphic>
          <a:graphicData uri="http://schemas.openxmlformats.org/drawingml/2006/table">
            <a:tbl>
              <a:tblPr firstRow="1" bandRow="1">
                <a:tableStyleId>{00A15C55-8517-42AA-B614-E9B94910E393}</a:tableStyleId>
              </a:tblPr>
              <a:tblGrid>
                <a:gridCol w="1524000">
                  <a:extLst>
                    <a:ext uri="{9D8B030D-6E8A-4147-A177-3AD203B41FA5}">
                      <a16:colId xmlns:a16="http://schemas.microsoft.com/office/drawing/2014/main" val="20000"/>
                    </a:ext>
                  </a:extLst>
                </a:gridCol>
                <a:gridCol w="1307690">
                  <a:extLst>
                    <a:ext uri="{9D8B030D-6E8A-4147-A177-3AD203B41FA5}">
                      <a16:colId xmlns:a16="http://schemas.microsoft.com/office/drawing/2014/main" val="20001"/>
                    </a:ext>
                  </a:extLst>
                </a:gridCol>
                <a:gridCol w="1415845">
                  <a:extLst>
                    <a:ext uri="{9D8B030D-6E8A-4147-A177-3AD203B41FA5}">
                      <a16:colId xmlns:a16="http://schemas.microsoft.com/office/drawing/2014/main" val="20002"/>
                    </a:ext>
                  </a:extLst>
                </a:gridCol>
                <a:gridCol w="1415845">
                  <a:extLst>
                    <a:ext uri="{9D8B030D-6E8A-4147-A177-3AD203B41FA5}">
                      <a16:colId xmlns:a16="http://schemas.microsoft.com/office/drawing/2014/main" val="20003"/>
                    </a:ext>
                  </a:extLst>
                </a:gridCol>
                <a:gridCol w="2566219">
                  <a:extLst>
                    <a:ext uri="{9D8B030D-6E8A-4147-A177-3AD203B41FA5}">
                      <a16:colId xmlns:a16="http://schemas.microsoft.com/office/drawing/2014/main" val="20004"/>
                    </a:ext>
                  </a:extLst>
                </a:gridCol>
              </a:tblGrid>
              <a:tr h="335280">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b="1" dirty="0" smtClean="0">
                          <a:latin typeface="Times New Roman" pitchFamily="18" charset="0"/>
                          <a:cs typeface="Times New Roman" pitchFamily="18" charset="0"/>
                        </a:rPr>
                        <a:t>Author(year)</a:t>
                      </a:r>
                    </a:p>
                  </a:txBody>
                  <a:tcPr/>
                </a:tc>
                <a:tc>
                  <a:txBody>
                    <a:bodyPr/>
                    <a:lstStyle/>
                    <a:p>
                      <a:r>
                        <a:rPr lang="en-US" b="1" dirty="0" smtClean="0">
                          <a:latin typeface="Times New Roman" pitchFamily="18" charset="0"/>
                          <a:cs typeface="Times New Roman" pitchFamily="18" charset="0"/>
                        </a:rPr>
                        <a:t>Model</a:t>
                      </a:r>
                      <a:endParaRPr lang="en-US" b="1"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Tumor classes</a:t>
                      </a:r>
                      <a:endParaRPr lang="en-US" b="1"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Accurecy (%)</a:t>
                      </a:r>
                      <a:endParaRPr lang="en-US" b="1"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Limitation</a:t>
                      </a:r>
                      <a:endParaRPr lang="en-US" b="1"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941768">
                <a:tc>
                  <a:txBody>
                    <a:bodyPr/>
                    <a:lstStyle/>
                    <a:p>
                      <a:r>
                        <a:rPr lang="en-US" dirty="0" smtClean="0">
                          <a:latin typeface="Times New Roman" pitchFamily="18" charset="0"/>
                          <a:cs typeface="Times New Roman" pitchFamily="18" charset="0"/>
                        </a:rPr>
                        <a:t>Roy et al.(2021)[10]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Feature Fusion + ML</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Glioma</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vs</a:t>
                      </a:r>
                      <a:r>
                        <a:rPr lang="en-US" baseline="0" dirty="0" smtClean="0">
                          <a:latin typeface="Times New Roman" pitchFamily="18" charset="0"/>
                          <a:cs typeface="Times New Roman" pitchFamily="18" charset="0"/>
                        </a:rPr>
                        <a:t> Meningioma</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98.0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Poor generalization for pituitary &amp; normal classes, no transfer learning</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941768">
                <a:tc>
                  <a:txBody>
                    <a:bodyPr/>
                    <a:lstStyle/>
                    <a:p>
                      <a:r>
                        <a:rPr lang="en-US" dirty="0" smtClean="0">
                          <a:latin typeface="Times New Roman" pitchFamily="18" charset="0"/>
                          <a:cs typeface="Times New Roman" pitchFamily="18" charset="0"/>
                        </a:rPr>
                        <a:t>Verma et al.(2022)[11]</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Cascaded CNN</a:t>
                      </a:r>
                      <a:endParaRPr lang="en-US" dirty="0">
                        <a:latin typeface="Times New Roman" pitchFamily="18" charset="0"/>
                        <a:cs typeface="Times New Roman" pitchFamily="18" charset="0"/>
                      </a:endParaRPr>
                    </a:p>
                  </a:txBody>
                  <a:tcPr/>
                </a:tc>
                <a:tc>
                  <a:txBody>
                    <a:bodyPr/>
                    <a:lstStyle/>
                    <a:p>
                      <a:pPr marL="0" marR="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dirty="0" smtClean="0">
                          <a:latin typeface="Times New Roman" pitchFamily="18" charset="0"/>
                          <a:cs typeface="Times New Roman" pitchFamily="18" charset="0"/>
                        </a:rPr>
                        <a:t>Multiclass</a:t>
                      </a:r>
                    </a:p>
                    <a:p>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98.3</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High computational cost, no XAI</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762000"/>
            <a:ext cx="8305800"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Related Works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09706"/>
            <a:ext cx="8763000" cy="1538883"/>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Methodology</a:t>
            </a:r>
          </a:p>
          <a:p>
            <a:endParaRPr lang="en-US" sz="2000" b="1" dirty="0" smtClean="0"/>
          </a:p>
          <a:p>
            <a:r>
              <a:rPr lang="en-US" dirty="0" smtClean="0">
                <a:latin typeface="Times New Roman" pitchFamily="18" charset="0"/>
                <a:cs typeface="Times New Roman" pitchFamily="18" charset="0"/>
              </a:rPr>
              <a:t>Automated, explainable deep learning framework using VGG16 + Grad-CAM to classify glioma, meningioma, pituitary, and no tumor from MRI, supporting accurate and interpretable clinical decisions</a:t>
            </a:r>
            <a:endParaRPr lang="en-US" dirty="0"/>
          </a:p>
        </p:txBody>
      </p:sp>
      <p:sp>
        <p:nvSpPr>
          <p:cNvPr id="4" name="Rectangle 3"/>
          <p:cNvSpPr/>
          <p:nvPr/>
        </p:nvSpPr>
        <p:spPr>
          <a:xfrm>
            <a:off x="381000" y="19050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Data Acquisition</a:t>
            </a:r>
            <a:endParaRPr lang="en-US" sz="1400" b="1" dirty="0">
              <a:solidFill>
                <a:schemeClr val="accent4"/>
              </a:solidFill>
              <a:latin typeface="Times New Roman" pitchFamily="18" charset="0"/>
              <a:cs typeface="Times New Roman" pitchFamily="18" charset="0"/>
            </a:endParaRPr>
          </a:p>
        </p:txBody>
      </p:sp>
      <p:sp>
        <p:nvSpPr>
          <p:cNvPr id="5" name="Rectangle 4"/>
          <p:cNvSpPr/>
          <p:nvPr/>
        </p:nvSpPr>
        <p:spPr>
          <a:xfrm>
            <a:off x="2133600" y="19050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Data Preprocessing</a:t>
            </a:r>
            <a:endParaRPr lang="en-US" sz="1400" b="1" dirty="0">
              <a:solidFill>
                <a:schemeClr val="accent4"/>
              </a:solidFill>
              <a:latin typeface="Times New Roman" pitchFamily="18" charset="0"/>
              <a:cs typeface="Times New Roman" pitchFamily="18" charset="0"/>
            </a:endParaRPr>
          </a:p>
        </p:txBody>
      </p:sp>
      <p:sp>
        <p:nvSpPr>
          <p:cNvPr id="6" name="Rectangle 5"/>
          <p:cNvSpPr/>
          <p:nvPr/>
        </p:nvSpPr>
        <p:spPr>
          <a:xfrm>
            <a:off x="2438400" y="3043417"/>
            <a:ext cx="1760219"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Prediction &amp; Evaluation</a:t>
            </a:r>
            <a:endParaRPr lang="en-US" sz="1400" b="1" dirty="0">
              <a:solidFill>
                <a:schemeClr val="accent4"/>
              </a:solidFill>
              <a:latin typeface="Times New Roman" pitchFamily="18" charset="0"/>
              <a:cs typeface="Times New Roman" pitchFamily="18" charset="0"/>
            </a:endParaRPr>
          </a:p>
        </p:txBody>
      </p:sp>
      <p:sp>
        <p:nvSpPr>
          <p:cNvPr id="7" name="Rectangle 6"/>
          <p:cNvSpPr/>
          <p:nvPr/>
        </p:nvSpPr>
        <p:spPr>
          <a:xfrm>
            <a:off x="3810000" y="19050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Data Augmentation</a:t>
            </a:r>
            <a:endParaRPr lang="en-US" sz="1400" b="1" dirty="0">
              <a:solidFill>
                <a:schemeClr val="accent4"/>
              </a:solidFill>
              <a:latin typeface="Times New Roman" pitchFamily="18" charset="0"/>
              <a:cs typeface="Times New Roman" pitchFamily="18" charset="0"/>
            </a:endParaRPr>
          </a:p>
        </p:txBody>
      </p:sp>
      <p:sp>
        <p:nvSpPr>
          <p:cNvPr id="8" name="Rectangle 7"/>
          <p:cNvSpPr/>
          <p:nvPr/>
        </p:nvSpPr>
        <p:spPr>
          <a:xfrm>
            <a:off x="457200" y="3048000"/>
            <a:ext cx="1600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Grad-CAM Explainability</a:t>
            </a:r>
            <a:endParaRPr lang="en-US" sz="1400" b="1" dirty="0">
              <a:solidFill>
                <a:schemeClr val="accent4"/>
              </a:solidFill>
              <a:latin typeface="Times New Roman" pitchFamily="18" charset="0"/>
              <a:cs typeface="Times New Roman" pitchFamily="18" charset="0"/>
            </a:endParaRPr>
          </a:p>
        </p:txBody>
      </p:sp>
      <p:sp>
        <p:nvSpPr>
          <p:cNvPr id="9" name="Rectangle 8"/>
          <p:cNvSpPr/>
          <p:nvPr/>
        </p:nvSpPr>
        <p:spPr>
          <a:xfrm>
            <a:off x="5486400" y="19050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Load Pretrained VGG16</a:t>
            </a:r>
            <a:endParaRPr lang="en-US" sz="1400" b="1" dirty="0">
              <a:solidFill>
                <a:schemeClr val="accent4"/>
              </a:solidFill>
              <a:latin typeface="Times New Roman" pitchFamily="18" charset="0"/>
              <a:cs typeface="Times New Roman" pitchFamily="18" charset="0"/>
            </a:endParaRPr>
          </a:p>
        </p:txBody>
      </p:sp>
      <p:sp>
        <p:nvSpPr>
          <p:cNvPr id="11" name="Rectangle 10"/>
          <p:cNvSpPr/>
          <p:nvPr/>
        </p:nvSpPr>
        <p:spPr>
          <a:xfrm>
            <a:off x="6934200" y="3043417"/>
            <a:ext cx="1676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Model Training</a:t>
            </a:r>
            <a:endParaRPr lang="en-US" sz="1400" b="1" dirty="0">
              <a:solidFill>
                <a:schemeClr val="accent4"/>
              </a:solidFill>
              <a:latin typeface="Times New Roman" pitchFamily="18" charset="0"/>
              <a:cs typeface="Times New Roman" pitchFamily="18" charset="0"/>
            </a:endParaRPr>
          </a:p>
        </p:txBody>
      </p:sp>
      <p:sp>
        <p:nvSpPr>
          <p:cNvPr id="12" name="Rectangle 11"/>
          <p:cNvSpPr/>
          <p:nvPr/>
        </p:nvSpPr>
        <p:spPr>
          <a:xfrm>
            <a:off x="4724400" y="3053157"/>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Fine-Tuning</a:t>
            </a:r>
            <a:endParaRPr lang="en-US" sz="1400" b="1" dirty="0">
              <a:solidFill>
                <a:schemeClr val="accent4"/>
              </a:solidFill>
              <a:latin typeface="Times New Roman" pitchFamily="18" charset="0"/>
              <a:cs typeface="Times New Roman" pitchFamily="18" charset="0"/>
            </a:endParaRPr>
          </a:p>
        </p:txBody>
      </p:sp>
      <p:sp>
        <p:nvSpPr>
          <p:cNvPr id="14" name="Rectangle 13"/>
          <p:cNvSpPr/>
          <p:nvPr/>
        </p:nvSpPr>
        <p:spPr>
          <a:xfrm>
            <a:off x="7162800" y="1905000"/>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Custom Classification Head</a:t>
            </a:r>
            <a:endParaRPr lang="en-US" sz="1400" b="1" dirty="0">
              <a:solidFill>
                <a:schemeClr val="accent4"/>
              </a:solidFill>
              <a:latin typeface="Times New Roman" pitchFamily="18" charset="0"/>
              <a:cs typeface="Times New Roman" pitchFamily="18" charset="0"/>
            </a:endParaRPr>
          </a:p>
        </p:txBody>
      </p:sp>
      <p:sp>
        <p:nvSpPr>
          <p:cNvPr id="15" name="Rectangle 14"/>
          <p:cNvSpPr/>
          <p:nvPr/>
        </p:nvSpPr>
        <p:spPr>
          <a:xfrm>
            <a:off x="457200" y="39624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4"/>
                </a:solidFill>
                <a:latin typeface="Times New Roman" pitchFamily="18" charset="0"/>
                <a:cs typeface="Times New Roman" pitchFamily="18" charset="0"/>
              </a:rPr>
              <a:t>Visualization</a:t>
            </a:r>
            <a:endParaRPr lang="en-US" sz="1400" b="1" dirty="0">
              <a:solidFill>
                <a:schemeClr val="accent4"/>
              </a:solidFill>
              <a:latin typeface="Times New Roman" pitchFamily="18" charset="0"/>
              <a:cs typeface="Times New Roman" pitchFamily="18" charset="0"/>
            </a:endParaRPr>
          </a:p>
        </p:txBody>
      </p:sp>
      <p:sp>
        <p:nvSpPr>
          <p:cNvPr id="16" name="Right Arrow 15"/>
          <p:cNvSpPr/>
          <p:nvPr/>
        </p:nvSpPr>
        <p:spPr>
          <a:xfrm>
            <a:off x="1828800" y="213360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
        <p:nvSpPr>
          <p:cNvPr id="18" name="Right Arrow 17"/>
          <p:cNvSpPr/>
          <p:nvPr/>
        </p:nvSpPr>
        <p:spPr>
          <a:xfrm>
            <a:off x="3581400" y="213360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
        <p:nvSpPr>
          <p:cNvPr id="20" name="Right Arrow 19"/>
          <p:cNvSpPr/>
          <p:nvPr/>
        </p:nvSpPr>
        <p:spPr>
          <a:xfrm>
            <a:off x="6934200" y="213360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
        <p:nvSpPr>
          <p:cNvPr id="21" name="Right Arrow 20"/>
          <p:cNvSpPr/>
          <p:nvPr/>
        </p:nvSpPr>
        <p:spPr>
          <a:xfrm>
            <a:off x="5257800" y="213360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sp>
        <p:nvSpPr>
          <p:cNvPr id="22" name="Down Arrow 21"/>
          <p:cNvSpPr/>
          <p:nvPr/>
        </p:nvSpPr>
        <p:spPr>
          <a:xfrm>
            <a:off x="7772400" y="2514601"/>
            <a:ext cx="228600" cy="5288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990600" y="3581400"/>
            <a:ext cx="198119"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Left Arrow 27"/>
          <p:cNvSpPr/>
          <p:nvPr/>
        </p:nvSpPr>
        <p:spPr>
          <a:xfrm>
            <a:off x="6553200" y="3233916"/>
            <a:ext cx="381000" cy="19508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Left Arrow 28"/>
          <p:cNvSpPr/>
          <p:nvPr/>
        </p:nvSpPr>
        <p:spPr>
          <a:xfrm>
            <a:off x="4191000" y="3222315"/>
            <a:ext cx="533400" cy="1950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eft Arrow 29"/>
          <p:cNvSpPr/>
          <p:nvPr/>
        </p:nvSpPr>
        <p:spPr>
          <a:xfrm>
            <a:off x="2057400" y="3233916"/>
            <a:ext cx="381000" cy="1950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5605" y="4953000"/>
            <a:ext cx="8915400" cy="338554"/>
          </a:xfrm>
          <a:prstGeom prst="rect">
            <a:avLst/>
          </a:prstGeom>
          <a:noFill/>
        </p:spPr>
        <p:txBody>
          <a:bodyPr wrap="square" rtlCol="0">
            <a:spAutoFit/>
          </a:bodyPr>
          <a:lstStyle/>
          <a:p>
            <a:pPr algn="ctr"/>
            <a:r>
              <a:rPr lang="en-US" sz="1600" b="1" dirty="0" smtClean="0">
                <a:latin typeface="Times New Roman" pitchFamily="18" charset="0"/>
                <a:cs typeface="Times New Roman" pitchFamily="18" charset="0"/>
              </a:rPr>
              <a:t>Figure 2 : Workflow diagram of proposed system</a:t>
            </a:r>
            <a:endParaRPr lang="en-US" sz="1600" b="1"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1128" y="533400"/>
            <a:ext cx="8077200" cy="5447645"/>
          </a:xfrm>
          <a:prstGeom prst="rect">
            <a:avLst/>
          </a:prstGeom>
        </p:spPr>
        <p:txBody>
          <a:bodyPr wrap="square">
            <a:spAutoFit/>
          </a:bodyPr>
          <a:lstStyle/>
          <a:p>
            <a:pPr algn="ctr"/>
            <a:r>
              <a:rPr lang="en-US" sz="2000" b="1" dirty="0" smtClean="0">
                <a:latin typeface="Times New Roman" panose="02020603050405020304" pitchFamily="18" charset="0"/>
                <a:cs typeface="Times New Roman" panose="02020603050405020304" pitchFamily="18" charset="0"/>
              </a:rPr>
              <a:t>Dataset Description</a:t>
            </a:r>
          </a:p>
          <a:p>
            <a:pPr algn="ctr"/>
            <a:endParaRPr lang="en-US" sz="2000" b="1" dirty="0">
              <a:latin typeface="Times New Roman" panose="02020603050405020304" pitchFamily="18" charset="0"/>
              <a:cs typeface="Times New Roman" panose="02020603050405020304" pitchFamily="18" charset="0"/>
            </a:endParaRPr>
          </a:p>
          <a:p>
            <a:pPr algn="ctr"/>
            <a:endParaRPr lang="en-US" sz="20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Dataset :</a:t>
            </a:r>
          </a:p>
          <a:p>
            <a:r>
              <a:rPr lang="en-US" dirty="0" smtClean="0">
                <a:latin typeface="Times New Roman" pitchFamily="18" charset="0"/>
                <a:cs typeface="Times New Roman" pitchFamily="18" charset="0"/>
              </a:rPr>
              <a:t>The dataset used in this study is the Brain Tumor MRI Dataset collected from Kaggle  of masoud nick parvar brain tumor-</a:t>
            </a:r>
            <a:r>
              <a:rPr lang="en-US" dirty="0" err="1" smtClean="0">
                <a:latin typeface="Times New Roman" pitchFamily="18" charset="0"/>
                <a:cs typeface="Times New Roman" pitchFamily="18" charset="0"/>
              </a:rPr>
              <a:t>mri</a:t>
            </a:r>
            <a:r>
              <a:rPr lang="en-US" dirty="0" smtClean="0">
                <a:latin typeface="Times New Roman" pitchFamily="18" charset="0"/>
                <a:cs typeface="Times New Roman" pitchFamily="18" charset="0"/>
              </a:rPr>
              <a:t>-dataset.[12] </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Classes :</a:t>
            </a:r>
          </a:p>
          <a:p>
            <a:r>
              <a:rPr lang="en-US" dirty="0">
                <a:latin typeface="Times New Roman" pitchFamily="18" charset="0"/>
                <a:cs typeface="Times New Roman" pitchFamily="18" charset="0"/>
              </a:rPr>
              <a:t>This dataset contains four classes related to brain </a:t>
            </a:r>
            <a:r>
              <a:rPr lang="en-US" dirty="0" smtClean="0">
                <a:latin typeface="Times New Roman" pitchFamily="18" charset="0"/>
                <a:cs typeface="Times New Roman" pitchFamily="18" charset="0"/>
              </a:rPr>
              <a:t>tumors,</a:t>
            </a: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841" y="3429000"/>
            <a:ext cx="1627414" cy="17526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90800" y="3477059"/>
            <a:ext cx="1752600" cy="175260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7351" y="3456126"/>
            <a:ext cx="1714872" cy="1752600"/>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83371" y="3429000"/>
            <a:ext cx="1752600" cy="1752600"/>
          </a:xfrm>
          <a:prstGeom prst="rect">
            <a:avLst/>
          </a:prstGeom>
        </p:spPr>
      </p:pic>
      <p:sp>
        <p:nvSpPr>
          <p:cNvPr id="7" name="TextBox 6"/>
          <p:cNvSpPr txBox="1"/>
          <p:nvPr/>
        </p:nvSpPr>
        <p:spPr>
          <a:xfrm>
            <a:off x="764648" y="5323046"/>
            <a:ext cx="1447800" cy="381000"/>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Glioma</a:t>
            </a:r>
            <a:endParaRPr lang="en-GB"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705100" y="5318959"/>
            <a:ext cx="1638300" cy="369332"/>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Meningioma</a:t>
            </a:r>
            <a:endParaRPr lang="en-GB"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05187" y="5323046"/>
            <a:ext cx="121920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No Tumor</a:t>
            </a:r>
            <a:endParaRPr lang="en-GB"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7072786" y="5286294"/>
            <a:ext cx="1461614" cy="369332"/>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Pituitary</a:t>
            </a:r>
            <a:endParaRPr lang="en-GB"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1295400" y="4648200"/>
            <a:ext cx="670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4343400" y="2971800"/>
            <a:ext cx="609600" cy="1676400"/>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660822" y="2094470"/>
            <a:ext cx="609600" cy="255373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p:cNvSpPr/>
          <p:nvPr/>
        </p:nvSpPr>
        <p:spPr>
          <a:xfrm>
            <a:off x="5943600" y="2438400"/>
            <a:ext cx="609600" cy="2209800"/>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133600" y="4800600"/>
            <a:ext cx="1447800" cy="369332"/>
          </a:xfrm>
          <a:prstGeom prst="rect">
            <a:avLst/>
          </a:prstGeom>
          <a:noFill/>
        </p:spPr>
        <p:txBody>
          <a:bodyPr wrap="square" rtlCol="0">
            <a:spAutoFit/>
          </a:bodyPr>
          <a:lstStyle/>
          <a:p>
            <a:pPr algn="ctr"/>
            <a:r>
              <a:rPr lang="en-US" b="1" dirty="0">
                <a:solidFill>
                  <a:srgbClr val="C00000"/>
                </a:solidFill>
                <a:latin typeface="Times New Roman" pitchFamily="18" charset="0"/>
                <a:cs typeface="Times New Roman" pitchFamily="18" charset="0"/>
              </a:rPr>
              <a:t>Training </a:t>
            </a:r>
            <a:r>
              <a:rPr lang="en-US" b="1" dirty="0" smtClean="0">
                <a:solidFill>
                  <a:srgbClr val="C00000"/>
                </a:solidFill>
                <a:latin typeface="Times New Roman" pitchFamily="18" charset="0"/>
                <a:cs typeface="Times New Roman" pitchFamily="18" charset="0"/>
              </a:rPr>
              <a:t>set</a:t>
            </a:r>
            <a:endParaRPr lang="en-US" dirty="0">
              <a:solidFill>
                <a:srgbClr val="C00000"/>
              </a:solidFill>
            </a:endParaRPr>
          </a:p>
        </p:txBody>
      </p:sp>
      <p:sp>
        <p:nvSpPr>
          <p:cNvPr id="8" name="TextBox 7"/>
          <p:cNvSpPr txBox="1"/>
          <p:nvPr/>
        </p:nvSpPr>
        <p:spPr>
          <a:xfrm>
            <a:off x="2362200" y="1371600"/>
            <a:ext cx="1219200" cy="646331"/>
          </a:xfrm>
          <a:prstGeom prst="rect">
            <a:avLst/>
          </a:prstGeom>
          <a:noFill/>
        </p:spPr>
        <p:txBody>
          <a:bodyPr wrap="square" rtlCol="0">
            <a:spAutoFit/>
          </a:bodyPr>
          <a:lstStyle/>
          <a:p>
            <a:pPr algn="ctr"/>
            <a:r>
              <a:rPr lang="en-US" b="1" dirty="0" smtClean="0">
                <a:solidFill>
                  <a:srgbClr val="C00000"/>
                </a:solidFill>
                <a:latin typeface="Times New Roman" pitchFamily="18" charset="0"/>
                <a:cs typeface="Times New Roman" pitchFamily="18" charset="0"/>
              </a:rPr>
              <a:t>4,571 </a:t>
            </a:r>
            <a:r>
              <a:rPr lang="en-US" b="1" dirty="0">
                <a:solidFill>
                  <a:srgbClr val="C00000"/>
                </a:solidFill>
                <a:latin typeface="Times New Roman" pitchFamily="18" charset="0"/>
                <a:cs typeface="Times New Roman" pitchFamily="18" charset="0"/>
              </a:rPr>
              <a:t>images</a:t>
            </a:r>
            <a:endParaRPr lang="en-US" b="1" dirty="0">
              <a:solidFill>
                <a:srgbClr val="C00000"/>
              </a:solidFill>
            </a:endParaRPr>
          </a:p>
        </p:txBody>
      </p:sp>
      <p:sp>
        <p:nvSpPr>
          <p:cNvPr id="10" name="TextBox 9"/>
          <p:cNvSpPr txBox="1"/>
          <p:nvPr/>
        </p:nvSpPr>
        <p:spPr>
          <a:xfrm>
            <a:off x="3906795" y="4807467"/>
            <a:ext cx="1600200" cy="369332"/>
          </a:xfrm>
          <a:prstGeom prst="rect">
            <a:avLst/>
          </a:prstGeom>
          <a:noFill/>
        </p:spPr>
        <p:txBody>
          <a:bodyPr wrap="square" rtlCol="0">
            <a:spAutoFit/>
          </a:bodyPr>
          <a:lstStyle/>
          <a:p>
            <a:pPr algn="ctr"/>
            <a:r>
              <a:rPr lang="en-US" b="1" dirty="0">
                <a:solidFill>
                  <a:srgbClr val="0070C0"/>
                </a:solidFill>
                <a:latin typeface="Times New Roman" pitchFamily="18" charset="0"/>
                <a:cs typeface="Times New Roman" pitchFamily="18" charset="0"/>
              </a:rPr>
              <a:t>Validation set</a:t>
            </a:r>
            <a:endParaRPr lang="en-US" b="1" dirty="0">
              <a:solidFill>
                <a:srgbClr val="0070C0"/>
              </a:solidFill>
            </a:endParaRPr>
          </a:p>
        </p:txBody>
      </p:sp>
      <p:sp>
        <p:nvSpPr>
          <p:cNvPr id="13" name="TextBox 12"/>
          <p:cNvSpPr txBox="1"/>
          <p:nvPr/>
        </p:nvSpPr>
        <p:spPr>
          <a:xfrm>
            <a:off x="4152900" y="2263176"/>
            <a:ext cx="990600" cy="646331"/>
          </a:xfrm>
          <a:prstGeom prst="rect">
            <a:avLst/>
          </a:prstGeom>
          <a:noFill/>
        </p:spPr>
        <p:txBody>
          <a:bodyPr wrap="square" rtlCol="0">
            <a:spAutoFit/>
          </a:bodyPr>
          <a:lstStyle/>
          <a:p>
            <a:pPr algn="ctr"/>
            <a:r>
              <a:rPr lang="en-US" b="1" dirty="0">
                <a:solidFill>
                  <a:srgbClr val="0070C0"/>
                </a:solidFill>
                <a:latin typeface="Times New Roman" pitchFamily="18" charset="0"/>
                <a:cs typeface="Times New Roman" pitchFamily="18" charset="0"/>
              </a:rPr>
              <a:t>1,141 images</a:t>
            </a:r>
            <a:endParaRPr lang="en-US" b="1" dirty="0">
              <a:solidFill>
                <a:srgbClr val="0070C0"/>
              </a:solidFill>
            </a:endParaRPr>
          </a:p>
        </p:txBody>
      </p:sp>
      <p:sp>
        <p:nvSpPr>
          <p:cNvPr id="14" name="TextBox 13"/>
          <p:cNvSpPr txBox="1"/>
          <p:nvPr/>
        </p:nvSpPr>
        <p:spPr>
          <a:xfrm>
            <a:off x="5741773" y="4811589"/>
            <a:ext cx="1219200" cy="369332"/>
          </a:xfrm>
          <a:prstGeom prst="rect">
            <a:avLst/>
          </a:prstGeom>
          <a:noFill/>
        </p:spPr>
        <p:txBody>
          <a:bodyPr wrap="square" rtlCol="0">
            <a:spAutoFit/>
          </a:bodyPr>
          <a:lstStyle/>
          <a:p>
            <a:r>
              <a:rPr lang="en-US" b="1" dirty="0">
                <a:solidFill>
                  <a:schemeClr val="accent6">
                    <a:lumMod val="50000"/>
                  </a:schemeClr>
                </a:solidFill>
                <a:latin typeface="Times New Roman" pitchFamily="18" charset="0"/>
                <a:cs typeface="Times New Roman" pitchFamily="18" charset="0"/>
              </a:rPr>
              <a:t>Testing set</a:t>
            </a:r>
            <a:endParaRPr lang="en-US" b="1" dirty="0">
              <a:solidFill>
                <a:schemeClr val="accent6">
                  <a:lumMod val="50000"/>
                </a:schemeClr>
              </a:solidFill>
            </a:endParaRPr>
          </a:p>
        </p:txBody>
      </p:sp>
      <p:sp>
        <p:nvSpPr>
          <p:cNvPr id="17" name="TextBox 16"/>
          <p:cNvSpPr txBox="1"/>
          <p:nvPr/>
        </p:nvSpPr>
        <p:spPr>
          <a:xfrm>
            <a:off x="5741773" y="1694765"/>
            <a:ext cx="887627" cy="646331"/>
          </a:xfrm>
          <a:prstGeom prst="rect">
            <a:avLst/>
          </a:prstGeom>
          <a:noFill/>
        </p:spPr>
        <p:txBody>
          <a:bodyPr wrap="square" rtlCol="0">
            <a:spAutoFit/>
          </a:bodyPr>
          <a:lstStyle/>
          <a:p>
            <a:pPr algn="ctr"/>
            <a:r>
              <a:rPr lang="en-US" b="1" dirty="0">
                <a:solidFill>
                  <a:schemeClr val="accent6">
                    <a:lumMod val="50000"/>
                  </a:schemeClr>
                </a:solidFill>
                <a:latin typeface="Times New Roman" pitchFamily="18" charset="0"/>
                <a:cs typeface="Times New Roman" pitchFamily="18" charset="0"/>
              </a:rPr>
              <a:t>1,311 images</a:t>
            </a:r>
            <a:endParaRPr lang="en-US" b="1" dirty="0">
              <a:solidFill>
                <a:schemeClr val="accent6">
                  <a:lumMod val="50000"/>
                </a:schemeClr>
              </a:solidFill>
            </a:endParaRPr>
          </a:p>
        </p:txBody>
      </p:sp>
      <p:sp>
        <p:nvSpPr>
          <p:cNvPr id="18" name="TextBox 17"/>
          <p:cNvSpPr txBox="1"/>
          <p:nvPr/>
        </p:nvSpPr>
        <p:spPr>
          <a:xfrm>
            <a:off x="763030" y="757196"/>
            <a:ext cx="2286000" cy="369332"/>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Dataset distribution:</a:t>
            </a:r>
            <a:endParaRPr lang="en-US" b="1"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1295400" y="5715000"/>
            <a:ext cx="6934200" cy="338554"/>
          </a:xfrm>
          <a:prstGeom prst="rect">
            <a:avLst/>
          </a:prstGeom>
          <a:noFill/>
        </p:spPr>
        <p:txBody>
          <a:bodyPr wrap="square" rtlCol="0">
            <a:spAutoFit/>
          </a:bodyPr>
          <a:lstStyle/>
          <a:p>
            <a:pPr algn="ctr"/>
            <a:r>
              <a:rPr lang="en-US" sz="1600" b="1" dirty="0" smtClean="0">
                <a:latin typeface="Times New Roman" panose="02020603050405020304" pitchFamily="18" charset="0"/>
                <a:cs typeface="Times New Roman" panose="02020603050405020304" pitchFamily="18" charset="0"/>
              </a:rPr>
              <a:t>Figure 3: Dataset distribution </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097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s 153"/>
          <p:cNvSpPr/>
          <p:nvPr/>
        </p:nvSpPr>
        <p:spPr>
          <a:xfrm>
            <a:off x="1066800" y="533400"/>
            <a:ext cx="1371505" cy="542873"/>
          </a:xfrm>
          <a:prstGeom prst="rect">
            <a:avLst/>
          </a:prstGeom>
        </p:spPr>
        <p:style>
          <a:lnRef idx="2">
            <a:schemeClr val="accent1"/>
          </a:lnRef>
          <a:fillRef idx="2">
            <a:schemeClr val="accent1"/>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Input Image</a:t>
            </a:r>
            <a:endParaRPr lang="en-GB" sz="1200">
              <a:effectLst/>
              <a:latin typeface="Times New Roman" panose="02020603050405020304" pitchFamily="18" charset="0"/>
              <a:ea typeface="Arial" panose="020B0604020202020204" pitchFamily="34" charset="0"/>
              <a:cs typeface="Arial" panose="020B0604020202020204" pitchFamily="34" charset="0"/>
            </a:endParaRPr>
          </a:p>
          <a:p>
            <a:pPr algn="ctr">
              <a:lnSpc>
                <a:spcPct val="115000"/>
              </a:lnSpc>
              <a:spcAft>
                <a:spcPts val="0"/>
              </a:spcAft>
            </a:pPr>
            <a:r>
              <a:rPr lang="en-US" sz="1200" b="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( 224 x 224 x 3)</a:t>
            </a:r>
            <a:endParaRPr lang="en-GB" sz="1200">
              <a:effectLst/>
              <a:latin typeface="Times New Roman" panose="02020603050405020304" pitchFamily="18" charset="0"/>
              <a:ea typeface="Arial" panose="020B0604020202020204" pitchFamily="34" charset="0"/>
              <a:cs typeface="Arial" panose="020B0604020202020204" pitchFamily="34" charset="0"/>
            </a:endParaRPr>
          </a:p>
        </p:txBody>
      </p:sp>
      <p:sp>
        <p:nvSpPr>
          <p:cNvPr id="34" name="Rectangles 156"/>
          <p:cNvSpPr/>
          <p:nvPr/>
        </p:nvSpPr>
        <p:spPr>
          <a:xfrm>
            <a:off x="914400" y="1388326"/>
            <a:ext cx="1590576" cy="2189783"/>
          </a:xfrm>
          <a:prstGeom prst="rect">
            <a:avLst/>
          </a:prstGeom>
          <a:solidFill>
            <a:srgbClr val="FFC000"/>
          </a:solidFill>
        </p:spPr>
        <p:style>
          <a:lnRef idx="2">
            <a:schemeClr val="accent6"/>
          </a:lnRef>
          <a:fillRef idx="2">
            <a:schemeClr val="accent6"/>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a:t> </a:t>
            </a:r>
            <a:endParaRPr lang="en-GB"/>
          </a:p>
          <a:p>
            <a:pPr algn="ctr">
              <a:lnSpc>
                <a:spcPct val="115000"/>
              </a:lnSpc>
              <a:spcAft>
                <a:spcPts val="0"/>
              </a:spcAft>
            </a:pPr>
            <a:r>
              <a:rPr lang="en-US"/>
              <a:t> </a:t>
            </a:r>
            <a:endParaRPr lang="en-GB"/>
          </a:p>
        </p:txBody>
      </p:sp>
      <p:sp>
        <p:nvSpPr>
          <p:cNvPr id="35" name="Text Box 158"/>
          <p:cNvSpPr txBox="1"/>
          <p:nvPr/>
        </p:nvSpPr>
        <p:spPr>
          <a:xfrm>
            <a:off x="1082964" y="1450209"/>
            <a:ext cx="1427381" cy="493983"/>
          </a:xfrm>
          <a:prstGeom prst="rect">
            <a:avLst/>
          </a:prstGeom>
          <a:noFill/>
        </p:spPr>
        <p:style>
          <a:lnRef idx="0">
            <a:srgbClr val="FFFFFF"/>
          </a:lnRef>
          <a:fillRef idx="2">
            <a:schemeClr val="accent6"/>
          </a:fillRef>
          <a:effectRef idx="0">
            <a:srgbClr val="FFFFFF"/>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VGG16 Base</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(Pre- trained)</a:t>
            </a:r>
            <a:endParaRPr lang="en-GB" sz="1200" b="1"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36" name="Rounded Rectangle 35"/>
          <p:cNvSpPr/>
          <p:nvPr/>
        </p:nvSpPr>
        <p:spPr>
          <a:xfrm>
            <a:off x="1066801" y="2006075"/>
            <a:ext cx="1318486" cy="1527314"/>
          </a:xfrm>
          <a:prstGeom prst="roundRect">
            <a:avLst/>
          </a:prstGeom>
          <a:ln>
            <a:solidFill>
              <a:schemeClr val="tx1"/>
            </a:solidFill>
          </a:ln>
        </p:spPr>
        <p:style>
          <a:lnRef idx="0">
            <a:srgbClr val="FFFFFF"/>
          </a:lnRef>
          <a:fillRef idx="2">
            <a:schemeClr val="accent6"/>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endParaRPr lang="en-GB"/>
          </a:p>
        </p:txBody>
      </p:sp>
      <p:sp>
        <p:nvSpPr>
          <p:cNvPr id="37" name="Rectangles 160"/>
          <p:cNvSpPr/>
          <p:nvPr/>
        </p:nvSpPr>
        <p:spPr>
          <a:xfrm>
            <a:off x="1219200" y="2102374"/>
            <a:ext cx="1067957" cy="254606"/>
          </a:xfrm>
          <a:prstGeom prst="rect">
            <a:avLst/>
          </a:prstGeom>
        </p:spPr>
        <p:style>
          <a:lnRef idx="0">
            <a:srgbClr val="FFFFFF"/>
          </a:lnRef>
          <a:fillRef idx="3">
            <a:schemeClr val="accent2"/>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Conv Layers</a:t>
            </a:r>
            <a:endParaRPr lang="en-GB" sz="1200" b="1"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38" name="Rectangles 161"/>
          <p:cNvSpPr/>
          <p:nvPr/>
        </p:nvSpPr>
        <p:spPr>
          <a:xfrm>
            <a:off x="1219200" y="2471191"/>
            <a:ext cx="1067957" cy="309626"/>
          </a:xfrm>
          <a:prstGeom prst="rect">
            <a:avLst/>
          </a:prstGeom>
        </p:spPr>
        <p:style>
          <a:lnRef idx="0">
            <a:srgbClr val="FFFFFF"/>
          </a:lnRef>
          <a:fillRef idx="3">
            <a:schemeClr val="accent2"/>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Max Pooling</a:t>
            </a:r>
            <a:endParaRPr lang="en-GB" sz="1200" b="1"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39" name="Rectangles 162"/>
          <p:cNvSpPr/>
          <p:nvPr/>
        </p:nvSpPr>
        <p:spPr>
          <a:xfrm>
            <a:off x="1219200" y="2842700"/>
            <a:ext cx="1074884" cy="574627"/>
          </a:xfrm>
          <a:prstGeom prst="rect">
            <a:avLst/>
          </a:prstGeom>
        </p:spPr>
        <p:style>
          <a:lnRef idx="0">
            <a:srgbClr val="FFFFFF"/>
          </a:lnRef>
          <a:fillRef idx="3">
            <a:schemeClr val="accent2"/>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Block5 Conv3</a:t>
            </a:r>
            <a:endParaRPr lang="en-GB" sz="1200" b="1" dirty="0">
              <a:effectLst/>
              <a:latin typeface="Times New Roman" panose="02020603050405020304" pitchFamily="18" charset="0"/>
              <a:ea typeface="Arial" panose="020B0604020202020204" pitchFamily="34" charset="0"/>
              <a:cs typeface="Arial" panose="020B0604020202020204" pitchFamily="34" charset="0"/>
            </a:endParaRPr>
          </a:p>
        </p:txBody>
      </p:sp>
      <p:cxnSp>
        <p:nvCxnSpPr>
          <p:cNvPr id="40" name="Straight Arrow Connector 39"/>
          <p:cNvCxnSpPr/>
          <p:nvPr/>
        </p:nvCxnSpPr>
        <p:spPr>
          <a:xfrm flipH="1">
            <a:off x="1676400" y="1077837"/>
            <a:ext cx="9524" cy="307311"/>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sp>
        <p:nvSpPr>
          <p:cNvPr id="41" name="Rectangles 157"/>
          <p:cNvSpPr/>
          <p:nvPr/>
        </p:nvSpPr>
        <p:spPr>
          <a:xfrm>
            <a:off x="3572361" y="1523439"/>
            <a:ext cx="1645450" cy="305361"/>
          </a:xfrm>
          <a:prstGeom prst="rect">
            <a:avLst/>
          </a:prstGeom>
          <a:solidFill>
            <a:srgbClr val="92D050"/>
          </a:solidFill>
          <a:ln>
            <a:solidFill>
              <a:srgbClr val="92D050"/>
            </a:solidFill>
          </a:ln>
        </p:spPr>
        <p:style>
          <a:lnRef idx="0">
            <a:srgbClr val="FFFFFF"/>
          </a:lnRef>
          <a:fillRef idx="1">
            <a:schemeClr val="accent3"/>
          </a:fillRef>
          <a:effectRef idx="2">
            <a:schemeClr val="accent3"/>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Custom Layers</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42" name="Right Arrow 41"/>
          <p:cNvSpPr/>
          <p:nvPr/>
        </p:nvSpPr>
        <p:spPr>
          <a:xfrm>
            <a:off x="2509594" y="1676400"/>
            <a:ext cx="1057397" cy="64883"/>
          </a:xfrm>
          <a:prstGeom prst="rightArrow">
            <a:avLst/>
          </a:prstGeom>
        </p:spPr>
        <p:style>
          <a:lnRef idx="0">
            <a:srgbClr val="FFFFFF"/>
          </a:lnRef>
          <a:fillRef idx="1">
            <a:prstClr val="black"/>
          </a:fillRef>
          <a:effectRef idx="2">
            <a:prstClr val="black"/>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en-GB"/>
          </a:p>
        </p:txBody>
      </p:sp>
      <p:sp>
        <p:nvSpPr>
          <p:cNvPr id="44" name="Rectangles 163"/>
          <p:cNvSpPr/>
          <p:nvPr/>
        </p:nvSpPr>
        <p:spPr>
          <a:xfrm>
            <a:off x="3585587" y="2102374"/>
            <a:ext cx="1632224" cy="297897"/>
          </a:xfrm>
          <a:prstGeom prst="rect">
            <a:avLst/>
          </a:prstGeom>
          <a:solidFill>
            <a:srgbClr val="92D050">
              <a:tint val="66000"/>
              <a:satMod val="160000"/>
            </a:srgbClr>
          </a:solidFill>
        </p:spPr>
        <p:style>
          <a:lnRef idx="2">
            <a:schemeClr val="accent3"/>
          </a:lnRef>
          <a:fillRef idx="2">
            <a:schemeClr val="accent3"/>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Flatten</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45" name="Rectangles 164"/>
          <p:cNvSpPr/>
          <p:nvPr/>
        </p:nvSpPr>
        <p:spPr>
          <a:xfrm>
            <a:off x="3585587" y="2663081"/>
            <a:ext cx="1632722" cy="620242"/>
          </a:xfrm>
          <a:prstGeom prst="rect">
            <a:avLst/>
          </a:prstGeom>
          <a:solidFill>
            <a:srgbClr val="92D050">
              <a:tint val="66000"/>
              <a:satMod val="160000"/>
            </a:srgbClr>
          </a:solidFill>
        </p:spPr>
        <p:style>
          <a:lnRef idx="2">
            <a:schemeClr val="accent3"/>
          </a:lnRef>
          <a:fillRef idx="2">
            <a:schemeClr val="accent3"/>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Dense 512 ReLU</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46" name="Rectangles 165"/>
          <p:cNvSpPr/>
          <p:nvPr/>
        </p:nvSpPr>
        <p:spPr>
          <a:xfrm>
            <a:off x="3580846" y="3578109"/>
            <a:ext cx="1636966" cy="580962"/>
          </a:xfrm>
          <a:prstGeom prst="rect">
            <a:avLst/>
          </a:prstGeom>
          <a:solidFill>
            <a:srgbClr val="92D050">
              <a:tint val="66000"/>
              <a:satMod val="160000"/>
            </a:srgbClr>
          </a:solidFill>
        </p:spPr>
        <p:style>
          <a:lnRef idx="2">
            <a:schemeClr val="accent3"/>
          </a:lnRef>
          <a:fillRef idx="2">
            <a:schemeClr val="accent3"/>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Batch Normalization</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47" name="Rectangles 166"/>
          <p:cNvSpPr/>
          <p:nvPr/>
        </p:nvSpPr>
        <p:spPr>
          <a:xfrm>
            <a:off x="3566990" y="4419600"/>
            <a:ext cx="1650821" cy="234486"/>
          </a:xfrm>
          <a:prstGeom prst="rect">
            <a:avLst/>
          </a:prstGeom>
          <a:solidFill>
            <a:srgbClr val="92D050">
              <a:tint val="66000"/>
              <a:satMod val="160000"/>
            </a:srgbClr>
          </a:solidFill>
        </p:spPr>
        <p:style>
          <a:lnRef idx="2">
            <a:schemeClr val="accent3"/>
          </a:lnRef>
          <a:fillRef idx="2">
            <a:schemeClr val="accent3"/>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Dropout 50%</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p:txBody>
      </p:sp>
      <p:cxnSp>
        <p:nvCxnSpPr>
          <p:cNvPr id="48" name="Straight Arrow Connector 47"/>
          <p:cNvCxnSpPr/>
          <p:nvPr/>
        </p:nvCxnSpPr>
        <p:spPr>
          <a:xfrm>
            <a:off x="4318285" y="1828800"/>
            <a:ext cx="635" cy="324143"/>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cxnSp>
        <p:nvCxnSpPr>
          <p:cNvPr id="49" name="Straight Arrow Connector 48"/>
          <p:cNvCxnSpPr/>
          <p:nvPr/>
        </p:nvCxnSpPr>
        <p:spPr>
          <a:xfrm>
            <a:off x="4318285" y="2400271"/>
            <a:ext cx="0" cy="305951"/>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cxnSp>
        <p:nvCxnSpPr>
          <p:cNvPr id="50" name="Straight Arrow Connector 49"/>
          <p:cNvCxnSpPr/>
          <p:nvPr/>
        </p:nvCxnSpPr>
        <p:spPr>
          <a:xfrm>
            <a:off x="4318285" y="3291993"/>
            <a:ext cx="0" cy="286116"/>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cxnSp>
        <p:nvCxnSpPr>
          <p:cNvPr id="51" name="Straight Arrow Connector 50"/>
          <p:cNvCxnSpPr/>
          <p:nvPr/>
        </p:nvCxnSpPr>
        <p:spPr>
          <a:xfrm>
            <a:off x="4308761" y="4180716"/>
            <a:ext cx="9524" cy="242528"/>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sp>
        <p:nvSpPr>
          <p:cNvPr id="58" name="Rectangles 167"/>
          <p:cNvSpPr/>
          <p:nvPr/>
        </p:nvSpPr>
        <p:spPr>
          <a:xfrm>
            <a:off x="3580846" y="4892970"/>
            <a:ext cx="1636965" cy="479393"/>
          </a:xfrm>
          <a:prstGeom prst="rect">
            <a:avLst/>
          </a:prstGeom>
          <a:solidFill>
            <a:srgbClr val="92D050">
              <a:tint val="66000"/>
              <a:satMod val="160000"/>
            </a:srgbClr>
          </a:solidFill>
        </p:spPr>
        <p:style>
          <a:lnRef idx="2">
            <a:schemeClr val="accent3"/>
          </a:lnRef>
          <a:fillRef idx="2">
            <a:schemeClr val="accent3"/>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effectLst/>
                <a:latin typeface="Times New Roman" panose="02020603050405020304" pitchFamily="18" charset="0"/>
                <a:ea typeface="Arial" panose="020B0604020202020204" pitchFamily="34" charset="0"/>
                <a:cs typeface="Times New Roman" panose="02020603050405020304" pitchFamily="18" charset="0"/>
              </a:rPr>
              <a:t>Dense 512 ReLU</a:t>
            </a:r>
            <a:endParaRPr lang="en-GB" sz="1200"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59" name="Rectangles 168"/>
          <p:cNvSpPr/>
          <p:nvPr/>
        </p:nvSpPr>
        <p:spPr>
          <a:xfrm>
            <a:off x="3617791" y="5619097"/>
            <a:ext cx="1600020" cy="307333"/>
          </a:xfrm>
          <a:prstGeom prst="rect">
            <a:avLst/>
          </a:prstGeom>
          <a:solidFill>
            <a:srgbClr val="92D050">
              <a:tint val="66000"/>
              <a:satMod val="160000"/>
            </a:srgbClr>
          </a:solidFill>
        </p:spPr>
        <p:style>
          <a:lnRef idx="2">
            <a:schemeClr val="accent3"/>
          </a:lnRef>
          <a:fillRef idx="2">
            <a:schemeClr val="accent3"/>
          </a:fillRef>
          <a:effectRef idx="0">
            <a:srgbClr val="FFFFFF"/>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just">
              <a:lnSpc>
                <a:spcPct val="115000"/>
              </a:lnSpc>
            </a:pPr>
            <a:r>
              <a:rPr lang="en-US" sz="1200" b="1" dirty="0">
                <a:latin typeface="Times New Roman" panose="02020603050405020304" pitchFamily="18" charset="0"/>
                <a:cs typeface="Times New Roman" panose="02020603050405020304" pitchFamily="18" charset="0"/>
              </a:rPr>
              <a:t>Dropout 40</a:t>
            </a:r>
            <a:r>
              <a:rPr lang="en-US" sz="1200" b="1" dirty="0" smtClean="0">
                <a:latin typeface="Times New Roman" panose="02020603050405020304" pitchFamily="18" charset="0"/>
                <a:cs typeface="Times New Roman" panose="02020603050405020304" pitchFamily="18" charset="0"/>
              </a:rPr>
              <a:t>%</a:t>
            </a:r>
            <a:endParaRPr lang="en-GB" sz="1200" dirty="0">
              <a:latin typeface="Times New Roman" panose="02020603050405020304" pitchFamily="18" charset="0"/>
              <a:cs typeface="Times New Roman" panose="02020603050405020304" pitchFamily="18" charset="0"/>
            </a:endParaRPr>
          </a:p>
        </p:txBody>
      </p:sp>
      <p:cxnSp>
        <p:nvCxnSpPr>
          <p:cNvPr id="60" name="Straight Arrow Connector 59"/>
          <p:cNvCxnSpPr/>
          <p:nvPr/>
        </p:nvCxnSpPr>
        <p:spPr>
          <a:xfrm flipH="1">
            <a:off x="4308761" y="5380213"/>
            <a:ext cx="634" cy="231034"/>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cxnSp>
        <p:nvCxnSpPr>
          <p:cNvPr id="61" name="Straight Arrow Connector 60"/>
          <p:cNvCxnSpPr/>
          <p:nvPr/>
        </p:nvCxnSpPr>
        <p:spPr>
          <a:xfrm flipH="1">
            <a:off x="4318285" y="4654086"/>
            <a:ext cx="635" cy="260529"/>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sp>
        <p:nvSpPr>
          <p:cNvPr id="64" name="Rectangles 169"/>
          <p:cNvSpPr/>
          <p:nvPr/>
        </p:nvSpPr>
        <p:spPr>
          <a:xfrm>
            <a:off x="5674376" y="1502838"/>
            <a:ext cx="1485900" cy="371475"/>
          </a:xfrm>
          <a:prstGeom prst="rect">
            <a:avLst/>
          </a:prstGeom>
        </p:spPr>
        <p:style>
          <a:lnRef idx="2">
            <a:schemeClr val="accent2"/>
          </a:lnRef>
          <a:fillRef idx="2">
            <a:schemeClr val="accent2"/>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Output Layer</a:t>
            </a:r>
            <a:endParaRPr lang="en-GB" sz="1200" b="1" dirty="0">
              <a:effectLst/>
              <a:latin typeface="Times New Roman" panose="02020603050405020304" pitchFamily="18" charset="0"/>
              <a:ea typeface="Arial" panose="020B0604020202020204" pitchFamily="34" charset="0"/>
              <a:cs typeface="Arial" panose="020B0604020202020204" pitchFamily="34" charset="0"/>
            </a:endParaRPr>
          </a:p>
        </p:txBody>
      </p:sp>
      <p:cxnSp>
        <p:nvCxnSpPr>
          <p:cNvPr id="65" name="Straight Arrow Connector 64"/>
          <p:cNvCxnSpPr/>
          <p:nvPr/>
        </p:nvCxnSpPr>
        <p:spPr>
          <a:xfrm flipH="1">
            <a:off x="6400800" y="1862248"/>
            <a:ext cx="7001" cy="502062"/>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sp>
        <p:nvSpPr>
          <p:cNvPr id="66" name="Right Arrow 65"/>
          <p:cNvSpPr/>
          <p:nvPr/>
        </p:nvSpPr>
        <p:spPr>
          <a:xfrm>
            <a:off x="5217811" y="1623080"/>
            <a:ext cx="451196" cy="115343"/>
          </a:xfrm>
          <a:prstGeom prst="rightArrow">
            <a:avLst/>
          </a:prstGeom>
        </p:spPr>
        <p:style>
          <a:lnRef idx="0">
            <a:srgbClr val="FFFFFF"/>
          </a:lnRef>
          <a:fillRef idx="1">
            <a:prstClr val="black"/>
          </a:fillRef>
          <a:effectRef idx="2">
            <a:prstClr val="black"/>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en-GB"/>
          </a:p>
        </p:txBody>
      </p:sp>
      <p:sp>
        <p:nvSpPr>
          <p:cNvPr id="68" name="Rectangles 170"/>
          <p:cNvSpPr/>
          <p:nvPr/>
        </p:nvSpPr>
        <p:spPr>
          <a:xfrm>
            <a:off x="5674376" y="2356979"/>
            <a:ext cx="1485900" cy="295275"/>
          </a:xfrm>
          <a:prstGeom prst="rect">
            <a:avLst/>
          </a:prstGeom>
        </p:spPr>
        <p:style>
          <a:lnRef idx="2">
            <a:schemeClr val="accent2"/>
          </a:lnRef>
          <a:fillRef idx="2">
            <a:schemeClr val="accent2"/>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0"/>
              </a:spcAft>
            </a:pPr>
            <a:r>
              <a:rPr lang="en-US" sz="12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Dense Softmax</a:t>
            </a:r>
            <a:endParaRPr lang="en-GB" sz="1200" b="1" dirty="0">
              <a:effectLst/>
              <a:latin typeface="Times New Roman" panose="02020603050405020304" pitchFamily="18" charset="0"/>
              <a:ea typeface="Arial" panose="020B0604020202020204" pitchFamily="34" charset="0"/>
              <a:cs typeface="Arial" panose="020B0604020202020204" pitchFamily="34" charset="0"/>
            </a:endParaRPr>
          </a:p>
        </p:txBody>
      </p:sp>
      <p:sp>
        <p:nvSpPr>
          <p:cNvPr id="69" name="Rectangles 171"/>
          <p:cNvSpPr/>
          <p:nvPr/>
        </p:nvSpPr>
        <p:spPr>
          <a:xfrm>
            <a:off x="5674376" y="3152775"/>
            <a:ext cx="1571625" cy="180022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algn="just">
              <a:lnSpc>
                <a:spcPct val="115000"/>
              </a:lnSpc>
              <a:spcAft>
                <a:spcPts val="0"/>
              </a:spcAft>
            </a:pPr>
            <a:r>
              <a:rPr lang="en-US" sz="1200">
                <a:effectLst/>
                <a:latin typeface="Times New Roman" panose="02020603050405020304" pitchFamily="18" charset="0"/>
                <a:ea typeface="Arial" panose="020B0604020202020204" pitchFamily="34" charset="0"/>
                <a:cs typeface="Arial" panose="020B0604020202020204" pitchFamily="34" charset="0"/>
              </a:rPr>
              <a:t>Brain Tumor Classes</a:t>
            </a:r>
            <a:endParaRPr lang="en-GB" sz="1200">
              <a:effectLst/>
              <a:latin typeface="Times New Roman" panose="02020603050405020304" pitchFamily="18" charset="0"/>
              <a:ea typeface="Arial" panose="020B060402020202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266700" algn="l"/>
              </a:tabLst>
            </a:pPr>
            <a:r>
              <a:rPr lang="en-US" sz="1200">
                <a:effectLst/>
                <a:latin typeface="Times New Roman" panose="02020603050405020304" pitchFamily="18" charset="0"/>
                <a:ea typeface="Arial" panose="020B0604020202020204" pitchFamily="34" charset="0"/>
                <a:cs typeface="Arial" panose="020B0604020202020204" pitchFamily="34" charset="0"/>
              </a:rPr>
              <a:t>Glioma</a:t>
            </a:r>
            <a:endParaRPr lang="en-GB" sz="1200">
              <a:effectLst/>
              <a:latin typeface="Times New Roman" panose="02020603050405020304" pitchFamily="18" charset="0"/>
              <a:ea typeface="Arial" panose="020B060402020202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266700" algn="l"/>
              </a:tabLst>
            </a:pPr>
            <a:r>
              <a:rPr lang="en-US" sz="1200">
                <a:effectLst/>
                <a:latin typeface="Times New Roman" panose="02020603050405020304" pitchFamily="18" charset="0"/>
                <a:ea typeface="Arial" panose="020B0604020202020204" pitchFamily="34" charset="0"/>
                <a:cs typeface="Arial" panose="020B0604020202020204" pitchFamily="34" charset="0"/>
              </a:rPr>
              <a:t>Meningioma</a:t>
            </a:r>
            <a:endParaRPr lang="en-GB" sz="1200">
              <a:effectLst/>
              <a:latin typeface="Times New Roman" panose="02020603050405020304" pitchFamily="18" charset="0"/>
              <a:ea typeface="Arial" panose="020B060402020202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266700" algn="l"/>
              </a:tabLst>
            </a:pPr>
            <a:r>
              <a:rPr lang="en-US" sz="1200">
                <a:effectLst/>
                <a:latin typeface="Times New Roman" panose="02020603050405020304" pitchFamily="18" charset="0"/>
                <a:ea typeface="Arial" panose="020B0604020202020204" pitchFamily="34" charset="0"/>
                <a:cs typeface="Arial" panose="020B0604020202020204" pitchFamily="34" charset="0"/>
              </a:rPr>
              <a:t>No tumor</a:t>
            </a:r>
            <a:endParaRPr lang="en-GB" sz="1200">
              <a:effectLst/>
              <a:latin typeface="Times New Roman" panose="02020603050405020304" pitchFamily="18" charset="0"/>
              <a:ea typeface="Arial" panose="020B060402020202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266700" algn="l"/>
              </a:tabLst>
            </a:pPr>
            <a:r>
              <a:rPr lang="en-US" sz="1200">
                <a:effectLst/>
                <a:latin typeface="Times New Roman" panose="02020603050405020304" pitchFamily="18" charset="0"/>
                <a:ea typeface="Arial" panose="020B0604020202020204" pitchFamily="34" charset="0"/>
                <a:cs typeface="Arial" panose="020B0604020202020204" pitchFamily="34" charset="0"/>
              </a:rPr>
              <a:t>Pituitary</a:t>
            </a:r>
            <a:endParaRPr lang="en-GB" sz="1200">
              <a:effectLst/>
              <a:latin typeface="Times New Roman" panose="02020603050405020304" pitchFamily="18" charset="0"/>
              <a:ea typeface="Arial" panose="020B0604020202020204" pitchFamily="34" charset="0"/>
              <a:cs typeface="Arial" panose="020B0604020202020204" pitchFamily="34" charset="0"/>
            </a:endParaRPr>
          </a:p>
        </p:txBody>
      </p:sp>
      <p:cxnSp>
        <p:nvCxnSpPr>
          <p:cNvPr id="70" name="Straight Arrow Connector 69"/>
          <p:cNvCxnSpPr/>
          <p:nvPr/>
        </p:nvCxnSpPr>
        <p:spPr>
          <a:xfrm flipH="1">
            <a:off x="6413825" y="2663081"/>
            <a:ext cx="7001" cy="502062"/>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sp>
        <p:nvSpPr>
          <p:cNvPr id="71" name="Rounded Rectangle 70"/>
          <p:cNvSpPr/>
          <p:nvPr/>
        </p:nvSpPr>
        <p:spPr>
          <a:xfrm>
            <a:off x="0" y="-21274"/>
            <a:ext cx="9144000" cy="553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anose="02020603050405020304" pitchFamily="18" charset="0"/>
                <a:cs typeface="Times New Roman" panose="02020603050405020304" pitchFamily="18" charset="0"/>
              </a:rPr>
              <a:t>Model Architecture</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72" name="Text Box 45"/>
          <p:cNvSpPr txBox="1"/>
          <p:nvPr/>
        </p:nvSpPr>
        <p:spPr>
          <a:xfrm>
            <a:off x="2895600" y="6193588"/>
            <a:ext cx="4038599" cy="359611"/>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lgn="ctr">
              <a:spcAft>
                <a:spcPts val="1000"/>
              </a:spcAft>
            </a:pPr>
            <a:r>
              <a:rPr lang="en-GB" sz="1600" b="1" i="0" dirty="0" smtClean="0">
                <a:effectLst/>
                <a:latin typeface="Times New Roman" panose="02020603050405020304" pitchFamily="18" charset="0"/>
                <a:ea typeface="Arial" panose="020B0604020202020204" pitchFamily="34" charset="0"/>
                <a:cs typeface="Arial" panose="020B0604020202020204" pitchFamily="34" charset="0"/>
              </a:rPr>
              <a:t>Figure </a:t>
            </a:r>
            <a:r>
              <a:rPr lang="en-GB" sz="1600" b="1" dirty="0">
                <a:latin typeface="Times New Roman" panose="02020603050405020304" pitchFamily="18" charset="0"/>
                <a:ea typeface="Arial" panose="020B0604020202020204" pitchFamily="34" charset="0"/>
                <a:cs typeface="Arial" panose="020B0604020202020204" pitchFamily="34" charset="0"/>
              </a:rPr>
              <a:t>4</a:t>
            </a:r>
            <a:r>
              <a:rPr lang="en-US" sz="1600" b="1" i="0" dirty="0" smtClean="0">
                <a:effectLst/>
                <a:latin typeface="Times New Roman" panose="02020603050405020304" pitchFamily="18" charset="0"/>
                <a:ea typeface="Arial" panose="020B0604020202020204" pitchFamily="34" charset="0"/>
                <a:cs typeface="Arial" panose="020B0604020202020204" pitchFamily="34" charset="0"/>
              </a:rPr>
              <a:t>: </a:t>
            </a:r>
            <a:r>
              <a:rPr lang="en-US" sz="1600" b="1" dirty="0" smtClean="0">
                <a:latin typeface="Times New Roman" panose="02020603050405020304" pitchFamily="18" charset="0"/>
                <a:ea typeface="Arial" panose="020B0604020202020204" pitchFamily="34" charset="0"/>
                <a:cs typeface="Times New Roman" panose="02020603050405020304" pitchFamily="18" charset="0"/>
              </a:rPr>
              <a:t>VGG16</a:t>
            </a:r>
            <a:r>
              <a:rPr lang="en-US" sz="1600" b="1" i="0" dirty="0" smtClean="0">
                <a:effectLst/>
                <a:latin typeface="Times New Roman" panose="02020603050405020304" pitchFamily="18" charset="0"/>
                <a:ea typeface="Arial" panose="020B0604020202020204" pitchFamily="34" charset="0"/>
                <a:cs typeface="Times New Roman" panose="02020603050405020304" pitchFamily="18" charset="0"/>
              </a:rPr>
              <a:t> </a:t>
            </a:r>
            <a:r>
              <a:rPr lang="en-US" sz="1600" b="1" i="0" dirty="0">
                <a:effectLst/>
                <a:latin typeface="Times New Roman" panose="02020603050405020304" pitchFamily="18" charset="0"/>
                <a:ea typeface="Arial" panose="020B0604020202020204" pitchFamily="34" charset="0"/>
                <a:cs typeface="Times New Roman" panose="02020603050405020304" pitchFamily="18" charset="0"/>
              </a:rPr>
              <a:t>model architecture</a:t>
            </a:r>
            <a:endParaRPr lang="en-GB" sz="1600" b="1" i="1" dirty="0">
              <a:effectLst/>
              <a:latin typeface="Times New Roman" panose="02020603050405020304" pitchFamily="18"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7372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 y="228600"/>
            <a:ext cx="8534400"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Training and validation performance</a:t>
            </a:r>
          </a:p>
        </p:txBody>
      </p:sp>
      <p:sp>
        <p:nvSpPr>
          <p:cNvPr id="4" name="Text Box 3"/>
          <p:cNvSpPr txBox="1"/>
          <p:nvPr/>
        </p:nvSpPr>
        <p:spPr>
          <a:xfrm>
            <a:off x="1413510" y="5674995"/>
            <a:ext cx="6739890" cy="338554"/>
          </a:xfrm>
          <a:prstGeom prst="rect">
            <a:avLst/>
          </a:prstGeom>
          <a:noFill/>
        </p:spPr>
        <p:txBody>
          <a:bodyPr wrap="square" rtlCol="0">
            <a:spAutoFit/>
          </a:bodyPr>
          <a:lstStyle/>
          <a:p>
            <a:pPr algn="ctr"/>
            <a:r>
              <a:rPr lang="en-US" altLang="en-US" sz="1600" b="1" dirty="0">
                <a:latin typeface="Times New Roman" panose="02020603050405020304" pitchFamily="18" charset="0"/>
                <a:cs typeface="Times New Roman" panose="02020603050405020304" pitchFamily="18" charset="0"/>
              </a:rPr>
              <a:t>Figure 5</a:t>
            </a:r>
            <a:r>
              <a:rPr lang="en-US" altLang="en-US" sz="1600" b="1" dirty="0" smtClean="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Training and Validation Accuracy and Loss Curve</a:t>
            </a:r>
            <a:endParaRPr lang="en-US" sz="1600" b="1" dirty="0">
              <a:latin typeface="Times New Roman" panose="02020603050405020304" pitchFamily="18" charset="0"/>
              <a:cs typeface="Times New Roman" panose="02020603050405020304" pitchFamily="18" charset="0"/>
            </a:endParaRPr>
          </a:p>
        </p:txBody>
      </p:sp>
      <p:pic>
        <p:nvPicPr>
          <p:cNvPr id="5" name="Picture 4" descr="5f7dcdd8-f648-4e16-b1b5-5bad67316208"/>
          <p:cNvPicPr/>
          <p:nvPr/>
        </p:nvPicPr>
        <p:blipFill>
          <a:blip r:embed="rId2"/>
          <a:stretch>
            <a:fillRect/>
          </a:stretch>
        </p:blipFill>
        <p:spPr>
          <a:xfrm>
            <a:off x="533400" y="990600"/>
            <a:ext cx="8153400" cy="44196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04800"/>
            <a:ext cx="8569325"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Confusion Matrix </a:t>
            </a:r>
            <a:endParaRPr lang="en-US" dirty="0" smtClean="0">
              <a:latin typeface="Times New Roman" panose="02020603050405020304" pitchFamily="18" charset="0"/>
              <a:cs typeface="Times New Roman" panose="02020603050405020304" pitchFamily="18" charset="0"/>
            </a:endParaRPr>
          </a:p>
        </p:txBody>
      </p:sp>
      <p:sp>
        <p:nvSpPr>
          <p:cNvPr id="4" name="Text Box 3"/>
          <p:cNvSpPr txBox="1"/>
          <p:nvPr/>
        </p:nvSpPr>
        <p:spPr>
          <a:xfrm>
            <a:off x="914400" y="6082958"/>
            <a:ext cx="7391400" cy="338554"/>
          </a:xfrm>
          <a:prstGeom prst="rect">
            <a:avLst/>
          </a:prstGeom>
          <a:noFill/>
        </p:spPr>
        <p:txBody>
          <a:bodyPr wrap="square" rtlCol="0">
            <a:spAutoFit/>
          </a:bodyPr>
          <a:lstStyle/>
          <a:p>
            <a:pPr algn="ctr"/>
            <a:r>
              <a:rPr lang="en-US" altLang="en-US" sz="1600" b="1" dirty="0">
                <a:latin typeface="Times New Roman" pitchFamily="18" charset="0"/>
                <a:cs typeface="Times New Roman" pitchFamily="18" charset="0"/>
              </a:rPr>
              <a:t>Figure 6</a:t>
            </a:r>
            <a:r>
              <a:rPr lang="en-US" altLang="en-US" sz="1600" b="1" dirty="0" smtClean="0">
                <a:latin typeface="Times New Roman" pitchFamily="18" charset="0"/>
                <a:cs typeface="Times New Roman" pitchFamily="18" charset="0"/>
              </a:rPr>
              <a:t> : </a:t>
            </a:r>
            <a:r>
              <a:rPr lang="en-US" altLang="en-US" sz="1600" b="1" dirty="0">
                <a:latin typeface="Times New Roman" pitchFamily="18" charset="0"/>
                <a:cs typeface="Times New Roman" pitchFamily="18" charset="0"/>
              </a:rPr>
              <a:t>Confusion Matrix of Multiclass Brain Tumor Classification</a:t>
            </a:r>
            <a:endParaRPr lang="en-US" sz="1600" b="1" dirty="0">
              <a:latin typeface="Times New Roman" panose="02020603050405020304" pitchFamily="18" charset="0"/>
              <a:cs typeface="Times New Roman" panose="02020603050405020304" pitchFamily="18" charset="0"/>
            </a:endParaRPr>
          </a:p>
        </p:txBody>
      </p:sp>
      <p:pic>
        <p:nvPicPr>
          <p:cNvPr id="5" name="Picture 4" descr="3f856c57-09db-49db-84ed-19bd4e44fbef.jpg"/>
          <p:cNvPicPr>
            <a:picLocks noChangeAspect="1"/>
          </p:cNvPicPr>
          <p:nvPr/>
        </p:nvPicPr>
        <p:blipFill>
          <a:blip r:embed="rId2"/>
          <a:stretch>
            <a:fillRect/>
          </a:stretch>
        </p:blipFill>
        <p:spPr>
          <a:xfrm>
            <a:off x="935182" y="1143000"/>
            <a:ext cx="6913418" cy="4572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892" y="327741"/>
            <a:ext cx="914400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Classification </a:t>
            </a:r>
            <a:r>
              <a:rPr lang="en-US" sz="2000" b="1" dirty="0" smtClean="0">
                <a:latin typeface="Times New Roman" panose="02020603050405020304" pitchFamily="18" charset="0"/>
                <a:cs typeface="Times New Roman" panose="02020603050405020304" pitchFamily="18" charset="0"/>
              </a:rPr>
              <a:t>report</a:t>
            </a:r>
            <a:endParaRPr lang="en-US" sz="2000" b="1" dirty="0">
              <a:latin typeface="Times New Roman" panose="02020603050405020304" pitchFamily="18" charset="0"/>
              <a:cs typeface="Times New Roman" panose="02020603050405020304" pitchFamily="18" charset="0"/>
            </a:endParaRPr>
          </a:p>
        </p:txBody>
      </p:sp>
      <p:graphicFrame>
        <p:nvGraphicFramePr>
          <p:cNvPr id="3" name="Table 2"/>
          <p:cNvGraphicFramePr/>
          <p:nvPr>
            <p:custDataLst>
              <p:tags r:id="rId1"/>
            </p:custDataLst>
            <p:extLst>
              <p:ext uri="{D42A27DB-BD31-4B8C-83A1-F6EECF244321}">
                <p14:modId xmlns:p14="http://schemas.microsoft.com/office/powerpoint/2010/main" val="3813754520"/>
              </p:ext>
            </p:extLst>
          </p:nvPr>
        </p:nvGraphicFramePr>
        <p:xfrm>
          <a:off x="838200" y="1371600"/>
          <a:ext cx="7794625" cy="3767455"/>
        </p:xfrm>
        <a:graphic>
          <a:graphicData uri="http://schemas.openxmlformats.org/drawingml/2006/table">
            <a:tbl>
              <a:tblPr firstRow="1" bandRow="1">
                <a:tableStyleId>{5C22544A-7EE6-4342-B048-85BDC9FD1C3A}</a:tableStyleId>
              </a:tblPr>
              <a:tblGrid>
                <a:gridCol w="1558925">
                  <a:extLst>
                    <a:ext uri="{9D8B030D-6E8A-4147-A177-3AD203B41FA5}">
                      <a16:colId xmlns:a16="http://schemas.microsoft.com/office/drawing/2014/main" val="20000"/>
                    </a:ext>
                  </a:extLst>
                </a:gridCol>
                <a:gridCol w="1558925">
                  <a:extLst>
                    <a:ext uri="{9D8B030D-6E8A-4147-A177-3AD203B41FA5}">
                      <a16:colId xmlns:a16="http://schemas.microsoft.com/office/drawing/2014/main" val="20001"/>
                    </a:ext>
                  </a:extLst>
                </a:gridCol>
                <a:gridCol w="1558925">
                  <a:extLst>
                    <a:ext uri="{9D8B030D-6E8A-4147-A177-3AD203B41FA5}">
                      <a16:colId xmlns:a16="http://schemas.microsoft.com/office/drawing/2014/main" val="20002"/>
                    </a:ext>
                  </a:extLst>
                </a:gridCol>
                <a:gridCol w="1558925">
                  <a:extLst>
                    <a:ext uri="{9D8B030D-6E8A-4147-A177-3AD203B41FA5}">
                      <a16:colId xmlns:a16="http://schemas.microsoft.com/office/drawing/2014/main" val="20003"/>
                    </a:ext>
                  </a:extLst>
                </a:gridCol>
                <a:gridCol w="1558925">
                  <a:extLst>
                    <a:ext uri="{9D8B030D-6E8A-4147-A177-3AD203B41FA5}">
                      <a16:colId xmlns:a16="http://schemas.microsoft.com/office/drawing/2014/main" val="20004"/>
                    </a:ext>
                  </a:extLst>
                </a:gridCol>
              </a:tblGrid>
              <a:tr h="434340">
                <a:tc>
                  <a:txBody>
                    <a:bodyPr/>
                    <a:lstStyle/>
                    <a:p>
                      <a:pPr>
                        <a:buNone/>
                      </a:pPr>
                      <a:r>
                        <a:rPr lang="en-US" dirty="0"/>
                        <a:t>Class</a:t>
                      </a:r>
                    </a:p>
                  </a:txBody>
                  <a:tcPr/>
                </a:tc>
                <a:tc>
                  <a:txBody>
                    <a:bodyPr/>
                    <a:lstStyle/>
                    <a:p>
                      <a:pPr>
                        <a:buNone/>
                      </a:pPr>
                      <a:r>
                        <a:rPr lang="en-US" altLang="en-US"/>
                        <a:t>precision</a:t>
                      </a:r>
                    </a:p>
                  </a:txBody>
                  <a:tcPr/>
                </a:tc>
                <a:tc>
                  <a:txBody>
                    <a:bodyPr/>
                    <a:lstStyle/>
                    <a:p>
                      <a:pPr>
                        <a:buNone/>
                      </a:pPr>
                      <a:r>
                        <a:rPr lang="en-US" altLang="en-US"/>
                        <a:t>recall</a:t>
                      </a:r>
                    </a:p>
                  </a:txBody>
                  <a:tcPr/>
                </a:tc>
                <a:tc>
                  <a:txBody>
                    <a:bodyPr/>
                    <a:lstStyle/>
                    <a:p>
                      <a:pPr>
                        <a:buNone/>
                      </a:pPr>
                      <a:r>
                        <a:rPr lang="en-US" altLang="en-US"/>
                        <a:t>f1-score</a:t>
                      </a:r>
                    </a:p>
                  </a:txBody>
                  <a:tcPr/>
                </a:tc>
                <a:tc>
                  <a:txBody>
                    <a:bodyPr/>
                    <a:lstStyle/>
                    <a:p>
                      <a:pPr>
                        <a:buNone/>
                      </a:pPr>
                      <a:r>
                        <a:rPr lang="en-US" altLang="en-US"/>
                        <a:t>support</a:t>
                      </a:r>
                    </a:p>
                  </a:txBody>
                  <a:tcPr/>
                </a:tc>
                <a:extLst>
                  <a:ext uri="{0D108BD9-81ED-4DB2-BD59-A6C34878D82A}">
                    <a16:rowId xmlns:a16="http://schemas.microsoft.com/office/drawing/2014/main" val="10000"/>
                  </a:ext>
                </a:extLst>
              </a:tr>
              <a:tr h="433705">
                <a:tc>
                  <a:txBody>
                    <a:bodyPr/>
                    <a:lstStyle/>
                    <a:p>
                      <a:pPr>
                        <a:buNone/>
                      </a:pPr>
                      <a:r>
                        <a:rPr lang="en-US" altLang="en-US" dirty="0"/>
                        <a:t>glioma</a:t>
                      </a:r>
                    </a:p>
                  </a:txBody>
                  <a:tcPr/>
                </a:tc>
                <a:tc>
                  <a:txBody>
                    <a:bodyPr/>
                    <a:lstStyle/>
                    <a:p>
                      <a:pPr>
                        <a:buNone/>
                      </a:pPr>
                      <a:r>
                        <a:rPr lang="en-US" altLang="en-US"/>
                        <a:t>1.00</a:t>
                      </a:r>
                    </a:p>
                  </a:txBody>
                  <a:tcPr/>
                </a:tc>
                <a:tc>
                  <a:txBody>
                    <a:bodyPr/>
                    <a:lstStyle/>
                    <a:p>
                      <a:pPr>
                        <a:buNone/>
                      </a:pPr>
                      <a:r>
                        <a:rPr lang="en-US" altLang="en-US"/>
                        <a:t>0.99</a:t>
                      </a:r>
                    </a:p>
                  </a:txBody>
                  <a:tcPr/>
                </a:tc>
                <a:tc>
                  <a:txBody>
                    <a:bodyPr/>
                    <a:lstStyle/>
                    <a:p>
                      <a:pPr>
                        <a:buNone/>
                      </a:pPr>
                      <a:r>
                        <a:rPr lang="en-US" altLang="en-US"/>
                        <a:t>0.99</a:t>
                      </a:r>
                    </a:p>
                  </a:txBody>
                  <a:tcPr/>
                </a:tc>
                <a:tc>
                  <a:txBody>
                    <a:bodyPr/>
                    <a:lstStyle/>
                    <a:p>
                      <a:pPr>
                        <a:buNone/>
                      </a:pPr>
                      <a:r>
                        <a:rPr lang="en-US"/>
                        <a:t>300</a:t>
                      </a:r>
                    </a:p>
                  </a:txBody>
                  <a:tcPr/>
                </a:tc>
                <a:extLst>
                  <a:ext uri="{0D108BD9-81ED-4DB2-BD59-A6C34878D82A}">
                    <a16:rowId xmlns:a16="http://schemas.microsoft.com/office/drawing/2014/main" val="10001"/>
                  </a:ext>
                </a:extLst>
              </a:tr>
              <a:tr h="434340">
                <a:tc>
                  <a:txBody>
                    <a:bodyPr/>
                    <a:lstStyle/>
                    <a:p>
                      <a:pPr>
                        <a:buNone/>
                      </a:pPr>
                      <a:r>
                        <a:rPr lang="en-US" altLang="en-US" dirty="0"/>
                        <a:t>meningioma</a:t>
                      </a:r>
                    </a:p>
                  </a:txBody>
                  <a:tcPr/>
                </a:tc>
                <a:tc>
                  <a:txBody>
                    <a:bodyPr/>
                    <a:lstStyle/>
                    <a:p>
                      <a:pPr>
                        <a:buNone/>
                      </a:pPr>
                      <a:r>
                        <a:rPr lang="en-US" altLang="en-US" dirty="0" smtClean="0"/>
                        <a:t>0.99</a:t>
                      </a:r>
                      <a:endParaRPr lang="en-US" altLang="en-US" dirty="0"/>
                    </a:p>
                  </a:txBody>
                  <a:tcPr/>
                </a:tc>
                <a:tc>
                  <a:txBody>
                    <a:bodyPr/>
                    <a:lstStyle/>
                    <a:p>
                      <a:pPr>
                        <a:buNone/>
                      </a:pPr>
                      <a:r>
                        <a:rPr lang="en-US" altLang="en-US"/>
                        <a:t>0.99</a:t>
                      </a:r>
                    </a:p>
                  </a:txBody>
                  <a:tcPr/>
                </a:tc>
                <a:tc>
                  <a:txBody>
                    <a:bodyPr/>
                    <a:lstStyle/>
                    <a:p>
                      <a:pPr>
                        <a:buNone/>
                      </a:pPr>
                      <a:r>
                        <a:rPr lang="en-US" altLang="en-US"/>
                        <a:t>0.99</a:t>
                      </a:r>
                    </a:p>
                  </a:txBody>
                  <a:tcPr/>
                </a:tc>
                <a:tc>
                  <a:txBody>
                    <a:bodyPr/>
                    <a:lstStyle/>
                    <a:p>
                      <a:pPr>
                        <a:buNone/>
                      </a:pPr>
                      <a:r>
                        <a:rPr lang="en-US"/>
                        <a:t>306</a:t>
                      </a:r>
                    </a:p>
                  </a:txBody>
                  <a:tcPr/>
                </a:tc>
                <a:extLst>
                  <a:ext uri="{0D108BD9-81ED-4DB2-BD59-A6C34878D82A}">
                    <a16:rowId xmlns:a16="http://schemas.microsoft.com/office/drawing/2014/main" val="10002"/>
                  </a:ext>
                </a:extLst>
              </a:tr>
              <a:tr h="433705">
                <a:tc>
                  <a:txBody>
                    <a:bodyPr/>
                    <a:lstStyle/>
                    <a:p>
                      <a:pPr>
                        <a:buNone/>
                      </a:pPr>
                      <a:r>
                        <a:rPr lang="en-US" altLang="en-US"/>
                        <a:t>notumor</a:t>
                      </a:r>
                    </a:p>
                  </a:txBody>
                  <a:tcPr/>
                </a:tc>
                <a:tc>
                  <a:txBody>
                    <a:bodyPr/>
                    <a:lstStyle/>
                    <a:p>
                      <a:pPr>
                        <a:buNone/>
                      </a:pPr>
                      <a:r>
                        <a:rPr lang="en-US"/>
                        <a:t>1.00</a:t>
                      </a:r>
                    </a:p>
                  </a:txBody>
                  <a:tcPr/>
                </a:tc>
                <a:tc>
                  <a:txBody>
                    <a:bodyPr/>
                    <a:lstStyle/>
                    <a:p>
                      <a:pPr>
                        <a:buNone/>
                      </a:pPr>
                      <a:r>
                        <a:rPr lang="en-US"/>
                        <a:t>1.00</a:t>
                      </a:r>
                    </a:p>
                  </a:txBody>
                  <a:tcPr/>
                </a:tc>
                <a:tc>
                  <a:txBody>
                    <a:bodyPr/>
                    <a:lstStyle/>
                    <a:p>
                      <a:pPr>
                        <a:buNone/>
                      </a:pPr>
                      <a:r>
                        <a:rPr lang="en-US"/>
                        <a:t>1.00</a:t>
                      </a:r>
                    </a:p>
                  </a:txBody>
                  <a:tcPr/>
                </a:tc>
                <a:tc>
                  <a:txBody>
                    <a:bodyPr/>
                    <a:lstStyle/>
                    <a:p>
                      <a:pPr>
                        <a:buNone/>
                      </a:pPr>
                      <a:r>
                        <a:rPr lang="en-US"/>
                        <a:t>405</a:t>
                      </a:r>
                    </a:p>
                  </a:txBody>
                  <a:tcPr/>
                </a:tc>
                <a:extLst>
                  <a:ext uri="{0D108BD9-81ED-4DB2-BD59-A6C34878D82A}">
                    <a16:rowId xmlns:a16="http://schemas.microsoft.com/office/drawing/2014/main" val="10003"/>
                  </a:ext>
                </a:extLst>
              </a:tr>
              <a:tr h="434340">
                <a:tc>
                  <a:txBody>
                    <a:bodyPr/>
                    <a:lstStyle/>
                    <a:p>
                      <a:pPr>
                        <a:buNone/>
                      </a:pPr>
                      <a:r>
                        <a:rPr lang="en-US" altLang="en-US"/>
                        <a:t>pituitary</a:t>
                      </a:r>
                    </a:p>
                  </a:txBody>
                  <a:tcPr/>
                </a:tc>
                <a:tc>
                  <a:txBody>
                    <a:bodyPr/>
                    <a:lstStyle/>
                    <a:p>
                      <a:pPr>
                        <a:buNone/>
                      </a:pPr>
                      <a:r>
                        <a:rPr lang="en-US" altLang="en-US"/>
                        <a:t>1.00</a:t>
                      </a:r>
                    </a:p>
                  </a:txBody>
                  <a:tcPr/>
                </a:tc>
                <a:tc>
                  <a:txBody>
                    <a:bodyPr/>
                    <a:lstStyle/>
                    <a:p>
                      <a:pPr>
                        <a:buNone/>
                      </a:pPr>
                      <a:r>
                        <a:rPr lang="en-US" altLang="en-US" dirty="0" smtClean="0"/>
                        <a:t>1.00</a:t>
                      </a:r>
                      <a:endParaRPr lang="en-US" altLang="en-US" dirty="0"/>
                    </a:p>
                  </a:txBody>
                  <a:tcPr/>
                </a:tc>
                <a:tc>
                  <a:txBody>
                    <a:bodyPr/>
                    <a:lstStyle/>
                    <a:p>
                      <a:pPr>
                        <a:buNone/>
                      </a:pPr>
                      <a:r>
                        <a:rPr lang="en-US" altLang="en-US" dirty="0" smtClean="0"/>
                        <a:t>0.99</a:t>
                      </a:r>
                      <a:endParaRPr lang="en-US" altLang="en-US" dirty="0"/>
                    </a:p>
                  </a:txBody>
                  <a:tcPr/>
                </a:tc>
                <a:tc>
                  <a:txBody>
                    <a:bodyPr/>
                    <a:lstStyle/>
                    <a:p>
                      <a:pPr>
                        <a:buNone/>
                      </a:pPr>
                      <a:r>
                        <a:rPr lang="en-US"/>
                        <a:t>300</a:t>
                      </a:r>
                    </a:p>
                  </a:txBody>
                  <a:tcPr/>
                </a:tc>
                <a:extLst>
                  <a:ext uri="{0D108BD9-81ED-4DB2-BD59-A6C34878D82A}">
                    <a16:rowId xmlns:a16="http://schemas.microsoft.com/office/drawing/2014/main" val="10004"/>
                  </a:ext>
                </a:extLst>
              </a:tr>
              <a:tr h="433705">
                <a:tc>
                  <a:txBody>
                    <a:bodyPr/>
                    <a:lstStyle/>
                    <a:p>
                      <a:pPr>
                        <a:buNone/>
                      </a:pPr>
                      <a:r>
                        <a:rPr lang="en-US" altLang="en-US"/>
                        <a:t>accuracy</a:t>
                      </a:r>
                    </a:p>
                  </a:txBody>
                  <a:tcPr/>
                </a:tc>
                <a:tc>
                  <a:txBody>
                    <a:bodyPr/>
                    <a:lstStyle/>
                    <a:p>
                      <a:pPr>
                        <a:buNone/>
                      </a:pPr>
                      <a:endParaRPr lang="en-US"/>
                    </a:p>
                  </a:txBody>
                  <a:tcPr/>
                </a:tc>
                <a:tc>
                  <a:txBody>
                    <a:bodyPr/>
                    <a:lstStyle/>
                    <a:p>
                      <a:pPr>
                        <a:buNone/>
                      </a:pPr>
                      <a:endParaRPr lang="en-US" altLang="en-US"/>
                    </a:p>
                  </a:txBody>
                  <a:tcPr/>
                </a:tc>
                <a:tc>
                  <a:txBody>
                    <a:bodyPr/>
                    <a:lstStyle/>
                    <a:p>
                      <a:pPr>
                        <a:buNone/>
                      </a:pPr>
                      <a:r>
                        <a:rPr lang="en-US" altLang="en-US"/>
                        <a:t>0.99</a:t>
                      </a:r>
                    </a:p>
                  </a:txBody>
                  <a:tcPr/>
                </a:tc>
                <a:tc>
                  <a:txBody>
                    <a:bodyPr/>
                    <a:lstStyle/>
                    <a:p>
                      <a:pPr>
                        <a:buNone/>
                      </a:pPr>
                      <a:r>
                        <a:rPr lang="en-US" altLang="en-US"/>
                        <a:t>1311</a:t>
                      </a:r>
                    </a:p>
                  </a:txBody>
                  <a:tcPr/>
                </a:tc>
                <a:extLst>
                  <a:ext uri="{0D108BD9-81ED-4DB2-BD59-A6C34878D82A}">
                    <a16:rowId xmlns:a16="http://schemas.microsoft.com/office/drawing/2014/main" val="10005"/>
                  </a:ext>
                </a:extLst>
              </a:tr>
              <a:tr h="434340">
                <a:tc>
                  <a:txBody>
                    <a:bodyPr/>
                    <a:lstStyle/>
                    <a:p>
                      <a:pPr>
                        <a:buNone/>
                      </a:pPr>
                      <a:r>
                        <a:rPr lang="en-US" altLang="en-US"/>
                        <a:t>macro avg</a:t>
                      </a:r>
                    </a:p>
                  </a:txBody>
                  <a:tcPr/>
                </a:tc>
                <a:tc>
                  <a:txBody>
                    <a:bodyPr/>
                    <a:lstStyle/>
                    <a:p>
                      <a:pPr>
                        <a:buNone/>
                      </a:pPr>
                      <a:r>
                        <a:rPr lang="en-US" altLang="en-US"/>
                        <a:t>0.99</a:t>
                      </a:r>
                    </a:p>
                  </a:txBody>
                  <a:tcPr/>
                </a:tc>
                <a:tc>
                  <a:txBody>
                    <a:bodyPr/>
                    <a:lstStyle/>
                    <a:p>
                      <a:pPr>
                        <a:buNone/>
                      </a:pPr>
                      <a:r>
                        <a:rPr lang="en-US" altLang="en-US"/>
                        <a:t>0.99</a:t>
                      </a:r>
                    </a:p>
                  </a:txBody>
                  <a:tcPr/>
                </a:tc>
                <a:tc>
                  <a:txBody>
                    <a:bodyPr/>
                    <a:lstStyle/>
                    <a:p>
                      <a:pPr>
                        <a:buNone/>
                      </a:pPr>
                      <a:r>
                        <a:rPr lang="en-US" altLang="en-US"/>
                        <a:t>0.99</a:t>
                      </a:r>
                    </a:p>
                  </a:txBody>
                  <a:tcPr/>
                </a:tc>
                <a:tc>
                  <a:txBody>
                    <a:bodyPr/>
                    <a:lstStyle/>
                    <a:p>
                      <a:pPr>
                        <a:buNone/>
                      </a:pPr>
                      <a:r>
                        <a:rPr lang="en-US" altLang="en-US"/>
                        <a:t>1311</a:t>
                      </a:r>
                    </a:p>
                  </a:txBody>
                  <a:tcPr/>
                </a:tc>
                <a:extLst>
                  <a:ext uri="{0D108BD9-81ED-4DB2-BD59-A6C34878D82A}">
                    <a16:rowId xmlns:a16="http://schemas.microsoft.com/office/drawing/2014/main" val="10006"/>
                  </a:ext>
                </a:extLst>
              </a:tr>
              <a:tr h="728980">
                <a:tc>
                  <a:txBody>
                    <a:bodyPr/>
                    <a:lstStyle/>
                    <a:p>
                      <a:pPr>
                        <a:buNone/>
                      </a:pPr>
                      <a:r>
                        <a:rPr lang="en-US" altLang="en-US"/>
                        <a:t>weighted avg</a:t>
                      </a:r>
                    </a:p>
                  </a:txBody>
                  <a:tcPr/>
                </a:tc>
                <a:tc>
                  <a:txBody>
                    <a:bodyPr/>
                    <a:lstStyle/>
                    <a:p>
                      <a:pPr>
                        <a:buNone/>
                      </a:pPr>
                      <a:r>
                        <a:rPr lang="en-US" altLang="en-US"/>
                        <a:t>0.99</a:t>
                      </a:r>
                    </a:p>
                  </a:txBody>
                  <a:tcPr/>
                </a:tc>
                <a:tc>
                  <a:txBody>
                    <a:bodyPr/>
                    <a:lstStyle/>
                    <a:p>
                      <a:pPr>
                        <a:buNone/>
                      </a:pPr>
                      <a:r>
                        <a:rPr lang="en-US" altLang="en-US"/>
                        <a:t>0.99</a:t>
                      </a:r>
                    </a:p>
                  </a:txBody>
                  <a:tcPr/>
                </a:tc>
                <a:tc>
                  <a:txBody>
                    <a:bodyPr/>
                    <a:lstStyle/>
                    <a:p>
                      <a:pPr>
                        <a:buNone/>
                      </a:pPr>
                      <a:r>
                        <a:rPr lang="en-US" altLang="en-US"/>
                        <a:t>0.99</a:t>
                      </a:r>
                    </a:p>
                  </a:txBody>
                  <a:tcPr/>
                </a:tc>
                <a:tc>
                  <a:txBody>
                    <a:bodyPr/>
                    <a:lstStyle/>
                    <a:p>
                      <a:pPr>
                        <a:buNone/>
                      </a:pPr>
                      <a:r>
                        <a:rPr lang="en-US" altLang="en-US" dirty="0"/>
                        <a:t>1311</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6695" y="438090"/>
            <a:ext cx="8764905" cy="400110"/>
          </a:xfrm>
          <a:prstGeom prst="rect">
            <a:avLst/>
          </a:prstGeom>
          <a:noFill/>
        </p:spPr>
        <p:txBody>
          <a:bodyPr wrap="square" rtlCol="0">
            <a:spAutoFit/>
          </a:bodyPr>
          <a:lstStyle/>
          <a:p>
            <a:pPr algn="ctr"/>
            <a:r>
              <a:rPr lang="en-US" altLang="en-US" sz="2000" b="1" dirty="0">
                <a:latin typeface="Times New Roman" panose="02020603050405020304" pitchFamily="18" charset="0"/>
                <a:cs typeface="Times New Roman" panose="02020603050405020304" pitchFamily="18" charset="0"/>
              </a:rPr>
              <a:t>Explainable AI using  </a:t>
            </a:r>
            <a:r>
              <a:rPr lang="en-US" altLang="en-US" sz="2000" b="1" dirty="0" smtClean="0">
                <a:latin typeface="Times New Roman" panose="02020603050405020304" pitchFamily="18" charset="0"/>
                <a:cs typeface="Times New Roman" panose="02020603050405020304" pitchFamily="18" charset="0"/>
              </a:rPr>
              <a:t>Grad-CAM</a:t>
            </a:r>
          </a:p>
        </p:txBody>
      </p:sp>
      <p:pic>
        <p:nvPicPr>
          <p:cNvPr id="3" name="Picture 2" descr="GRAD CAM Explainable AI Output"/>
          <p:cNvPicPr>
            <a:picLocks noChangeAspect="1"/>
          </p:cNvPicPr>
          <p:nvPr/>
        </p:nvPicPr>
        <p:blipFill>
          <a:blip r:embed="rId2"/>
          <a:stretch>
            <a:fillRect/>
          </a:stretch>
        </p:blipFill>
        <p:spPr>
          <a:xfrm>
            <a:off x="4724400" y="1295401"/>
            <a:ext cx="3810000" cy="3276599"/>
          </a:xfrm>
          <a:prstGeom prst="rect">
            <a:avLst/>
          </a:prstGeom>
        </p:spPr>
      </p:pic>
      <p:sp>
        <p:nvSpPr>
          <p:cNvPr id="4" name="Text Box 3"/>
          <p:cNvSpPr txBox="1"/>
          <p:nvPr/>
        </p:nvSpPr>
        <p:spPr>
          <a:xfrm>
            <a:off x="226696" y="4953000"/>
            <a:ext cx="8307704"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Figure 7</a:t>
            </a:r>
            <a:r>
              <a:rPr lang="en-US" sz="1600" b="1" dirty="0" smtClean="0">
                <a:latin typeface="Times New Roman" panose="02020603050405020304" pitchFamily="18" charset="0"/>
                <a:cs typeface="Times New Roman" panose="02020603050405020304" pitchFamily="18" charset="0"/>
              </a:rPr>
              <a:t> : </a:t>
            </a:r>
            <a:r>
              <a:rPr lang="en-US" sz="1600" b="1" dirty="0">
                <a:latin typeface="Times New Roman" panose="02020603050405020304" pitchFamily="18" charset="0"/>
                <a:cs typeface="Times New Roman" panose="02020603050405020304" pitchFamily="18" charset="0"/>
              </a:rPr>
              <a:t>Grad-CAM Explainable AI Output</a:t>
            </a:r>
          </a:p>
        </p:txBody>
      </p:sp>
      <p:pic>
        <p:nvPicPr>
          <p:cNvPr id="5" name="Picture 4" descr="Te-glTr_0000"/>
          <p:cNvPicPr/>
          <p:nvPr/>
        </p:nvPicPr>
        <p:blipFill>
          <a:blip r:embed="rId3"/>
          <a:stretch>
            <a:fillRect/>
          </a:stretch>
        </p:blipFill>
        <p:spPr>
          <a:xfrm>
            <a:off x="685800" y="1496199"/>
            <a:ext cx="3494405" cy="3075801"/>
          </a:xfrm>
          <a:prstGeom prst="rect">
            <a:avLst/>
          </a:prstGeom>
        </p:spPr>
      </p:pic>
      <p:sp>
        <p:nvSpPr>
          <p:cNvPr id="6" name="Down Arrow 5"/>
          <p:cNvSpPr/>
          <p:nvPr/>
        </p:nvSpPr>
        <p:spPr>
          <a:xfrm rot="16200000">
            <a:off x="4338922" y="2733823"/>
            <a:ext cx="316066" cy="611909"/>
          </a:xfrm>
          <a:prstGeom prst="downArrow">
            <a:avLst/>
          </a:prstGeom>
        </p:spPr>
        <p:style>
          <a:lnRef idx="0">
            <a:srgbClr val="FFFFFF"/>
          </a:lnRef>
          <a:fillRef idx="1">
            <a:prstClr val="black"/>
          </a:fillRef>
          <a:effectRef idx="0">
            <a:srgbClr val="FFFFFF"/>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en-GB"/>
          </a:p>
        </p:txBody>
      </p:sp>
      <p:sp>
        <p:nvSpPr>
          <p:cNvPr id="7" name="TextBox 6"/>
          <p:cNvSpPr txBox="1"/>
          <p:nvPr/>
        </p:nvSpPr>
        <p:spPr>
          <a:xfrm>
            <a:off x="1905000" y="1219200"/>
            <a:ext cx="1066800" cy="276999"/>
          </a:xfrm>
          <a:prstGeom prst="rect">
            <a:avLst/>
          </a:prstGeom>
          <a:noFill/>
        </p:spPr>
        <p:txBody>
          <a:bodyPr wrap="square" rtlCol="0">
            <a:spAutoFit/>
          </a:bodyPr>
          <a:lstStyle/>
          <a:p>
            <a:r>
              <a:rPr lang="en-US" sz="1200" b="1" dirty="0" smtClean="0">
                <a:latin typeface="Times New Roman" panose="02020603050405020304" pitchFamily="18" charset="0"/>
                <a:cs typeface="Times New Roman" panose="02020603050405020304" pitchFamily="18" charset="0"/>
              </a:rPr>
              <a:t>MRI Image</a:t>
            </a:r>
            <a:endParaRPr lang="en-GB"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305800"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Comparative Analysis</a:t>
            </a:r>
            <a:endParaRPr lang="en-GB" sz="2000" b="1"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206127364"/>
              </p:ext>
            </p:extLst>
          </p:nvPr>
        </p:nvGraphicFramePr>
        <p:xfrm>
          <a:off x="609600" y="990600"/>
          <a:ext cx="8229600" cy="5415188"/>
        </p:xfrm>
        <a:graphic>
          <a:graphicData uri="http://schemas.openxmlformats.org/drawingml/2006/table">
            <a:tbl>
              <a:tblPr firstRow="1" firstCol="1" bandRow="1">
                <a:tableStyleId>{5DA37D80-6434-44D0-A028-1B22A696006F}</a:tableStyleId>
              </a:tblPr>
              <a:tblGrid>
                <a:gridCol w="1511048">
                  <a:extLst>
                    <a:ext uri="{9D8B030D-6E8A-4147-A177-3AD203B41FA5}">
                      <a16:colId xmlns:a16="http://schemas.microsoft.com/office/drawing/2014/main" val="3974320786"/>
                    </a:ext>
                  </a:extLst>
                </a:gridCol>
                <a:gridCol w="1369840">
                  <a:extLst>
                    <a:ext uri="{9D8B030D-6E8A-4147-A177-3AD203B41FA5}">
                      <a16:colId xmlns:a16="http://schemas.microsoft.com/office/drawing/2014/main" val="333127065"/>
                    </a:ext>
                  </a:extLst>
                </a:gridCol>
                <a:gridCol w="1337178">
                  <a:extLst>
                    <a:ext uri="{9D8B030D-6E8A-4147-A177-3AD203B41FA5}">
                      <a16:colId xmlns:a16="http://schemas.microsoft.com/office/drawing/2014/main" val="842327613"/>
                    </a:ext>
                  </a:extLst>
                </a:gridCol>
                <a:gridCol w="1337178">
                  <a:extLst>
                    <a:ext uri="{9D8B030D-6E8A-4147-A177-3AD203B41FA5}">
                      <a16:colId xmlns:a16="http://schemas.microsoft.com/office/drawing/2014/main" val="4238775899"/>
                    </a:ext>
                  </a:extLst>
                </a:gridCol>
                <a:gridCol w="1337178">
                  <a:extLst>
                    <a:ext uri="{9D8B030D-6E8A-4147-A177-3AD203B41FA5}">
                      <a16:colId xmlns:a16="http://schemas.microsoft.com/office/drawing/2014/main" val="2551427598"/>
                    </a:ext>
                  </a:extLst>
                </a:gridCol>
                <a:gridCol w="1337178">
                  <a:extLst>
                    <a:ext uri="{9D8B030D-6E8A-4147-A177-3AD203B41FA5}">
                      <a16:colId xmlns:a16="http://schemas.microsoft.com/office/drawing/2014/main" val="2069811082"/>
                    </a:ext>
                  </a:extLst>
                </a:gridCol>
              </a:tblGrid>
              <a:tr h="332509">
                <a:tc>
                  <a:txBody>
                    <a:bodyPr/>
                    <a:lstStyle/>
                    <a:p>
                      <a:pPr algn="just">
                        <a:lnSpc>
                          <a:spcPct val="115000"/>
                        </a:lnSpc>
                        <a:spcAft>
                          <a:spcPts val="0"/>
                        </a:spcAft>
                      </a:pPr>
                      <a:r>
                        <a:rPr lang="en-GB" sz="1200" dirty="0">
                          <a:effectLst/>
                        </a:rPr>
                        <a:t>Author (Year)</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Model/Approach</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Dataset Size</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Accuracy (%)</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dirty="0">
                          <a:effectLst/>
                        </a:rPr>
                        <a:t>Explainability (XAI)</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dirty="0">
                          <a:effectLst/>
                        </a:rPr>
                        <a:t>Key Limitations</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4150279061"/>
                  </a:ext>
                </a:extLst>
              </a:tr>
              <a:tr h="997526">
                <a:tc>
                  <a:txBody>
                    <a:bodyPr/>
                    <a:lstStyle/>
                    <a:p>
                      <a:pPr algn="just">
                        <a:lnSpc>
                          <a:spcPct val="115000"/>
                        </a:lnSpc>
                        <a:spcAft>
                          <a:spcPts val="0"/>
                        </a:spcAft>
                      </a:pPr>
                      <a:r>
                        <a:rPr lang="en-GB" sz="1200" b="0" dirty="0">
                          <a:effectLst/>
                        </a:rPr>
                        <a:t>Zhang et al. </a:t>
                      </a:r>
                      <a:r>
                        <a:rPr lang="en-GB" sz="1200" b="0" dirty="0" smtClean="0">
                          <a:effectLst/>
                        </a:rPr>
                        <a:t>[1] </a:t>
                      </a:r>
                      <a:r>
                        <a:rPr lang="en-GB" sz="1200" b="0" dirty="0">
                          <a:effectLst/>
                        </a:rPr>
                        <a:t>(2018)</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dirty="0">
                          <a:effectLst/>
                        </a:rPr>
                        <a:t>VGG16 (Transfer Learning)</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Small</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~96.0</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l">
                        <a:lnSpc>
                          <a:spcPct val="115000"/>
                        </a:lnSpc>
                        <a:spcAft>
                          <a:spcPts val="0"/>
                        </a:spcAft>
                      </a:pPr>
                      <a:r>
                        <a:rPr lang="en-GB" sz="1200" dirty="0">
                          <a:effectLst/>
                        </a:rPr>
                        <a:t>Lower precision for pituitary </a:t>
                      </a:r>
                      <a:r>
                        <a:rPr lang="en-GB" sz="1200" dirty="0" smtClean="0">
                          <a:effectLst/>
                        </a:rPr>
                        <a:t>tumours; </a:t>
                      </a:r>
                      <a:r>
                        <a:rPr lang="en-GB" sz="1200" dirty="0">
                          <a:effectLst/>
                        </a:rPr>
                        <a:t>no explainability</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1315780709"/>
                  </a:ext>
                </a:extLst>
              </a:tr>
              <a:tr h="831273">
                <a:tc>
                  <a:txBody>
                    <a:bodyPr/>
                    <a:lstStyle/>
                    <a:p>
                      <a:pPr algn="just">
                        <a:lnSpc>
                          <a:spcPct val="115000"/>
                        </a:lnSpc>
                        <a:spcAft>
                          <a:spcPts val="0"/>
                        </a:spcAft>
                      </a:pPr>
                      <a:r>
                        <a:rPr lang="en-GB" sz="1200" b="0" dirty="0">
                          <a:effectLst/>
                        </a:rPr>
                        <a:t>Abdel-Basset et al</a:t>
                      </a:r>
                      <a:r>
                        <a:rPr lang="en-GB" sz="1200" b="0" dirty="0" smtClean="0">
                          <a:effectLst/>
                        </a:rPr>
                        <a:t>.[2] </a:t>
                      </a:r>
                      <a:r>
                        <a:rPr lang="en-GB" sz="1200" b="0" dirty="0">
                          <a:effectLst/>
                        </a:rPr>
                        <a:t>(2020)</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CNN + Handcrafted Features</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Smaller than proposed</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~98.0</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l">
                        <a:lnSpc>
                          <a:spcPct val="115000"/>
                        </a:lnSpc>
                        <a:spcAft>
                          <a:spcPts val="0"/>
                        </a:spcAft>
                      </a:pPr>
                      <a:r>
                        <a:rPr lang="en-GB" sz="1200" dirty="0">
                          <a:effectLst/>
                        </a:rPr>
                        <a:t>Large model size; high complexity; no XAI</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1016656532"/>
                  </a:ext>
                </a:extLst>
              </a:tr>
              <a:tr h="997526">
                <a:tc>
                  <a:txBody>
                    <a:bodyPr/>
                    <a:lstStyle/>
                    <a:p>
                      <a:pPr algn="just">
                        <a:lnSpc>
                          <a:spcPct val="115000"/>
                        </a:lnSpc>
                        <a:spcAft>
                          <a:spcPts val="0"/>
                        </a:spcAft>
                      </a:pPr>
                      <a:r>
                        <a:rPr lang="en-GB" sz="1200" b="0" dirty="0">
                          <a:effectLst/>
                        </a:rPr>
                        <a:t>Chowdhury et al</a:t>
                      </a:r>
                      <a:r>
                        <a:rPr lang="en-GB" sz="1200" b="0" dirty="0" smtClean="0">
                          <a:effectLst/>
                        </a:rPr>
                        <a:t>.[3] </a:t>
                      </a:r>
                      <a:r>
                        <a:rPr lang="en-GB" sz="1200" b="0" dirty="0">
                          <a:effectLst/>
                        </a:rPr>
                        <a:t>(2021)</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CNN-LSTM Hybrid</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Limited diversity </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97.9</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l">
                        <a:lnSpc>
                          <a:spcPct val="115000"/>
                        </a:lnSpc>
                        <a:spcAft>
                          <a:spcPts val="0"/>
                        </a:spcAft>
                      </a:pPr>
                      <a:r>
                        <a:rPr lang="en-GB" sz="1200" dirty="0">
                          <a:effectLst/>
                        </a:rPr>
                        <a:t>Increased training time; unnecessary model complexity</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1216110085"/>
                  </a:ext>
                </a:extLst>
              </a:tr>
              <a:tr h="665018">
                <a:tc>
                  <a:txBody>
                    <a:bodyPr/>
                    <a:lstStyle/>
                    <a:p>
                      <a:pPr algn="just">
                        <a:lnSpc>
                          <a:spcPct val="115000"/>
                        </a:lnSpc>
                        <a:spcAft>
                          <a:spcPts val="0"/>
                        </a:spcAft>
                      </a:pPr>
                      <a:r>
                        <a:rPr lang="en-GB" sz="1200" b="0" dirty="0">
                          <a:effectLst/>
                        </a:rPr>
                        <a:t>Patel et al</a:t>
                      </a:r>
                      <a:r>
                        <a:rPr lang="en-GB" sz="1200" b="0" dirty="0" smtClean="0">
                          <a:effectLst/>
                        </a:rPr>
                        <a:t>.[4] </a:t>
                      </a:r>
                      <a:r>
                        <a:rPr lang="en-GB" sz="1200" b="0" dirty="0">
                          <a:effectLst/>
                        </a:rPr>
                        <a:t>(2020)</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Attention-based CNN</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Small</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98.2</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l">
                        <a:lnSpc>
                          <a:spcPct val="115000"/>
                        </a:lnSpc>
                        <a:spcAft>
                          <a:spcPts val="0"/>
                        </a:spcAft>
                      </a:pPr>
                      <a:r>
                        <a:rPr lang="en-GB" sz="1200" dirty="0">
                          <a:effectLst/>
                        </a:rPr>
                        <a:t>Lack of visual interpretability</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3391335545"/>
                  </a:ext>
                </a:extLst>
              </a:tr>
              <a:tr h="671948">
                <a:tc>
                  <a:txBody>
                    <a:bodyPr/>
                    <a:lstStyle/>
                    <a:p>
                      <a:pPr algn="just">
                        <a:lnSpc>
                          <a:spcPct val="115000"/>
                        </a:lnSpc>
                        <a:spcAft>
                          <a:spcPts val="0"/>
                        </a:spcAft>
                      </a:pPr>
                      <a:r>
                        <a:rPr lang="en-GB" sz="1200" b="0" dirty="0">
                          <a:effectLst/>
                        </a:rPr>
                        <a:t>Sharma et al</a:t>
                      </a:r>
                      <a:r>
                        <a:rPr lang="en-GB" sz="1200" b="0" dirty="0" smtClean="0">
                          <a:effectLst/>
                        </a:rPr>
                        <a:t>.[5] </a:t>
                      </a:r>
                      <a:r>
                        <a:rPr lang="en-GB" sz="1200" b="0" dirty="0">
                          <a:effectLst/>
                        </a:rPr>
                        <a:t>(2020)</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dirty="0">
                          <a:effectLst/>
                        </a:rPr>
                        <a:t>ResNet50, InceptionV3, CNN</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Moderate</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~98.5 (ResNet50)</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l">
                        <a:lnSpc>
                          <a:spcPct val="115000"/>
                        </a:lnSpc>
                        <a:spcAft>
                          <a:spcPts val="0"/>
                        </a:spcAft>
                      </a:pPr>
                      <a:r>
                        <a:rPr lang="en-GB" sz="1200" dirty="0">
                          <a:effectLst/>
                        </a:rPr>
                        <a:t>Poor performance on small classes; no XAI</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2195323899"/>
                  </a:ext>
                </a:extLst>
              </a:tr>
              <a:tr h="831273">
                <a:tc>
                  <a:txBody>
                    <a:bodyPr/>
                    <a:lstStyle/>
                    <a:p>
                      <a:pPr algn="just">
                        <a:lnSpc>
                          <a:spcPct val="115000"/>
                        </a:lnSpc>
                        <a:spcAft>
                          <a:spcPts val="0"/>
                        </a:spcAft>
                      </a:pPr>
                      <a:r>
                        <a:rPr lang="en-GB" sz="1200" b="0" dirty="0">
                          <a:effectLst/>
                        </a:rPr>
                        <a:t>Haque &amp; </a:t>
                      </a:r>
                      <a:r>
                        <a:rPr lang="en-GB" sz="1200" b="0" dirty="0" smtClean="0">
                          <a:effectLst/>
                        </a:rPr>
                        <a:t>Islam.[6] </a:t>
                      </a:r>
                      <a:r>
                        <a:rPr lang="en-GB" sz="1200" b="0" dirty="0">
                          <a:effectLst/>
                        </a:rPr>
                        <a:t>(2021)</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dirty="0">
                          <a:effectLst/>
                        </a:rPr>
                        <a:t>VGG16 (No fine-tuning)</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Small</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~98.5</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tc>
                  <a:txBody>
                    <a:bodyPr/>
                    <a:lstStyle/>
                    <a:p>
                      <a:pPr algn="l">
                        <a:lnSpc>
                          <a:spcPct val="115000"/>
                        </a:lnSpc>
                        <a:spcAft>
                          <a:spcPts val="0"/>
                        </a:spcAft>
                      </a:pPr>
                      <a:r>
                        <a:rPr lang="en-GB" sz="1200" dirty="0">
                          <a:effectLst/>
                        </a:rPr>
                        <a:t>No Grad-CAM; limited augmentation</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4723" marR="44723" marT="0" marB="0"/>
                </a:tc>
                <a:extLst>
                  <a:ext uri="{0D108BD9-81ED-4DB2-BD59-A6C34878D82A}">
                    <a16:rowId xmlns:a16="http://schemas.microsoft.com/office/drawing/2014/main" val="3240691495"/>
                  </a:ext>
                </a:extLst>
              </a:tr>
            </a:tbl>
          </a:graphicData>
        </a:graphic>
      </p:graphicFrame>
    </p:spTree>
    <p:extLst>
      <p:ext uri="{BB962C8B-B14F-4D97-AF65-F5344CB8AC3E}">
        <p14:creationId xmlns:p14="http://schemas.microsoft.com/office/powerpoint/2010/main" val="3245787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lstStyle/>
          <a:p>
            <a:r>
              <a:rPr lang="en-US" sz="2000" b="1" dirty="0" smtClean="0">
                <a:latin typeface="Times New Roman" panose="02020603050405020304" pitchFamily="18" charset="0"/>
                <a:cs typeface="Times New Roman" panose="02020603050405020304" pitchFamily="18" charset="0"/>
              </a:rPr>
              <a:t>Comparative Analysis</a:t>
            </a:r>
            <a:endParaRPr lang="en-GB" sz="2000" b="1"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461439774"/>
              </p:ext>
            </p:extLst>
          </p:nvPr>
        </p:nvGraphicFramePr>
        <p:xfrm>
          <a:off x="533398" y="990601"/>
          <a:ext cx="8153403" cy="5418902"/>
        </p:xfrm>
        <a:graphic>
          <a:graphicData uri="http://schemas.openxmlformats.org/drawingml/2006/table">
            <a:tbl>
              <a:tblPr firstRow="1" firstCol="1" bandRow="1">
                <a:tableStyleId>{5DA37D80-6434-44D0-A028-1B22A696006F}</a:tableStyleId>
              </a:tblPr>
              <a:tblGrid>
                <a:gridCol w="1497059">
                  <a:extLst>
                    <a:ext uri="{9D8B030D-6E8A-4147-A177-3AD203B41FA5}">
                      <a16:colId xmlns:a16="http://schemas.microsoft.com/office/drawing/2014/main" val="3000047228"/>
                    </a:ext>
                  </a:extLst>
                </a:gridCol>
                <a:gridCol w="1357156">
                  <a:extLst>
                    <a:ext uri="{9D8B030D-6E8A-4147-A177-3AD203B41FA5}">
                      <a16:colId xmlns:a16="http://schemas.microsoft.com/office/drawing/2014/main" val="3386293377"/>
                    </a:ext>
                  </a:extLst>
                </a:gridCol>
                <a:gridCol w="1324797">
                  <a:extLst>
                    <a:ext uri="{9D8B030D-6E8A-4147-A177-3AD203B41FA5}">
                      <a16:colId xmlns:a16="http://schemas.microsoft.com/office/drawing/2014/main" val="3938740430"/>
                    </a:ext>
                  </a:extLst>
                </a:gridCol>
                <a:gridCol w="1324797">
                  <a:extLst>
                    <a:ext uri="{9D8B030D-6E8A-4147-A177-3AD203B41FA5}">
                      <a16:colId xmlns:a16="http://schemas.microsoft.com/office/drawing/2014/main" val="4029306295"/>
                    </a:ext>
                  </a:extLst>
                </a:gridCol>
                <a:gridCol w="1324797">
                  <a:extLst>
                    <a:ext uri="{9D8B030D-6E8A-4147-A177-3AD203B41FA5}">
                      <a16:colId xmlns:a16="http://schemas.microsoft.com/office/drawing/2014/main" val="539621482"/>
                    </a:ext>
                  </a:extLst>
                </a:gridCol>
                <a:gridCol w="1324797">
                  <a:extLst>
                    <a:ext uri="{9D8B030D-6E8A-4147-A177-3AD203B41FA5}">
                      <a16:colId xmlns:a16="http://schemas.microsoft.com/office/drawing/2014/main" val="614730432"/>
                    </a:ext>
                  </a:extLst>
                </a:gridCol>
              </a:tblGrid>
              <a:tr h="794258">
                <a:tc>
                  <a:txBody>
                    <a:bodyPr/>
                    <a:lstStyle/>
                    <a:p>
                      <a:pPr algn="just">
                        <a:lnSpc>
                          <a:spcPct val="115000"/>
                        </a:lnSpc>
                        <a:spcAft>
                          <a:spcPts val="0"/>
                        </a:spcAft>
                      </a:pPr>
                      <a:r>
                        <a:rPr lang="en-GB" sz="1200" b="0" dirty="0">
                          <a:effectLst/>
                        </a:rPr>
                        <a:t>Jain et al</a:t>
                      </a:r>
                      <a:r>
                        <a:rPr lang="en-GB" sz="1200" b="0" dirty="0" smtClean="0">
                          <a:effectLst/>
                        </a:rPr>
                        <a:t>.[7] </a:t>
                      </a:r>
                      <a:r>
                        <a:rPr lang="en-GB" sz="1200" b="0" dirty="0">
                          <a:effectLst/>
                        </a:rPr>
                        <a:t>(2020)</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0" dirty="0">
                          <a:effectLst/>
                        </a:rPr>
                        <a:t>Custom CNN + Augmentation</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0" dirty="0">
                          <a:effectLst/>
                        </a:rPr>
                        <a:t>Limited</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0" dirty="0">
                          <a:effectLst/>
                        </a:rPr>
                        <a:t>96.8</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0" dirty="0">
                          <a:effectLst/>
                        </a:rPr>
                        <a:t>No</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0" dirty="0">
                          <a:effectLst/>
                        </a:rPr>
                        <a:t>Overfitting; class-wise recall imbalance</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extLst>
                  <a:ext uri="{0D108BD9-81ED-4DB2-BD59-A6C34878D82A}">
                    <a16:rowId xmlns:a16="http://schemas.microsoft.com/office/drawing/2014/main" val="1579315148"/>
                  </a:ext>
                </a:extLst>
              </a:tr>
              <a:tr h="840693">
                <a:tc>
                  <a:txBody>
                    <a:bodyPr/>
                    <a:lstStyle/>
                    <a:p>
                      <a:pPr algn="just">
                        <a:lnSpc>
                          <a:spcPct val="115000"/>
                        </a:lnSpc>
                        <a:spcAft>
                          <a:spcPts val="0"/>
                        </a:spcAft>
                      </a:pPr>
                      <a:r>
                        <a:rPr lang="en-GB" sz="1200" b="0" dirty="0">
                          <a:effectLst/>
                        </a:rPr>
                        <a:t>Kaur et al</a:t>
                      </a:r>
                      <a:r>
                        <a:rPr lang="en-GB" sz="1200" b="0" dirty="0" smtClean="0">
                          <a:effectLst/>
                        </a:rPr>
                        <a:t>.[8] </a:t>
                      </a:r>
                      <a:r>
                        <a:rPr lang="en-GB" sz="1200" b="0" dirty="0">
                          <a:effectLst/>
                        </a:rPr>
                        <a:t>(2021)</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ResNet50, DenseNet121, MobileNetV2</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Moderate</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98.1</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l">
                        <a:lnSpc>
                          <a:spcPct val="115000"/>
                        </a:lnSpc>
                        <a:spcAft>
                          <a:spcPts val="0"/>
                        </a:spcAft>
                      </a:pPr>
                      <a:r>
                        <a:rPr lang="en-GB" sz="1200" dirty="0">
                          <a:effectLst/>
                        </a:rPr>
                        <a:t>No explainability despite high accuracy</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extLst>
                  <a:ext uri="{0D108BD9-81ED-4DB2-BD59-A6C34878D82A}">
                    <a16:rowId xmlns:a16="http://schemas.microsoft.com/office/drawing/2014/main" val="3288184049"/>
                  </a:ext>
                </a:extLst>
              </a:tr>
              <a:tr h="1008832">
                <a:tc>
                  <a:txBody>
                    <a:bodyPr/>
                    <a:lstStyle/>
                    <a:p>
                      <a:pPr algn="l">
                        <a:lnSpc>
                          <a:spcPct val="115000"/>
                        </a:lnSpc>
                        <a:spcAft>
                          <a:spcPts val="0"/>
                        </a:spcAft>
                      </a:pPr>
                      <a:r>
                        <a:rPr lang="en-GB" sz="1200" b="0" dirty="0">
                          <a:effectLst/>
                        </a:rPr>
                        <a:t>Patel &amp; </a:t>
                      </a:r>
                      <a:r>
                        <a:rPr lang="en-GB" sz="1200" b="0" dirty="0" smtClean="0">
                          <a:effectLst/>
                        </a:rPr>
                        <a:t>Shah.[9] </a:t>
                      </a:r>
                      <a:r>
                        <a:rPr lang="en-GB" sz="1200" b="0" dirty="0">
                          <a:effectLst/>
                        </a:rPr>
                        <a:t>(2019)</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InceptionV3</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Small</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97.9</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l">
                        <a:lnSpc>
                          <a:spcPct val="115000"/>
                        </a:lnSpc>
                        <a:spcAft>
                          <a:spcPts val="0"/>
                        </a:spcAft>
                      </a:pPr>
                      <a:r>
                        <a:rPr lang="en-GB" sz="1200" dirty="0">
                          <a:effectLst/>
                        </a:rPr>
                        <a:t>High complexity; unsuitable for low resource setting</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extLst>
                  <a:ext uri="{0D108BD9-81ED-4DB2-BD59-A6C34878D82A}">
                    <a16:rowId xmlns:a16="http://schemas.microsoft.com/office/drawing/2014/main" val="2590319297"/>
                  </a:ext>
                </a:extLst>
              </a:tr>
              <a:tr h="840693">
                <a:tc>
                  <a:txBody>
                    <a:bodyPr/>
                    <a:lstStyle/>
                    <a:p>
                      <a:pPr algn="just">
                        <a:lnSpc>
                          <a:spcPct val="115000"/>
                        </a:lnSpc>
                        <a:spcAft>
                          <a:spcPts val="0"/>
                        </a:spcAft>
                      </a:pPr>
                      <a:r>
                        <a:rPr lang="en-GB" sz="1200" b="0" dirty="0">
                          <a:effectLst/>
                        </a:rPr>
                        <a:t>Roy et al</a:t>
                      </a:r>
                      <a:r>
                        <a:rPr lang="en-GB" sz="1200" b="0" dirty="0" smtClean="0">
                          <a:effectLst/>
                        </a:rPr>
                        <a:t>.[10] </a:t>
                      </a:r>
                      <a:r>
                        <a:rPr lang="en-GB" sz="1200" b="0" dirty="0">
                          <a:effectLst/>
                        </a:rPr>
                        <a:t>(2021)</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Feature Fusion + ML</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Imbalanced</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~98.0</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l">
                        <a:lnSpc>
                          <a:spcPct val="115000"/>
                        </a:lnSpc>
                        <a:spcAft>
                          <a:spcPts val="0"/>
                        </a:spcAft>
                      </a:pPr>
                      <a:r>
                        <a:rPr lang="en-GB" sz="1200" dirty="0">
                          <a:effectLst/>
                        </a:rPr>
                        <a:t>Poor generalization to all </a:t>
                      </a:r>
                      <a:r>
                        <a:rPr lang="en-GB" sz="1200" dirty="0" smtClean="0">
                          <a:effectLst/>
                        </a:rPr>
                        <a:t>tumour </a:t>
                      </a:r>
                      <a:r>
                        <a:rPr lang="en-GB" sz="1200" dirty="0">
                          <a:effectLst/>
                        </a:rPr>
                        <a:t>classes</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extLst>
                  <a:ext uri="{0D108BD9-81ED-4DB2-BD59-A6C34878D82A}">
                    <a16:rowId xmlns:a16="http://schemas.microsoft.com/office/drawing/2014/main" val="3949401659"/>
                  </a:ext>
                </a:extLst>
              </a:tr>
              <a:tr h="672554">
                <a:tc>
                  <a:txBody>
                    <a:bodyPr/>
                    <a:lstStyle/>
                    <a:p>
                      <a:pPr algn="l">
                        <a:lnSpc>
                          <a:spcPct val="115000"/>
                        </a:lnSpc>
                        <a:spcAft>
                          <a:spcPts val="0"/>
                        </a:spcAft>
                      </a:pPr>
                      <a:r>
                        <a:rPr lang="en-GB" sz="1200" b="0" dirty="0">
                          <a:effectLst/>
                        </a:rPr>
                        <a:t>Verma et al</a:t>
                      </a:r>
                      <a:r>
                        <a:rPr lang="en-GB" sz="1200" b="0" dirty="0" smtClean="0">
                          <a:effectLst/>
                        </a:rPr>
                        <a:t>.[11] </a:t>
                      </a:r>
                      <a:r>
                        <a:rPr lang="en-GB" sz="1200" b="0" dirty="0">
                          <a:effectLst/>
                        </a:rPr>
                        <a:t>(2022)</a:t>
                      </a:r>
                      <a:endParaRPr lang="en-GB" sz="12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Cascaded CNN</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Moderate</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98.3</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a:effectLst/>
                        </a:rPr>
                        <a:t>No</a:t>
                      </a:r>
                      <a:endParaRPr lang="en-GB" sz="120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l">
                        <a:lnSpc>
                          <a:spcPct val="115000"/>
                        </a:lnSpc>
                        <a:spcAft>
                          <a:spcPts val="0"/>
                        </a:spcAft>
                      </a:pPr>
                      <a:r>
                        <a:rPr lang="en-GB" sz="1200" dirty="0">
                          <a:effectLst/>
                        </a:rPr>
                        <a:t>High computational cost; no XAI</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extLst>
                  <a:ext uri="{0D108BD9-81ED-4DB2-BD59-A6C34878D82A}">
                    <a16:rowId xmlns:a16="http://schemas.microsoft.com/office/drawing/2014/main" val="1984919894"/>
                  </a:ext>
                </a:extLst>
              </a:tr>
              <a:tr h="1176970">
                <a:tc>
                  <a:txBody>
                    <a:bodyPr/>
                    <a:lstStyle/>
                    <a:p>
                      <a:pPr algn="just">
                        <a:lnSpc>
                          <a:spcPct val="115000"/>
                        </a:lnSpc>
                        <a:spcAft>
                          <a:spcPts val="0"/>
                        </a:spcAft>
                      </a:pPr>
                      <a:r>
                        <a:rPr lang="en-GB" sz="1200" dirty="0">
                          <a:effectLst/>
                        </a:rPr>
                        <a:t>Proposed </a:t>
                      </a:r>
                      <a:r>
                        <a:rPr lang="en-GB" sz="1200" dirty="0" smtClean="0">
                          <a:effectLst/>
                        </a:rPr>
                        <a:t>Model</a:t>
                      </a:r>
                      <a:endParaRPr lang="en-GB" sz="12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l">
                        <a:lnSpc>
                          <a:spcPct val="115000"/>
                        </a:lnSpc>
                        <a:spcAft>
                          <a:spcPts val="0"/>
                        </a:spcAft>
                      </a:pPr>
                      <a:r>
                        <a:rPr lang="en-GB" sz="1200" b="1" dirty="0">
                          <a:effectLst/>
                        </a:rPr>
                        <a:t>VGG16 + Selective Fine-Tuning + Grad-CAM</a:t>
                      </a:r>
                      <a:endParaRPr lang="en-GB" sz="12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1" dirty="0">
                          <a:effectLst/>
                        </a:rPr>
                        <a:t>1311 images</a:t>
                      </a:r>
                      <a:endParaRPr lang="en-GB" sz="12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1" dirty="0">
                          <a:effectLst/>
                        </a:rPr>
                        <a:t>99.0</a:t>
                      </a:r>
                      <a:endParaRPr lang="en-GB" sz="12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just">
                        <a:lnSpc>
                          <a:spcPct val="115000"/>
                        </a:lnSpc>
                        <a:spcAft>
                          <a:spcPts val="0"/>
                        </a:spcAft>
                      </a:pPr>
                      <a:r>
                        <a:rPr lang="en-GB" sz="1200" b="1" dirty="0">
                          <a:effectLst/>
                        </a:rPr>
                        <a:t>Yes</a:t>
                      </a:r>
                      <a:endParaRPr lang="en-GB" sz="12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tc>
                  <a:txBody>
                    <a:bodyPr/>
                    <a:lstStyle/>
                    <a:p>
                      <a:pPr algn="l">
                        <a:lnSpc>
                          <a:spcPct val="115000"/>
                        </a:lnSpc>
                        <a:spcAft>
                          <a:spcPts val="0"/>
                        </a:spcAft>
                      </a:pPr>
                      <a:r>
                        <a:rPr lang="en-GB" sz="1200" b="1" dirty="0">
                          <a:effectLst/>
                        </a:rPr>
                        <a:t>None significant; balanced performance with interpretability</a:t>
                      </a:r>
                      <a:endParaRPr lang="en-GB" sz="12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7608" marR="47608" marT="0" marB="0"/>
                </a:tc>
                <a:extLst>
                  <a:ext uri="{0D108BD9-81ED-4DB2-BD59-A6C34878D82A}">
                    <a16:rowId xmlns:a16="http://schemas.microsoft.com/office/drawing/2014/main" val="2791520388"/>
                  </a:ext>
                </a:extLst>
              </a:tr>
            </a:tbl>
          </a:graphicData>
        </a:graphic>
      </p:graphicFrame>
    </p:spTree>
    <p:extLst>
      <p:ext uri="{BB962C8B-B14F-4D97-AF65-F5344CB8AC3E}">
        <p14:creationId xmlns:p14="http://schemas.microsoft.com/office/powerpoint/2010/main" val="266589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43205" y="533400"/>
            <a:ext cx="8672195" cy="5847755"/>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Conclusion and future </a:t>
            </a:r>
            <a:r>
              <a:rPr lang="en-US" sz="2000" b="1" dirty="0" smtClean="0">
                <a:latin typeface="Times New Roman" pitchFamily="18" charset="0"/>
                <a:cs typeface="Times New Roman" pitchFamily="18" charset="0"/>
              </a:rPr>
              <a:t>works</a:t>
            </a:r>
          </a:p>
          <a:p>
            <a:pPr algn="ctr"/>
            <a:endParaRPr lang="en-US" sz="2000" b="1" dirty="0">
              <a:latin typeface="Times New Roman" pitchFamily="18" charset="0"/>
              <a:cs typeface="Times New Roman" pitchFamily="18" charset="0"/>
            </a:endParaRPr>
          </a:p>
          <a:p>
            <a:pPr algn="ctr"/>
            <a:endParaRPr lang="en-US" sz="2000" b="1" dirty="0">
              <a:latin typeface="Times New Roman" pitchFamily="18" charset="0"/>
              <a:cs typeface="Times New Roman" pitchFamily="18" charset="0"/>
            </a:endParaRPr>
          </a:p>
          <a:p>
            <a:r>
              <a:rPr lang="en-US" altLang="en-US" sz="2000" b="1" dirty="0" smtClean="0">
                <a:latin typeface="Times New Roman" panose="02020603050405020304" pitchFamily="18" charset="0"/>
                <a:cs typeface="Times New Roman" panose="02020603050405020304" pitchFamily="18" charset="0"/>
              </a:rPr>
              <a:t>Conclusion:</a:t>
            </a:r>
          </a:p>
          <a:p>
            <a:endParaRPr lang="en-US" altLang="en-US" sz="2000" b="1" dirty="0">
              <a:latin typeface="Times New Roman" panose="02020603050405020304" pitchFamily="18" charset="0"/>
              <a:cs typeface="Times New Roman" panose="02020603050405020304" pitchFamily="18" charset="0"/>
            </a:endParaRPr>
          </a:p>
          <a:p>
            <a:r>
              <a:rPr lang="en-US" altLang="en-US" dirty="0">
                <a:latin typeface="Times New Roman" pitchFamily="18" charset="0"/>
                <a:cs typeface="Times New Roman" pitchFamily="18" charset="0"/>
              </a:rPr>
              <a:t>This study presents an automated multiclass brain tumor classification system using MRI images based on VGG16 transfer learning and Explainable AI. The proposed model achieves high classification accuracy and good generalization performance. The use of Grad-CAM provides visual interpretability, reducing the black-box limitation and increasing clinical trust. Overall, the system offers an accurate and explainable solution to assist radiologists in early diagnosis and decision-making</a:t>
            </a:r>
            <a:r>
              <a:rPr lang="en-US" altLang="en-US" dirty="0" smtClean="0">
                <a:latin typeface="Times New Roman" pitchFamily="18" charset="0"/>
                <a:cs typeface="Times New Roman" pitchFamily="18" charset="0"/>
              </a:rPr>
              <a:t>.</a:t>
            </a:r>
          </a:p>
          <a:p>
            <a:endParaRPr lang="en-US" altLang="en-US" dirty="0">
              <a:latin typeface="Times New Roman" pitchFamily="18" charset="0"/>
              <a:cs typeface="Times New Roman" pitchFamily="18" charset="0"/>
            </a:endParaRPr>
          </a:p>
          <a:p>
            <a:endParaRPr lang="en-US" altLang="en-US" dirty="0"/>
          </a:p>
          <a:p>
            <a:r>
              <a:rPr lang="en-US" altLang="en-US" sz="2000" b="1" dirty="0">
                <a:latin typeface="Times New Roman" panose="02020603050405020304" pitchFamily="18" charset="0"/>
                <a:cs typeface="Times New Roman" panose="02020603050405020304" pitchFamily="18" charset="0"/>
              </a:rPr>
              <a:t>Future Work</a:t>
            </a:r>
            <a:r>
              <a:rPr lang="en-US" altLang="en-US" sz="2000" b="1" dirty="0" smtClean="0">
                <a:latin typeface="Times New Roman" panose="02020603050405020304" pitchFamily="18" charset="0"/>
                <a:cs typeface="Times New Roman" panose="02020603050405020304" pitchFamily="18" charset="0"/>
              </a:rPr>
              <a:t>:</a:t>
            </a:r>
          </a:p>
          <a:p>
            <a:endParaRPr lang="en-US" alt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itchFamily="18" charset="0"/>
                <a:cs typeface="Times New Roman" pitchFamily="18" charset="0"/>
              </a:rPr>
              <a:t>Use larger and more diverse </a:t>
            </a:r>
            <a:r>
              <a:rPr lang="en-US" altLang="en-US" dirty="0" smtClean="0">
                <a:latin typeface="Times New Roman" pitchFamily="18" charset="0"/>
                <a:cs typeface="Times New Roman" pitchFamily="18" charset="0"/>
              </a:rPr>
              <a:t>datasets.</a:t>
            </a:r>
          </a:p>
          <a:p>
            <a:pPr marL="285750" indent="-285750">
              <a:buFont typeface="Arial" panose="020B0604020202020204" pitchFamily="34" charset="0"/>
              <a:buChar char="•"/>
            </a:pPr>
            <a:r>
              <a:rPr lang="en-US" altLang="en-US" dirty="0" smtClean="0">
                <a:latin typeface="Times New Roman" pitchFamily="18" charset="0"/>
                <a:cs typeface="Times New Roman" pitchFamily="18" charset="0"/>
              </a:rPr>
              <a:t>Explore </a:t>
            </a:r>
            <a:r>
              <a:rPr lang="en-US" altLang="en-US" dirty="0">
                <a:latin typeface="Times New Roman" pitchFamily="18" charset="0"/>
                <a:cs typeface="Times New Roman" pitchFamily="18" charset="0"/>
              </a:rPr>
              <a:t>advanced models such as ResNet, EfficientNet, and Vision </a:t>
            </a:r>
            <a:r>
              <a:rPr lang="en-US" altLang="en-US" dirty="0" smtClean="0">
                <a:latin typeface="Times New Roman" pitchFamily="18" charset="0"/>
                <a:cs typeface="Times New Roman" pitchFamily="18" charset="0"/>
              </a:rPr>
              <a:t>Transformers.</a:t>
            </a:r>
          </a:p>
          <a:p>
            <a:pPr marL="285750" indent="-285750">
              <a:buFont typeface="Arial" panose="020B0604020202020204" pitchFamily="34" charset="0"/>
              <a:buChar char="•"/>
            </a:pPr>
            <a:r>
              <a:rPr lang="en-US" altLang="en-US" dirty="0" smtClean="0">
                <a:latin typeface="Times New Roman" pitchFamily="18" charset="0"/>
                <a:cs typeface="Times New Roman" pitchFamily="18" charset="0"/>
              </a:rPr>
              <a:t>Incorporate </a:t>
            </a:r>
            <a:r>
              <a:rPr lang="en-US" altLang="en-US" dirty="0">
                <a:latin typeface="Times New Roman" pitchFamily="18" charset="0"/>
                <a:cs typeface="Times New Roman" pitchFamily="18" charset="0"/>
              </a:rPr>
              <a:t>tumor segmentation for precise </a:t>
            </a:r>
            <a:r>
              <a:rPr lang="en-US" altLang="en-US" dirty="0" smtClean="0">
                <a:latin typeface="Times New Roman" pitchFamily="18" charset="0"/>
                <a:cs typeface="Times New Roman" pitchFamily="18" charset="0"/>
              </a:rPr>
              <a:t>localization.</a:t>
            </a:r>
          </a:p>
          <a:p>
            <a:pPr marL="285750" indent="-285750">
              <a:buFont typeface="Arial" panose="020B0604020202020204" pitchFamily="34" charset="0"/>
              <a:buChar char="•"/>
            </a:pPr>
            <a:r>
              <a:rPr lang="en-US" altLang="en-US" dirty="0" smtClean="0">
                <a:latin typeface="Times New Roman" pitchFamily="18" charset="0"/>
                <a:cs typeface="Times New Roman" pitchFamily="18" charset="0"/>
              </a:rPr>
              <a:t>Enable </a:t>
            </a:r>
            <a:r>
              <a:rPr lang="en-US" altLang="en-US" dirty="0">
                <a:latin typeface="Times New Roman" pitchFamily="18" charset="0"/>
                <a:cs typeface="Times New Roman" pitchFamily="18" charset="0"/>
              </a:rPr>
              <a:t>real-time clinical </a:t>
            </a:r>
            <a:r>
              <a:rPr lang="en-US" altLang="en-US" dirty="0" smtClean="0">
                <a:latin typeface="Times New Roman" pitchFamily="18" charset="0"/>
                <a:cs typeface="Times New Roman" pitchFamily="18" charset="0"/>
              </a:rPr>
              <a:t>deployment.</a:t>
            </a:r>
          </a:p>
          <a:p>
            <a:pPr marL="285750" indent="-285750">
              <a:buFont typeface="Arial" panose="020B0604020202020204" pitchFamily="34" charset="0"/>
              <a:buChar char="•"/>
            </a:pPr>
            <a:r>
              <a:rPr lang="en-US" altLang="en-US" dirty="0" smtClean="0">
                <a:latin typeface="Times New Roman" pitchFamily="18" charset="0"/>
                <a:cs typeface="Times New Roman" pitchFamily="18" charset="0"/>
              </a:rPr>
              <a:t>Apply </a:t>
            </a:r>
            <a:r>
              <a:rPr lang="en-US" altLang="en-US" dirty="0">
                <a:latin typeface="Times New Roman" pitchFamily="18" charset="0"/>
                <a:cs typeface="Times New Roman" pitchFamily="18" charset="0"/>
              </a:rPr>
              <a:t>multiple XAI techniques to improve reliability.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6200" y="76201"/>
            <a:ext cx="8969375" cy="6248400"/>
          </a:xfrm>
          <a:prstGeom prst="rect">
            <a:avLst/>
          </a:prstGeom>
          <a:noFill/>
        </p:spPr>
        <p:txBody>
          <a:bodyPr wrap="square" rtlCol="0">
            <a:noAutofit/>
          </a:bodyPr>
          <a:lstStyle/>
          <a:p>
            <a:pPr algn="ctr"/>
            <a:r>
              <a:rPr lang="en-US" altLang="en-US" sz="2000" b="1" dirty="0" smtClean="0">
                <a:latin typeface="Times New Roman" panose="02020603050405020304" pitchFamily="18" charset="0"/>
                <a:cs typeface="Times New Roman" panose="02020603050405020304" pitchFamily="18" charset="0"/>
              </a:rPr>
              <a:t>References</a:t>
            </a:r>
          </a:p>
          <a:p>
            <a:pPr algn="ctr"/>
            <a:endParaRPr lang="en-US" altLang="en-US" sz="2000" b="1" dirty="0" smtClean="0"/>
          </a:p>
          <a:p>
            <a:endParaRPr lang="en-US" altLang="en-US" sz="2000" b="1" dirty="0"/>
          </a:p>
          <a:p>
            <a:r>
              <a:rPr lang="en-US" altLang="en-US"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H. Zhang, X. Wu, and Y. Wang, “Transfer learning for multiclassbrain tumor classification using VGG16 architecture,” Biomedical Signal Processing and Control, vol. 45, pp. 123–130, 2018.</a:t>
            </a:r>
          </a:p>
          <a:p>
            <a:r>
              <a:rPr lang="en-US" dirty="0" smtClean="0">
                <a:latin typeface="Times New Roman" pitchFamily="18" charset="0"/>
                <a:cs typeface="Times New Roman" pitchFamily="18" charset="0"/>
              </a:rPr>
              <a:t> [2] M. Abdel-Basset, G. Manogaran, and A. Mohamed, “Ahybrid CNN- based approach with handcrafted features for brain tumor classification,”IEEE Access, vol. 8, pp. 34567–34578, 2020. </a:t>
            </a:r>
          </a:p>
          <a:p>
            <a:r>
              <a:rPr lang="en-US" dirty="0" smtClean="0">
                <a:latin typeface="Times New Roman" pitchFamily="18" charset="0"/>
                <a:cs typeface="Times New Roman" pitchFamily="18" charset="0"/>
              </a:rPr>
              <a:t>[3] M. Chowdhury, S. Rahman, and T. Kabir, “Multiclass brain tumor MRI classification using CNN-LSTM hybrid architecture,” Computers in Biology and Medicine, vol. 135, pp. 104557, 2021. </a:t>
            </a:r>
          </a:p>
          <a:p>
            <a:r>
              <a:rPr lang="en-US" dirty="0" smtClean="0">
                <a:latin typeface="Times New Roman" pitchFamily="18" charset="0"/>
                <a:cs typeface="Times New Roman" pitchFamily="18" charset="0"/>
              </a:rPr>
              <a:t>[4] N. Patel, S. R. Shah, and P. K. Gupta, “Attention-based deep CNN for multiclass brain tumor classification,” Journal of Medical Systems, vol. 44, no. 3, pp. 60, 2020.</a:t>
            </a:r>
          </a:p>
          <a:p>
            <a:r>
              <a:rPr lang="en-US" dirty="0" smtClean="0">
                <a:latin typeface="Times New Roman" pitchFamily="18" charset="0"/>
                <a:cs typeface="Times New Roman" pitchFamily="18" charset="0"/>
              </a:rPr>
              <a:t>[5] R. Sharma, A. Singh, and M. Kaur, “Comparative study of pretrained CNN models for brain tumor classification,” Computers in Biology and Medicine, vol. 119, pp. 103695, 2020. </a:t>
            </a:r>
          </a:p>
          <a:p>
            <a:r>
              <a:rPr lang="en-US" dirty="0" smtClean="0">
                <a:latin typeface="Times New Roman" pitchFamily="18" charset="0"/>
                <a:cs typeface="Times New Roman" pitchFamily="18" charset="0"/>
              </a:rPr>
              <a:t>[6] S. Haque and A. Islam, “VGG16-based multiclass brain tumor classification without Grad-CAM integration,” International Journal of Imaging Systems and Technology, vol. 31, no. 3, pp. 850–862, 2021.</a:t>
            </a:r>
            <a:endParaRPr lang="en-US" alt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24485" y="248920"/>
            <a:ext cx="8667115" cy="5693866"/>
          </a:xfrm>
          <a:prstGeom prst="rect">
            <a:avLst/>
          </a:prstGeom>
          <a:noFill/>
        </p:spPr>
        <p:txBody>
          <a:bodyPr wrap="square" rtlCol="0">
            <a:spAutoFit/>
          </a:bodyPr>
          <a:lstStyle/>
          <a:p>
            <a:pPr algn="ctr"/>
            <a:r>
              <a:rPr lang="en-US" altLang="en-US" sz="2000" b="1" dirty="0" smtClean="0">
                <a:latin typeface="Times New Roman" panose="02020603050405020304" pitchFamily="18" charset="0"/>
                <a:cs typeface="Times New Roman" panose="02020603050405020304" pitchFamily="18" charset="0"/>
              </a:rPr>
              <a:t>References</a:t>
            </a:r>
          </a:p>
          <a:p>
            <a:pPr algn="ctr"/>
            <a:endParaRPr lang="en-US" altLang="en-US" sz="2000" b="1"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7] P. Jain, R. Verma, and S. Kumar, “Data-augmented custom deep CNN for multiclass brain tumor MRI classification,” IEEE Access, vol. 8, pp. 115432–115443, 2020.</a:t>
            </a:r>
          </a:p>
          <a:p>
            <a:r>
              <a:rPr lang="en-US" dirty="0" smtClean="0">
                <a:latin typeface="Times New Roman" panose="02020603050405020304" pitchFamily="18" charset="0"/>
                <a:cs typeface="Times New Roman" panose="02020603050405020304" pitchFamily="18" charset="0"/>
              </a:rPr>
              <a:t> [8] A. Kaur, N. Arora, and R. Singh, “Evaluation of ResNet50, DenseNet121, and MobileNetV2 for brain tumor MRI classification,”Journal of Biomedical Informatics, vol. 117, pp. 103739, 2021.</a:t>
            </a:r>
          </a:p>
          <a:p>
            <a:r>
              <a:rPr lang="en-US" dirty="0" smtClean="0">
                <a:latin typeface="Times New Roman" panose="02020603050405020304" pitchFamily="18" charset="0"/>
                <a:cs typeface="Times New Roman" panose="02020603050405020304" pitchFamily="18" charset="0"/>
              </a:rPr>
              <a:t> [9] N. Patel and R. Shah, “InceptionV3-based brain tumor classification: Multi-scale feature extraction challenges,” Computers in Biology and Medicine, vol. 112, pp. 103375, 2019.</a:t>
            </a:r>
          </a:p>
          <a:p>
            <a:r>
              <a:rPr lang="en-US" dirty="0" smtClean="0">
                <a:latin typeface="Times New Roman" panose="02020603050405020304" pitchFamily="18" charset="0"/>
                <a:cs typeface="Times New Roman" panose="02020603050405020304" pitchFamily="18" charset="0"/>
              </a:rPr>
              <a:t> [10] S. Roy, M. Ghosh A. Verma, S. Singh, and R. Kaur, “Cascaded CNN model with data augmentation for multiclass brain tumor MRI classification, and D. Banerjee, “Feature-fusion-based classical machine learning for brain tumor classification,” Artificial Intelligence in Medicine, vol. 118, pp. 102096, 2021.</a:t>
            </a:r>
          </a:p>
          <a:p>
            <a:r>
              <a:rPr lang="en-US" dirty="0" smtClean="0">
                <a:latin typeface="Times New Roman" panose="02020603050405020304" pitchFamily="18" charset="0"/>
                <a:cs typeface="Times New Roman" panose="02020603050405020304" pitchFamily="18" charset="0"/>
              </a:rPr>
              <a:t> [11] ] A. Verma, S. Singh, and R. Kaur, “Cascaded CNN model with data augmentation for multiclass brain tumor MRI classification,</a:t>
            </a:r>
          </a:p>
          <a:p>
            <a:r>
              <a:rPr lang="en-US" dirty="0" smtClean="0">
                <a:latin typeface="Times New Roman" panose="02020603050405020304" pitchFamily="18" charset="0"/>
                <a:cs typeface="Times New Roman" panose="02020603050405020304" pitchFamily="18" charset="0"/>
              </a:rPr>
              <a:t>[12] M. Nickparvar, “Brain Tumor MRI Dataset,” Kaggle, 2020.[online]. Available: </a:t>
            </a:r>
            <a:r>
              <a:rPr lang="en-US" dirty="0" smtClean="0">
                <a:latin typeface="Times New Roman" panose="02020603050405020304" pitchFamily="18" charset="0"/>
                <a:cs typeface="Times New Roman" panose="02020603050405020304" pitchFamily="18" charset="0"/>
                <a:hlinkClick r:id="rId2"/>
              </a:rPr>
              <a:t>https://www.kaggle.com/datasets/masoudnickparvar/brain-tumor-mri-dataset</a:t>
            </a:r>
            <a:r>
              <a:rPr lang="en-US" dirty="0" smtClean="0">
                <a:latin typeface="Times New Roman" panose="02020603050405020304" pitchFamily="18" charset="0"/>
                <a:cs typeface="Times New Roman" panose="02020603050405020304" pitchFamily="18" charset="0"/>
              </a:rPr>
              <a:t>. [Accessed: Jan. 24,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90800"/>
            <a:ext cx="8229600" cy="1143000"/>
          </a:xfrm>
        </p:spPr>
        <p:txBody>
          <a:bodyPr/>
          <a:lstStyle/>
          <a:p>
            <a:r>
              <a:rPr lang="en-US" sz="8000" b="1" i="1" dirty="0" smtClean="0">
                <a:latin typeface="French Script MT" panose="03020402040607040605" pitchFamily="66" charset="0"/>
                <a:cs typeface="Times New Roman" panose="02020603050405020304" pitchFamily="18" charset="0"/>
              </a:rPr>
              <a:t>Thank You</a:t>
            </a:r>
            <a:endParaRPr lang="en-GB" sz="8000" b="1" i="1" dirty="0">
              <a:latin typeface="French Script MT" panose="03020402040607040605" pitchFamily="66" charset="0"/>
              <a:cs typeface="Times New Roman" panose="02020603050405020304" pitchFamily="18" charset="0"/>
            </a:endParaRPr>
          </a:p>
        </p:txBody>
      </p:sp>
    </p:spTree>
    <p:extLst>
      <p:ext uri="{BB962C8B-B14F-4D97-AF65-F5344CB8AC3E}">
        <p14:creationId xmlns:p14="http://schemas.microsoft.com/office/powerpoint/2010/main" val="19165097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13*296"/>
  <p:tag name="TABLE_ENDDRAG_RECT" val="61*138*613*296"/>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1006</TotalTime>
  <Words>1710</Words>
  <Application>Microsoft Office PowerPoint</Application>
  <PresentationFormat>On-screen Show (4:3)</PresentationFormat>
  <Paragraphs>362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French Script MT</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Comparative Analysis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Fahim Hossain (ISD/ABL)</cp:lastModifiedBy>
  <cp:revision>115</cp:revision>
  <dcterms:created xsi:type="dcterms:W3CDTF">2026-01-08T08:50:00Z</dcterms:created>
  <dcterms:modified xsi:type="dcterms:W3CDTF">2026-02-02T10:14:30Z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D2CB8BC149C74545BB794A935A31F4B3_13</vt:lpwstr>
  </property>
  <property fmtid="{D5CDD505-2E9C-101B-9397-08002B2CF9AE}" pid="3" name="KSOProductBuildVer">
    <vt:lpwstr>1033-12.2.0.23196</vt:lpwstr>
  </property>
</Properties>
</file>