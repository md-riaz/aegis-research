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62" r:id="rId4"/>
    <p:sldId id="274" r:id="rId5"/>
    <p:sldId id="267" r:id="rId6"/>
    <p:sldId id="273" r:id="rId7"/>
    <p:sldId id="282" r:id="rId8"/>
    <p:sldId id="298" r:id="rId9"/>
    <p:sldId id="283" r:id="rId10"/>
    <p:sldId id="292" r:id="rId11"/>
    <p:sldId id="276" r:id="rId12"/>
    <p:sldId id="264" r:id="rId13"/>
    <p:sldId id="289" r:id="rId14"/>
    <p:sldId id="293" r:id="rId15"/>
    <p:sldId id="291" r:id="rId16"/>
    <p:sldId id="294" r:id="rId17"/>
    <p:sldId id="295" r:id="rId18"/>
    <p:sldId id="287" r:id="rId19"/>
    <p:sldId id="296" r:id="rId20"/>
    <p:sldId id="297" r:id="rId21"/>
    <p:sldId id="286" r:id="rId22"/>
    <p:sldId id="278" r:id="rId23"/>
    <p:sldId id="2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ED17C-F12B-40CB-B332-C6480DB8E7F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46629-DDE9-4049-9809-56964DD20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6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10A2-2799-FE5F-7ED3-EB6017D4A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DB441-FC1F-DE44-F6CE-9071CC1BB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9C45D-883E-7779-00CB-DBC9446D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6F32-91A8-4340-868D-5E0A85BEE796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1568B-516F-8789-445D-64FD01EA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F1F7-A3B0-7732-298C-5AA7838D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FF4E-617C-962C-941E-340049DC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138BE-F1A8-1373-5286-AABA55AAB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10DC0-4A9D-C5CF-F3D5-178353D0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A2554-468B-44E7-959E-8F3376471EAD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BBE8E-91E4-ED3B-758D-71E53DC6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98918-B618-D501-E52B-6715935A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2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0F9C9-C56B-F97A-7A67-5F80EF659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D72EF-0371-4EF3-F13B-00B9A9A28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2793C-09E8-86E9-6545-F087C62A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59EFF-22CB-4D13-B295-F8753D08A73B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0B9DE-F9AF-C044-B742-EE46DA54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2D79C-9841-FDA0-404A-39F5A0A2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5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FE28-B718-D71C-2EA9-1B632A636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EE841-31A1-54CE-183E-5A44AAFA3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3B3D6-8DC7-44CC-9B9B-B93034578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4ECBA-B5CC-A31F-146E-6A782EECF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A188-44D0-4F09-95D3-72A118F02586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C95A0-8502-DDB7-350B-69039640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0FE03-C2CF-FF0D-DA8E-6C168AD82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6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91A6-EBFE-2902-D783-CC57008B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F28CB-12B2-F1D2-C8B6-22F92B2B7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B5252-2284-738C-D8D3-FDA5C61CF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1ED42-0717-CEDF-F130-83B329241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235ED-66DF-805B-6261-6000A6BB0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E731C4-35E1-2943-49BF-A9F49F00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3173E-BCA8-4A3A-AC75-A00FF2F39098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8AF73-A3F6-154D-BBC0-390E58653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319234-EC89-C0B4-E246-54794909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1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A47B-3B21-F564-4C44-F3F39C8CD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8F16C-025D-E8CF-C55B-9A48EA5D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53B1-6CA6-43AD-AFC7-3BAAD7905353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6437C-4EC8-2BEE-1B01-39179C28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9B9CD-31B6-F216-04D7-2D849098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7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D2B2E-62E1-D996-0F7D-965298FD8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1911-596A-4E6F-AD9C-B71EEA0CF3A6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18A65-0619-BBB3-D0F3-1A04A235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E0F82-47F7-3C1D-3991-A97DD022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2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AFD86-268A-E8B1-DF2B-67C9077B4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99890-208F-07F8-6D61-A8A5E545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5E985-C31A-EC84-643D-A298C147F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8AD1E-D15F-13DF-D0EE-3045E9BD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2B00-7004-42D2-934B-515D1C4746E6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0CA75-AA80-CA9F-0583-3D76A1D1E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3539F-6D07-DFE8-9D8E-4D0C9B7D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5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3D71-67DB-BE48-8413-73578AF97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5F6471-82C4-C1F2-457E-5700D30BE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DCB74-DE1A-64CE-E074-621186203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EFCFA-3DB2-F7EC-E730-4AAEBE53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A020-4EAE-4E4F-8C9E-951F4F971C76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C0783-E417-3900-5A15-F51D98BC1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B4EA3-183F-C894-634E-C87BFD30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4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E11E-BBAC-E306-F0F6-8C5642859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E9375-E4F8-5E47-F749-0E43582A3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69470-97B2-066F-3D3E-E9A4FB026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06AA-0BDC-429B-AE85-E36D6466E38F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06243-198A-3AF4-6167-B23E62CC7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4819B-7F1A-1712-57FD-A38659BB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16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B1DF7-140F-18DE-6C89-ED937C3F5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ED161-72AA-0748-E7D9-A9002D3E6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2EE77-787F-8250-D203-870E3BDC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CE58-21A7-48A7-8899-442DC8E1F8DD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5A889-6AB3-60FB-051F-B1DD3B91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4A74-18F7-DE41-0F12-EABFBBB6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ED10EF-3C6F-5653-1C40-257FA515F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9F23-7CA2-A3B1-C6F7-BBA7DE007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A714A-5F1A-95E3-6CA0-47E2358F4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E878E-58C3-45D4-9533-4D4E368A52BC}" type="datetime2">
              <a:rPr lang="en-US" smtClean="0"/>
              <a:t>Monday, February 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7EFD6-72B9-7DEE-473C-C500D5DC1A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DB06F-F648-F322-F9B5-751401074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3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3E7505-B103-38D8-46D8-4E396DB4C8E4}"/>
              </a:ext>
            </a:extLst>
          </p:cNvPr>
          <p:cNvSpPr/>
          <p:nvPr/>
        </p:nvSpPr>
        <p:spPr>
          <a:xfrm>
            <a:off x="0" y="0"/>
            <a:ext cx="12192000" cy="3655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94E39D-8B8A-99C8-8601-F65BD25FB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2362737"/>
            <a:ext cx="9144000" cy="86049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Web Performance Optimization Measurement Using Machine Learning Analytics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E891FF-ACD8-A286-1B16-C741C516BE9D}"/>
              </a:ext>
            </a:extLst>
          </p:cNvPr>
          <p:cNvSpPr/>
          <p:nvPr/>
        </p:nvSpPr>
        <p:spPr>
          <a:xfrm>
            <a:off x="0" y="5946468"/>
            <a:ext cx="12192000" cy="931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AD4A7C-23A4-C9B0-5B9A-9EED475F3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203" y="641463"/>
            <a:ext cx="753594" cy="7460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D3E81951-58C0-5A3E-0A39-6A867C978B17}"/>
              </a:ext>
            </a:extLst>
          </p:cNvPr>
          <p:cNvSpPr>
            <a:spLocks noGrp="1"/>
          </p:cNvSpPr>
          <p:nvPr/>
        </p:nvSpPr>
        <p:spPr>
          <a:xfrm>
            <a:off x="1523999" y="1672629"/>
            <a:ext cx="9144000" cy="405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67231A-ED4F-8480-A39E-C3D024BD1954}"/>
              </a:ext>
            </a:extLst>
          </p:cNvPr>
          <p:cNvSpPr txBox="1"/>
          <p:nvPr/>
        </p:nvSpPr>
        <p:spPr>
          <a:xfrm>
            <a:off x="3282222" y="6089006"/>
            <a:ext cx="5627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Pundra University of Science &amp; Technology, Bogura – 5800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F721F85-CDC6-42F4-B70E-9948F55E67A2}"/>
              </a:ext>
            </a:extLst>
          </p:cNvPr>
          <p:cNvGrpSpPr/>
          <p:nvPr/>
        </p:nvGrpSpPr>
        <p:grpSpPr>
          <a:xfrm>
            <a:off x="7272655" y="3743508"/>
            <a:ext cx="3881120" cy="1193432"/>
            <a:chOff x="980440" y="3480261"/>
            <a:chExt cx="3881120" cy="21320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C7E870-ACEB-4D1C-A8B7-86D0E9B28213}"/>
                </a:ext>
              </a:extLst>
            </p:cNvPr>
            <p:cNvSpPr txBox="1"/>
            <p:nvPr/>
          </p:nvSpPr>
          <p:spPr>
            <a:xfrm>
              <a:off x="980440" y="3480261"/>
              <a:ext cx="2580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Supervised By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84A3A7-DB11-4253-9CA1-A1436CE6695F}"/>
                </a:ext>
              </a:extLst>
            </p:cNvPr>
            <p:cNvSpPr txBox="1"/>
            <p:nvPr/>
          </p:nvSpPr>
          <p:spPr>
            <a:xfrm>
              <a:off x="980440" y="4104243"/>
              <a:ext cx="3881120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Nahid Hasan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Lecturer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Dept. of CSE, PUB </a:t>
              </a:r>
            </a:p>
            <a:p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0EFC54-D6A9-4937-AB64-D767C368D818}"/>
              </a:ext>
            </a:extLst>
          </p:cNvPr>
          <p:cNvGrpSpPr/>
          <p:nvPr/>
        </p:nvGrpSpPr>
        <p:grpSpPr>
          <a:xfrm>
            <a:off x="1523998" y="3708866"/>
            <a:ext cx="3881120" cy="2657149"/>
            <a:chOff x="1209040" y="2314237"/>
            <a:chExt cx="3881120" cy="265714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C5C103-B2AD-4922-821A-F9BB9C756009}"/>
                </a:ext>
              </a:extLst>
            </p:cNvPr>
            <p:cNvSpPr txBox="1"/>
            <p:nvPr/>
          </p:nvSpPr>
          <p:spPr>
            <a:xfrm>
              <a:off x="1209040" y="2314237"/>
              <a:ext cx="2580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Presented By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E4B1D8C-1781-4071-8FA4-0FCFF121BE83}"/>
                </a:ext>
              </a:extLst>
            </p:cNvPr>
            <p:cNvSpPr txBox="1"/>
            <p:nvPr/>
          </p:nvSpPr>
          <p:spPr>
            <a:xfrm>
              <a:off x="1209040" y="2632284"/>
              <a:ext cx="3881120" cy="2339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Md. Ashikur Rahman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Program: B.Sc. in CSE (HSC)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ID:  0322210105101101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Batch: 20</a:t>
              </a:r>
              <a:r>
                <a:rPr lang="en-US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Semester: 8</a:t>
              </a:r>
              <a:r>
                <a:rPr lang="en-US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Session: Spring - 2022</a:t>
              </a:r>
            </a:p>
            <a:p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5380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2D2D3C-6D65-666A-F31D-9B6019426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88CB1B-A43A-BE41-5EF7-F8E75B602485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08431F-F848-D589-F3FD-3000CE280D9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23BD3-272D-7E5C-15F6-BA3C0AA1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Monday, February 2,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04495-AEDE-C6BB-FF37-725EC1370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D443C-A9DD-3101-5592-C663025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3E920C-4154-EE3F-FC3F-CA8908153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56" y="398607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8262C06-A001-4FB5-44DA-941ED2302A25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855F84-7D5E-FD02-1DAA-D81F165B7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04D8CF0-7EFF-4A9B-AC9C-2FCA45E8C721}"/>
              </a:ext>
            </a:extLst>
          </p:cNvPr>
          <p:cNvGrpSpPr/>
          <p:nvPr/>
        </p:nvGrpSpPr>
        <p:grpSpPr>
          <a:xfrm>
            <a:off x="1280277" y="2389105"/>
            <a:ext cx="9301644" cy="2931914"/>
            <a:chOff x="1388765" y="2665699"/>
            <a:chExt cx="9301644" cy="2931914"/>
          </a:xfrm>
        </p:grpSpPr>
        <p:sp>
          <p:nvSpPr>
            <p:cNvPr id="12" name="Rounded Rectangle 1">
              <a:extLst>
                <a:ext uri="{FF2B5EF4-FFF2-40B4-BE49-F238E27FC236}">
                  <a16:creationId xmlns:a16="http://schemas.microsoft.com/office/drawing/2014/main" id="{E9AC917D-F9EB-4460-B666-6FE59A624998}"/>
                </a:ext>
              </a:extLst>
            </p:cNvPr>
            <p:cNvSpPr/>
            <p:nvPr/>
          </p:nvSpPr>
          <p:spPr>
            <a:xfrm>
              <a:off x="1388765" y="4005453"/>
              <a:ext cx="9017797" cy="13725"/>
            </a:xfrm>
            <a:custGeom>
              <a:avLst/>
              <a:gdLst/>
              <a:ahLst/>
              <a:cxnLst/>
              <a:rect l="0" t="0" r="0" b="0"/>
              <a:pathLst>
                <a:path w="6258216" h="9525">
                  <a:moveTo>
                    <a:pt x="542925" y="0"/>
                  </a:moveTo>
                  <a:lnTo>
                    <a:pt x="0" y="0"/>
                  </a:lnTo>
                  <a:moveTo>
                    <a:pt x="1124242" y="0"/>
                  </a:moveTo>
                  <a:lnTo>
                    <a:pt x="599794" y="0"/>
                  </a:lnTo>
                  <a:moveTo>
                    <a:pt x="1685925" y="0"/>
                  </a:moveTo>
                  <a:lnTo>
                    <a:pt x="1181100" y="0"/>
                  </a:lnTo>
                  <a:moveTo>
                    <a:pt x="2257425" y="0"/>
                  </a:moveTo>
                  <a:lnTo>
                    <a:pt x="1742790" y="0"/>
                  </a:lnTo>
                  <a:moveTo>
                    <a:pt x="2828925" y="0"/>
                  </a:moveTo>
                  <a:lnTo>
                    <a:pt x="2314292" y="0"/>
                  </a:lnTo>
                  <a:moveTo>
                    <a:pt x="3400716" y="0"/>
                  </a:moveTo>
                  <a:lnTo>
                    <a:pt x="2885790" y="0"/>
                  </a:lnTo>
                  <a:moveTo>
                    <a:pt x="3972209" y="0"/>
                  </a:moveTo>
                  <a:lnTo>
                    <a:pt x="3457575" y="0"/>
                  </a:lnTo>
                  <a:moveTo>
                    <a:pt x="4543425" y="0"/>
                  </a:moveTo>
                  <a:lnTo>
                    <a:pt x="4029075" y="0"/>
                  </a:lnTo>
                  <a:moveTo>
                    <a:pt x="5115207" y="0"/>
                  </a:moveTo>
                  <a:lnTo>
                    <a:pt x="4600385" y="0"/>
                  </a:lnTo>
                  <a:moveTo>
                    <a:pt x="5686709" y="0"/>
                  </a:moveTo>
                  <a:lnTo>
                    <a:pt x="5172075" y="0"/>
                  </a:lnTo>
                  <a:moveTo>
                    <a:pt x="6258216" y="0"/>
                  </a:moveTo>
                  <a:lnTo>
                    <a:pt x="5743575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DDF85B-C6B8-4BF4-94BA-A45DE962584F}"/>
                </a:ext>
              </a:extLst>
            </p:cNvPr>
            <p:cNvGrpSpPr/>
            <p:nvPr/>
          </p:nvGrpSpPr>
          <p:grpSpPr>
            <a:xfrm>
              <a:off x="9928668" y="3916239"/>
              <a:ext cx="761741" cy="178426"/>
              <a:chOff x="6591300" y="2395537"/>
              <a:chExt cx="528637" cy="123825"/>
            </a:xfrm>
          </p:grpSpPr>
          <p:sp>
            <p:nvSpPr>
              <p:cNvPr id="15" name="Rounded Rectangle 2">
                <a:extLst>
                  <a:ext uri="{FF2B5EF4-FFF2-40B4-BE49-F238E27FC236}">
                    <a16:creationId xmlns:a16="http://schemas.microsoft.com/office/drawing/2014/main" id="{F563E2A5-9A70-4986-B8AE-3B20790A029B}"/>
                  </a:ext>
                </a:extLst>
              </p:cNvPr>
              <p:cNvSpPr/>
              <p:nvPr/>
            </p:nvSpPr>
            <p:spPr>
              <a:xfrm>
                <a:off x="6591300" y="2457450"/>
                <a:ext cx="523875" cy="9525"/>
              </a:xfrm>
              <a:custGeom>
                <a:avLst/>
                <a:gdLst/>
                <a:ahLst/>
                <a:cxnLst/>
                <a:rect l="0" t="0" r="0" b="0"/>
                <a:pathLst>
                  <a:path w="523875" h="9525">
                    <a:moveTo>
                      <a:pt x="523875" y="0"/>
                    </a:moveTo>
                    <a:lnTo>
                      <a:pt x="0" y="0"/>
                    </a:lnTo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ounded Rectangle 3">
                <a:extLst>
                  <a:ext uri="{FF2B5EF4-FFF2-40B4-BE49-F238E27FC236}">
                    <a16:creationId xmlns:a16="http://schemas.microsoft.com/office/drawing/2014/main" id="{AC712065-9E9A-449E-A69C-E8091FB77877}"/>
                  </a:ext>
                </a:extLst>
              </p:cNvPr>
              <p:cNvSpPr/>
              <p:nvPr/>
            </p:nvSpPr>
            <p:spPr>
              <a:xfrm>
                <a:off x="7058025" y="2395537"/>
                <a:ext cx="61912" cy="123825"/>
              </a:xfrm>
              <a:custGeom>
                <a:avLst/>
                <a:gdLst/>
                <a:ahLst/>
                <a:cxnLst/>
                <a:rect l="0" t="0" r="0" b="0"/>
                <a:pathLst>
                  <a:path w="61912" h="123825">
                    <a:moveTo>
                      <a:pt x="0" y="123825"/>
                    </a:moveTo>
                    <a:lnTo>
                      <a:pt x="61912" y="61912"/>
                    </a:lnTo>
                    <a:lnTo>
                      <a:pt x="0" y="0"/>
                    </a:lnTo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7" name="Rounded Rectangle 5">
              <a:extLst>
                <a:ext uri="{FF2B5EF4-FFF2-40B4-BE49-F238E27FC236}">
                  <a16:creationId xmlns:a16="http://schemas.microsoft.com/office/drawing/2014/main" id="{092BCEAE-C458-45E7-B88A-46BBFA1ACE85}"/>
                </a:ext>
              </a:extLst>
            </p:cNvPr>
            <p:cNvSpPr/>
            <p:nvPr/>
          </p:nvSpPr>
          <p:spPr>
            <a:xfrm>
              <a:off x="1567191" y="3099598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2"/>
                  </a:moveTo>
                  <a:cubicBezTo>
                    <a:pt x="0" y="29241"/>
                    <a:pt x="25584" y="0"/>
                    <a:pt x="57150" y="0"/>
                  </a:cubicBezTo>
                  <a:lnTo>
                    <a:pt x="857250" y="0"/>
                  </a:lnTo>
                  <a:cubicBezTo>
                    <a:pt x="888815" y="0"/>
                    <a:pt x="914400" y="29241"/>
                    <a:pt x="914400" y="65312"/>
                  </a:cubicBezTo>
                  <a:lnTo>
                    <a:pt x="914400" y="391887"/>
                  </a:lnTo>
                  <a:cubicBezTo>
                    <a:pt x="914400" y="427958"/>
                    <a:pt x="888815" y="457200"/>
                    <a:pt x="857250" y="457200"/>
                  </a:cubicBezTo>
                  <a:lnTo>
                    <a:pt x="57150" y="457200"/>
                  </a:lnTo>
                  <a:cubicBezTo>
                    <a:pt x="25584" y="457200"/>
                    <a:pt x="0" y="427958"/>
                    <a:pt x="0" y="391887"/>
                  </a:cubicBezTo>
                  <a:lnTo>
                    <a:pt x="0" y="65312"/>
                  </a:lnTo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6">
              <a:extLst>
                <a:ext uri="{FF2B5EF4-FFF2-40B4-BE49-F238E27FC236}">
                  <a16:creationId xmlns:a16="http://schemas.microsoft.com/office/drawing/2014/main" id="{512C7CEF-A13F-4727-9C27-2DA0CB7A5EFB}"/>
                </a:ext>
              </a:extLst>
            </p:cNvPr>
            <p:cNvSpPr/>
            <p:nvPr/>
          </p:nvSpPr>
          <p:spPr>
            <a:xfrm>
              <a:off x="1567191" y="3099596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3"/>
                  </a:moveTo>
                  <a:cubicBezTo>
                    <a:pt x="0" y="29241"/>
                    <a:pt x="25587" y="0"/>
                    <a:pt x="57150" y="0"/>
                  </a:cubicBezTo>
                  <a:lnTo>
                    <a:pt x="857250" y="0"/>
                  </a:lnTo>
                  <a:cubicBezTo>
                    <a:pt x="888812" y="0"/>
                    <a:pt x="914400" y="29241"/>
                    <a:pt x="914400" y="65313"/>
                  </a:cubicBezTo>
                  <a:lnTo>
                    <a:pt x="914400" y="391886"/>
                  </a:lnTo>
                  <a:cubicBezTo>
                    <a:pt x="914400" y="427958"/>
                    <a:pt x="888812" y="457200"/>
                    <a:pt x="857250" y="457200"/>
                  </a:cubicBezTo>
                  <a:lnTo>
                    <a:pt x="57150" y="457200"/>
                  </a:lnTo>
                  <a:cubicBezTo>
                    <a:pt x="25587" y="457200"/>
                    <a:pt x="0" y="427958"/>
                    <a:pt x="0" y="391886"/>
                  </a:cubicBezTo>
                  <a:lnTo>
                    <a:pt x="0" y="65313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7">
              <a:extLst>
                <a:ext uri="{FF2B5EF4-FFF2-40B4-BE49-F238E27FC236}">
                  <a16:creationId xmlns:a16="http://schemas.microsoft.com/office/drawing/2014/main" id="{689BB05A-B072-4498-8F30-ADB2C0371175}"/>
                </a:ext>
              </a:extLst>
            </p:cNvPr>
            <p:cNvSpPr/>
            <p:nvPr/>
          </p:nvSpPr>
          <p:spPr>
            <a:xfrm>
              <a:off x="2171095" y="3758402"/>
              <a:ext cx="82350" cy="288227"/>
            </a:xfrm>
            <a:custGeom>
              <a:avLst/>
              <a:gdLst/>
              <a:ahLst/>
              <a:cxnLst/>
              <a:rect l="0" t="0" r="0" b="0"/>
              <a:pathLst>
                <a:path w="57150" h="200025">
                  <a:moveTo>
                    <a:pt x="28575" y="0"/>
                  </a:moveTo>
                  <a:lnTo>
                    <a:pt x="28575" y="142875"/>
                  </a:lnTo>
                  <a:moveTo>
                    <a:pt x="57150" y="171450"/>
                  </a:moveTo>
                  <a:cubicBezTo>
                    <a:pt x="57150" y="187231"/>
                    <a:pt x="44356" y="200025"/>
                    <a:pt x="28575" y="200025"/>
                  </a:cubicBezTo>
                  <a:cubicBezTo>
                    <a:pt x="12793" y="200025"/>
                    <a:pt x="0" y="187231"/>
                    <a:pt x="0" y="171450"/>
                  </a:cubicBezTo>
                  <a:cubicBezTo>
                    <a:pt x="0" y="155668"/>
                    <a:pt x="12793" y="142875"/>
                    <a:pt x="28575" y="142875"/>
                  </a:cubicBezTo>
                  <a:cubicBezTo>
                    <a:pt x="44356" y="142875"/>
                    <a:pt x="57150" y="155668"/>
                    <a:pt x="57150" y="171450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8">
              <a:extLst>
                <a:ext uri="{FF2B5EF4-FFF2-40B4-BE49-F238E27FC236}">
                  <a16:creationId xmlns:a16="http://schemas.microsoft.com/office/drawing/2014/main" id="{15CCFBB1-DC93-4583-8F1A-37E507B62187}"/>
                </a:ext>
              </a:extLst>
            </p:cNvPr>
            <p:cNvSpPr/>
            <p:nvPr/>
          </p:nvSpPr>
          <p:spPr>
            <a:xfrm>
              <a:off x="2390696" y="4252504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2"/>
                  </a:moveTo>
                  <a:cubicBezTo>
                    <a:pt x="0" y="29241"/>
                    <a:pt x="25584" y="0"/>
                    <a:pt x="57150" y="0"/>
                  </a:cubicBezTo>
                  <a:lnTo>
                    <a:pt x="857250" y="0"/>
                  </a:lnTo>
                  <a:cubicBezTo>
                    <a:pt x="888815" y="0"/>
                    <a:pt x="914400" y="29241"/>
                    <a:pt x="914400" y="65312"/>
                  </a:cubicBezTo>
                  <a:lnTo>
                    <a:pt x="914400" y="391887"/>
                  </a:lnTo>
                  <a:cubicBezTo>
                    <a:pt x="914400" y="427958"/>
                    <a:pt x="888815" y="457200"/>
                    <a:pt x="857250" y="457200"/>
                  </a:cubicBezTo>
                  <a:lnTo>
                    <a:pt x="57150" y="457200"/>
                  </a:lnTo>
                  <a:cubicBezTo>
                    <a:pt x="25584" y="457200"/>
                    <a:pt x="0" y="427958"/>
                    <a:pt x="0" y="391887"/>
                  </a:cubicBezTo>
                  <a:lnTo>
                    <a:pt x="0" y="65312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9">
              <a:extLst>
                <a:ext uri="{FF2B5EF4-FFF2-40B4-BE49-F238E27FC236}">
                  <a16:creationId xmlns:a16="http://schemas.microsoft.com/office/drawing/2014/main" id="{228871B8-A352-49ED-91C3-BEA4E5D4B786}"/>
                </a:ext>
              </a:extLst>
            </p:cNvPr>
            <p:cNvSpPr/>
            <p:nvPr/>
          </p:nvSpPr>
          <p:spPr>
            <a:xfrm>
              <a:off x="2390696" y="4252504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3"/>
                  </a:moveTo>
                  <a:cubicBezTo>
                    <a:pt x="0" y="29241"/>
                    <a:pt x="25587" y="0"/>
                    <a:pt x="57150" y="0"/>
                  </a:cubicBezTo>
                  <a:lnTo>
                    <a:pt x="857250" y="0"/>
                  </a:lnTo>
                  <a:cubicBezTo>
                    <a:pt x="888812" y="0"/>
                    <a:pt x="914400" y="29241"/>
                    <a:pt x="914400" y="65313"/>
                  </a:cubicBezTo>
                  <a:lnTo>
                    <a:pt x="914400" y="391886"/>
                  </a:lnTo>
                  <a:cubicBezTo>
                    <a:pt x="914400" y="427958"/>
                    <a:pt x="888812" y="457200"/>
                    <a:pt x="857250" y="457200"/>
                  </a:cubicBezTo>
                  <a:lnTo>
                    <a:pt x="57150" y="457200"/>
                  </a:lnTo>
                  <a:cubicBezTo>
                    <a:pt x="25587" y="457200"/>
                    <a:pt x="0" y="427958"/>
                    <a:pt x="0" y="391886"/>
                  </a:cubicBezTo>
                  <a:lnTo>
                    <a:pt x="0" y="65313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10">
              <a:extLst>
                <a:ext uri="{FF2B5EF4-FFF2-40B4-BE49-F238E27FC236}">
                  <a16:creationId xmlns:a16="http://schemas.microsoft.com/office/drawing/2014/main" id="{0C65D8EB-3292-4953-8C7A-11F6BDB10593}"/>
                </a:ext>
              </a:extLst>
            </p:cNvPr>
            <p:cNvSpPr/>
            <p:nvPr/>
          </p:nvSpPr>
          <p:spPr>
            <a:xfrm>
              <a:off x="3008324" y="3964278"/>
              <a:ext cx="82350" cy="288227"/>
            </a:xfrm>
            <a:custGeom>
              <a:avLst/>
              <a:gdLst/>
              <a:ahLst/>
              <a:cxnLst/>
              <a:rect l="0" t="0" r="0" b="0"/>
              <a:pathLst>
                <a:path w="57150" h="200025">
                  <a:moveTo>
                    <a:pt x="28575" y="200025"/>
                  </a:moveTo>
                  <a:lnTo>
                    <a:pt x="28575" y="57150"/>
                  </a:lnTo>
                  <a:moveTo>
                    <a:pt x="57150" y="28575"/>
                  </a:moveTo>
                  <a:cubicBezTo>
                    <a:pt x="57150" y="44356"/>
                    <a:pt x="44356" y="57150"/>
                    <a:pt x="28575" y="57150"/>
                  </a:cubicBezTo>
                  <a:cubicBezTo>
                    <a:pt x="12793" y="57150"/>
                    <a:pt x="0" y="44356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6" y="0"/>
                    <a:pt x="57150" y="12793"/>
                    <a:pt x="57150" y="28575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11">
              <a:extLst>
                <a:ext uri="{FF2B5EF4-FFF2-40B4-BE49-F238E27FC236}">
                  <a16:creationId xmlns:a16="http://schemas.microsoft.com/office/drawing/2014/main" id="{6E10C4F5-B613-41CC-A8F7-EE58F0AF505D}"/>
                </a:ext>
              </a:extLst>
            </p:cNvPr>
            <p:cNvSpPr/>
            <p:nvPr/>
          </p:nvSpPr>
          <p:spPr>
            <a:xfrm>
              <a:off x="3200476" y="3099598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2"/>
                  </a:moveTo>
                  <a:cubicBezTo>
                    <a:pt x="0" y="29241"/>
                    <a:pt x="25584" y="0"/>
                    <a:pt x="57150" y="0"/>
                  </a:cubicBezTo>
                  <a:lnTo>
                    <a:pt x="857250" y="0"/>
                  </a:lnTo>
                  <a:cubicBezTo>
                    <a:pt x="888815" y="0"/>
                    <a:pt x="914400" y="29241"/>
                    <a:pt x="914400" y="65312"/>
                  </a:cubicBezTo>
                  <a:lnTo>
                    <a:pt x="914400" y="391887"/>
                  </a:lnTo>
                  <a:cubicBezTo>
                    <a:pt x="914400" y="427958"/>
                    <a:pt x="888815" y="457200"/>
                    <a:pt x="857250" y="457200"/>
                  </a:cubicBezTo>
                  <a:lnTo>
                    <a:pt x="57150" y="457200"/>
                  </a:lnTo>
                  <a:cubicBezTo>
                    <a:pt x="25584" y="457200"/>
                    <a:pt x="0" y="427958"/>
                    <a:pt x="0" y="391887"/>
                  </a:cubicBezTo>
                  <a:lnTo>
                    <a:pt x="0" y="65312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12">
              <a:extLst>
                <a:ext uri="{FF2B5EF4-FFF2-40B4-BE49-F238E27FC236}">
                  <a16:creationId xmlns:a16="http://schemas.microsoft.com/office/drawing/2014/main" id="{2F498C45-CFF8-47D3-B8DA-36B61A3DDD9A}"/>
                </a:ext>
              </a:extLst>
            </p:cNvPr>
            <p:cNvSpPr/>
            <p:nvPr/>
          </p:nvSpPr>
          <p:spPr>
            <a:xfrm>
              <a:off x="3200476" y="3099596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3"/>
                  </a:moveTo>
                  <a:cubicBezTo>
                    <a:pt x="0" y="29241"/>
                    <a:pt x="25587" y="0"/>
                    <a:pt x="57150" y="0"/>
                  </a:cubicBezTo>
                  <a:lnTo>
                    <a:pt x="857250" y="0"/>
                  </a:lnTo>
                  <a:cubicBezTo>
                    <a:pt x="888812" y="0"/>
                    <a:pt x="914400" y="29241"/>
                    <a:pt x="914400" y="65313"/>
                  </a:cubicBezTo>
                  <a:lnTo>
                    <a:pt x="914400" y="391886"/>
                  </a:lnTo>
                  <a:cubicBezTo>
                    <a:pt x="914400" y="427958"/>
                    <a:pt x="888812" y="457200"/>
                    <a:pt x="857250" y="457200"/>
                  </a:cubicBezTo>
                  <a:lnTo>
                    <a:pt x="57150" y="457200"/>
                  </a:lnTo>
                  <a:cubicBezTo>
                    <a:pt x="25587" y="457200"/>
                    <a:pt x="0" y="427958"/>
                    <a:pt x="0" y="391886"/>
                  </a:cubicBezTo>
                  <a:lnTo>
                    <a:pt x="0" y="65313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13">
              <a:extLst>
                <a:ext uri="{FF2B5EF4-FFF2-40B4-BE49-F238E27FC236}">
                  <a16:creationId xmlns:a16="http://schemas.microsoft.com/office/drawing/2014/main" id="{A254FF10-E31D-4F29-9C73-635FDBA86E63}"/>
                </a:ext>
              </a:extLst>
            </p:cNvPr>
            <p:cNvSpPr/>
            <p:nvPr/>
          </p:nvSpPr>
          <p:spPr>
            <a:xfrm>
              <a:off x="3818104" y="3758402"/>
              <a:ext cx="82350" cy="288227"/>
            </a:xfrm>
            <a:custGeom>
              <a:avLst/>
              <a:gdLst/>
              <a:ahLst/>
              <a:cxnLst/>
              <a:rect l="0" t="0" r="0" b="0"/>
              <a:pathLst>
                <a:path w="57150" h="200025">
                  <a:moveTo>
                    <a:pt x="28575" y="0"/>
                  </a:moveTo>
                  <a:lnTo>
                    <a:pt x="28575" y="142875"/>
                  </a:lnTo>
                  <a:moveTo>
                    <a:pt x="57150" y="171450"/>
                  </a:moveTo>
                  <a:cubicBezTo>
                    <a:pt x="57150" y="187231"/>
                    <a:pt x="44356" y="200025"/>
                    <a:pt x="28575" y="200025"/>
                  </a:cubicBezTo>
                  <a:cubicBezTo>
                    <a:pt x="12793" y="200025"/>
                    <a:pt x="0" y="187231"/>
                    <a:pt x="0" y="171450"/>
                  </a:cubicBezTo>
                  <a:cubicBezTo>
                    <a:pt x="0" y="155668"/>
                    <a:pt x="12793" y="142875"/>
                    <a:pt x="28575" y="142875"/>
                  </a:cubicBezTo>
                  <a:cubicBezTo>
                    <a:pt x="44356" y="142875"/>
                    <a:pt x="57150" y="155668"/>
                    <a:pt x="57150" y="171450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14">
              <a:extLst>
                <a:ext uri="{FF2B5EF4-FFF2-40B4-BE49-F238E27FC236}">
                  <a16:creationId xmlns:a16="http://schemas.microsoft.com/office/drawing/2014/main" id="{9B5AA8D0-0039-4CA4-8149-C4BF32F5AB66}"/>
                </a:ext>
              </a:extLst>
            </p:cNvPr>
            <p:cNvSpPr/>
            <p:nvPr/>
          </p:nvSpPr>
          <p:spPr>
            <a:xfrm>
              <a:off x="4023980" y="4252504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2"/>
                  </a:moveTo>
                  <a:cubicBezTo>
                    <a:pt x="0" y="29241"/>
                    <a:pt x="25584" y="0"/>
                    <a:pt x="57150" y="0"/>
                  </a:cubicBezTo>
                  <a:lnTo>
                    <a:pt x="857250" y="0"/>
                  </a:lnTo>
                  <a:cubicBezTo>
                    <a:pt x="888815" y="0"/>
                    <a:pt x="914400" y="29241"/>
                    <a:pt x="914400" y="65312"/>
                  </a:cubicBezTo>
                  <a:lnTo>
                    <a:pt x="914400" y="391887"/>
                  </a:lnTo>
                  <a:cubicBezTo>
                    <a:pt x="914400" y="427958"/>
                    <a:pt x="888815" y="457200"/>
                    <a:pt x="857250" y="457200"/>
                  </a:cubicBezTo>
                  <a:lnTo>
                    <a:pt x="57150" y="457200"/>
                  </a:lnTo>
                  <a:cubicBezTo>
                    <a:pt x="25584" y="457200"/>
                    <a:pt x="0" y="427958"/>
                    <a:pt x="0" y="391887"/>
                  </a:cubicBezTo>
                  <a:lnTo>
                    <a:pt x="0" y="65312"/>
                  </a:lnTo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15">
              <a:extLst>
                <a:ext uri="{FF2B5EF4-FFF2-40B4-BE49-F238E27FC236}">
                  <a16:creationId xmlns:a16="http://schemas.microsoft.com/office/drawing/2014/main" id="{644110BA-DFB3-461D-B321-6016B83BD9F0}"/>
                </a:ext>
              </a:extLst>
            </p:cNvPr>
            <p:cNvSpPr/>
            <p:nvPr/>
          </p:nvSpPr>
          <p:spPr>
            <a:xfrm>
              <a:off x="4023980" y="4252504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3"/>
                  </a:moveTo>
                  <a:cubicBezTo>
                    <a:pt x="0" y="29241"/>
                    <a:pt x="25587" y="0"/>
                    <a:pt x="57150" y="0"/>
                  </a:cubicBezTo>
                  <a:lnTo>
                    <a:pt x="857250" y="0"/>
                  </a:lnTo>
                  <a:cubicBezTo>
                    <a:pt x="888812" y="0"/>
                    <a:pt x="914400" y="29241"/>
                    <a:pt x="914400" y="65313"/>
                  </a:cubicBezTo>
                  <a:lnTo>
                    <a:pt x="914400" y="391886"/>
                  </a:lnTo>
                  <a:cubicBezTo>
                    <a:pt x="914400" y="427958"/>
                    <a:pt x="888812" y="457200"/>
                    <a:pt x="857250" y="457200"/>
                  </a:cubicBezTo>
                  <a:lnTo>
                    <a:pt x="57150" y="457200"/>
                  </a:lnTo>
                  <a:cubicBezTo>
                    <a:pt x="25587" y="457200"/>
                    <a:pt x="0" y="427958"/>
                    <a:pt x="0" y="391886"/>
                  </a:cubicBezTo>
                  <a:lnTo>
                    <a:pt x="0" y="65313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16">
              <a:extLst>
                <a:ext uri="{FF2B5EF4-FFF2-40B4-BE49-F238E27FC236}">
                  <a16:creationId xmlns:a16="http://schemas.microsoft.com/office/drawing/2014/main" id="{EC1136FC-27AD-4503-8DE5-4BF1F80B480A}"/>
                </a:ext>
              </a:extLst>
            </p:cNvPr>
            <p:cNvSpPr/>
            <p:nvPr/>
          </p:nvSpPr>
          <p:spPr>
            <a:xfrm>
              <a:off x="4641609" y="3964278"/>
              <a:ext cx="82350" cy="288227"/>
            </a:xfrm>
            <a:custGeom>
              <a:avLst/>
              <a:gdLst/>
              <a:ahLst/>
              <a:cxnLst/>
              <a:rect l="0" t="0" r="0" b="0"/>
              <a:pathLst>
                <a:path w="57150" h="200025">
                  <a:moveTo>
                    <a:pt x="28575" y="200025"/>
                  </a:moveTo>
                  <a:lnTo>
                    <a:pt x="28575" y="57150"/>
                  </a:lnTo>
                  <a:moveTo>
                    <a:pt x="57150" y="28575"/>
                  </a:moveTo>
                  <a:cubicBezTo>
                    <a:pt x="57150" y="44356"/>
                    <a:pt x="44356" y="57150"/>
                    <a:pt x="28575" y="57150"/>
                  </a:cubicBezTo>
                  <a:cubicBezTo>
                    <a:pt x="12793" y="57150"/>
                    <a:pt x="0" y="44356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6" y="0"/>
                    <a:pt x="57150" y="12793"/>
                    <a:pt x="57150" y="28575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17">
              <a:extLst>
                <a:ext uri="{FF2B5EF4-FFF2-40B4-BE49-F238E27FC236}">
                  <a16:creationId xmlns:a16="http://schemas.microsoft.com/office/drawing/2014/main" id="{22C63244-A833-463D-AB27-75C4562A1F7F}"/>
                </a:ext>
              </a:extLst>
            </p:cNvPr>
            <p:cNvSpPr/>
            <p:nvPr/>
          </p:nvSpPr>
          <p:spPr>
            <a:xfrm>
              <a:off x="4861210" y="3099598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2"/>
                  </a:moveTo>
                  <a:cubicBezTo>
                    <a:pt x="0" y="29241"/>
                    <a:pt x="25584" y="0"/>
                    <a:pt x="57150" y="0"/>
                  </a:cubicBezTo>
                  <a:lnTo>
                    <a:pt x="857250" y="0"/>
                  </a:lnTo>
                  <a:cubicBezTo>
                    <a:pt x="888815" y="0"/>
                    <a:pt x="914400" y="29241"/>
                    <a:pt x="914400" y="65312"/>
                  </a:cubicBezTo>
                  <a:lnTo>
                    <a:pt x="914400" y="391887"/>
                  </a:lnTo>
                  <a:cubicBezTo>
                    <a:pt x="914400" y="427958"/>
                    <a:pt x="888815" y="457200"/>
                    <a:pt x="857250" y="457200"/>
                  </a:cubicBezTo>
                  <a:lnTo>
                    <a:pt x="57150" y="457200"/>
                  </a:lnTo>
                  <a:cubicBezTo>
                    <a:pt x="25584" y="457200"/>
                    <a:pt x="0" y="427958"/>
                    <a:pt x="0" y="391887"/>
                  </a:cubicBezTo>
                  <a:lnTo>
                    <a:pt x="0" y="65312"/>
                  </a:ln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18">
              <a:extLst>
                <a:ext uri="{FF2B5EF4-FFF2-40B4-BE49-F238E27FC236}">
                  <a16:creationId xmlns:a16="http://schemas.microsoft.com/office/drawing/2014/main" id="{3D75261B-1888-438D-9F7F-809897B14750}"/>
                </a:ext>
              </a:extLst>
            </p:cNvPr>
            <p:cNvSpPr/>
            <p:nvPr/>
          </p:nvSpPr>
          <p:spPr>
            <a:xfrm>
              <a:off x="4861210" y="3099596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3"/>
                  </a:moveTo>
                  <a:cubicBezTo>
                    <a:pt x="0" y="29241"/>
                    <a:pt x="25587" y="0"/>
                    <a:pt x="57150" y="0"/>
                  </a:cubicBezTo>
                  <a:lnTo>
                    <a:pt x="857250" y="0"/>
                  </a:lnTo>
                  <a:cubicBezTo>
                    <a:pt x="888812" y="0"/>
                    <a:pt x="914400" y="29241"/>
                    <a:pt x="914400" y="65313"/>
                  </a:cubicBezTo>
                  <a:lnTo>
                    <a:pt x="914400" y="391886"/>
                  </a:lnTo>
                  <a:cubicBezTo>
                    <a:pt x="914400" y="427958"/>
                    <a:pt x="888812" y="457200"/>
                    <a:pt x="857250" y="457200"/>
                  </a:cubicBezTo>
                  <a:lnTo>
                    <a:pt x="57150" y="457200"/>
                  </a:lnTo>
                  <a:cubicBezTo>
                    <a:pt x="25587" y="457200"/>
                    <a:pt x="0" y="427958"/>
                    <a:pt x="0" y="391886"/>
                  </a:cubicBezTo>
                  <a:lnTo>
                    <a:pt x="0" y="65313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nded Rectangle 19">
              <a:extLst>
                <a:ext uri="{FF2B5EF4-FFF2-40B4-BE49-F238E27FC236}">
                  <a16:creationId xmlns:a16="http://schemas.microsoft.com/office/drawing/2014/main" id="{27561238-C102-4826-9CEE-926D827765E6}"/>
                </a:ext>
              </a:extLst>
            </p:cNvPr>
            <p:cNvSpPr/>
            <p:nvPr/>
          </p:nvSpPr>
          <p:spPr>
            <a:xfrm>
              <a:off x="5465114" y="3758402"/>
              <a:ext cx="82350" cy="288227"/>
            </a:xfrm>
            <a:custGeom>
              <a:avLst/>
              <a:gdLst/>
              <a:ahLst/>
              <a:cxnLst/>
              <a:rect l="0" t="0" r="0" b="0"/>
              <a:pathLst>
                <a:path w="57150" h="200025">
                  <a:moveTo>
                    <a:pt x="28575" y="0"/>
                  </a:moveTo>
                  <a:lnTo>
                    <a:pt x="28575" y="142875"/>
                  </a:lnTo>
                  <a:moveTo>
                    <a:pt x="57150" y="171450"/>
                  </a:moveTo>
                  <a:cubicBezTo>
                    <a:pt x="57150" y="187231"/>
                    <a:pt x="44356" y="200025"/>
                    <a:pt x="28575" y="200025"/>
                  </a:cubicBezTo>
                  <a:cubicBezTo>
                    <a:pt x="12793" y="200025"/>
                    <a:pt x="0" y="187231"/>
                    <a:pt x="0" y="171450"/>
                  </a:cubicBezTo>
                  <a:cubicBezTo>
                    <a:pt x="0" y="155668"/>
                    <a:pt x="12793" y="142875"/>
                    <a:pt x="28575" y="142875"/>
                  </a:cubicBezTo>
                  <a:cubicBezTo>
                    <a:pt x="44356" y="142875"/>
                    <a:pt x="57150" y="155668"/>
                    <a:pt x="57150" y="171450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20">
              <a:extLst>
                <a:ext uri="{FF2B5EF4-FFF2-40B4-BE49-F238E27FC236}">
                  <a16:creationId xmlns:a16="http://schemas.microsoft.com/office/drawing/2014/main" id="{6293FC00-7C00-4215-867A-8A1751BA7027}"/>
                </a:ext>
              </a:extLst>
            </p:cNvPr>
            <p:cNvSpPr/>
            <p:nvPr/>
          </p:nvSpPr>
          <p:spPr>
            <a:xfrm>
              <a:off x="5670990" y="4252504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2"/>
                  </a:moveTo>
                  <a:cubicBezTo>
                    <a:pt x="0" y="29241"/>
                    <a:pt x="25584" y="0"/>
                    <a:pt x="57150" y="0"/>
                  </a:cubicBezTo>
                  <a:lnTo>
                    <a:pt x="857250" y="0"/>
                  </a:lnTo>
                  <a:cubicBezTo>
                    <a:pt x="888815" y="0"/>
                    <a:pt x="914400" y="29241"/>
                    <a:pt x="914400" y="65312"/>
                  </a:cubicBezTo>
                  <a:lnTo>
                    <a:pt x="914400" y="391887"/>
                  </a:lnTo>
                  <a:cubicBezTo>
                    <a:pt x="914400" y="427958"/>
                    <a:pt x="888815" y="457200"/>
                    <a:pt x="857250" y="457200"/>
                  </a:cubicBezTo>
                  <a:lnTo>
                    <a:pt x="57150" y="457200"/>
                  </a:lnTo>
                  <a:cubicBezTo>
                    <a:pt x="25584" y="457200"/>
                    <a:pt x="0" y="427958"/>
                    <a:pt x="0" y="391887"/>
                  </a:cubicBezTo>
                  <a:lnTo>
                    <a:pt x="0" y="65312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ounded Rectangle 21">
              <a:extLst>
                <a:ext uri="{FF2B5EF4-FFF2-40B4-BE49-F238E27FC236}">
                  <a16:creationId xmlns:a16="http://schemas.microsoft.com/office/drawing/2014/main" id="{E1CCC272-C4E2-4BBE-9FFE-5B88F4AF36C0}"/>
                </a:ext>
              </a:extLst>
            </p:cNvPr>
            <p:cNvSpPr/>
            <p:nvPr/>
          </p:nvSpPr>
          <p:spPr>
            <a:xfrm>
              <a:off x="5670990" y="4252504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3"/>
                  </a:moveTo>
                  <a:cubicBezTo>
                    <a:pt x="0" y="29241"/>
                    <a:pt x="25587" y="0"/>
                    <a:pt x="57150" y="0"/>
                  </a:cubicBezTo>
                  <a:lnTo>
                    <a:pt x="857250" y="0"/>
                  </a:lnTo>
                  <a:cubicBezTo>
                    <a:pt x="888812" y="0"/>
                    <a:pt x="914400" y="29241"/>
                    <a:pt x="914400" y="65313"/>
                  </a:cubicBezTo>
                  <a:lnTo>
                    <a:pt x="914400" y="391886"/>
                  </a:lnTo>
                  <a:cubicBezTo>
                    <a:pt x="914400" y="427958"/>
                    <a:pt x="888812" y="457200"/>
                    <a:pt x="857250" y="457200"/>
                  </a:cubicBezTo>
                  <a:lnTo>
                    <a:pt x="57150" y="457200"/>
                  </a:lnTo>
                  <a:cubicBezTo>
                    <a:pt x="25587" y="457200"/>
                    <a:pt x="0" y="427958"/>
                    <a:pt x="0" y="391886"/>
                  </a:cubicBezTo>
                  <a:lnTo>
                    <a:pt x="0" y="65313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22">
              <a:extLst>
                <a:ext uri="{FF2B5EF4-FFF2-40B4-BE49-F238E27FC236}">
                  <a16:creationId xmlns:a16="http://schemas.microsoft.com/office/drawing/2014/main" id="{8295D0B5-47A3-43EA-9CBF-D0AC741CCA64}"/>
                </a:ext>
              </a:extLst>
            </p:cNvPr>
            <p:cNvSpPr/>
            <p:nvPr/>
          </p:nvSpPr>
          <p:spPr>
            <a:xfrm>
              <a:off x="6288618" y="3964278"/>
              <a:ext cx="82350" cy="288227"/>
            </a:xfrm>
            <a:custGeom>
              <a:avLst/>
              <a:gdLst/>
              <a:ahLst/>
              <a:cxnLst/>
              <a:rect l="0" t="0" r="0" b="0"/>
              <a:pathLst>
                <a:path w="57150" h="200025">
                  <a:moveTo>
                    <a:pt x="28575" y="200025"/>
                  </a:moveTo>
                  <a:lnTo>
                    <a:pt x="28575" y="57150"/>
                  </a:lnTo>
                  <a:moveTo>
                    <a:pt x="57150" y="28575"/>
                  </a:moveTo>
                  <a:cubicBezTo>
                    <a:pt x="57150" y="44356"/>
                    <a:pt x="44356" y="57150"/>
                    <a:pt x="28575" y="57150"/>
                  </a:cubicBezTo>
                  <a:cubicBezTo>
                    <a:pt x="12793" y="57150"/>
                    <a:pt x="0" y="44356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6" y="0"/>
                    <a:pt x="57150" y="12793"/>
                    <a:pt x="57150" y="28575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23">
              <a:extLst>
                <a:ext uri="{FF2B5EF4-FFF2-40B4-BE49-F238E27FC236}">
                  <a16:creationId xmlns:a16="http://schemas.microsoft.com/office/drawing/2014/main" id="{BBDA967E-4B02-4813-B606-F28A3F3D4D21}"/>
                </a:ext>
              </a:extLst>
            </p:cNvPr>
            <p:cNvSpPr/>
            <p:nvPr/>
          </p:nvSpPr>
          <p:spPr>
            <a:xfrm>
              <a:off x="6494495" y="3099598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2"/>
                  </a:moveTo>
                  <a:cubicBezTo>
                    <a:pt x="0" y="29241"/>
                    <a:pt x="25584" y="0"/>
                    <a:pt x="57150" y="0"/>
                  </a:cubicBezTo>
                  <a:lnTo>
                    <a:pt x="857250" y="0"/>
                  </a:lnTo>
                  <a:cubicBezTo>
                    <a:pt x="888815" y="0"/>
                    <a:pt x="914400" y="29241"/>
                    <a:pt x="914400" y="65312"/>
                  </a:cubicBezTo>
                  <a:lnTo>
                    <a:pt x="914400" y="391887"/>
                  </a:lnTo>
                  <a:cubicBezTo>
                    <a:pt x="914400" y="427958"/>
                    <a:pt x="888815" y="457200"/>
                    <a:pt x="857250" y="457200"/>
                  </a:cubicBezTo>
                  <a:lnTo>
                    <a:pt x="57150" y="457200"/>
                  </a:lnTo>
                  <a:cubicBezTo>
                    <a:pt x="25584" y="457200"/>
                    <a:pt x="0" y="427958"/>
                    <a:pt x="0" y="391887"/>
                  </a:cubicBezTo>
                  <a:lnTo>
                    <a:pt x="0" y="65312"/>
                  </a:lnTo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24">
              <a:extLst>
                <a:ext uri="{FF2B5EF4-FFF2-40B4-BE49-F238E27FC236}">
                  <a16:creationId xmlns:a16="http://schemas.microsoft.com/office/drawing/2014/main" id="{02A89CA1-2B01-4D2E-AD9D-80B4743CB039}"/>
                </a:ext>
              </a:extLst>
            </p:cNvPr>
            <p:cNvSpPr/>
            <p:nvPr/>
          </p:nvSpPr>
          <p:spPr>
            <a:xfrm>
              <a:off x="6494495" y="3099596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3"/>
                  </a:moveTo>
                  <a:cubicBezTo>
                    <a:pt x="0" y="29241"/>
                    <a:pt x="25587" y="0"/>
                    <a:pt x="57150" y="0"/>
                  </a:cubicBezTo>
                  <a:lnTo>
                    <a:pt x="857250" y="0"/>
                  </a:lnTo>
                  <a:cubicBezTo>
                    <a:pt x="888812" y="0"/>
                    <a:pt x="914400" y="29241"/>
                    <a:pt x="914400" y="65313"/>
                  </a:cubicBezTo>
                  <a:lnTo>
                    <a:pt x="914400" y="391886"/>
                  </a:lnTo>
                  <a:cubicBezTo>
                    <a:pt x="914400" y="427958"/>
                    <a:pt x="888812" y="457200"/>
                    <a:pt x="857250" y="457200"/>
                  </a:cubicBezTo>
                  <a:lnTo>
                    <a:pt x="57150" y="457200"/>
                  </a:lnTo>
                  <a:cubicBezTo>
                    <a:pt x="25587" y="457200"/>
                    <a:pt x="0" y="427958"/>
                    <a:pt x="0" y="391886"/>
                  </a:cubicBezTo>
                  <a:lnTo>
                    <a:pt x="0" y="65313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25">
              <a:extLst>
                <a:ext uri="{FF2B5EF4-FFF2-40B4-BE49-F238E27FC236}">
                  <a16:creationId xmlns:a16="http://schemas.microsoft.com/office/drawing/2014/main" id="{F06311DA-6B67-4ED2-86E6-35128FB143EF}"/>
                </a:ext>
              </a:extLst>
            </p:cNvPr>
            <p:cNvSpPr/>
            <p:nvPr/>
          </p:nvSpPr>
          <p:spPr>
            <a:xfrm>
              <a:off x="7112123" y="3758402"/>
              <a:ext cx="82350" cy="288227"/>
            </a:xfrm>
            <a:custGeom>
              <a:avLst/>
              <a:gdLst/>
              <a:ahLst/>
              <a:cxnLst/>
              <a:rect l="0" t="0" r="0" b="0"/>
              <a:pathLst>
                <a:path w="57150" h="200025">
                  <a:moveTo>
                    <a:pt x="28575" y="0"/>
                  </a:moveTo>
                  <a:lnTo>
                    <a:pt x="28575" y="142875"/>
                  </a:lnTo>
                  <a:moveTo>
                    <a:pt x="57150" y="171450"/>
                  </a:moveTo>
                  <a:cubicBezTo>
                    <a:pt x="57150" y="187231"/>
                    <a:pt x="44356" y="200025"/>
                    <a:pt x="28575" y="200025"/>
                  </a:cubicBezTo>
                  <a:cubicBezTo>
                    <a:pt x="12793" y="200025"/>
                    <a:pt x="0" y="187231"/>
                    <a:pt x="0" y="171450"/>
                  </a:cubicBezTo>
                  <a:cubicBezTo>
                    <a:pt x="0" y="155668"/>
                    <a:pt x="12793" y="142875"/>
                    <a:pt x="28575" y="142875"/>
                  </a:cubicBezTo>
                  <a:cubicBezTo>
                    <a:pt x="44356" y="142875"/>
                    <a:pt x="57150" y="155668"/>
                    <a:pt x="57150" y="171450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26">
              <a:extLst>
                <a:ext uri="{FF2B5EF4-FFF2-40B4-BE49-F238E27FC236}">
                  <a16:creationId xmlns:a16="http://schemas.microsoft.com/office/drawing/2014/main" id="{4ECD1648-B0AE-404E-8CAE-8C9F5C961C02}"/>
                </a:ext>
              </a:extLst>
            </p:cNvPr>
            <p:cNvSpPr/>
            <p:nvPr/>
          </p:nvSpPr>
          <p:spPr>
            <a:xfrm>
              <a:off x="7317999" y="4252504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2"/>
                  </a:moveTo>
                  <a:cubicBezTo>
                    <a:pt x="0" y="29241"/>
                    <a:pt x="25584" y="0"/>
                    <a:pt x="57150" y="0"/>
                  </a:cubicBezTo>
                  <a:lnTo>
                    <a:pt x="857250" y="0"/>
                  </a:lnTo>
                  <a:cubicBezTo>
                    <a:pt x="888815" y="0"/>
                    <a:pt x="914400" y="29241"/>
                    <a:pt x="914400" y="65312"/>
                  </a:cubicBezTo>
                  <a:lnTo>
                    <a:pt x="914400" y="391887"/>
                  </a:lnTo>
                  <a:cubicBezTo>
                    <a:pt x="914400" y="427958"/>
                    <a:pt x="888815" y="457200"/>
                    <a:pt x="857250" y="457200"/>
                  </a:cubicBezTo>
                  <a:lnTo>
                    <a:pt x="57150" y="457200"/>
                  </a:lnTo>
                  <a:cubicBezTo>
                    <a:pt x="25584" y="457200"/>
                    <a:pt x="0" y="427958"/>
                    <a:pt x="0" y="391887"/>
                  </a:cubicBezTo>
                  <a:lnTo>
                    <a:pt x="0" y="65312"/>
                  </a:lnTo>
                </a:path>
              </a:pathLst>
            </a:custGeom>
            <a:gradFill rotWithShape="1">
              <a:gsLst>
                <a:gs pos="0">
                  <a:srgbClr val="FFA1DA"/>
                </a:gs>
                <a:gs pos="100000">
                  <a:srgbClr val="F669BE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2BA1AEE8-3BB3-4D6A-8829-A830C2C5EEF6}"/>
                </a:ext>
              </a:extLst>
            </p:cNvPr>
            <p:cNvSpPr/>
            <p:nvPr/>
          </p:nvSpPr>
          <p:spPr>
            <a:xfrm>
              <a:off x="7317999" y="4252504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3"/>
                  </a:moveTo>
                  <a:cubicBezTo>
                    <a:pt x="0" y="29241"/>
                    <a:pt x="25587" y="0"/>
                    <a:pt x="57150" y="0"/>
                  </a:cubicBezTo>
                  <a:lnTo>
                    <a:pt x="857250" y="0"/>
                  </a:lnTo>
                  <a:cubicBezTo>
                    <a:pt x="888812" y="0"/>
                    <a:pt x="914400" y="29241"/>
                    <a:pt x="914400" y="65313"/>
                  </a:cubicBezTo>
                  <a:lnTo>
                    <a:pt x="914400" y="391886"/>
                  </a:lnTo>
                  <a:cubicBezTo>
                    <a:pt x="914400" y="427958"/>
                    <a:pt x="888812" y="457200"/>
                    <a:pt x="857250" y="457200"/>
                  </a:cubicBezTo>
                  <a:lnTo>
                    <a:pt x="57150" y="457200"/>
                  </a:lnTo>
                  <a:cubicBezTo>
                    <a:pt x="25587" y="457200"/>
                    <a:pt x="0" y="427958"/>
                    <a:pt x="0" y="391886"/>
                  </a:cubicBezTo>
                  <a:lnTo>
                    <a:pt x="0" y="65313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28">
              <a:extLst>
                <a:ext uri="{FF2B5EF4-FFF2-40B4-BE49-F238E27FC236}">
                  <a16:creationId xmlns:a16="http://schemas.microsoft.com/office/drawing/2014/main" id="{EF198EB6-74D7-4370-987A-F782170E3DE6}"/>
                </a:ext>
              </a:extLst>
            </p:cNvPr>
            <p:cNvSpPr/>
            <p:nvPr/>
          </p:nvSpPr>
          <p:spPr>
            <a:xfrm>
              <a:off x="7935628" y="3964278"/>
              <a:ext cx="82350" cy="288227"/>
            </a:xfrm>
            <a:custGeom>
              <a:avLst/>
              <a:gdLst/>
              <a:ahLst/>
              <a:cxnLst/>
              <a:rect l="0" t="0" r="0" b="0"/>
              <a:pathLst>
                <a:path w="57150" h="200025">
                  <a:moveTo>
                    <a:pt x="28575" y="200025"/>
                  </a:moveTo>
                  <a:lnTo>
                    <a:pt x="28575" y="57150"/>
                  </a:lnTo>
                  <a:moveTo>
                    <a:pt x="57150" y="28575"/>
                  </a:moveTo>
                  <a:cubicBezTo>
                    <a:pt x="57150" y="44356"/>
                    <a:pt x="44356" y="57150"/>
                    <a:pt x="28575" y="57150"/>
                  </a:cubicBezTo>
                  <a:cubicBezTo>
                    <a:pt x="12793" y="57150"/>
                    <a:pt x="0" y="44356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6" y="0"/>
                    <a:pt x="57150" y="12793"/>
                    <a:pt x="57150" y="28575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29">
              <a:extLst>
                <a:ext uri="{FF2B5EF4-FFF2-40B4-BE49-F238E27FC236}">
                  <a16:creationId xmlns:a16="http://schemas.microsoft.com/office/drawing/2014/main" id="{32847175-D152-4640-B0AD-828A350CD280}"/>
                </a:ext>
              </a:extLst>
            </p:cNvPr>
            <p:cNvSpPr/>
            <p:nvPr/>
          </p:nvSpPr>
          <p:spPr>
            <a:xfrm>
              <a:off x="8141504" y="3099598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2"/>
                  </a:moveTo>
                  <a:cubicBezTo>
                    <a:pt x="0" y="29241"/>
                    <a:pt x="25584" y="0"/>
                    <a:pt x="57150" y="0"/>
                  </a:cubicBezTo>
                  <a:lnTo>
                    <a:pt x="857250" y="0"/>
                  </a:lnTo>
                  <a:cubicBezTo>
                    <a:pt x="888815" y="0"/>
                    <a:pt x="914400" y="29241"/>
                    <a:pt x="914400" y="65312"/>
                  </a:cubicBezTo>
                  <a:lnTo>
                    <a:pt x="914400" y="391887"/>
                  </a:lnTo>
                  <a:cubicBezTo>
                    <a:pt x="914400" y="427958"/>
                    <a:pt x="888815" y="457200"/>
                    <a:pt x="857250" y="457200"/>
                  </a:cubicBezTo>
                  <a:lnTo>
                    <a:pt x="57150" y="457200"/>
                  </a:lnTo>
                  <a:cubicBezTo>
                    <a:pt x="25584" y="457200"/>
                    <a:pt x="0" y="427958"/>
                    <a:pt x="0" y="391887"/>
                  </a:cubicBezTo>
                  <a:lnTo>
                    <a:pt x="0" y="65312"/>
                  </a:lnTo>
                </a:path>
              </a:pathLst>
            </a:custGeom>
            <a:gradFill rotWithShape="1">
              <a:gsLst>
                <a:gs pos="0">
                  <a:srgbClr val="E4A9FF"/>
                </a:gs>
                <a:gs pos="100000">
                  <a:srgbClr val="CD6AFB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ounded Rectangle 30">
              <a:extLst>
                <a:ext uri="{FF2B5EF4-FFF2-40B4-BE49-F238E27FC236}">
                  <a16:creationId xmlns:a16="http://schemas.microsoft.com/office/drawing/2014/main" id="{036FF7DD-D389-4F88-9BBF-CBDBB045D22E}"/>
                </a:ext>
              </a:extLst>
            </p:cNvPr>
            <p:cNvSpPr/>
            <p:nvPr/>
          </p:nvSpPr>
          <p:spPr>
            <a:xfrm>
              <a:off x="8141504" y="3099596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3"/>
                  </a:moveTo>
                  <a:cubicBezTo>
                    <a:pt x="0" y="29241"/>
                    <a:pt x="25587" y="0"/>
                    <a:pt x="57150" y="0"/>
                  </a:cubicBezTo>
                  <a:lnTo>
                    <a:pt x="857250" y="0"/>
                  </a:lnTo>
                  <a:cubicBezTo>
                    <a:pt x="888812" y="0"/>
                    <a:pt x="914400" y="29241"/>
                    <a:pt x="914400" y="65313"/>
                  </a:cubicBezTo>
                  <a:lnTo>
                    <a:pt x="914400" y="391886"/>
                  </a:lnTo>
                  <a:cubicBezTo>
                    <a:pt x="914400" y="427958"/>
                    <a:pt x="888812" y="457200"/>
                    <a:pt x="857250" y="457200"/>
                  </a:cubicBezTo>
                  <a:lnTo>
                    <a:pt x="57150" y="457200"/>
                  </a:lnTo>
                  <a:cubicBezTo>
                    <a:pt x="25587" y="457200"/>
                    <a:pt x="0" y="427958"/>
                    <a:pt x="0" y="391886"/>
                  </a:cubicBezTo>
                  <a:lnTo>
                    <a:pt x="0" y="65313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nded Rectangle 31">
              <a:extLst>
                <a:ext uri="{FF2B5EF4-FFF2-40B4-BE49-F238E27FC236}">
                  <a16:creationId xmlns:a16="http://schemas.microsoft.com/office/drawing/2014/main" id="{3BC91686-8115-499A-A661-3A82E0B8365F}"/>
                </a:ext>
              </a:extLst>
            </p:cNvPr>
            <p:cNvSpPr/>
            <p:nvPr/>
          </p:nvSpPr>
          <p:spPr>
            <a:xfrm>
              <a:off x="8759133" y="3758402"/>
              <a:ext cx="82350" cy="288227"/>
            </a:xfrm>
            <a:custGeom>
              <a:avLst/>
              <a:gdLst/>
              <a:ahLst/>
              <a:cxnLst/>
              <a:rect l="0" t="0" r="0" b="0"/>
              <a:pathLst>
                <a:path w="57150" h="200025">
                  <a:moveTo>
                    <a:pt x="28575" y="0"/>
                  </a:moveTo>
                  <a:lnTo>
                    <a:pt x="28575" y="142875"/>
                  </a:lnTo>
                  <a:moveTo>
                    <a:pt x="57150" y="171450"/>
                  </a:moveTo>
                  <a:cubicBezTo>
                    <a:pt x="57150" y="187231"/>
                    <a:pt x="44356" y="200025"/>
                    <a:pt x="28575" y="200025"/>
                  </a:cubicBezTo>
                  <a:cubicBezTo>
                    <a:pt x="12793" y="200025"/>
                    <a:pt x="0" y="187231"/>
                    <a:pt x="0" y="171450"/>
                  </a:cubicBezTo>
                  <a:cubicBezTo>
                    <a:pt x="0" y="155668"/>
                    <a:pt x="12793" y="142875"/>
                    <a:pt x="28575" y="142875"/>
                  </a:cubicBezTo>
                  <a:cubicBezTo>
                    <a:pt x="44356" y="142875"/>
                    <a:pt x="57150" y="155668"/>
                    <a:pt x="57150" y="171450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nded Rectangle 32">
              <a:extLst>
                <a:ext uri="{FF2B5EF4-FFF2-40B4-BE49-F238E27FC236}">
                  <a16:creationId xmlns:a16="http://schemas.microsoft.com/office/drawing/2014/main" id="{E61A29BA-A520-43E7-9486-08A26769E3CC}"/>
                </a:ext>
              </a:extLst>
            </p:cNvPr>
            <p:cNvSpPr/>
            <p:nvPr/>
          </p:nvSpPr>
          <p:spPr>
            <a:xfrm>
              <a:off x="8978734" y="4252504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2"/>
                  </a:moveTo>
                  <a:cubicBezTo>
                    <a:pt x="0" y="29241"/>
                    <a:pt x="25584" y="0"/>
                    <a:pt x="57150" y="0"/>
                  </a:cubicBezTo>
                  <a:lnTo>
                    <a:pt x="857250" y="0"/>
                  </a:lnTo>
                  <a:cubicBezTo>
                    <a:pt x="888815" y="0"/>
                    <a:pt x="914400" y="29241"/>
                    <a:pt x="914400" y="65312"/>
                  </a:cubicBezTo>
                  <a:lnTo>
                    <a:pt x="914400" y="391887"/>
                  </a:lnTo>
                  <a:cubicBezTo>
                    <a:pt x="914400" y="427958"/>
                    <a:pt x="888815" y="457200"/>
                    <a:pt x="857250" y="457200"/>
                  </a:cubicBezTo>
                  <a:lnTo>
                    <a:pt x="57150" y="457200"/>
                  </a:lnTo>
                  <a:cubicBezTo>
                    <a:pt x="25584" y="457200"/>
                    <a:pt x="0" y="427958"/>
                    <a:pt x="0" y="391887"/>
                  </a:cubicBezTo>
                  <a:lnTo>
                    <a:pt x="0" y="65312"/>
                  </a:lnTo>
                </a:path>
              </a:pathLst>
            </a:custGeom>
            <a:gradFill rotWithShape="1">
              <a:gsLst>
                <a:gs pos="0">
                  <a:srgbClr val="BCABFF"/>
                </a:gs>
                <a:gs pos="100000">
                  <a:srgbClr val="886A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nded Rectangle 33">
              <a:extLst>
                <a:ext uri="{FF2B5EF4-FFF2-40B4-BE49-F238E27FC236}">
                  <a16:creationId xmlns:a16="http://schemas.microsoft.com/office/drawing/2014/main" id="{E17E041E-EA85-40B2-8D12-320CBAB0060E}"/>
                </a:ext>
              </a:extLst>
            </p:cNvPr>
            <p:cNvSpPr/>
            <p:nvPr/>
          </p:nvSpPr>
          <p:spPr>
            <a:xfrm>
              <a:off x="8978734" y="4252504"/>
              <a:ext cx="1317608" cy="658804"/>
            </a:xfrm>
            <a:custGeom>
              <a:avLst/>
              <a:gdLst/>
              <a:ahLst/>
              <a:cxnLst/>
              <a:rect l="0" t="0" r="0" b="0"/>
              <a:pathLst>
                <a:path w="914400" h="457200">
                  <a:moveTo>
                    <a:pt x="0" y="65313"/>
                  </a:moveTo>
                  <a:cubicBezTo>
                    <a:pt x="0" y="29241"/>
                    <a:pt x="25587" y="0"/>
                    <a:pt x="57150" y="0"/>
                  </a:cubicBezTo>
                  <a:lnTo>
                    <a:pt x="857250" y="0"/>
                  </a:lnTo>
                  <a:cubicBezTo>
                    <a:pt x="888812" y="0"/>
                    <a:pt x="914400" y="29241"/>
                    <a:pt x="914400" y="65313"/>
                  </a:cubicBezTo>
                  <a:lnTo>
                    <a:pt x="914400" y="391886"/>
                  </a:lnTo>
                  <a:cubicBezTo>
                    <a:pt x="914400" y="427958"/>
                    <a:pt x="888812" y="457200"/>
                    <a:pt x="857250" y="457200"/>
                  </a:cubicBezTo>
                  <a:lnTo>
                    <a:pt x="57150" y="457200"/>
                  </a:lnTo>
                  <a:cubicBezTo>
                    <a:pt x="25587" y="457200"/>
                    <a:pt x="0" y="427958"/>
                    <a:pt x="0" y="391886"/>
                  </a:cubicBezTo>
                  <a:lnTo>
                    <a:pt x="0" y="65313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ounded Rectangle 34">
              <a:extLst>
                <a:ext uri="{FF2B5EF4-FFF2-40B4-BE49-F238E27FC236}">
                  <a16:creationId xmlns:a16="http://schemas.microsoft.com/office/drawing/2014/main" id="{97BC4CF9-E672-4A0D-8670-6EEEBF39133F}"/>
                </a:ext>
              </a:extLst>
            </p:cNvPr>
            <p:cNvSpPr/>
            <p:nvPr/>
          </p:nvSpPr>
          <p:spPr>
            <a:xfrm>
              <a:off x="9582638" y="3964278"/>
              <a:ext cx="82350" cy="288227"/>
            </a:xfrm>
            <a:custGeom>
              <a:avLst/>
              <a:gdLst/>
              <a:ahLst/>
              <a:cxnLst/>
              <a:rect l="0" t="0" r="0" b="0"/>
              <a:pathLst>
                <a:path w="57150" h="200025">
                  <a:moveTo>
                    <a:pt x="28575" y="200025"/>
                  </a:moveTo>
                  <a:lnTo>
                    <a:pt x="28575" y="57150"/>
                  </a:lnTo>
                  <a:moveTo>
                    <a:pt x="57150" y="28575"/>
                  </a:moveTo>
                  <a:cubicBezTo>
                    <a:pt x="57150" y="44356"/>
                    <a:pt x="44356" y="57150"/>
                    <a:pt x="28575" y="57150"/>
                  </a:cubicBezTo>
                  <a:cubicBezTo>
                    <a:pt x="12793" y="57150"/>
                    <a:pt x="0" y="44356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6" y="0"/>
                    <a:pt x="57150" y="12793"/>
                    <a:pt x="57150" y="28575"/>
                  </a:cubicBez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38">
              <a:extLst>
                <a:ext uri="{FF2B5EF4-FFF2-40B4-BE49-F238E27FC236}">
                  <a16:creationId xmlns:a16="http://schemas.microsoft.com/office/drawing/2014/main" id="{20F681D3-10A9-4E33-A1B6-939C87A52EC3}"/>
                </a:ext>
              </a:extLst>
            </p:cNvPr>
            <p:cNvSpPr/>
            <p:nvPr/>
          </p:nvSpPr>
          <p:spPr>
            <a:xfrm>
              <a:off x="9387055" y="4348176"/>
              <a:ext cx="473515" cy="473535"/>
            </a:xfrm>
            <a:custGeom>
              <a:avLst/>
              <a:gdLst/>
              <a:ahLst/>
              <a:cxnLst/>
              <a:rect l="0" t="0" r="0" b="0"/>
              <a:pathLst>
                <a:path w="328612" h="328626">
                  <a:moveTo>
                    <a:pt x="157162" y="14301"/>
                  </a:moveTo>
                  <a:lnTo>
                    <a:pt x="314325" y="14301"/>
                  </a:lnTo>
                  <a:cubicBezTo>
                    <a:pt x="322215" y="14301"/>
                    <a:pt x="328612" y="20698"/>
                    <a:pt x="328612" y="28589"/>
                  </a:cubicBezTo>
                  <a:lnTo>
                    <a:pt x="328612" y="314339"/>
                  </a:lnTo>
                  <a:cubicBezTo>
                    <a:pt x="328612" y="322230"/>
                    <a:pt x="322215" y="328626"/>
                    <a:pt x="314325" y="328626"/>
                  </a:cubicBezTo>
                  <a:lnTo>
                    <a:pt x="14287" y="328626"/>
                  </a:lnTo>
                  <a:cubicBezTo>
                    <a:pt x="6396" y="328626"/>
                    <a:pt x="0" y="322230"/>
                    <a:pt x="0" y="314339"/>
                  </a:cubicBezTo>
                  <a:lnTo>
                    <a:pt x="0" y="28589"/>
                  </a:lnTo>
                  <a:cubicBezTo>
                    <a:pt x="0" y="20698"/>
                    <a:pt x="6396" y="14301"/>
                    <a:pt x="14287" y="14301"/>
                  </a:cubicBezTo>
                  <a:lnTo>
                    <a:pt x="57150" y="14301"/>
                  </a:lnTo>
                  <a:moveTo>
                    <a:pt x="157162" y="142889"/>
                  </a:moveTo>
                  <a:cubicBezTo>
                    <a:pt x="157162" y="150747"/>
                    <a:pt x="152876" y="152333"/>
                    <a:pt x="147747" y="146432"/>
                  </a:cubicBezTo>
                  <a:lnTo>
                    <a:pt x="107156" y="100026"/>
                  </a:lnTo>
                  <a:lnTo>
                    <a:pt x="66522" y="146404"/>
                  </a:lnTo>
                  <a:cubicBezTo>
                    <a:pt x="61336" y="152319"/>
                    <a:pt x="57107" y="150690"/>
                    <a:pt x="57107" y="142874"/>
                  </a:cubicBezTo>
                  <a:lnTo>
                    <a:pt x="57107" y="14287"/>
                  </a:lnTo>
                  <a:cubicBezTo>
                    <a:pt x="57107" y="6396"/>
                    <a:pt x="63503" y="0"/>
                    <a:pt x="71394" y="0"/>
                  </a:cubicBezTo>
                  <a:lnTo>
                    <a:pt x="142832" y="0"/>
                  </a:lnTo>
                  <a:cubicBezTo>
                    <a:pt x="150722" y="0"/>
                    <a:pt x="157119" y="6396"/>
                    <a:pt x="157119" y="14287"/>
                  </a:cubicBezTo>
                  <a:close/>
                  <a:moveTo>
                    <a:pt x="200025" y="85725"/>
                  </a:moveTo>
                  <a:lnTo>
                    <a:pt x="285750" y="85725"/>
                  </a:lnTo>
                  <a:moveTo>
                    <a:pt x="200025" y="142874"/>
                  </a:moveTo>
                  <a:lnTo>
                    <a:pt x="285750" y="142874"/>
                  </a:lnTo>
                  <a:moveTo>
                    <a:pt x="42862" y="200024"/>
                  </a:moveTo>
                  <a:lnTo>
                    <a:pt x="285750" y="200024"/>
                  </a:lnTo>
                  <a:moveTo>
                    <a:pt x="42862" y="257175"/>
                  </a:moveTo>
                  <a:lnTo>
                    <a:pt x="278563" y="257175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ounded Rectangle 40">
              <a:extLst>
                <a:ext uri="{FF2B5EF4-FFF2-40B4-BE49-F238E27FC236}">
                  <a16:creationId xmlns:a16="http://schemas.microsoft.com/office/drawing/2014/main" id="{E321DA8D-B9C4-4269-A528-DC3BB67A5AC5}"/>
                </a:ext>
              </a:extLst>
            </p:cNvPr>
            <p:cNvSpPr/>
            <p:nvPr/>
          </p:nvSpPr>
          <p:spPr>
            <a:xfrm>
              <a:off x="6916540" y="3190896"/>
              <a:ext cx="473515" cy="473515"/>
            </a:xfrm>
            <a:custGeom>
              <a:avLst/>
              <a:gdLst/>
              <a:ahLst/>
              <a:cxnLst/>
              <a:rect l="0" t="0" r="0" b="0"/>
              <a:pathLst>
                <a:path w="328612" h="328612">
                  <a:moveTo>
                    <a:pt x="85725" y="328612"/>
                  </a:moveTo>
                  <a:cubicBezTo>
                    <a:pt x="85725" y="304940"/>
                    <a:pt x="66534" y="285750"/>
                    <a:pt x="42862" y="285750"/>
                  </a:cubicBezTo>
                  <a:cubicBezTo>
                    <a:pt x="19190" y="285750"/>
                    <a:pt x="0" y="304940"/>
                    <a:pt x="0" y="328612"/>
                  </a:cubicBezTo>
                  <a:moveTo>
                    <a:pt x="14287" y="242887"/>
                  </a:moveTo>
                  <a:cubicBezTo>
                    <a:pt x="14287" y="258669"/>
                    <a:pt x="27080" y="271462"/>
                    <a:pt x="42862" y="271462"/>
                  </a:cubicBezTo>
                  <a:cubicBezTo>
                    <a:pt x="58644" y="271462"/>
                    <a:pt x="71437" y="258669"/>
                    <a:pt x="71437" y="242887"/>
                  </a:cubicBezTo>
                  <a:cubicBezTo>
                    <a:pt x="71437" y="227105"/>
                    <a:pt x="58644" y="214312"/>
                    <a:pt x="42862" y="214312"/>
                  </a:cubicBezTo>
                  <a:cubicBezTo>
                    <a:pt x="27080" y="214312"/>
                    <a:pt x="14287" y="227105"/>
                    <a:pt x="14287" y="242887"/>
                  </a:cubicBezTo>
                  <a:moveTo>
                    <a:pt x="207168" y="328612"/>
                  </a:moveTo>
                  <a:cubicBezTo>
                    <a:pt x="207168" y="304940"/>
                    <a:pt x="187978" y="285750"/>
                    <a:pt x="164306" y="285750"/>
                  </a:cubicBezTo>
                  <a:cubicBezTo>
                    <a:pt x="140633" y="285750"/>
                    <a:pt x="121443" y="304940"/>
                    <a:pt x="121443" y="328612"/>
                  </a:cubicBezTo>
                  <a:moveTo>
                    <a:pt x="328612" y="328612"/>
                  </a:moveTo>
                  <a:cubicBezTo>
                    <a:pt x="328612" y="304940"/>
                    <a:pt x="309422" y="285750"/>
                    <a:pt x="285750" y="285750"/>
                  </a:cubicBezTo>
                  <a:cubicBezTo>
                    <a:pt x="262077" y="285750"/>
                    <a:pt x="242887" y="304940"/>
                    <a:pt x="242887" y="328612"/>
                  </a:cubicBezTo>
                  <a:moveTo>
                    <a:pt x="135731" y="242887"/>
                  </a:moveTo>
                  <a:cubicBezTo>
                    <a:pt x="135731" y="258669"/>
                    <a:pt x="148524" y="271462"/>
                    <a:pt x="164306" y="271462"/>
                  </a:cubicBezTo>
                  <a:cubicBezTo>
                    <a:pt x="180087" y="271462"/>
                    <a:pt x="192881" y="258669"/>
                    <a:pt x="192881" y="242887"/>
                  </a:cubicBezTo>
                  <a:cubicBezTo>
                    <a:pt x="192881" y="227105"/>
                    <a:pt x="180087" y="214312"/>
                    <a:pt x="164306" y="214312"/>
                  </a:cubicBezTo>
                  <a:cubicBezTo>
                    <a:pt x="148524" y="214312"/>
                    <a:pt x="135731" y="227105"/>
                    <a:pt x="135731" y="242887"/>
                  </a:cubicBezTo>
                  <a:moveTo>
                    <a:pt x="257175" y="242887"/>
                  </a:moveTo>
                  <a:cubicBezTo>
                    <a:pt x="257175" y="258669"/>
                    <a:pt x="269968" y="271462"/>
                    <a:pt x="285750" y="271462"/>
                  </a:cubicBezTo>
                  <a:cubicBezTo>
                    <a:pt x="301531" y="271462"/>
                    <a:pt x="314325" y="258669"/>
                    <a:pt x="314325" y="242887"/>
                  </a:cubicBezTo>
                  <a:cubicBezTo>
                    <a:pt x="314325" y="227105"/>
                    <a:pt x="301531" y="214312"/>
                    <a:pt x="285750" y="214312"/>
                  </a:cubicBezTo>
                  <a:cubicBezTo>
                    <a:pt x="269968" y="214312"/>
                    <a:pt x="257175" y="227105"/>
                    <a:pt x="257175" y="242887"/>
                  </a:cubicBezTo>
                  <a:moveTo>
                    <a:pt x="14287" y="178593"/>
                  </a:moveTo>
                  <a:lnTo>
                    <a:pt x="14287" y="100012"/>
                  </a:lnTo>
                  <a:lnTo>
                    <a:pt x="71437" y="100012"/>
                  </a:lnTo>
                  <a:lnTo>
                    <a:pt x="71437" y="178593"/>
                  </a:lnTo>
                  <a:moveTo>
                    <a:pt x="135731" y="178593"/>
                  </a:moveTo>
                  <a:lnTo>
                    <a:pt x="135731" y="0"/>
                  </a:lnTo>
                  <a:lnTo>
                    <a:pt x="192881" y="0"/>
                  </a:lnTo>
                  <a:lnTo>
                    <a:pt x="192881" y="178593"/>
                  </a:lnTo>
                  <a:moveTo>
                    <a:pt x="257175" y="178593"/>
                  </a:moveTo>
                  <a:lnTo>
                    <a:pt x="257175" y="71437"/>
                  </a:lnTo>
                  <a:lnTo>
                    <a:pt x="314325" y="71437"/>
                  </a:lnTo>
                  <a:lnTo>
                    <a:pt x="314325" y="178593"/>
                  </a:lnTo>
                  <a:moveTo>
                    <a:pt x="0" y="178593"/>
                  </a:moveTo>
                  <a:lnTo>
                    <a:pt x="328612" y="178593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nded Rectangle 42">
              <a:extLst>
                <a:ext uri="{FF2B5EF4-FFF2-40B4-BE49-F238E27FC236}">
                  <a16:creationId xmlns:a16="http://schemas.microsoft.com/office/drawing/2014/main" id="{F29B8AD7-5005-4856-9CC9-F986C50A7F4A}"/>
                </a:ext>
              </a:extLst>
            </p:cNvPr>
            <p:cNvSpPr/>
            <p:nvPr/>
          </p:nvSpPr>
          <p:spPr>
            <a:xfrm>
              <a:off x="3619948" y="3181948"/>
              <a:ext cx="478662" cy="478662"/>
            </a:xfrm>
            <a:custGeom>
              <a:avLst/>
              <a:gdLst/>
              <a:ahLst/>
              <a:cxnLst/>
              <a:rect l="0" t="0" r="0" b="0"/>
              <a:pathLst>
                <a:path w="332184" h="332184">
                  <a:moveTo>
                    <a:pt x="332184" y="83582"/>
                  </a:moveTo>
                  <a:lnTo>
                    <a:pt x="332184" y="300751"/>
                  </a:lnTo>
                  <a:cubicBezTo>
                    <a:pt x="332184" y="317896"/>
                    <a:pt x="317896" y="332184"/>
                    <a:pt x="300751" y="332184"/>
                  </a:cubicBezTo>
                  <a:moveTo>
                    <a:pt x="300751" y="332184"/>
                  </a:moveTo>
                  <a:cubicBezTo>
                    <a:pt x="283606" y="332184"/>
                    <a:pt x="269319" y="317896"/>
                    <a:pt x="269319" y="300751"/>
                  </a:cubicBezTo>
                  <a:lnTo>
                    <a:pt x="269319" y="32146"/>
                  </a:lnTo>
                  <a:cubicBezTo>
                    <a:pt x="269319" y="20716"/>
                    <a:pt x="259318" y="10715"/>
                    <a:pt x="247888" y="10715"/>
                  </a:cubicBezTo>
                  <a:lnTo>
                    <a:pt x="32146" y="10715"/>
                  </a:lnTo>
                  <a:cubicBezTo>
                    <a:pt x="20716" y="10715"/>
                    <a:pt x="10715" y="20716"/>
                    <a:pt x="10715" y="32146"/>
                  </a:cubicBezTo>
                  <a:lnTo>
                    <a:pt x="10715" y="300751"/>
                  </a:lnTo>
                  <a:cubicBezTo>
                    <a:pt x="10715" y="317896"/>
                    <a:pt x="25003" y="332184"/>
                    <a:pt x="42148" y="332184"/>
                  </a:cubicBezTo>
                  <a:close/>
                  <a:moveTo>
                    <a:pt x="207883" y="212169"/>
                  </a:moveTo>
                  <a:lnTo>
                    <a:pt x="72151" y="212169"/>
                  </a:lnTo>
                  <a:moveTo>
                    <a:pt x="157876" y="269319"/>
                  </a:moveTo>
                  <a:lnTo>
                    <a:pt x="72151" y="269319"/>
                  </a:lnTo>
                  <a:moveTo>
                    <a:pt x="0" y="0"/>
                  </a:moveTo>
                  <a:moveTo>
                    <a:pt x="203596" y="83582"/>
                  </a:moveTo>
                  <a:lnTo>
                    <a:pt x="139303" y="140732"/>
                  </a:lnTo>
                  <a:lnTo>
                    <a:pt x="110728" y="115014"/>
                  </a:lnTo>
                  <a:lnTo>
                    <a:pt x="75009" y="146446"/>
                  </a:lnTo>
                  <a:moveTo>
                    <a:pt x="160734" y="83582"/>
                  </a:moveTo>
                  <a:lnTo>
                    <a:pt x="203596" y="83582"/>
                  </a:lnTo>
                  <a:lnTo>
                    <a:pt x="203596" y="122158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ounded Rectangle 43">
              <a:extLst>
                <a:ext uri="{FF2B5EF4-FFF2-40B4-BE49-F238E27FC236}">
                  <a16:creationId xmlns:a16="http://schemas.microsoft.com/office/drawing/2014/main" id="{00AB18E0-2850-4D46-8387-1C92FB2A5EDA}"/>
                </a:ext>
              </a:extLst>
            </p:cNvPr>
            <p:cNvSpPr/>
            <p:nvPr/>
          </p:nvSpPr>
          <p:spPr>
            <a:xfrm>
              <a:off x="1965218" y="3181948"/>
              <a:ext cx="451438" cy="478662"/>
            </a:xfrm>
            <a:custGeom>
              <a:avLst/>
              <a:gdLst/>
              <a:ahLst/>
              <a:cxnLst/>
              <a:rect l="0" t="0" r="0" b="0"/>
              <a:pathLst>
                <a:path w="313291" h="332184">
                  <a:moveTo>
                    <a:pt x="281145" y="79565"/>
                  </a:moveTo>
                  <a:cubicBezTo>
                    <a:pt x="298900" y="79565"/>
                    <a:pt x="313291" y="65172"/>
                    <a:pt x="313291" y="47418"/>
                  </a:cubicBezTo>
                  <a:cubicBezTo>
                    <a:pt x="313291" y="29663"/>
                    <a:pt x="298900" y="15271"/>
                    <a:pt x="281145" y="15271"/>
                  </a:cubicBezTo>
                  <a:cubicBezTo>
                    <a:pt x="263391" y="15271"/>
                    <a:pt x="248998" y="29663"/>
                    <a:pt x="248998" y="47418"/>
                  </a:cubicBezTo>
                  <a:cubicBezTo>
                    <a:pt x="248998" y="65172"/>
                    <a:pt x="263391" y="79565"/>
                    <a:pt x="281145" y="79565"/>
                  </a:cubicBezTo>
                  <a:close/>
                  <a:moveTo>
                    <a:pt x="280430" y="332184"/>
                  </a:moveTo>
                  <a:cubicBezTo>
                    <a:pt x="291860" y="332184"/>
                    <a:pt x="301862" y="322183"/>
                    <a:pt x="301862" y="310753"/>
                  </a:cubicBezTo>
                  <a:lnTo>
                    <a:pt x="301862" y="122157"/>
                  </a:lnTo>
                  <a:cubicBezTo>
                    <a:pt x="301862" y="113585"/>
                    <a:pt x="297575" y="106441"/>
                    <a:pt x="290432" y="103584"/>
                  </a:cubicBezTo>
                  <a:cubicBezTo>
                    <a:pt x="283288" y="99297"/>
                    <a:pt x="274715" y="100726"/>
                    <a:pt x="269000" y="105012"/>
                  </a:cubicBezTo>
                  <a:lnTo>
                    <a:pt x="253284" y="115014"/>
                  </a:lnTo>
                  <a:cubicBezTo>
                    <a:pt x="240425" y="123586"/>
                    <a:pt x="217565" y="122157"/>
                    <a:pt x="191848" y="122157"/>
                  </a:cubicBezTo>
                  <a:cubicBezTo>
                    <a:pt x="180418" y="122157"/>
                    <a:pt x="170417" y="132159"/>
                    <a:pt x="170417" y="143589"/>
                  </a:cubicBezTo>
                  <a:cubicBezTo>
                    <a:pt x="170417" y="155019"/>
                    <a:pt x="180418" y="165020"/>
                    <a:pt x="191848" y="165020"/>
                  </a:cubicBezTo>
                  <a:lnTo>
                    <a:pt x="228995" y="165020"/>
                  </a:lnTo>
                  <a:cubicBezTo>
                    <a:pt x="238997" y="165020"/>
                    <a:pt x="248998" y="163591"/>
                    <a:pt x="258999" y="159305"/>
                  </a:cubicBezTo>
                  <a:lnTo>
                    <a:pt x="258999" y="310753"/>
                  </a:lnTo>
                  <a:cubicBezTo>
                    <a:pt x="258999" y="322183"/>
                    <a:pt x="269000" y="332184"/>
                    <a:pt x="280430" y="332184"/>
                  </a:cubicBezTo>
                  <a:close/>
                  <a:moveTo>
                    <a:pt x="102471" y="122158"/>
                  </a:moveTo>
                  <a:lnTo>
                    <a:pt x="31034" y="122158"/>
                  </a:lnTo>
                  <a:moveTo>
                    <a:pt x="102471" y="79296"/>
                  </a:moveTo>
                  <a:lnTo>
                    <a:pt x="31034" y="79296"/>
                  </a:lnTo>
                  <a:moveTo>
                    <a:pt x="102471" y="36433"/>
                  </a:moveTo>
                  <a:lnTo>
                    <a:pt x="31034" y="36433"/>
                  </a:lnTo>
                  <a:moveTo>
                    <a:pt x="194795" y="165020"/>
                  </a:moveTo>
                  <a:lnTo>
                    <a:pt x="31034" y="165020"/>
                  </a:lnTo>
                  <a:moveTo>
                    <a:pt x="31002" y="165020"/>
                  </a:moveTo>
                  <a:lnTo>
                    <a:pt x="31002" y="332184"/>
                  </a:lnTo>
                  <a:lnTo>
                    <a:pt x="163909" y="332184"/>
                  </a:lnTo>
                  <a:moveTo>
                    <a:pt x="0" y="0"/>
                  </a:moveTo>
                  <a:moveTo>
                    <a:pt x="131046" y="332184"/>
                  </a:moveTo>
                  <a:lnTo>
                    <a:pt x="131046" y="165020"/>
                  </a:lnTo>
                  <a:moveTo>
                    <a:pt x="0" y="0"/>
                  </a:moveTo>
                  <a:moveTo>
                    <a:pt x="191845" y="122157"/>
                  </a:moveTo>
                  <a:lnTo>
                    <a:pt x="203275" y="79294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871F1DF-8B98-44BA-AEFE-5D348FF8BC09}"/>
                </a:ext>
              </a:extLst>
            </p:cNvPr>
            <p:cNvSpPr txBox="1"/>
            <p:nvPr/>
          </p:nvSpPr>
          <p:spPr>
            <a:xfrm>
              <a:off x="3066628" y="2698640"/>
              <a:ext cx="160367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Literature Review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F445F8-8504-4068-9D01-63D8E4A4E786}"/>
                </a:ext>
              </a:extLst>
            </p:cNvPr>
            <p:cNvSpPr txBox="1"/>
            <p:nvPr/>
          </p:nvSpPr>
          <p:spPr>
            <a:xfrm>
              <a:off x="8280907" y="2672131"/>
              <a:ext cx="112115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  <a:endParaRPr sz="16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6EC0A51-BF8F-481A-8E9F-230201D03026}"/>
                </a:ext>
              </a:extLst>
            </p:cNvPr>
            <p:cNvSpPr txBox="1"/>
            <p:nvPr/>
          </p:nvSpPr>
          <p:spPr>
            <a:xfrm>
              <a:off x="6633928" y="2683497"/>
              <a:ext cx="101641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sz="16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8793ECC-BD03-44BF-967E-96D20EDCC535}"/>
                </a:ext>
              </a:extLst>
            </p:cNvPr>
            <p:cNvSpPr txBox="1"/>
            <p:nvPr/>
          </p:nvSpPr>
          <p:spPr>
            <a:xfrm>
              <a:off x="4849241" y="2677461"/>
              <a:ext cx="137084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Collection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61715B5-47FC-4B02-A890-38432870F6FF}"/>
                </a:ext>
              </a:extLst>
            </p:cNvPr>
            <p:cNvSpPr txBox="1"/>
            <p:nvPr/>
          </p:nvSpPr>
          <p:spPr>
            <a:xfrm>
              <a:off x="2599584" y="5081252"/>
              <a:ext cx="97071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Objectives</a:t>
              </a:r>
              <a:endParaRPr sz="16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3AC503E-C0F4-4F0D-8FBA-91CA34A32193}"/>
                </a:ext>
              </a:extLst>
            </p:cNvPr>
            <p:cNvSpPr txBox="1"/>
            <p:nvPr/>
          </p:nvSpPr>
          <p:spPr>
            <a:xfrm>
              <a:off x="1679845" y="2665699"/>
              <a:ext cx="112115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sz="16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Rounded Rectangle 57">
              <a:extLst>
                <a:ext uri="{FF2B5EF4-FFF2-40B4-BE49-F238E27FC236}">
                  <a16:creationId xmlns:a16="http://schemas.microsoft.com/office/drawing/2014/main" id="{F9ACAFDB-FEE4-4354-89A2-8252E3F3111B}"/>
                </a:ext>
              </a:extLst>
            </p:cNvPr>
            <p:cNvSpPr/>
            <p:nvPr/>
          </p:nvSpPr>
          <p:spPr>
            <a:xfrm>
              <a:off x="2799016" y="4345128"/>
              <a:ext cx="473515" cy="473515"/>
            </a:xfrm>
            <a:custGeom>
              <a:avLst/>
              <a:gdLst/>
              <a:ahLst/>
              <a:cxnLst/>
              <a:rect l="0" t="0" r="0" b="0"/>
              <a:pathLst>
                <a:path w="328612" h="328612">
                  <a:moveTo>
                    <a:pt x="28575" y="0"/>
                  </a:moveTo>
                  <a:lnTo>
                    <a:pt x="300037" y="0"/>
                  </a:lnTo>
                  <a:cubicBezTo>
                    <a:pt x="300037" y="0"/>
                    <a:pt x="328612" y="0"/>
                    <a:pt x="328612" y="28575"/>
                  </a:cubicBezTo>
                  <a:lnTo>
                    <a:pt x="328612" y="300037"/>
                  </a:lnTo>
                  <a:cubicBezTo>
                    <a:pt x="328612" y="300037"/>
                    <a:pt x="328612" y="328612"/>
                    <a:pt x="300037" y="328612"/>
                  </a:cubicBezTo>
                  <a:lnTo>
                    <a:pt x="28575" y="328612"/>
                  </a:lnTo>
                  <a:cubicBezTo>
                    <a:pt x="28575" y="328612"/>
                    <a:pt x="0" y="328612"/>
                    <a:pt x="0" y="300037"/>
                  </a:cubicBezTo>
                  <a:lnTo>
                    <a:pt x="0" y="28575"/>
                  </a:lnTo>
                  <a:cubicBezTo>
                    <a:pt x="0" y="28575"/>
                    <a:pt x="0" y="0"/>
                    <a:pt x="28575" y="0"/>
                  </a:cubicBezTo>
                  <a:moveTo>
                    <a:pt x="64293" y="100012"/>
                  </a:moveTo>
                  <a:lnTo>
                    <a:pt x="85725" y="121443"/>
                  </a:lnTo>
                  <a:lnTo>
                    <a:pt x="142875" y="64293"/>
                  </a:lnTo>
                  <a:moveTo>
                    <a:pt x="64293" y="242887"/>
                  </a:moveTo>
                  <a:lnTo>
                    <a:pt x="85725" y="264318"/>
                  </a:lnTo>
                  <a:lnTo>
                    <a:pt x="142875" y="207168"/>
                  </a:lnTo>
                  <a:moveTo>
                    <a:pt x="185737" y="114299"/>
                  </a:moveTo>
                  <a:lnTo>
                    <a:pt x="271462" y="114299"/>
                  </a:lnTo>
                  <a:moveTo>
                    <a:pt x="185737" y="242887"/>
                  </a:moveTo>
                  <a:lnTo>
                    <a:pt x="271462" y="242887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58">
              <a:extLst>
                <a:ext uri="{FF2B5EF4-FFF2-40B4-BE49-F238E27FC236}">
                  <a16:creationId xmlns:a16="http://schemas.microsoft.com/office/drawing/2014/main" id="{31770589-9DFB-495A-8104-38859A9C6D5C}"/>
                </a:ext>
              </a:extLst>
            </p:cNvPr>
            <p:cNvSpPr/>
            <p:nvPr/>
          </p:nvSpPr>
          <p:spPr>
            <a:xfrm>
              <a:off x="4446025" y="4345148"/>
              <a:ext cx="473515" cy="473515"/>
            </a:xfrm>
            <a:custGeom>
              <a:avLst/>
              <a:gdLst/>
              <a:ahLst/>
              <a:cxnLst/>
              <a:rect l="0" t="0" r="0" b="0"/>
              <a:pathLst>
                <a:path w="328612" h="328612">
                  <a:moveTo>
                    <a:pt x="0" y="142875"/>
                  </a:moveTo>
                  <a:cubicBezTo>
                    <a:pt x="0" y="221782"/>
                    <a:pt x="63967" y="285750"/>
                    <a:pt x="142875" y="285750"/>
                  </a:cubicBezTo>
                  <a:cubicBezTo>
                    <a:pt x="221782" y="285750"/>
                    <a:pt x="285750" y="221782"/>
                    <a:pt x="285750" y="142875"/>
                  </a:cubicBezTo>
                  <a:cubicBezTo>
                    <a:pt x="285750" y="63967"/>
                    <a:pt x="221782" y="0"/>
                    <a:pt x="142875" y="0"/>
                  </a:cubicBezTo>
                  <a:cubicBezTo>
                    <a:pt x="63967" y="0"/>
                    <a:pt x="0" y="63967"/>
                    <a:pt x="0" y="142875"/>
                  </a:cubicBezTo>
                  <a:close/>
                  <a:moveTo>
                    <a:pt x="328612" y="328612"/>
                  </a:moveTo>
                  <a:lnTo>
                    <a:pt x="243901" y="243901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ounded Rectangle 59">
              <a:extLst>
                <a:ext uri="{FF2B5EF4-FFF2-40B4-BE49-F238E27FC236}">
                  <a16:creationId xmlns:a16="http://schemas.microsoft.com/office/drawing/2014/main" id="{EEAB4BF9-8CEC-449E-8181-56E42CB8956B}"/>
                </a:ext>
              </a:extLst>
            </p:cNvPr>
            <p:cNvSpPr/>
            <p:nvPr/>
          </p:nvSpPr>
          <p:spPr>
            <a:xfrm>
              <a:off x="6093035" y="4345148"/>
              <a:ext cx="473515" cy="473515"/>
            </a:xfrm>
            <a:custGeom>
              <a:avLst/>
              <a:gdLst/>
              <a:ahLst/>
              <a:cxnLst/>
              <a:rect l="0" t="0" r="0" b="0"/>
              <a:pathLst>
                <a:path w="328612" h="328612">
                  <a:moveTo>
                    <a:pt x="107156" y="164306"/>
                  </a:moveTo>
                  <a:cubicBezTo>
                    <a:pt x="115047" y="164306"/>
                    <a:pt x="121443" y="157909"/>
                    <a:pt x="121443" y="150018"/>
                  </a:cubicBezTo>
                  <a:lnTo>
                    <a:pt x="121443" y="45205"/>
                  </a:lnTo>
                  <a:cubicBezTo>
                    <a:pt x="121442" y="41416"/>
                    <a:pt x="119937" y="37783"/>
                    <a:pt x="117257" y="35104"/>
                  </a:cubicBezTo>
                  <a:lnTo>
                    <a:pt x="86339" y="4186"/>
                  </a:lnTo>
                  <a:cubicBezTo>
                    <a:pt x="83660" y="1506"/>
                    <a:pt x="80027" y="0"/>
                    <a:pt x="76238" y="0"/>
                  </a:cubicBezTo>
                  <a:lnTo>
                    <a:pt x="14287" y="0"/>
                  </a:lnTo>
                  <a:cubicBezTo>
                    <a:pt x="6396" y="0"/>
                    <a:pt x="0" y="6396"/>
                    <a:pt x="0" y="14287"/>
                  </a:cubicBezTo>
                  <a:lnTo>
                    <a:pt x="0" y="150018"/>
                  </a:lnTo>
                  <a:cubicBezTo>
                    <a:pt x="0" y="157909"/>
                    <a:pt x="6396" y="164306"/>
                    <a:pt x="14287" y="164306"/>
                  </a:cubicBezTo>
                  <a:close/>
                  <a:moveTo>
                    <a:pt x="82153" y="42862"/>
                  </a:moveTo>
                  <a:lnTo>
                    <a:pt x="35718" y="42862"/>
                  </a:lnTo>
                  <a:moveTo>
                    <a:pt x="82153" y="85725"/>
                  </a:moveTo>
                  <a:lnTo>
                    <a:pt x="35718" y="85725"/>
                  </a:lnTo>
                  <a:moveTo>
                    <a:pt x="67865" y="128587"/>
                  </a:moveTo>
                  <a:lnTo>
                    <a:pt x="35718" y="128587"/>
                  </a:lnTo>
                  <a:moveTo>
                    <a:pt x="171450" y="250031"/>
                  </a:moveTo>
                  <a:cubicBezTo>
                    <a:pt x="171450" y="293430"/>
                    <a:pt x="206632" y="328612"/>
                    <a:pt x="250031" y="328612"/>
                  </a:cubicBezTo>
                  <a:cubicBezTo>
                    <a:pt x="293430" y="328612"/>
                    <a:pt x="328612" y="293430"/>
                    <a:pt x="328612" y="250031"/>
                  </a:cubicBezTo>
                  <a:cubicBezTo>
                    <a:pt x="328612" y="206632"/>
                    <a:pt x="293430" y="171450"/>
                    <a:pt x="250031" y="171450"/>
                  </a:cubicBezTo>
                  <a:cubicBezTo>
                    <a:pt x="206632" y="171450"/>
                    <a:pt x="171450" y="206632"/>
                    <a:pt x="171450" y="250031"/>
                  </a:cubicBezTo>
                  <a:moveTo>
                    <a:pt x="327298" y="235743"/>
                  </a:moveTo>
                  <a:lnTo>
                    <a:pt x="250031" y="250031"/>
                  </a:lnTo>
                  <a:lnTo>
                    <a:pt x="250031" y="171450"/>
                  </a:lnTo>
                  <a:moveTo>
                    <a:pt x="285750" y="320025"/>
                  </a:moveTo>
                  <a:lnTo>
                    <a:pt x="250031" y="250031"/>
                  </a:lnTo>
                  <a:moveTo>
                    <a:pt x="315253" y="103198"/>
                  </a:moveTo>
                  <a:cubicBezTo>
                    <a:pt x="292835" y="68409"/>
                    <a:pt x="254270" y="47402"/>
                    <a:pt x="212883" y="47434"/>
                  </a:cubicBezTo>
                  <a:lnTo>
                    <a:pt x="190738" y="47434"/>
                  </a:lnTo>
                  <a:moveTo>
                    <a:pt x="223985" y="14216"/>
                  </a:moveTo>
                  <a:lnTo>
                    <a:pt x="190766" y="47434"/>
                  </a:lnTo>
                  <a:lnTo>
                    <a:pt x="223985" y="80638"/>
                  </a:lnTo>
                  <a:moveTo>
                    <a:pt x="9586" y="221456"/>
                  </a:moveTo>
                  <a:cubicBezTo>
                    <a:pt x="32010" y="256226"/>
                    <a:pt x="70568" y="277216"/>
                    <a:pt x="111942" y="277177"/>
                  </a:cubicBezTo>
                  <a:lnTo>
                    <a:pt x="134073" y="277177"/>
                  </a:lnTo>
                  <a:moveTo>
                    <a:pt x="100869" y="310481"/>
                  </a:moveTo>
                  <a:lnTo>
                    <a:pt x="134073" y="277263"/>
                  </a:lnTo>
                  <a:lnTo>
                    <a:pt x="100869" y="244059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ounded Rectangle 60">
              <a:extLst>
                <a:ext uri="{FF2B5EF4-FFF2-40B4-BE49-F238E27FC236}">
                  <a16:creationId xmlns:a16="http://schemas.microsoft.com/office/drawing/2014/main" id="{B5230907-7CB2-4871-923A-FBAD06E12BC0}"/>
                </a:ext>
              </a:extLst>
            </p:cNvPr>
            <p:cNvSpPr/>
            <p:nvPr/>
          </p:nvSpPr>
          <p:spPr>
            <a:xfrm>
              <a:off x="7730962" y="4335669"/>
              <a:ext cx="482907" cy="482067"/>
            </a:xfrm>
            <a:custGeom>
              <a:avLst/>
              <a:gdLst/>
              <a:ahLst/>
              <a:cxnLst/>
              <a:rect l="0" t="0" r="0" b="0"/>
              <a:pathLst>
                <a:path w="335130" h="334547">
                  <a:moveTo>
                    <a:pt x="335130" y="334547"/>
                  </a:moveTo>
                  <a:cubicBezTo>
                    <a:pt x="282426" y="322379"/>
                    <a:pt x="228485" y="316385"/>
                    <a:pt x="174396" y="316688"/>
                  </a:cubicBezTo>
                  <a:cubicBezTo>
                    <a:pt x="120306" y="316385"/>
                    <a:pt x="66365" y="322379"/>
                    <a:pt x="13661" y="334547"/>
                  </a:cubicBezTo>
                  <a:moveTo>
                    <a:pt x="270408" y="128664"/>
                  </a:moveTo>
                  <a:lnTo>
                    <a:pt x="270408" y="71514"/>
                  </a:lnTo>
                  <a:moveTo>
                    <a:pt x="198970" y="250108"/>
                  </a:moveTo>
                  <a:lnTo>
                    <a:pt x="141820" y="250108"/>
                  </a:lnTo>
                  <a:cubicBezTo>
                    <a:pt x="133929" y="250108"/>
                    <a:pt x="127533" y="256505"/>
                    <a:pt x="127533" y="264396"/>
                  </a:cubicBezTo>
                  <a:lnTo>
                    <a:pt x="127533" y="315659"/>
                  </a:lnTo>
                  <a:moveTo>
                    <a:pt x="313270" y="328261"/>
                  </a:moveTo>
                  <a:lnTo>
                    <a:pt x="313270" y="185814"/>
                  </a:lnTo>
                  <a:cubicBezTo>
                    <a:pt x="313270" y="177924"/>
                    <a:pt x="306873" y="171527"/>
                    <a:pt x="298983" y="171527"/>
                  </a:cubicBezTo>
                  <a:lnTo>
                    <a:pt x="213258" y="171527"/>
                  </a:lnTo>
                  <a:cubicBezTo>
                    <a:pt x="205367" y="171527"/>
                    <a:pt x="198970" y="177924"/>
                    <a:pt x="198970" y="185814"/>
                  </a:cubicBezTo>
                  <a:lnTo>
                    <a:pt x="198970" y="314959"/>
                  </a:lnTo>
                  <a:moveTo>
                    <a:pt x="227545" y="128664"/>
                  </a:moveTo>
                  <a:lnTo>
                    <a:pt x="284695" y="128664"/>
                  </a:lnTo>
                  <a:lnTo>
                    <a:pt x="284695" y="171527"/>
                  </a:lnTo>
                  <a:lnTo>
                    <a:pt x="227545" y="171527"/>
                  </a:lnTo>
                  <a:close/>
                  <a:moveTo>
                    <a:pt x="112616" y="176128"/>
                  </a:moveTo>
                  <a:cubicBezTo>
                    <a:pt x="77118" y="185007"/>
                    <a:pt x="39897" y="170375"/>
                    <a:pt x="19948" y="139699"/>
                  </a:cubicBezTo>
                  <a:cubicBezTo>
                    <a:pt x="0" y="109023"/>
                    <a:pt x="1721" y="69067"/>
                    <a:pt x="24235" y="40221"/>
                  </a:cubicBezTo>
                  <a:cubicBezTo>
                    <a:pt x="46749" y="11375"/>
                    <a:pt x="85091" y="0"/>
                    <a:pt x="119694" y="11900"/>
                  </a:cubicBezTo>
                  <a:cubicBezTo>
                    <a:pt x="154297" y="23801"/>
                    <a:pt x="177531" y="56354"/>
                    <a:pt x="177539" y="92946"/>
                  </a:cubicBezTo>
                  <a:cubicBezTo>
                    <a:pt x="177682" y="132331"/>
                    <a:pt x="150857" y="166700"/>
                    <a:pt x="112616" y="176128"/>
                  </a:cubicBezTo>
                  <a:moveTo>
                    <a:pt x="17547" y="50097"/>
                  </a:moveTo>
                  <a:lnTo>
                    <a:pt x="38236" y="50097"/>
                  </a:lnTo>
                  <a:cubicBezTo>
                    <a:pt x="50072" y="50097"/>
                    <a:pt x="59667" y="59693"/>
                    <a:pt x="59667" y="71529"/>
                  </a:cubicBezTo>
                  <a:lnTo>
                    <a:pt x="59667" y="81530"/>
                  </a:lnTo>
                  <a:cubicBezTo>
                    <a:pt x="59672" y="88672"/>
                    <a:pt x="63235" y="95342"/>
                    <a:pt x="69168" y="99318"/>
                  </a:cubicBezTo>
                  <a:lnTo>
                    <a:pt x="82856" y="108448"/>
                  </a:lnTo>
                  <a:cubicBezTo>
                    <a:pt x="88434" y="112155"/>
                    <a:pt x="91787" y="118409"/>
                    <a:pt x="91787" y="125107"/>
                  </a:cubicBezTo>
                  <a:cubicBezTo>
                    <a:pt x="91787" y="131805"/>
                    <a:pt x="88434" y="138059"/>
                    <a:pt x="82856" y="141766"/>
                  </a:cubicBezTo>
                  <a:lnTo>
                    <a:pt x="46737" y="165883"/>
                  </a:lnTo>
                  <a:moveTo>
                    <a:pt x="166080" y="50097"/>
                  </a:moveTo>
                  <a:lnTo>
                    <a:pt x="156079" y="50097"/>
                  </a:lnTo>
                  <a:cubicBezTo>
                    <a:pt x="148657" y="50110"/>
                    <a:pt x="141771" y="53962"/>
                    <a:pt x="137875" y="60278"/>
                  </a:cubicBezTo>
                  <a:cubicBezTo>
                    <a:pt x="133979" y="66595"/>
                    <a:pt x="133628" y="74478"/>
                    <a:pt x="136948" y="81116"/>
                  </a:cubicBezTo>
                  <a:cubicBezTo>
                    <a:pt x="143035" y="93317"/>
                    <a:pt x="144435" y="93974"/>
                    <a:pt x="148221" y="96175"/>
                  </a:cubicBezTo>
                  <a:lnTo>
                    <a:pt x="175367" y="112434"/>
                  </a:lnTo>
                  <a:moveTo>
                    <a:pt x="234689" y="207246"/>
                  </a:moveTo>
                  <a:lnTo>
                    <a:pt x="277551" y="207246"/>
                  </a:lnTo>
                  <a:moveTo>
                    <a:pt x="234689" y="242964"/>
                  </a:moveTo>
                  <a:lnTo>
                    <a:pt x="277551" y="242964"/>
                  </a:lnTo>
                  <a:moveTo>
                    <a:pt x="234689" y="278683"/>
                  </a:moveTo>
                  <a:lnTo>
                    <a:pt x="277551" y="278683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ounded Rectangle 61">
              <a:extLst>
                <a:ext uri="{FF2B5EF4-FFF2-40B4-BE49-F238E27FC236}">
                  <a16:creationId xmlns:a16="http://schemas.microsoft.com/office/drawing/2014/main" id="{A10A1FA7-BF0E-452E-AF11-FA4F95913695}"/>
                </a:ext>
              </a:extLst>
            </p:cNvPr>
            <p:cNvSpPr/>
            <p:nvPr/>
          </p:nvSpPr>
          <p:spPr>
            <a:xfrm>
              <a:off x="8580433" y="3190091"/>
              <a:ext cx="473515" cy="475127"/>
            </a:xfrm>
            <a:custGeom>
              <a:avLst/>
              <a:gdLst/>
              <a:ahLst/>
              <a:cxnLst/>
              <a:rect l="0" t="0" r="0" b="0"/>
              <a:pathLst>
                <a:path w="328612" h="329731">
                  <a:moveTo>
                    <a:pt x="285750" y="287893"/>
                  </a:moveTo>
                  <a:lnTo>
                    <a:pt x="229600" y="299180"/>
                  </a:lnTo>
                  <a:moveTo>
                    <a:pt x="235743" y="235743"/>
                  </a:moveTo>
                  <a:lnTo>
                    <a:pt x="209311" y="246602"/>
                  </a:lnTo>
                  <a:cubicBezTo>
                    <a:pt x="205098" y="248317"/>
                    <a:pt x="200380" y="248317"/>
                    <a:pt x="196167" y="246602"/>
                  </a:cubicBezTo>
                  <a:cubicBezTo>
                    <a:pt x="189991" y="244003"/>
                    <a:pt x="185895" y="238046"/>
                    <a:pt x="185680" y="231349"/>
                  </a:cubicBezTo>
                  <a:cubicBezTo>
                    <a:pt x="185465" y="224653"/>
                    <a:pt x="189171" y="218444"/>
                    <a:pt x="195167" y="215455"/>
                  </a:cubicBezTo>
                  <a:lnTo>
                    <a:pt x="221456" y="202596"/>
                  </a:lnTo>
                  <a:cubicBezTo>
                    <a:pt x="224720" y="200895"/>
                    <a:pt x="228348" y="200013"/>
                    <a:pt x="232029" y="200025"/>
                  </a:cubicBezTo>
                  <a:cubicBezTo>
                    <a:pt x="234807" y="200011"/>
                    <a:pt x="237565" y="200495"/>
                    <a:pt x="240172" y="201453"/>
                  </a:cubicBezTo>
                  <a:lnTo>
                    <a:pt x="288464" y="219884"/>
                  </a:lnTo>
                  <a:moveTo>
                    <a:pt x="128587" y="300037"/>
                  </a:moveTo>
                  <a:lnTo>
                    <a:pt x="148589" y="300037"/>
                  </a:lnTo>
                  <a:lnTo>
                    <a:pt x="181879" y="325326"/>
                  </a:lnTo>
                  <a:cubicBezTo>
                    <a:pt x="185325" y="329284"/>
                    <a:pt x="191316" y="329731"/>
                    <a:pt x="195310" y="326326"/>
                  </a:cubicBezTo>
                  <a:lnTo>
                    <a:pt x="245316" y="286321"/>
                  </a:lnTo>
                  <a:cubicBezTo>
                    <a:pt x="249353" y="282911"/>
                    <a:pt x="249983" y="276924"/>
                    <a:pt x="246745" y="272748"/>
                  </a:cubicBezTo>
                  <a:lnTo>
                    <a:pt x="219313" y="242458"/>
                  </a:lnTo>
                  <a:moveTo>
                    <a:pt x="128587" y="228600"/>
                  </a:moveTo>
                  <a:lnTo>
                    <a:pt x="169163" y="211312"/>
                  </a:lnTo>
                  <a:cubicBezTo>
                    <a:pt x="171607" y="210285"/>
                    <a:pt x="174229" y="209751"/>
                    <a:pt x="176879" y="209740"/>
                  </a:cubicBezTo>
                  <a:cubicBezTo>
                    <a:pt x="181363" y="209730"/>
                    <a:pt x="185728" y="211185"/>
                    <a:pt x="189309" y="213883"/>
                  </a:cubicBezTo>
                  <a:lnTo>
                    <a:pt x="192881" y="216884"/>
                  </a:lnTo>
                  <a:moveTo>
                    <a:pt x="85725" y="314325"/>
                  </a:moveTo>
                  <a:lnTo>
                    <a:pt x="114300" y="314325"/>
                  </a:lnTo>
                  <a:cubicBezTo>
                    <a:pt x="122190" y="314325"/>
                    <a:pt x="128587" y="307928"/>
                    <a:pt x="128587" y="300037"/>
                  </a:cubicBezTo>
                  <a:lnTo>
                    <a:pt x="128587" y="228600"/>
                  </a:lnTo>
                  <a:cubicBezTo>
                    <a:pt x="128587" y="220709"/>
                    <a:pt x="122190" y="214312"/>
                    <a:pt x="114300" y="214312"/>
                  </a:cubicBezTo>
                  <a:lnTo>
                    <a:pt x="85725" y="214312"/>
                  </a:lnTo>
                  <a:moveTo>
                    <a:pt x="328612" y="314325"/>
                  </a:moveTo>
                  <a:lnTo>
                    <a:pt x="300037" y="314325"/>
                  </a:lnTo>
                  <a:cubicBezTo>
                    <a:pt x="292146" y="314325"/>
                    <a:pt x="285750" y="307928"/>
                    <a:pt x="285750" y="300037"/>
                  </a:cubicBezTo>
                  <a:lnTo>
                    <a:pt x="285750" y="228600"/>
                  </a:lnTo>
                  <a:cubicBezTo>
                    <a:pt x="285750" y="220709"/>
                    <a:pt x="292146" y="214312"/>
                    <a:pt x="300037" y="214312"/>
                  </a:cubicBezTo>
                  <a:lnTo>
                    <a:pt x="328612" y="214312"/>
                  </a:lnTo>
                  <a:moveTo>
                    <a:pt x="235743" y="0"/>
                  </a:moveTo>
                  <a:lnTo>
                    <a:pt x="42862" y="0"/>
                  </a:lnTo>
                  <a:cubicBezTo>
                    <a:pt x="19190" y="0"/>
                    <a:pt x="0" y="19190"/>
                    <a:pt x="0" y="42862"/>
                  </a:cubicBezTo>
                  <a:lnTo>
                    <a:pt x="0" y="321468"/>
                  </a:lnTo>
                  <a:cubicBezTo>
                    <a:pt x="0" y="325414"/>
                    <a:pt x="3198" y="328612"/>
                    <a:pt x="7143" y="328612"/>
                  </a:cubicBezTo>
                  <a:lnTo>
                    <a:pt x="50006" y="328612"/>
                  </a:lnTo>
                  <a:moveTo>
                    <a:pt x="42862" y="57150"/>
                  </a:moveTo>
                  <a:lnTo>
                    <a:pt x="157162" y="57150"/>
                  </a:lnTo>
                  <a:moveTo>
                    <a:pt x="42862" y="100012"/>
                  </a:moveTo>
                  <a:lnTo>
                    <a:pt x="157162" y="100012"/>
                  </a:lnTo>
                  <a:moveTo>
                    <a:pt x="42862" y="142875"/>
                  </a:moveTo>
                  <a:lnTo>
                    <a:pt x="92868" y="142875"/>
                  </a:lnTo>
                  <a:moveTo>
                    <a:pt x="200025" y="178593"/>
                  </a:moveTo>
                  <a:lnTo>
                    <a:pt x="200025" y="35718"/>
                  </a:lnTo>
                  <a:cubicBezTo>
                    <a:pt x="200025" y="15991"/>
                    <a:pt x="216016" y="0"/>
                    <a:pt x="235743" y="0"/>
                  </a:cubicBezTo>
                  <a:cubicBezTo>
                    <a:pt x="255460" y="0"/>
                    <a:pt x="271462" y="16002"/>
                    <a:pt x="271462" y="42862"/>
                  </a:cubicBezTo>
                  <a:lnTo>
                    <a:pt x="200025" y="42862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088BAA3-96C5-42B5-BEC0-866CFF6D1BE7}"/>
                </a:ext>
              </a:extLst>
            </p:cNvPr>
            <p:cNvSpPr txBox="1"/>
            <p:nvPr/>
          </p:nvSpPr>
          <p:spPr>
            <a:xfrm>
              <a:off x="3958643" y="5105170"/>
              <a:ext cx="1448278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97A1641-4108-48A3-8C43-5C37E7CE4663}"/>
                </a:ext>
              </a:extLst>
            </p:cNvPr>
            <p:cNvSpPr txBox="1"/>
            <p:nvPr/>
          </p:nvSpPr>
          <p:spPr>
            <a:xfrm>
              <a:off x="5749468" y="5115461"/>
              <a:ext cx="115016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</a:t>
              </a:r>
              <a:endParaRPr sz="16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4A523F0-1B23-4411-BA59-FF84D3FC1A58}"/>
                </a:ext>
              </a:extLst>
            </p:cNvPr>
            <p:cNvSpPr txBox="1"/>
            <p:nvPr/>
          </p:nvSpPr>
          <p:spPr>
            <a:xfrm>
              <a:off x="7435146" y="5105170"/>
              <a:ext cx="107453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Application</a:t>
              </a:r>
              <a:endParaRPr sz="16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40E6552-F7EB-4C41-835F-7CBB849EB91B}"/>
                </a:ext>
              </a:extLst>
            </p:cNvPr>
            <p:cNvSpPr txBox="1"/>
            <p:nvPr/>
          </p:nvSpPr>
          <p:spPr>
            <a:xfrm>
              <a:off x="9095075" y="5115676"/>
              <a:ext cx="113982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References</a:t>
              </a:r>
              <a:endParaRPr sz="1600" b="0" dirty="0">
                <a:solidFill>
                  <a:srgbClr val="7F64EA"/>
                </a:solidFill>
                <a:latin typeface="Roboto"/>
              </a:endParaRPr>
            </a:p>
          </p:txBody>
        </p:sp>
        <p:sp>
          <p:nvSpPr>
            <p:cNvPr id="71" name="Rounded Rectangle 71">
              <a:extLst>
                <a:ext uri="{FF2B5EF4-FFF2-40B4-BE49-F238E27FC236}">
                  <a16:creationId xmlns:a16="http://schemas.microsoft.com/office/drawing/2014/main" id="{C4DE3AB6-353C-41E4-B0EB-900B44D9C536}"/>
                </a:ext>
              </a:extLst>
            </p:cNvPr>
            <p:cNvSpPr/>
            <p:nvPr/>
          </p:nvSpPr>
          <p:spPr>
            <a:xfrm>
              <a:off x="5264973" y="3194300"/>
              <a:ext cx="461396" cy="469398"/>
            </a:xfrm>
            <a:custGeom>
              <a:avLst/>
              <a:gdLst/>
              <a:ahLst/>
              <a:cxnLst/>
              <a:rect l="0" t="0" r="0" b="0"/>
              <a:pathLst>
                <a:path w="320202" h="325755">
                  <a:moveTo>
                    <a:pt x="57150" y="141448"/>
                  </a:moveTo>
                  <a:cubicBezTo>
                    <a:pt x="88713" y="141448"/>
                    <a:pt x="114300" y="131213"/>
                    <a:pt x="114300" y="118588"/>
                  </a:cubicBezTo>
                  <a:cubicBezTo>
                    <a:pt x="114300" y="105963"/>
                    <a:pt x="88713" y="95728"/>
                    <a:pt x="57150" y="95728"/>
                  </a:cubicBezTo>
                  <a:cubicBezTo>
                    <a:pt x="25586" y="95728"/>
                    <a:pt x="0" y="105963"/>
                    <a:pt x="0" y="118588"/>
                  </a:cubicBezTo>
                  <a:cubicBezTo>
                    <a:pt x="0" y="131213"/>
                    <a:pt x="25586" y="141448"/>
                    <a:pt x="57150" y="141448"/>
                  </a:cubicBezTo>
                  <a:close/>
                  <a:moveTo>
                    <a:pt x="0" y="118586"/>
                  </a:moveTo>
                  <a:lnTo>
                    <a:pt x="0" y="210026"/>
                  </a:lnTo>
                  <a:cubicBezTo>
                    <a:pt x="0" y="222885"/>
                    <a:pt x="25717" y="232886"/>
                    <a:pt x="57150" y="232886"/>
                  </a:cubicBezTo>
                  <a:cubicBezTo>
                    <a:pt x="88582" y="232886"/>
                    <a:pt x="114300" y="222885"/>
                    <a:pt x="114300" y="210026"/>
                  </a:cubicBezTo>
                  <a:lnTo>
                    <a:pt x="114300" y="118586"/>
                  </a:lnTo>
                  <a:moveTo>
                    <a:pt x="283626" y="39623"/>
                  </a:moveTo>
                  <a:cubicBezTo>
                    <a:pt x="303827" y="39623"/>
                    <a:pt x="320202" y="30753"/>
                    <a:pt x="320202" y="19812"/>
                  </a:cubicBezTo>
                  <a:cubicBezTo>
                    <a:pt x="320202" y="8870"/>
                    <a:pt x="303827" y="0"/>
                    <a:pt x="283626" y="0"/>
                  </a:cubicBezTo>
                  <a:cubicBezTo>
                    <a:pt x="263427" y="0"/>
                    <a:pt x="247050" y="8870"/>
                    <a:pt x="247050" y="19812"/>
                  </a:cubicBezTo>
                  <a:cubicBezTo>
                    <a:pt x="247050" y="30753"/>
                    <a:pt x="263427" y="39623"/>
                    <a:pt x="283626" y="39623"/>
                  </a:cubicBezTo>
                  <a:close/>
                  <a:moveTo>
                    <a:pt x="247050" y="19812"/>
                  </a:moveTo>
                  <a:lnTo>
                    <a:pt x="247050" y="71628"/>
                  </a:lnTo>
                  <a:cubicBezTo>
                    <a:pt x="247050" y="82296"/>
                    <a:pt x="263815" y="91440"/>
                    <a:pt x="283626" y="91440"/>
                  </a:cubicBezTo>
                  <a:cubicBezTo>
                    <a:pt x="303439" y="91440"/>
                    <a:pt x="320202" y="82296"/>
                    <a:pt x="320202" y="71628"/>
                  </a:cubicBezTo>
                  <a:lnTo>
                    <a:pt x="320202" y="19812"/>
                  </a:lnTo>
                  <a:moveTo>
                    <a:pt x="283626" y="158307"/>
                  </a:moveTo>
                  <a:cubicBezTo>
                    <a:pt x="303827" y="158307"/>
                    <a:pt x="320202" y="149436"/>
                    <a:pt x="320202" y="138494"/>
                  </a:cubicBezTo>
                  <a:cubicBezTo>
                    <a:pt x="320202" y="127553"/>
                    <a:pt x="303827" y="118683"/>
                    <a:pt x="283626" y="118683"/>
                  </a:cubicBezTo>
                  <a:cubicBezTo>
                    <a:pt x="263427" y="118683"/>
                    <a:pt x="247050" y="127553"/>
                    <a:pt x="247050" y="138494"/>
                  </a:cubicBezTo>
                  <a:cubicBezTo>
                    <a:pt x="247050" y="149436"/>
                    <a:pt x="263427" y="158307"/>
                    <a:pt x="283626" y="158307"/>
                  </a:cubicBezTo>
                  <a:close/>
                  <a:moveTo>
                    <a:pt x="247050" y="138496"/>
                  </a:moveTo>
                  <a:lnTo>
                    <a:pt x="247050" y="190311"/>
                  </a:lnTo>
                  <a:cubicBezTo>
                    <a:pt x="247050" y="200979"/>
                    <a:pt x="263815" y="210123"/>
                    <a:pt x="283626" y="210123"/>
                  </a:cubicBezTo>
                  <a:cubicBezTo>
                    <a:pt x="303439" y="210123"/>
                    <a:pt x="320202" y="200979"/>
                    <a:pt x="320202" y="190311"/>
                  </a:cubicBezTo>
                  <a:lnTo>
                    <a:pt x="320202" y="138496"/>
                  </a:lnTo>
                  <a:moveTo>
                    <a:pt x="283626" y="273938"/>
                  </a:moveTo>
                  <a:cubicBezTo>
                    <a:pt x="303827" y="273938"/>
                    <a:pt x="320202" y="265069"/>
                    <a:pt x="320202" y="254126"/>
                  </a:cubicBezTo>
                  <a:cubicBezTo>
                    <a:pt x="320202" y="243185"/>
                    <a:pt x="303827" y="234315"/>
                    <a:pt x="283626" y="234315"/>
                  </a:cubicBezTo>
                  <a:cubicBezTo>
                    <a:pt x="263427" y="234315"/>
                    <a:pt x="247050" y="243185"/>
                    <a:pt x="247050" y="254126"/>
                  </a:cubicBezTo>
                  <a:cubicBezTo>
                    <a:pt x="247050" y="265069"/>
                    <a:pt x="263427" y="273938"/>
                    <a:pt x="283626" y="273938"/>
                  </a:cubicBezTo>
                  <a:close/>
                  <a:moveTo>
                    <a:pt x="247050" y="254127"/>
                  </a:moveTo>
                  <a:lnTo>
                    <a:pt x="247050" y="305944"/>
                  </a:lnTo>
                  <a:cubicBezTo>
                    <a:pt x="247050" y="316611"/>
                    <a:pt x="263815" y="325755"/>
                    <a:pt x="283626" y="325755"/>
                  </a:cubicBezTo>
                  <a:cubicBezTo>
                    <a:pt x="303439" y="325755"/>
                    <a:pt x="320202" y="316611"/>
                    <a:pt x="320202" y="305944"/>
                  </a:cubicBezTo>
                  <a:lnTo>
                    <a:pt x="320202" y="254127"/>
                  </a:lnTo>
                  <a:moveTo>
                    <a:pt x="212823" y="44291"/>
                  </a:moveTo>
                  <a:lnTo>
                    <a:pt x="184248" y="44291"/>
                  </a:lnTo>
                  <a:lnTo>
                    <a:pt x="184248" y="281464"/>
                  </a:lnTo>
                  <a:lnTo>
                    <a:pt x="212823" y="281464"/>
                  </a:lnTo>
                  <a:moveTo>
                    <a:pt x="212823" y="162877"/>
                  </a:moveTo>
                  <a:lnTo>
                    <a:pt x="148529" y="162877"/>
                  </a:lnTo>
                  <a:moveTo>
                    <a:pt x="0" y="164751"/>
                  </a:moveTo>
                  <a:cubicBezTo>
                    <a:pt x="0" y="176835"/>
                    <a:pt x="24713" y="186720"/>
                    <a:pt x="57150" y="186720"/>
                  </a:cubicBezTo>
                  <a:cubicBezTo>
                    <a:pt x="89586" y="186720"/>
                    <a:pt x="114300" y="176835"/>
                    <a:pt x="114300" y="164751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23569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E237D4-C3EC-D2A7-C20E-B3DC9402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84D36D-3BC5-9B1F-6B68-375699CFC73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C76FE1-7EA3-CCF7-0A2A-E0B3FC3FC6E3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E76BD-7964-15CE-AE5B-D9E7DC45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Monday, February 2,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301E0-6453-6EFA-D782-00331C274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C1256-DF5D-1BAF-FA43-F3ADBA36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138384-90C2-81BE-3308-769C9ABD8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56" y="410551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4E7E67-917B-A0E7-DFAC-8D7180804ECA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1DC1782-A99A-56BF-529A-55EA36C5D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14B00A-23CD-4212-9745-E9882349864B}"/>
              </a:ext>
            </a:extLst>
          </p:cNvPr>
          <p:cNvGrpSpPr/>
          <p:nvPr/>
        </p:nvGrpSpPr>
        <p:grpSpPr>
          <a:xfrm>
            <a:off x="1582245" y="2353925"/>
            <a:ext cx="8700340" cy="2785271"/>
            <a:chOff x="1225061" y="2777371"/>
            <a:chExt cx="7385539" cy="2364359"/>
          </a:xfrm>
        </p:grpSpPr>
        <p:sp>
          <p:nvSpPr>
            <p:cNvPr id="12" name="Rounded Rectangle 1">
              <a:extLst>
                <a:ext uri="{FF2B5EF4-FFF2-40B4-BE49-F238E27FC236}">
                  <a16:creationId xmlns:a16="http://schemas.microsoft.com/office/drawing/2014/main" id="{5C499337-F188-4228-9CCD-AF7A9C1FB078}"/>
                </a:ext>
              </a:extLst>
            </p:cNvPr>
            <p:cNvSpPr/>
            <p:nvPr/>
          </p:nvSpPr>
          <p:spPr>
            <a:xfrm>
              <a:off x="1225061" y="2777371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1688123" y="527538"/>
                  </a:moveTo>
                  <a:cubicBezTo>
                    <a:pt x="1688123" y="817684"/>
                    <a:pt x="1626576" y="896815"/>
                    <a:pt x="1626576" y="896815"/>
                  </a:cubicBezTo>
                  <a:cubicBezTo>
                    <a:pt x="1406769" y="949569"/>
                    <a:pt x="1166906" y="949569"/>
                    <a:pt x="941374" y="949569"/>
                  </a:cubicBezTo>
                  <a:lnTo>
                    <a:pt x="0" y="949569"/>
                  </a:lnTo>
                  <a:lnTo>
                    <a:pt x="0" y="422030"/>
                  </a:lnTo>
                  <a:cubicBezTo>
                    <a:pt x="0" y="188946"/>
                    <a:pt x="0" y="0"/>
                    <a:pt x="0" y="0"/>
                  </a:cubicBezTo>
                  <a:lnTo>
                    <a:pt x="1688123" y="0"/>
                  </a:lnTo>
                  <a:lnTo>
                    <a:pt x="1688123" y="527538"/>
                  </a:ln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2">
              <a:extLst>
                <a:ext uri="{FF2B5EF4-FFF2-40B4-BE49-F238E27FC236}">
                  <a16:creationId xmlns:a16="http://schemas.microsoft.com/office/drawing/2014/main" id="{C28C58AE-9B1B-4683-94F9-AE35D525F0F4}"/>
                </a:ext>
              </a:extLst>
            </p:cNvPr>
            <p:cNvSpPr/>
            <p:nvPr/>
          </p:nvSpPr>
          <p:spPr>
            <a:xfrm>
              <a:off x="1225061" y="2777371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1688123" y="422030"/>
                  </a:moveTo>
                  <a:lnTo>
                    <a:pt x="1688123" y="0"/>
                  </a:lnTo>
                  <a:lnTo>
                    <a:pt x="0" y="0"/>
                  </a:lnTo>
                  <a:lnTo>
                    <a:pt x="0" y="422029"/>
                  </a:lnTo>
                  <a:moveTo>
                    <a:pt x="1688123" y="527538"/>
                  </a:moveTo>
                  <a:lnTo>
                    <a:pt x="1688123" y="422030"/>
                  </a:lnTo>
                  <a:moveTo>
                    <a:pt x="0" y="527538"/>
                  </a:moveTo>
                  <a:lnTo>
                    <a:pt x="0" y="422030"/>
                  </a:lnTo>
                  <a:moveTo>
                    <a:pt x="0" y="527538"/>
                  </a:moveTo>
                  <a:lnTo>
                    <a:pt x="0" y="949569"/>
                  </a:lnTo>
                  <a:lnTo>
                    <a:pt x="941377" y="949569"/>
                  </a:lnTo>
                  <a:cubicBezTo>
                    <a:pt x="1166907" y="949569"/>
                    <a:pt x="1406769" y="949569"/>
                    <a:pt x="1626576" y="896815"/>
                  </a:cubicBezTo>
                  <a:cubicBezTo>
                    <a:pt x="1626576" y="896815"/>
                    <a:pt x="1688123" y="817684"/>
                    <a:pt x="1688123" y="527538"/>
                  </a:cubicBezTo>
                </a:path>
              </a:pathLst>
            </a:custGeom>
            <a:noFill/>
            <a:ln w="1318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3">
              <a:extLst>
                <a:ext uri="{FF2B5EF4-FFF2-40B4-BE49-F238E27FC236}">
                  <a16:creationId xmlns:a16="http://schemas.microsoft.com/office/drawing/2014/main" id="{C9A4D407-6B30-4B4E-8778-39FEA1BBB218}"/>
                </a:ext>
              </a:extLst>
            </p:cNvPr>
            <p:cNvSpPr/>
            <p:nvPr/>
          </p:nvSpPr>
          <p:spPr>
            <a:xfrm>
              <a:off x="3124200" y="4086653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1688123" y="550671"/>
                  </a:moveTo>
                  <a:cubicBezTo>
                    <a:pt x="1688123" y="589322"/>
                    <a:pt x="1686232" y="640036"/>
                    <a:pt x="1684157" y="684173"/>
                  </a:cubicBezTo>
                  <a:cubicBezTo>
                    <a:pt x="1681221" y="746546"/>
                    <a:pt x="1652953" y="782515"/>
                    <a:pt x="1622180" y="813288"/>
                  </a:cubicBezTo>
                  <a:lnTo>
                    <a:pt x="1521069" y="896815"/>
                  </a:lnTo>
                  <a:cubicBezTo>
                    <a:pt x="1456331" y="944012"/>
                    <a:pt x="1298922" y="949569"/>
                    <a:pt x="1208942" y="949569"/>
                  </a:cubicBezTo>
                  <a:lnTo>
                    <a:pt x="0" y="949569"/>
                  </a:lnTo>
                  <a:lnTo>
                    <a:pt x="0" y="422030"/>
                  </a:lnTo>
                  <a:cubicBezTo>
                    <a:pt x="0" y="188946"/>
                    <a:pt x="0" y="0"/>
                    <a:pt x="0" y="0"/>
                  </a:cubicBezTo>
                  <a:lnTo>
                    <a:pt x="1688123" y="0"/>
                  </a:lnTo>
                  <a:lnTo>
                    <a:pt x="1688123" y="550671"/>
                  </a:lnTo>
                </a:path>
              </a:pathLst>
            </a:custGeom>
            <a:gradFill rotWithShape="1">
              <a:gsLst>
                <a:gs pos="0">
                  <a:srgbClr val="E4A9FF"/>
                </a:gs>
                <a:gs pos="100000">
                  <a:srgbClr val="CD6AFB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ounded Rectangle 4">
              <a:extLst>
                <a:ext uri="{FF2B5EF4-FFF2-40B4-BE49-F238E27FC236}">
                  <a16:creationId xmlns:a16="http://schemas.microsoft.com/office/drawing/2014/main" id="{BBC351AE-2F6B-480D-9C4E-A121DB3153D3}"/>
                </a:ext>
              </a:extLst>
            </p:cNvPr>
            <p:cNvSpPr/>
            <p:nvPr/>
          </p:nvSpPr>
          <p:spPr>
            <a:xfrm>
              <a:off x="3124200" y="4086653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1688123" y="422030"/>
                  </a:moveTo>
                  <a:lnTo>
                    <a:pt x="1688123" y="0"/>
                  </a:lnTo>
                  <a:lnTo>
                    <a:pt x="0" y="0"/>
                  </a:lnTo>
                  <a:lnTo>
                    <a:pt x="0" y="422029"/>
                  </a:lnTo>
                  <a:moveTo>
                    <a:pt x="1688123" y="527538"/>
                  </a:moveTo>
                  <a:lnTo>
                    <a:pt x="1688123" y="422030"/>
                  </a:lnTo>
                  <a:moveTo>
                    <a:pt x="0" y="527538"/>
                  </a:moveTo>
                  <a:lnTo>
                    <a:pt x="0" y="422030"/>
                  </a:lnTo>
                  <a:moveTo>
                    <a:pt x="0" y="527538"/>
                  </a:moveTo>
                  <a:lnTo>
                    <a:pt x="0" y="949569"/>
                  </a:lnTo>
                  <a:lnTo>
                    <a:pt x="1208942" y="949569"/>
                  </a:lnTo>
                  <a:cubicBezTo>
                    <a:pt x="1298923" y="949569"/>
                    <a:pt x="1456327" y="944009"/>
                    <a:pt x="1521069" y="896815"/>
                  </a:cubicBezTo>
                  <a:lnTo>
                    <a:pt x="1622180" y="813288"/>
                  </a:lnTo>
                  <a:cubicBezTo>
                    <a:pt x="1652953" y="782515"/>
                    <a:pt x="1681220" y="746543"/>
                    <a:pt x="1684157" y="684169"/>
                  </a:cubicBezTo>
                  <a:cubicBezTo>
                    <a:pt x="1686236" y="640032"/>
                    <a:pt x="1688123" y="589320"/>
                    <a:pt x="1688123" y="550668"/>
                  </a:cubicBezTo>
                  <a:lnTo>
                    <a:pt x="1688123" y="527538"/>
                  </a:lnTo>
                  <a:moveTo>
                    <a:pt x="1683726" y="694592"/>
                  </a:moveTo>
                  <a:cubicBezTo>
                    <a:pt x="1670538" y="808892"/>
                    <a:pt x="1534257" y="795703"/>
                    <a:pt x="1534257" y="795703"/>
                  </a:cubicBezTo>
                  <a:cubicBezTo>
                    <a:pt x="1503484" y="874834"/>
                    <a:pt x="1481503" y="923192"/>
                    <a:pt x="1367203" y="940776"/>
                  </a:cubicBezTo>
                </a:path>
              </a:pathLst>
            </a:custGeom>
            <a:noFill/>
            <a:ln w="1318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ounded Rectangle 5">
              <a:extLst>
                <a:ext uri="{FF2B5EF4-FFF2-40B4-BE49-F238E27FC236}">
                  <a16:creationId xmlns:a16="http://schemas.microsoft.com/office/drawing/2014/main" id="{78836593-BC0B-4315-8F52-A1DC52BE095B}"/>
                </a:ext>
              </a:extLst>
            </p:cNvPr>
            <p:cNvSpPr/>
            <p:nvPr/>
          </p:nvSpPr>
          <p:spPr>
            <a:xfrm>
              <a:off x="3124200" y="2882879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1688123" y="949569"/>
                  </a:moveTo>
                  <a:lnTo>
                    <a:pt x="479180" y="949569"/>
                  </a:lnTo>
                  <a:cubicBezTo>
                    <a:pt x="389200" y="949569"/>
                    <a:pt x="231791" y="944012"/>
                    <a:pt x="167053" y="896815"/>
                  </a:cubicBezTo>
                  <a:lnTo>
                    <a:pt x="65942" y="813288"/>
                  </a:lnTo>
                  <a:cubicBezTo>
                    <a:pt x="35169" y="782515"/>
                    <a:pt x="6901" y="746546"/>
                    <a:pt x="3965" y="684173"/>
                  </a:cubicBezTo>
                  <a:cubicBezTo>
                    <a:pt x="1890" y="640036"/>
                    <a:pt x="0" y="589322"/>
                    <a:pt x="0" y="550671"/>
                  </a:cubicBezTo>
                  <a:lnTo>
                    <a:pt x="0" y="422030"/>
                  </a:lnTo>
                  <a:cubicBezTo>
                    <a:pt x="0" y="188946"/>
                    <a:pt x="0" y="0"/>
                    <a:pt x="0" y="0"/>
                  </a:cubicBezTo>
                  <a:lnTo>
                    <a:pt x="1688123" y="0"/>
                  </a:lnTo>
                  <a:lnTo>
                    <a:pt x="1688123" y="949569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6">
              <a:extLst>
                <a:ext uri="{FF2B5EF4-FFF2-40B4-BE49-F238E27FC236}">
                  <a16:creationId xmlns:a16="http://schemas.microsoft.com/office/drawing/2014/main" id="{76D7C819-C3F0-46C2-A2CD-6A978025E5CB}"/>
                </a:ext>
              </a:extLst>
            </p:cNvPr>
            <p:cNvSpPr/>
            <p:nvPr/>
          </p:nvSpPr>
          <p:spPr>
            <a:xfrm>
              <a:off x="3124200" y="2882879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1688123" y="422030"/>
                  </a:moveTo>
                  <a:lnTo>
                    <a:pt x="1688123" y="0"/>
                  </a:lnTo>
                  <a:lnTo>
                    <a:pt x="0" y="0"/>
                  </a:lnTo>
                  <a:lnTo>
                    <a:pt x="0" y="422029"/>
                  </a:lnTo>
                  <a:moveTo>
                    <a:pt x="1688123" y="527538"/>
                  </a:moveTo>
                  <a:lnTo>
                    <a:pt x="1688123" y="422030"/>
                  </a:lnTo>
                  <a:moveTo>
                    <a:pt x="0" y="527538"/>
                  </a:moveTo>
                  <a:lnTo>
                    <a:pt x="0" y="422030"/>
                  </a:lnTo>
                  <a:moveTo>
                    <a:pt x="1688123" y="527538"/>
                  </a:moveTo>
                  <a:lnTo>
                    <a:pt x="1688123" y="949569"/>
                  </a:lnTo>
                  <a:lnTo>
                    <a:pt x="479180" y="949569"/>
                  </a:lnTo>
                  <a:cubicBezTo>
                    <a:pt x="389199" y="949569"/>
                    <a:pt x="231795" y="944009"/>
                    <a:pt x="167053" y="896815"/>
                  </a:cubicBezTo>
                  <a:lnTo>
                    <a:pt x="65942" y="813288"/>
                  </a:lnTo>
                  <a:cubicBezTo>
                    <a:pt x="35169" y="782515"/>
                    <a:pt x="6902" y="746543"/>
                    <a:pt x="3965" y="684169"/>
                  </a:cubicBezTo>
                  <a:cubicBezTo>
                    <a:pt x="1886" y="640032"/>
                    <a:pt x="0" y="589320"/>
                    <a:pt x="0" y="550668"/>
                  </a:cubicBezTo>
                  <a:lnTo>
                    <a:pt x="0" y="527538"/>
                  </a:lnTo>
                  <a:moveTo>
                    <a:pt x="4396" y="694592"/>
                  </a:moveTo>
                  <a:cubicBezTo>
                    <a:pt x="17584" y="808892"/>
                    <a:pt x="153865" y="795703"/>
                    <a:pt x="153865" y="795703"/>
                  </a:cubicBezTo>
                  <a:cubicBezTo>
                    <a:pt x="184638" y="874834"/>
                    <a:pt x="206619" y="923192"/>
                    <a:pt x="320919" y="940776"/>
                  </a:cubicBezTo>
                </a:path>
              </a:pathLst>
            </a:custGeom>
            <a:noFill/>
            <a:ln w="1318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7">
              <a:extLst>
                <a:ext uri="{FF2B5EF4-FFF2-40B4-BE49-F238E27FC236}">
                  <a16:creationId xmlns:a16="http://schemas.microsoft.com/office/drawing/2014/main" id="{3C27B3B7-80C8-4BAC-999A-9253015C32E9}"/>
                </a:ext>
              </a:extLst>
            </p:cNvPr>
            <p:cNvSpPr/>
            <p:nvPr/>
          </p:nvSpPr>
          <p:spPr>
            <a:xfrm>
              <a:off x="5023339" y="4192161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1688123" y="949569"/>
                  </a:moveTo>
                  <a:lnTo>
                    <a:pt x="746748" y="949569"/>
                  </a:lnTo>
                  <a:cubicBezTo>
                    <a:pt x="531081" y="949569"/>
                    <a:pt x="316232" y="923121"/>
                    <a:pt x="107011" y="870816"/>
                  </a:cubicBezTo>
                  <a:lnTo>
                    <a:pt x="79922" y="864037"/>
                  </a:lnTo>
                  <a:cubicBezTo>
                    <a:pt x="32953" y="852299"/>
                    <a:pt x="0" y="810096"/>
                    <a:pt x="0" y="761686"/>
                  </a:cubicBezTo>
                  <a:lnTo>
                    <a:pt x="0" y="422030"/>
                  </a:lnTo>
                  <a:cubicBezTo>
                    <a:pt x="0" y="188946"/>
                    <a:pt x="0" y="0"/>
                    <a:pt x="0" y="0"/>
                  </a:cubicBezTo>
                  <a:lnTo>
                    <a:pt x="1688123" y="0"/>
                  </a:lnTo>
                  <a:lnTo>
                    <a:pt x="1688123" y="949569"/>
                  </a:lnTo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ounded Rectangle 8">
              <a:extLst>
                <a:ext uri="{FF2B5EF4-FFF2-40B4-BE49-F238E27FC236}">
                  <a16:creationId xmlns:a16="http://schemas.microsoft.com/office/drawing/2014/main" id="{4DCF2B12-13DD-4361-A6B0-76164A527925}"/>
                </a:ext>
              </a:extLst>
            </p:cNvPr>
            <p:cNvSpPr/>
            <p:nvPr/>
          </p:nvSpPr>
          <p:spPr>
            <a:xfrm>
              <a:off x="5023339" y="4192161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1688123" y="422030"/>
                  </a:moveTo>
                  <a:lnTo>
                    <a:pt x="1688123" y="0"/>
                  </a:lnTo>
                  <a:lnTo>
                    <a:pt x="0" y="0"/>
                  </a:lnTo>
                  <a:lnTo>
                    <a:pt x="0" y="422029"/>
                  </a:lnTo>
                  <a:moveTo>
                    <a:pt x="1688123" y="527538"/>
                  </a:moveTo>
                  <a:lnTo>
                    <a:pt x="1688123" y="422030"/>
                  </a:lnTo>
                  <a:moveTo>
                    <a:pt x="0" y="527538"/>
                  </a:moveTo>
                  <a:lnTo>
                    <a:pt x="0" y="422030"/>
                  </a:lnTo>
                  <a:moveTo>
                    <a:pt x="1688123" y="527538"/>
                  </a:moveTo>
                  <a:lnTo>
                    <a:pt x="1688123" y="949569"/>
                  </a:lnTo>
                  <a:lnTo>
                    <a:pt x="746745" y="949569"/>
                  </a:lnTo>
                  <a:cubicBezTo>
                    <a:pt x="531083" y="949569"/>
                    <a:pt x="316234" y="923120"/>
                    <a:pt x="107011" y="870814"/>
                  </a:cubicBezTo>
                  <a:lnTo>
                    <a:pt x="79918" y="864041"/>
                  </a:lnTo>
                  <a:cubicBezTo>
                    <a:pt x="32950" y="852299"/>
                    <a:pt x="0" y="810097"/>
                    <a:pt x="0" y="761683"/>
                  </a:cubicBezTo>
                  <a:lnTo>
                    <a:pt x="0" y="527538"/>
                  </a:lnTo>
                  <a:moveTo>
                    <a:pt x="61546" y="857250"/>
                  </a:moveTo>
                  <a:cubicBezTo>
                    <a:pt x="145073" y="888023"/>
                    <a:pt x="171450" y="800100"/>
                    <a:pt x="171450" y="800100"/>
                  </a:cubicBezTo>
                  <a:cubicBezTo>
                    <a:pt x="342411" y="906174"/>
                    <a:pt x="562924" y="927067"/>
                    <a:pt x="712176" y="949568"/>
                  </a:cubicBezTo>
                </a:path>
              </a:pathLst>
            </a:custGeom>
            <a:noFill/>
            <a:ln w="1318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ounded Rectangle 9">
              <a:extLst>
                <a:ext uri="{FF2B5EF4-FFF2-40B4-BE49-F238E27FC236}">
                  <a16:creationId xmlns:a16="http://schemas.microsoft.com/office/drawing/2014/main" id="{DDB1F91E-D7F9-4D7D-BB42-C009D7E44483}"/>
                </a:ext>
              </a:extLst>
            </p:cNvPr>
            <p:cNvSpPr/>
            <p:nvPr/>
          </p:nvSpPr>
          <p:spPr>
            <a:xfrm>
              <a:off x="5023338" y="2777371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0" y="187882"/>
                  </a:moveTo>
                  <a:cubicBezTo>
                    <a:pt x="0" y="139472"/>
                    <a:pt x="32953" y="97269"/>
                    <a:pt x="79922" y="85531"/>
                  </a:cubicBezTo>
                  <a:lnTo>
                    <a:pt x="107011" y="78752"/>
                  </a:lnTo>
                  <a:cubicBezTo>
                    <a:pt x="316232" y="26447"/>
                    <a:pt x="531081" y="0"/>
                    <a:pt x="746748" y="0"/>
                  </a:cubicBezTo>
                  <a:lnTo>
                    <a:pt x="1688123" y="0"/>
                  </a:lnTo>
                  <a:lnTo>
                    <a:pt x="1688123" y="527538"/>
                  </a:lnTo>
                  <a:cubicBezTo>
                    <a:pt x="1688123" y="760622"/>
                    <a:pt x="1688123" y="949569"/>
                    <a:pt x="1688123" y="949569"/>
                  </a:cubicBezTo>
                  <a:lnTo>
                    <a:pt x="0" y="949569"/>
                  </a:lnTo>
                  <a:lnTo>
                    <a:pt x="0" y="187882"/>
                  </a:lnTo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10">
              <a:extLst>
                <a:ext uri="{FF2B5EF4-FFF2-40B4-BE49-F238E27FC236}">
                  <a16:creationId xmlns:a16="http://schemas.microsoft.com/office/drawing/2014/main" id="{E5DDBE6D-76B8-4205-8996-03763FDB577E}"/>
                </a:ext>
              </a:extLst>
            </p:cNvPr>
            <p:cNvSpPr/>
            <p:nvPr/>
          </p:nvSpPr>
          <p:spPr>
            <a:xfrm>
              <a:off x="5023338" y="2777371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0" y="527538"/>
                  </a:moveTo>
                  <a:lnTo>
                    <a:pt x="0" y="949569"/>
                  </a:lnTo>
                  <a:lnTo>
                    <a:pt x="1688123" y="949569"/>
                  </a:lnTo>
                  <a:lnTo>
                    <a:pt x="1688123" y="527539"/>
                  </a:lnTo>
                  <a:moveTo>
                    <a:pt x="1688123" y="527538"/>
                  </a:moveTo>
                  <a:lnTo>
                    <a:pt x="1688123" y="422030"/>
                  </a:lnTo>
                  <a:moveTo>
                    <a:pt x="0" y="527538"/>
                  </a:moveTo>
                  <a:lnTo>
                    <a:pt x="0" y="422030"/>
                  </a:lnTo>
                  <a:moveTo>
                    <a:pt x="1688123" y="422030"/>
                  </a:moveTo>
                  <a:lnTo>
                    <a:pt x="1688123" y="0"/>
                  </a:lnTo>
                  <a:lnTo>
                    <a:pt x="746745" y="0"/>
                  </a:lnTo>
                  <a:cubicBezTo>
                    <a:pt x="531083" y="0"/>
                    <a:pt x="316234" y="26449"/>
                    <a:pt x="107011" y="78754"/>
                  </a:cubicBezTo>
                  <a:lnTo>
                    <a:pt x="79918" y="85528"/>
                  </a:lnTo>
                  <a:cubicBezTo>
                    <a:pt x="32950" y="97270"/>
                    <a:pt x="0" y="139471"/>
                    <a:pt x="0" y="187885"/>
                  </a:cubicBezTo>
                  <a:lnTo>
                    <a:pt x="0" y="422030"/>
                  </a:lnTo>
                  <a:moveTo>
                    <a:pt x="61546" y="92319"/>
                  </a:moveTo>
                  <a:cubicBezTo>
                    <a:pt x="145073" y="61546"/>
                    <a:pt x="171450" y="149469"/>
                    <a:pt x="171450" y="149469"/>
                  </a:cubicBezTo>
                  <a:cubicBezTo>
                    <a:pt x="342411" y="43394"/>
                    <a:pt x="562924" y="22501"/>
                    <a:pt x="712176" y="1"/>
                  </a:cubicBezTo>
                </a:path>
              </a:pathLst>
            </a:custGeom>
            <a:noFill/>
            <a:ln w="1318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11">
              <a:extLst>
                <a:ext uri="{FF2B5EF4-FFF2-40B4-BE49-F238E27FC236}">
                  <a16:creationId xmlns:a16="http://schemas.microsoft.com/office/drawing/2014/main" id="{7361F0ED-6349-4274-ACC8-B55A9902056E}"/>
                </a:ext>
              </a:extLst>
            </p:cNvPr>
            <p:cNvSpPr/>
            <p:nvPr/>
          </p:nvSpPr>
          <p:spPr>
            <a:xfrm>
              <a:off x="6922477" y="2882879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0" y="0"/>
                  </a:moveTo>
                  <a:lnTo>
                    <a:pt x="941374" y="0"/>
                  </a:lnTo>
                  <a:cubicBezTo>
                    <a:pt x="1166906" y="0"/>
                    <a:pt x="1406769" y="0"/>
                    <a:pt x="1626576" y="52753"/>
                  </a:cubicBezTo>
                  <a:cubicBezTo>
                    <a:pt x="1626576" y="52753"/>
                    <a:pt x="1688123" y="131884"/>
                    <a:pt x="1688123" y="422030"/>
                  </a:cubicBezTo>
                  <a:lnTo>
                    <a:pt x="1688123" y="527538"/>
                  </a:lnTo>
                  <a:cubicBezTo>
                    <a:pt x="1688123" y="760622"/>
                    <a:pt x="1688123" y="949569"/>
                    <a:pt x="1688123" y="949569"/>
                  </a:cubicBezTo>
                  <a:lnTo>
                    <a:pt x="0" y="949569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A1DA"/>
                </a:gs>
                <a:gs pos="100000">
                  <a:srgbClr val="F669BE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12">
              <a:extLst>
                <a:ext uri="{FF2B5EF4-FFF2-40B4-BE49-F238E27FC236}">
                  <a16:creationId xmlns:a16="http://schemas.microsoft.com/office/drawing/2014/main" id="{CA33F669-CF57-4431-92BC-5CAA10FC1A03}"/>
                </a:ext>
              </a:extLst>
            </p:cNvPr>
            <p:cNvSpPr/>
            <p:nvPr/>
          </p:nvSpPr>
          <p:spPr>
            <a:xfrm>
              <a:off x="6922477" y="2882879"/>
              <a:ext cx="1688123" cy="949569"/>
            </a:xfrm>
            <a:custGeom>
              <a:avLst/>
              <a:gdLst/>
              <a:ahLst/>
              <a:cxnLst/>
              <a:rect l="0" t="0" r="0" b="0"/>
              <a:pathLst>
                <a:path w="1688123" h="949569">
                  <a:moveTo>
                    <a:pt x="0" y="527538"/>
                  </a:moveTo>
                  <a:lnTo>
                    <a:pt x="0" y="949569"/>
                  </a:lnTo>
                  <a:lnTo>
                    <a:pt x="1688123" y="949569"/>
                  </a:lnTo>
                  <a:lnTo>
                    <a:pt x="1688123" y="527539"/>
                  </a:lnTo>
                  <a:moveTo>
                    <a:pt x="1688123" y="527538"/>
                  </a:moveTo>
                  <a:lnTo>
                    <a:pt x="1688123" y="422030"/>
                  </a:lnTo>
                  <a:moveTo>
                    <a:pt x="0" y="527538"/>
                  </a:moveTo>
                  <a:lnTo>
                    <a:pt x="0" y="422030"/>
                  </a:lnTo>
                  <a:moveTo>
                    <a:pt x="0" y="422030"/>
                  </a:moveTo>
                  <a:lnTo>
                    <a:pt x="0" y="0"/>
                  </a:lnTo>
                  <a:lnTo>
                    <a:pt x="941377" y="0"/>
                  </a:lnTo>
                  <a:cubicBezTo>
                    <a:pt x="1166907" y="0"/>
                    <a:pt x="1406769" y="0"/>
                    <a:pt x="1626576" y="52753"/>
                  </a:cubicBezTo>
                  <a:cubicBezTo>
                    <a:pt x="1626576" y="52753"/>
                    <a:pt x="1688123" y="131884"/>
                    <a:pt x="1688123" y="422030"/>
                  </a:cubicBezTo>
                </a:path>
              </a:pathLst>
            </a:custGeom>
            <a:noFill/>
            <a:ln w="1318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755011-E4E0-4085-A4DC-EAE5B22969E5}"/>
                </a:ext>
              </a:extLst>
            </p:cNvPr>
            <p:cNvSpPr txBox="1"/>
            <p:nvPr/>
          </p:nvSpPr>
          <p:spPr>
            <a:xfrm>
              <a:off x="1666699" y="3058725"/>
              <a:ext cx="804768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Web
Vitals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C6D4CAE-35AB-4D88-ABB7-E115898E28E8}"/>
                </a:ext>
              </a:extLst>
            </p:cNvPr>
            <p:cNvSpPr txBox="1"/>
            <p:nvPr/>
          </p:nvSpPr>
          <p:spPr>
            <a:xfrm>
              <a:off x="3563112" y="3164233"/>
              <a:ext cx="810263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Labeling
Strategies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2CA0AF-36F7-40B1-80D5-47BC1DF9897F}"/>
                </a:ext>
              </a:extLst>
            </p:cNvPr>
            <p:cNvSpPr txBox="1"/>
            <p:nvPr/>
          </p:nvSpPr>
          <p:spPr>
            <a:xfrm>
              <a:off x="5266182" y="3164233"/>
              <a:ext cx="120234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Families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0FB21AB-A32C-4D95-A995-B06C25BC4903}"/>
                </a:ext>
              </a:extLst>
            </p:cNvPr>
            <p:cNvSpPr txBox="1"/>
            <p:nvPr/>
          </p:nvSpPr>
          <p:spPr>
            <a:xfrm>
              <a:off x="7324549" y="3164233"/>
              <a:ext cx="884040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K‑means +
LightGBM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0F8F15D-2AC9-4F9E-87DF-5CBE9510A8FA}"/>
                </a:ext>
              </a:extLst>
            </p:cNvPr>
            <p:cNvSpPr txBox="1"/>
            <p:nvPr/>
          </p:nvSpPr>
          <p:spPr>
            <a:xfrm>
              <a:off x="3513524" y="4368007"/>
              <a:ext cx="909458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
Importance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BBD3C84-6371-46AE-9CEC-80F82FAEF919}"/>
                </a:ext>
              </a:extLst>
            </p:cNvPr>
            <p:cNvSpPr txBox="1"/>
            <p:nvPr/>
          </p:nvSpPr>
          <p:spPr>
            <a:xfrm>
              <a:off x="5411783" y="4473514"/>
              <a:ext cx="911243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Production
Platform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0622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E237D4-C3EC-D2A7-C20E-B3DC9402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84D36D-3BC5-9B1F-6B68-375699CFC73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C76FE1-7EA3-CCF7-0A2A-E0B3FC3FC6E3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E76BD-7964-15CE-AE5B-D9E7DC45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301E0-6453-6EFA-D782-00331C274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C1256-DF5D-1BAF-FA43-F3ADBA36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138384-90C2-81BE-3308-769C9ABD8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4E7E67-917B-A0E7-DFAC-8D7180804ECA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1DC1782-A99A-56BF-529A-55EA36C5D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88030F-6781-E30C-C2EA-89EFDDD97879}"/>
              </a:ext>
            </a:extLst>
          </p:cNvPr>
          <p:cNvSpPr txBox="1"/>
          <p:nvPr/>
        </p:nvSpPr>
        <p:spPr>
          <a:xfrm>
            <a:off x="809028" y="1837086"/>
            <a:ext cx="10260965" cy="24278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ML model to predict website performance categories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22 performance metrics including Core Web Vitals (LCP, CLS, FCP, TTI)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three labeling strategies: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-based, Weighted, and K-means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three ML algorithms: Random Forest, LightGBM, and Neural Networks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production-ready web platform for real-time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4227920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B70268-F24A-9FEC-967E-0EC1AA73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2B3748-4BC9-2D7F-27AB-F21F7315EF22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A900E4-3B42-9EBB-0D65-63511B5C47C8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75DA5-524A-FB61-D468-5EC8DAFE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F57F4-8011-9572-EFDB-769D640A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04CD3-3BB1-DAAC-C418-9D9C212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59D1AB-F689-223D-6627-2EC0249BD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188873-B08B-ECA2-9492-5D036F34AB18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10FB478-2357-9EAF-F006-672AB78AB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EDE8B-92D0-1F9C-0940-2593BC820080}"/>
              </a:ext>
            </a:extLst>
          </p:cNvPr>
          <p:cNvSpPr txBox="1"/>
          <p:nvPr/>
        </p:nvSpPr>
        <p:spPr>
          <a:xfrm>
            <a:off x="657225" y="1518418"/>
            <a:ext cx="10696575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Chen et al., "Predicting website conversion rates using Random Forest" ACM Transactions on the Web, 2019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Random Forest to predict conversion rates from web metrics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87% accuracy on e-commerce dataset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business outcomes, not technical performance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feature set (12 metrics)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Pre-Core Web Vitals era (no LCP, CLS, FCP, TTI analysis)</a:t>
            </a:r>
          </a:p>
        </p:txBody>
      </p:sp>
    </p:spTree>
    <p:extLst>
      <p:ext uri="{BB962C8B-B14F-4D97-AF65-F5344CB8AC3E}">
        <p14:creationId xmlns:p14="http://schemas.microsoft.com/office/powerpoint/2010/main" val="1232371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B70268-F24A-9FEC-967E-0EC1AA73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2B3748-4BC9-2D7F-27AB-F21F7315EF22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A900E4-3B42-9EBB-0D65-63511B5C47C8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75DA5-524A-FB61-D468-5EC8DAFE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F57F4-8011-9572-EFDB-769D640A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04CD3-3BB1-DAAC-C418-9D9C212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59D1AB-F689-223D-6627-2EC0249BD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188873-B08B-ECA2-9492-5D036F34AB18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10FB478-2357-9EAF-F006-672AB78AB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EDE8B-92D0-1F9C-0940-2593BC820080}"/>
              </a:ext>
            </a:extLst>
          </p:cNvPr>
          <p:cNvSpPr txBox="1"/>
          <p:nvPr/>
        </p:nvSpPr>
        <p:spPr>
          <a:xfrm>
            <a:off x="738188" y="1580432"/>
            <a:ext cx="10463212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X. Wang et al., "Linking web performance to user satisfaction using NN" IEEE Transactions on Services Computing, 2022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UX prediction from performance metrics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91% accuracy with neural network architecture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on subjective user survey 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complexity without ensemble comparison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systematic labeling strategy evaluation</a:t>
            </a:r>
          </a:p>
        </p:txBody>
      </p:sp>
    </p:spTree>
    <p:extLst>
      <p:ext uri="{BB962C8B-B14F-4D97-AF65-F5344CB8AC3E}">
        <p14:creationId xmlns:p14="http://schemas.microsoft.com/office/powerpoint/2010/main" val="1482845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B70268-F24A-9FEC-967E-0EC1AA73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2B3748-4BC9-2D7F-27AB-F21F7315EF22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A900E4-3B42-9EBB-0D65-63511B5C47C8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75DA5-524A-FB61-D468-5EC8DAFE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F57F4-8011-9572-EFDB-769D640A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04CD3-3BB1-DAAC-C418-9D9C212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59D1AB-F689-223D-6627-2EC0249BD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188873-B08B-ECA2-9492-5D036F34AB18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10FB478-2357-9EAF-F006-672AB78AB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EDE8B-92D0-1F9C-0940-2593BC820080}"/>
              </a:ext>
            </a:extLst>
          </p:cNvPr>
          <p:cNvSpPr txBox="1"/>
          <p:nvPr/>
        </p:nvSpPr>
        <p:spPr>
          <a:xfrm>
            <a:off x="838200" y="1530956"/>
            <a:ext cx="10377487" cy="3884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R. Kumar and P. Singh, "Web quality assessment using ensemble methods" Journal of Web Engineering, 2021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classifiers for website quality categorization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89% accuracy with feature engineering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quality metrics (not performance-specific)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labeling strategy comparison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only (no confidence scoring)</a:t>
            </a:r>
          </a:p>
        </p:txBody>
      </p:sp>
    </p:spTree>
    <p:extLst>
      <p:ext uri="{BB962C8B-B14F-4D97-AF65-F5344CB8AC3E}">
        <p14:creationId xmlns:p14="http://schemas.microsoft.com/office/powerpoint/2010/main" val="2832098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024AEE-C1AE-E5C9-DB06-8DA0A3550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A89FED-2CAB-1C3B-6106-37C847C6F31B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E731BF-5BEE-18A2-9363-69C5255199F9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9BA0D-468A-CEEE-511A-92205C1C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9B85B-A252-50D6-AED6-697C5108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6D4B-3A64-A5BD-E704-6F449C19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6E1E3A-9BFD-A3B0-527A-EB10B92B4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9E39E2-8E9F-1FE7-1FF7-A40944E6E657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189DC7-DC2E-E91B-6FD9-74C99B107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4FF15-9141-6761-8848-A8C6902E421C}"/>
              </a:ext>
            </a:extLst>
          </p:cNvPr>
          <p:cNvSpPr txBox="1"/>
          <p:nvPr/>
        </p:nvSpPr>
        <p:spPr>
          <a:xfrm>
            <a:off x="1000125" y="1403946"/>
            <a:ext cx="10050780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machine learning accurately predict website performance categories to enable proactive optimization?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is reactive and cannot predict future performance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non-linear relationships between 22+ metrics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standardized performance categorization methodology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automated, real-time insights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work systematically compares labeling strategies for Core Web Vitals-based ML prediction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research specifically targeting Google's Core Web Vitals framework</a:t>
            </a:r>
          </a:p>
        </p:txBody>
      </p:sp>
    </p:spTree>
    <p:extLst>
      <p:ext uri="{BB962C8B-B14F-4D97-AF65-F5344CB8AC3E}">
        <p14:creationId xmlns:p14="http://schemas.microsoft.com/office/powerpoint/2010/main" val="2666979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Monday, February 2,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1508310-FCB1-4951-A405-08E6355B3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994265"/>
              </p:ext>
            </p:extLst>
          </p:nvPr>
        </p:nvGraphicFramePr>
        <p:xfrm>
          <a:off x="1689501" y="1328099"/>
          <a:ext cx="8812998" cy="4787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6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6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41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97922" marR="97922" marT="48961" marB="48961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97922" marR="97922" marT="48961" marB="48961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4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Websites</a:t>
                      </a:r>
                    </a:p>
                  </a:txBody>
                  <a:tcPr marL="97922" marR="97922" marT="48961" marB="48961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1,167</a:t>
                      </a:r>
                    </a:p>
                  </a:txBody>
                  <a:tcPr marL="97922" marR="97922" marT="48961" marB="4896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Features</a:t>
                      </a:r>
                    </a:p>
                  </a:txBody>
                  <a:tcPr marL="97922" marR="97922" marT="48961" marB="48961"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97922" marR="97922" marT="48961" marB="48961" anchor="ctr">
                    <a:solidFill>
                      <a:srgbClr val="EB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4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Web Vitals</a:t>
                      </a:r>
                    </a:p>
                  </a:txBody>
                  <a:tcPr marL="97922" marR="97922" marT="48961" marB="48961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(LCP, CLS, FCP, TTI)</a:t>
                      </a:r>
                    </a:p>
                  </a:txBody>
                  <a:tcPr marL="97922" marR="97922" marT="48961" marB="4896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4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Categories</a:t>
                      </a:r>
                    </a:p>
                  </a:txBody>
                  <a:tcPr marL="97922" marR="97922" marT="48961" marB="48961"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(Good, Average, Weak)</a:t>
                      </a:r>
                    </a:p>
                  </a:txBody>
                  <a:tcPr marL="97922" marR="97922" marT="48961" marB="48961" anchor="ctr">
                    <a:solidFill>
                      <a:srgbClr val="EB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4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 Period</a:t>
                      </a:r>
                    </a:p>
                  </a:txBody>
                  <a:tcPr marL="97922" marR="97922" marT="48961" marB="48961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uly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2025 -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December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922" marR="97922" marT="48961" marB="4896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84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Collection Method</a:t>
                      </a:r>
                    </a:p>
                  </a:txBody>
                  <a:tcPr marL="97922" marR="97922" marT="48961" marB="48961"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Selenium,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Lighthouse API</a:t>
                      </a:r>
                    </a:p>
                  </a:txBody>
                  <a:tcPr marL="97922" marR="97922" marT="48961" marB="48961" anchor="ctr">
                    <a:solidFill>
                      <a:srgbClr val="EB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84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Train-Test Split</a:t>
                      </a:r>
                    </a:p>
                  </a:txBody>
                  <a:tcPr marL="97922" marR="97922" marT="48961" marB="48961"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80-20 (stratified)</a:t>
                      </a:r>
                    </a:p>
                  </a:txBody>
                  <a:tcPr marL="97922" marR="97922" marT="48961" marB="4896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583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Monday, February 2,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Label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ECB235-6E19-DC43-5DBC-D9224E6ADF83}"/>
              </a:ext>
            </a:extLst>
          </p:cNvPr>
          <p:cNvSpPr txBox="1"/>
          <p:nvPr/>
        </p:nvSpPr>
        <p:spPr>
          <a:xfrm>
            <a:off x="7477901" y="5060190"/>
            <a:ext cx="2119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Dataset Sample</a:t>
            </a:r>
          </a:p>
        </p:txBody>
      </p:sp>
      <p:pic>
        <p:nvPicPr>
          <p:cNvPr id="13" name="Picture 12" descr="composite_hist.png">
            <a:extLst>
              <a:ext uri="{FF2B5EF4-FFF2-40B4-BE49-F238E27FC236}">
                <a16:creationId xmlns:a16="http://schemas.microsoft.com/office/drawing/2014/main" id="{C62BDC0E-29FB-4550-84A8-4CCA04C97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7" y="1338226"/>
            <a:ext cx="5569697" cy="36203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3C7E289-E66A-4D5F-A6F6-8A48BBC9627C}"/>
              </a:ext>
            </a:extLst>
          </p:cNvPr>
          <p:cNvSpPr/>
          <p:nvPr/>
        </p:nvSpPr>
        <p:spPr>
          <a:xfrm>
            <a:off x="271950" y="5125105"/>
            <a:ext cx="50878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Balanced dataset: 389 websites per category (Good, Average, Weak)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0A60ED-878A-4895-90CC-02F9A2BAA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883" y="1706486"/>
            <a:ext cx="6476136" cy="28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11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024AEE-C1AE-E5C9-DB06-8DA0A3550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A89FED-2CAB-1C3B-6106-37C847C6F31B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E731BF-5BEE-18A2-9363-69C5255199F9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9BA0D-468A-CEEE-511A-92205C1C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Monday, February 2,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9B85B-A252-50D6-AED6-697C5108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6D4B-3A64-A5BD-E704-6F449C19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6E1E3A-9BFD-A3B0-527A-EB10B92B4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9E39E2-8E9F-1FE7-1FF7-A40944E6E657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189DC7-DC2E-E91B-6FD9-74C99B107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 Performance Features Analyzed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3F02491-0F22-42D1-917E-1A3849DDC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68948"/>
              </p:ext>
            </p:extLst>
          </p:nvPr>
        </p:nvGraphicFramePr>
        <p:xfrm>
          <a:off x="728662" y="1500807"/>
          <a:ext cx="10625136" cy="4334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6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6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6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6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2463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 Time</a:t>
                      </a: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Time</a:t>
                      </a: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 Content Loaded</a:t>
                      </a: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TTFB (First Byte)</a:t>
                      </a: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463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Links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Size (MB)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463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Largest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Contentful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Paint (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LCP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Cumulative Layout Shift (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CLS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Contentful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Paint</a:t>
                      </a:r>
                    </a:p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FCP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to Interactive</a:t>
                      </a:r>
                    </a:p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TTI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463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 Execution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463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Thread Work</a:t>
                      </a: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 Blocking Time</a:t>
                      </a: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Broken Links</a:t>
                      </a: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Render Time</a:t>
                      </a:r>
                    </a:p>
                  </a:txBody>
                  <a:tcPr anchor="ctr">
                    <a:solidFill>
                      <a:srgbClr val="EB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46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 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Composite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463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Monday, February 2,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52ED8D-4233-4CDA-A22B-4E967FAAC604}"/>
              </a:ext>
            </a:extLst>
          </p:cNvPr>
          <p:cNvSpPr txBox="1"/>
          <p:nvPr/>
        </p:nvSpPr>
        <p:spPr>
          <a:xfrm>
            <a:off x="5128457" y="5812450"/>
            <a:ext cx="1935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Methodology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0A7191-23AB-4644-8F1F-E3242F7D7E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799" y="1357786"/>
            <a:ext cx="6490845" cy="44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91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Monday, February 2,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Labeling Strategies Compared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4E2915B-4DC4-4C80-8575-82B6A4795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116" y="1560832"/>
            <a:ext cx="3691535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Tertile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Labeling: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Equal distribution (33.3% each)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Based on composite score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Simple, balanced classes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Weighted Composite: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Expert-defined thresholds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Weighted importance of metrics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Domain knowledge driven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ED6818-EF5D-4A58-B9A3-E8DA9DF29ABE}"/>
              </a:ext>
            </a:extLst>
          </p:cNvPr>
          <p:cNvSpPr/>
          <p:nvPr/>
        </p:nvSpPr>
        <p:spPr>
          <a:xfrm>
            <a:off x="6354528" y="1557455"/>
            <a:ext cx="6096000" cy="41975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K-means Clustering (BEST):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Unsupervised learning approach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Natural grouping of websites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Data-driven categorization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Best performance: 97.86% accuracy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80% training, 20% testing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Stratified sampling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seed: 42 (reproducibility)</a:t>
            </a:r>
          </a:p>
        </p:txBody>
      </p:sp>
    </p:spTree>
    <p:extLst>
      <p:ext uri="{BB962C8B-B14F-4D97-AF65-F5344CB8AC3E}">
        <p14:creationId xmlns:p14="http://schemas.microsoft.com/office/powerpoint/2010/main" val="1536186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Monday, February 2,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Evaluated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AA278C-B38B-4542-B34C-98F4119111FF}"/>
              </a:ext>
            </a:extLst>
          </p:cNvPr>
          <p:cNvSpPr/>
          <p:nvPr/>
        </p:nvSpPr>
        <p:spPr>
          <a:xfrm>
            <a:off x="998929" y="1519588"/>
            <a:ext cx="5158981" cy="3670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Random Forest (RF):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Ensemble of decision trees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Handles non-linear relationships well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importance extraction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LightGBM (Light Gradient Boosting Machine):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Gradient boosting framework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 training, high efficiency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Best overall performance (97.86% accuracy)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B766DB-E5C6-45EF-9240-7D3DC4FCC93E}"/>
              </a:ext>
            </a:extLst>
          </p:cNvPr>
          <p:cNvSpPr/>
          <p:nvPr/>
        </p:nvSpPr>
        <p:spPr>
          <a:xfrm>
            <a:off x="6354528" y="1505650"/>
            <a:ext cx="6096000" cy="24424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Network: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Deep learning approach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Multi-layer perceptron architecture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Captures complex patterns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Models Trained: 9 (3 strategies × 3 algorithms)</a:t>
            </a:r>
          </a:p>
        </p:txBody>
      </p:sp>
    </p:spTree>
    <p:extLst>
      <p:ext uri="{BB962C8B-B14F-4D97-AF65-F5344CB8AC3E}">
        <p14:creationId xmlns:p14="http://schemas.microsoft.com/office/powerpoint/2010/main" val="3432472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Monday, February 2,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Model Performance</a:t>
            </a:r>
          </a:p>
        </p:txBody>
      </p:sp>
      <p:pic>
        <p:nvPicPr>
          <p:cNvPr id="12" name="Picture 11" descr="all_metrics_heatmap.png">
            <a:extLst>
              <a:ext uri="{FF2B5EF4-FFF2-40B4-BE49-F238E27FC236}">
                <a16:creationId xmlns:a16="http://schemas.microsoft.com/office/drawing/2014/main" id="{8AC5E2BC-46CB-427E-9CE3-DFC266A59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230" y="1235052"/>
            <a:ext cx="5548061" cy="47554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3A6CAE9-BA41-4BE9-82E2-4979AC012664}"/>
              </a:ext>
            </a:extLst>
          </p:cNvPr>
          <p:cNvSpPr/>
          <p:nvPr/>
        </p:nvSpPr>
        <p:spPr>
          <a:xfrm>
            <a:off x="4591486" y="5990533"/>
            <a:ext cx="21515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All metrics heatmap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242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Comparison</a:t>
            </a:r>
          </a:p>
        </p:txBody>
      </p:sp>
      <p:pic>
        <p:nvPicPr>
          <p:cNvPr id="15" name="Picture 14" descr="model_comparison_radar.png">
            <a:extLst>
              <a:ext uri="{FF2B5EF4-FFF2-40B4-BE49-F238E27FC236}">
                <a16:creationId xmlns:a16="http://schemas.microsoft.com/office/drawing/2014/main" id="{D7F9DBCA-DCF2-49F4-9403-F678C5DAF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291" y="1314639"/>
            <a:ext cx="5437697" cy="46207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D8900F1-BA27-4DBE-8C1E-E68D5A1D5C5A}"/>
              </a:ext>
            </a:extLst>
          </p:cNvPr>
          <p:cNvSpPr/>
          <p:nvPr/>
        </p:nvSpPr>
        <p:spPr>
          <a:xfrm>
            <a:off x="533399" y="2086539"/>
            <a:ext cx="5224463" cy="3476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labeling consistently outperforms other strategies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 achieves best balance of all metrics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models exceed 94% accuracy threshold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variance in precision/recall (balanced predictions)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show competitive performance on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tertile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strategy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02B488-9F09-43A4-9C51-65999BDB249E}"/>
              </a:ext>
            </a:extLst>
          </p:cNvPr>
          <p:cNvSpPr/>
          <p:nvPr/>
        </p:nvSpPr>
        <p:spPr>
          <a:xfrm>
            <a:off x="7496954" y="5883848"/>
            <a:ext cx="29903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 Model Performance Comparison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25344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LightGBM + K-means Confusion Matrix</a:t>
            </a:r>
          </a:p>
        </p:txBody>
      </p:sp>
      <p:pic>
        <p:nvPicPr>
          <p:cNvPr id="12" name="Picture 11" descr="confusion_label_kmeans_lgbm.png">
            <a:extLst>
              <a:ext uri="{FF2B5EF4-FFF2-40B4-BE49-F238E27FC236}">
                <a16:creationId xmlns:a16="http://schemas.microsoft.com/office/drawing/2014/main" id="{7696958B-DECF-476C-88D1-95B529ADF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0547"/>
            <a:ext cx="5872162" cy="381690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97245C-E091-401F-88AA-A257386719E3}"/>
              </a:ext>
            </a:extLst>
          </p:cNvPr>
          <p:cNvSpPr/>
          <p:nvPr/>
        </p:nvSpPr>
        <p:spPr>
          <a:xfrm>
            <a:off x="809028" y="2196970"/>
            <a:ext cx="5477472" cy="2143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 + K-means Clustering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High accuracy across all three categories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Minimal misclassification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Strong diagonal pattern indicates excellent predictions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Balanced performance (no class bias)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ACB990-7173-41A1-B1F9-946DFEDEE63B}"/>
              </a:ext>
            </a:extLst>
          </p:cNvPr>
          <p:cNvSpPr/>
          <p:nvPr/>
        </p:nvSpPr>
        <p:spPr>
          <a:xfrm>
            <a:off x="7271599" y="5427639"/>
            <a:ext cx="35209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6: LightGBM + K-means Confusion Matrix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828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Application: Web Platform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79C07B-BB68-41A4-BB84-6AE242E8C551}"/>
              </a:ext>
            </a:extLst>
          </p:cNvPr>
          <p:cNvSpPr/>
          <p:nvPr/>
        </p:nvSpPr>
        <p:spPr>
          <a:xfrm>
            <a:off x="383381" y="4736610"/>
            <a:ext cx="11332369" cy="1415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</a:p>
          <a:p>
            <a:pPr>
              <a:lnSpc>
                <a:spcPct val="15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Frontend: Next.js 16, TypeScript, Tailwind CSS                           • Backend: Python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Node.js REST API  </a:t>
            </a: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ML: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-learn, LightGBM, TensorFlow/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951A57-5357-4DF2-8CCA-A324E05B2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53" y="1424425"/>
            <a:ext cx="5787975" cy="28749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56D057-EBA8-4A80-905D-583C91A8B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644" y="1424425"/>
            <a:ext cx="5796524" cy="287490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7575749-E72A-4981-98C8-1DFDE7782C5C}"/>
              </a:ext>
            </a:extLst>
          </p:cNvPr>
          <p:cNvSpPr/>
          <p:nvPr/>
        </p:nvSpPr>
        <p:spPr>
          <a:xfrm>
            <a:off x="1402298" y="4357399"/>
            <a:ext cx="28151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7: Home page URL Input section</a:t>
            </a:r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27870C-30B1-40FC-A71E-79A070F9EA53}"/>
              </a:ext>
            </a:extLst>
          </p:cNvPr>
          <p:cNvSpPr/>
          <p:nvPr/>
        </p:nvSpPr>
        <p:spPr>
          <a:xfrm>
            <a:off x="7676309" y="4393686"/>
            <a:ext cx="25307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8: Home page Footer section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24556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Platform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7BC4D4-D378-41EB-8A52-6E7E9AFCC5EA}"/>
              </a:ext>
            </a:extLst>
          </p:cNvPr>
          <p:cNvSpPr/>
          <p:nvPr/>
        </p:nvSpPr>
        <p:spPr>
          <a:xfrm>
            <a:off x="300558" y="4593824"/>
            <a:ext cx="557688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performance analysis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dashboard with Core Web Vitals visualization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grade: Good / Average / Weak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5852C5-8A67-4FFB-B367-38298FEB9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91" y="1376073"/>
            <a:ext cx="5811676" cy="29137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F82556-A44F-4081-A2E9-54457798D9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180" y="1361587"/>
            <a:ext cx="5997505" cy="292819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52788F2-8FF6-4160-8097-FF5FF6CCB35E}"/>
              </a:ext>
            </a:extLst>
          </p:cNvPr>
          <p:cNvSpPr/>
          <p:nvPr/>
        </p:nvSpPr>
        <p:spPr>
          <a:xfrm>
            <a:off x="5895457" y="4995034"/>
            <a:ext cx="47487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Actionable recommendations prioritized by impact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and desktop responsive design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9D8C8A-7535-4701-8167-BB61BDD6F07F}"/>
              </a:ext>
            </a:extLst>
          </p:cNvPr>
          <p:cNvSpPr/>
          <p:nvPr/>
        </p:nvSpPr>
        <p:spPr>
          <a:xfrm>
            <a:off x="1593816" y="4354663"/>
            <a:ext cx="35221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9: Dashboard Performance Analysis Section</a:t>
            </a:r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CE2CA1-F0BC-41BC-88A5-39D5C59D670C}"/>
              </a:ext>
            </a:extLst>
          </p:cNvPr>
          <p:cNvSpPr/>
          <p:nvPr/>
        </p:nvSpPr>
        <p:spPr>
          <a:xfrm>
            <a:off x="7304847" y="4365408"/>
            <a:ext cx="3293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9: Dashboard Recommendations Section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69891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CA55F7E-6055-4154-BC69-FB045B27FBD5}"/>
              </a:ext>
            </a:extLst>
          </p:cNvPr>
          <p:cNvSpPr txBox="1">
            <a:spLocks/>
          </p:cNvSpPr>
          <p:nvPr/>
        </p:nvSpPr>
        <p:spPr>
          <a:xfrm>
            <a:off x="838200" y="1632444"/>
            <a:ext cx="9863138" cy="3789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Enhancements: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monitoring with continuous model retraining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vs Desktop performance prediction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Multi-regional analysis (geographic performance)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CI/CD pipelines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Explainable AI for recommendation generation</a:t>
            </a:r>
          </a:p>
        </p:txBody>
      </p:sp>
    </p:spTree>
    <p:extLst>
      <p:ext uri="{BB962C8B-B14F-4D97-AF65-F5344CB8AC3E}">
        <p14:creationId xmlns:p14="http://schemas.microsoft.com/office/powerpoint/2010/main" val="3917320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200DA-01A8-0BB0-B001-7D0B389F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3EAC61-F116-FBFE-0119-A7EE472D34DE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35432-1729-5FAB-D2FF-6A0AB4B9971A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606F-6A86-E520-5CA0-ED060E02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B625-481F-2CAE-14B6-AC3809CA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55782-BD5E-A357-EB3C-C097619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7A7BE-36A9-6288-4F55-48CBDD55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AA19C5-528A-565B-8E67-E6E768AD1406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B1AE63-7E0F-D403-E2F8-A6177309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Key Contributions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DC88D3-FE66-42C4-953E-435E7FB704F2}"/>
              </a:ext>
            </a:extLst>
          </p:cNvPr>
          <p:cNvSpPr/>
          <p:nvPr/>
        </p:nvSpPr>
        <p:spPr>
          <a:xfrm>
            <a:off x="512874" y="1353176"/>
            <a:ext cx="4887801" cy="3782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Achievements: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98.47% F1-score - highest in Core Web Vitals ML research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analysis of 1,167 real-world websites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evaluation: 3 labeling strategies × 3 ML algorithms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 identified as optimal labeling approach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43ED71-FDC6-479F-8F7A-BD22640E9EF5}"/>
              </a:ext>
            </a:extLst>
          </p:cNvPr>
          <p:cNvSpPr/>
          <p:nvPr/>
        </p:nvSpPr>
        <p:spPr>
          <a:xfrm>
            <a:off x="6095998" y="1424425"/>
            <a:ext cx="5228942" cy="4335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Contributions: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comprehensive ML study specifically targeting Core Web Vitals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Production-ready web platform 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labeling strategies rigorously evaluated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Impact: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proactive website optimization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performance testing time by 90%</a:t>
            </a: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actionable insights for developers and businesses</a:t>
            </a:r>
          </a:p>
        </p:txBody>
      </p:sp>
    </p:spTree>
    <p:extLst>
      <p:ext uri="{BB962C8B-B14F-4D97-AF65-F5344CB8AC3E}">
        <p14:creationId xmlns:p14="http://schemas.microsoft.com/office/powerpoint/2010/main" val="2651813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024AEE-C1AE-E5C9-DB06-8DA0A3550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A89FED-2CAB-1C3B-6106-37C847C6F31B}"/>
              </a:ext>
            </a:extLst>
          </p:cNvPr>
          <p:cNvSpPr/>
          <p:nvPr/>
        </p:nvSpPr>
        <p:spPr>
          <a:xfrm>
            <a:off x="0" y="0"/>
            <a:ext cx="12192000" cy="11582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E731BF-5BEE-18A2-9363-69C5255199F9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9BA0D-468A-CEEE-511A-92205C1C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FE4D-2A4B-458E-879C-F7C1D4F014B9}" type="datetime2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February 3, 2026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9B85B-A252-50D6-AED6-697C5108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6D4B-3A64-A5BD-E704-6F449C19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6E1E3A-9BFD-A3B0-527A-EB10B92B4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9E39E2-8E9F-1FE7-1FF7-A40944E6E657}"/>
              </a:ext>
            </a:extLst>
          </p:cNvPr>
          <p:cNvSpPr/>
          <p:nvPr/>
        </p:nvSpPr>
        <p:spPr>
          <a:xfrm>
            <a:off x="-1" y="1153362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189DC7-DC2E-E91B-6FD9-74C99B107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976" y="347413"/>
            <a:ext cx="10161104" cy="6198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7B947F-D977-44D1-85C9-FFD4A746CF18}"/>
              </a:ext>
            </a:extLst>
          </p:cNvPr>
          <p:cNvSpPr/>
          <p:nvPr/>
        </p:nvSpPr>
        <p:spPr>
          <a:xfrm>
            <a:off x="809028" y="1541976"/>
            <a:ext cx="1037808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Chen et al., "Predicting website conversion rates using machine learning,“ ACM Transactions on the Web, vol. 13, no. 2, pp. 1-28, 2019.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X. Wang et al., "Linking web performance to user satisfaction: A neural network approach," IEEE Trans. Services Computing, vol. 15, no. 3, 2022.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R. Kumar and P. Singh, "Web quality assessment using ensemble methods,“ Journal of Web Engineering, vol. 20, no. 4, pp. 567-590, 2021.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Google, "Web Vitals,"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web.dev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2020-2024. [Online]. Available: https://web.dev/vitals/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"LightGBM: A highly efficient gradient boosting decision tree,“ in Proc. NIPS, 2017, pp. 3146-3154.</a:t>
            </a:r>
          </a:p>
        </p:txBody>
      </p:sp>
    </p:spTree>
    <p:extLst>
      <p:ext uri="{BB962C8B-B14F-4D97-AF65-F5344CB8AC3E}">
        <p14:creationId xmlns:p14="http://schemas.microsoft.com/office/powerpoint/2010/main" val="1669406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bg1"/>
            </a:gs>
            <a:gs pos="100000">
              <a:schemeClr val="tx2">
                <a:lumMod val="20000"/>
                <a:lumOff val="80000"/>
              </a:scheme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3C81D3-9AAD-9C2A-A92F-CB5D8640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1BB63B-9C1F-188B-A83F-25B8B5956DCA}"/>
              </a:ext>
            </a:extLst>
          </p:cNvPr>
          <p:cNvSpPr/>
          <p:nvPr/>
        </p:nvSpPr>
        <p:spPr>
          <a:xfrm>
            <a:off x="0" y="-54442"/>
            <a:ext cx="12192000" cy="64107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F82947-A3C0-DF81-11AD-BAD3B1D2E89B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AF7A5-9504-C86E-C764-A6DC3EE6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Engineering, PUB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CC07F2C-4EA2-A2B4-152C-2432208EF229}"/>
              </a:ext>
            </a:extLst>
          </p:cNvPr>
          <p:cNvSpPr>
            <a:spLocks noGrp="1"/>
          </p:cNvSpPr>
          <p:nvPr/>
        </p:nvSpPr>
        <p:spPr>
          <a:xfrm>
            <a:off x="1192696" y="3240439"/>
            <a:ext cx="3428465" cy="6198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3E24287-C5CD-245E-8FED-DBE06B479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2696" y="2396720"/>
            <a:ext cx="4637833" cy="91093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263035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7894F0F-D40E-4E62-940F-9CC676670F6C}" vid="{0D92BAB4-9D13-449B-A1E2-DC49DACA5F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FY Presentaion Template</Template>
  <TotalTime>1942</TotalTime>
  <Words>1506</Words>
  <Application>Microsoft Office PowerPoint</Application>
  <PresentationFormat>Widescreen</PresentationFormat>
  <Paragraphs>294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Roboto</vt:lpstr>
      <vt:lpstr>Times New Roman</vt:lpstr>
      <vt:lpstr>Office Theme</vt:lpstr>
      <vt:lpstr>Dynamic Web Performance Optimization Measurement Using Machine Learning Analytics</vt:lpstr>
      <vt:lpstr>Outline</vt:lpstr>
      <vt:lpstr>Introduction</vt:lpstr>
      <vt:lpstr>Objectives</vt:lpstr>
      <vt:lpstr>Literature Review</vt:lpstr>
      <vt:lpstr>Literature Review</vt:lpstr>
      <vt:lpstr>Literature Review</vt:lpstr>
      <vt:lpstr>Problem Statement</vt:lpstr>
      <vt:lpstr>Dataset Overview</vt:lpstr>
      <vt:lpstr>Performance Label Distribution</vt:lpstr>
      <vt:lpstr>22 Performance Features Analyzed</vt:lpstr>
      <vt:lpstr>Methodology</vt:lpstr>
      <vt:lpstr>Three Labeling Strategies Compared</vt:lpstr>
      <vt:lpstr>Machine Learning Models Evaluated</vt:lpstr>
      <vt:lpstr>Results: Model Performance</vt:lpstr>
      <vt:lpstr>Model Accuracy Comparison</vt:lpstr>
      <vt:lpstr>LightGBM + K-means Confusion Matrix</vt:lpstr>
      <vt:lpstr>Real-World Application: Web Platform</vt:lpstr>
      <vt:lpstr>Web Platform</vt:lpstr>
      <vt:lpstr>Future Directions</vt:lpstr>
      <vt:lpstr>Conclusion &amp; Key Contributions</vt:lpstr>
      <vt:lpstr>References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Novel Approach for Evaluating Web Page Performance Based on Machine Learning Algorithms and Optimization Algorithms</dc:title>
  <dc:creator>HP</dc:creator>
  <cp:lastModifiedBy>HP</cp:lastModifiedBy>
  <cp:revision>100</cp:revision>
  <dcterms:created xsi:type="dcterms:W3CDTF">2025-07-26T06:05:08Z</dcterms:created>
  <dcterms:modified xsi:type="dcterms:W3CDTF">2026-02-02T19:59:48Z</dcterms:modified>
</cp:coreProperties>
</file>