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72" r:id="rId6"/>
    <p:sldId id="260" r:id="rId7"/>
    <p:sldId id="261" r:id="rId8"/>
    <p:sldId id="262" r:id="rId9"/>
    <p:sldId id="263" r:id="rId10"/>
    <p:sldId id="264" r:id="rId11"/>
    <p:sldId id="266" r:id="rId12"/>
    <p:sldId id="274" r:id="rId13"/>
    <p:sldId id="273" r:id="rId14"/>
    <p:sldId id="275" r:id="rId15"/>
    <p:sldId id="276" r:id="rId16"/>
    <p:sldId id="277" r:id="rId17"/>
    <p:sldId id="268" r:id="rId18"/>
    <p:sldId id="269" r:id="rId19"/>
    <p:sldId id="270" r:id="rId20"/>
    <p:sldId id="27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D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8" d="100"/>
          <a:sy n="68" d="100"/>
        </p:scale>
        <p:origin x="816"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9ED17C-F12B-40CB-B332-C6480DB8E7F0}" type="datetimeFigureOut">
              <a:rPr lang="en-US" smtClean="0"/>
              <a:t>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A46629-DDE9-4049-9809-56964DD20E02}" type="slidenum">
              <a:rPr lang="en-US" smtClean="0"/>
              <a:t>‹#›</a:t>
            </a:fld>
            <a:endParaRPr lang="en-US"/>
          </a:p>
        </p:txBody>
      </p:sp>
    </p:spTree>
    <p:extLst>
      <p:ext uri="{BB962C8B-B14F-4D97-AF65-F5344CB8AC3E}">
        <p14:creationId xmlns:p14="http://schemas.microsoft.com/office/powerpoint/2010/main" val="13686618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010A2-2799-FE5F-7ED3-EB6017D4A1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FDB441-FC1F-DE44-F6CE-9071CC1BB9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399C45D-883E-7779-00CB-DBC9446D193D}"/>
              </a:ext>
            </a:extLst>
          </p:cNvPr>
          <p:cNvSpPr>
            <a:spLocks noGrp="1"/>
          </p:cNvSpPr>
          <p:nvPr>
            <p:ph type="dt" sz="half" idx="10"/>
          </p:nvPr>
        </p:nvSpPr>
        <p:spPr/>
        <p:txBody>
          <a:bodyPr/>
          <a:lstStyle/>
          <a:p>
            <a:fld id="{0EB26F32-91A8-4340-868D-5E0A85BEE796}" type="datetime2">
              <a:rPr lang="en-US" smtClean="0"/>
              <a:t>Monday, January 5, 2026</a:t>
            </a:fld>
            <a:endParaRPr lang="en-US"/>
          </a:p>
        </p:txBody>
      </p:sp>
      <p:sp>
        <p:nvSpPr>
          <p:cNvPr id="5" name="Footer Placeholder 4">
            <a:extLst>
              <a:ext uri="{FF2B5EF4-FFF2-40B4-BE49-F238E27FC236}">
                <a16:creationId xmlns:a16="http://schemas.microsoft.com/office/drawing/2014/main" id="{9AD1568B-516F-8789-445D-64FD01EABD06}"/>
              </a:ext>
            </a:extLst>
          </p:cNvPr>
          <p:cNvSpPr>
            <a:spLocks noGrp="1"/>
          </p:cNvSpPr>
          <p:nvPr>
            <p:ph type="ftr" sz="quarter" idx="11"/>
          </p:nvPr>
        </p:nvSpPr>
        <p:spPr/>
        <p:txBody>
          <a:bodyPr/>
          <a:lstStyle/>
          <a:p>
            <a:r>
              <a:rPr lang="en-US"/>
              <a:t>Department of Computer Science &amp; Engineering, PUB</a:t>
            </a:r>
          </a:p>
        </p:txBody>
      </p:sp>
      <p:sp>
        <p:nvSpPr>
          <p:cNvPr id="6" name="Slide Number Placeholder 5">
            <a:extLst>
              <a:ext uri="{FF2B5EF4-FFF2-40B4-BE49-F238E27FC236}">
                <a16:creationId xmlns:a16="http://schemas.microsoft.com/office/drawing/2014/main" id="{5691F1F7-A3B0-7732-298C-5AA7838DF9BC}"/>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2084579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5FF4E-617C-962C-941E-340049DCD5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D138BE-F1A8-1373-5286-AABA55AAB9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910DC0-4A9D-C5CF-F3D5-178353D0CA71}"/>
              </a:ext>
            </a:extLst>
          </p:cNvPr>
          <p:cNvSpPr>
            <a:spLocks noGrp="1"/>
          </p:cNvSpPr>
          <p:nvPr>
            <p:ph type="dt" sz="half" idx="10"/>
          </p:nvPr>
        </p:nvSpPr>
        <p:spPr/>
        <p:txBody>
          <a:bodyPr/>
          <a:lstStyle/>
          <a:p>
            <a:fld id="{BF5A2554-468B-44E7-959E-8F3376471EAD}" type="datetime2">
              <a:rPr lang="en-US" smtClean="0"/>
              <a:t>Monday, January 5, 2026</a:t>
            </a:fld>
            <a:endParaRPr lang="en-US"/>
          </a:p>
        </p:txBody>
      </p:sp>
      <p:sp>
        <p:nvSpPr>
          <p:cNvPr id="5" name="Footer Placeholder 4">
            <a:extLst>
              <a:ext uri="{FF2B5EF4-FFF2-40B4-BE49-F238E27FC236}">
                <a16:creationId xmlns:a16="http://schemas.microsoft.com/office/drawing/2014/main" id="{E56BBE8E-91E4-ED3B-758D-71E53DC60591}"/>
              </a:ext>
            </a:extLst>
          </p:cNvPr>
          <p:cNvSpPr>
            <a:spLocks noGrp="1"/>
          </p:cNvSpPr>
          <p:nvPr>
            <p:ph type="ftr" sz="quarter" idx="11"/>
          </p:nvPr>
        </p:nvSpPr>
        <p:spPr/>
        <p:txBody>
          <a:bodyPr/>
          <a:lstStyle/>
          <a:p>
            <a:r>
              <a:rPr lang="en-US"/>
              <a:t>Department of Computer Science &amp; Engineering, PUB</a:t>
            </a:r>
          </a:p>
        </p:txBody>
      </p:sp>
      <p:sp>
        <p:nvSpPr>
          <p:cNvPr id="6" name="Slide Number Placeholder 5">
            <a:extLst>
              <a:ext uri="{FF2B5EF4-FFF2-40B4-BE49-F238E27FC236}">
                <a16:creationId xmlns:a16="http://schemas.microsoft.com/office/drawing/2014/main" id="{D1F98918-B618-D501-E52B-6715935ACBFB}"/>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3940620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0F9C9-C56B-F97A-7A67-5F80EF6599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DD72EF-0371-4EF3-F13B-00B9A9A288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22793C-09E8-86E9-6545-F087C62A7C7E}"/>
              </a:ext>
            </a:extLst>
          </p:cNvPr>
          <p:cNvSpPr>
            <a:spLocks noGrp="1"/>
          </p:cNvSpPr>
          <p:nvPr>
            <p:ph type="dt" sz="half" idx="10"/>
          </p:nvPr>
        </p:nvSpPr>
        <p:spPr/>
        <p:txBody>
          <a:bodyPr/>
          <a:lstStyle/>
          <a:p>
            <a:fld id="{91B59EFF-22CB-4D13-B295-F8753D08A73B}" type="datetime2">
              <a:rPr lang="en-US" smtClean="0"/>
              <a:t>Monday, January 5, 2026</a:t>
            </a:fld>
            <a:endParaRPr lang="en-US"/>
          </a:p>
        </p:txBody>
      </p:sp>
      <p:sp>
        <p:nvSpPr>
          <p:cNvPr id="5" name="Footer Placeholder 4">
            <a:extLst>
              <a:ext uri="{FF2B5EF4-FFF2-40B4-BE49-F238E27FC236}">
                <a16:creationId xmlns:a16="http://schemas.microsoft.com/office/drawing/2014/main" id="{B4A0B9DE-F9AF-C044-B742-EE46DA54C508}"/>
              </a:ext>
            </a:extLst>
          </p:cNvPr>
          <p:cNvSpPr>
            <a:spLocks noGrp="1"/>
          </p:cNvSpPr>
          <p:nvPr>
            <p:ph type="ftr" sz="quarter" idx="11"/>
          </p:nvPr>
        </p:nvSpPr>
        <p:spPr/>
        <p:txBody>
          <a:bodyPr/>
          <a:lstStyle/>
          <a:p>
            <a:r>
              <a:rPr lang="en-US"/>
              <a:t>Department of Computer Science &amp; Engineering, PUB</a:t>
            </a:r>
          </a:p>
        </p:txBody>
      </p:sp>
      <p:sp>
        <p:nvSpPr>
          <p:cNvPr id="6" name="Slide Number Placeholder 5">
            <a:extLst>
              <a:ext uri="{FF2B5EF4-FFF2-40B4-BE49-F238E27FC236}">
                <a16:creationId xmlns:a16="http://schemas.microsoft.com/office/drawing/2014/main" id="{C532D79C-9841-FDA0-404A-39F5A0A2B668}"/>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933159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4FE28-B718-D71C-2EA9-1B632A6367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8EE841-31A1-54CE-183E-5A44AAFA39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73B3D6-8DC7-44CC-9B9B-B93034578A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54ECBA-B5CC-A31F-146E-6A782EECF512}"/>
              </a:ext>
            </a:extLst>
          </p:cNvPr>
          <p:cNvSpPr>
            <a:spLocks noGrp="1"/>
          </p:cNvSpPr>
          <p:nvPr>
            <p:ph type="dt" sz="half" idx="10"/>
          </p:nvPr>
        </p:nvSpPr>
        <p:spPr/>
        <p:txBody>
          <a:bodyPr/>
          <a:lstStyle/>
          <a:p>
            <a:fld id="{6055A188-44D0-4F09-95D3-72A118F02586}" type="datetime2">
              <a:rPr lang="en-US" smtClean="0"/>
              <a:t>Monday, January 5, 2026</a:t>
            </a:fld>
            <a:endParaRPr lang="en-US"/>
          </a:p>
        </p:txBody>
      </p:sp>
      <p:sp>
        <p:nvSpPr>
          <p:cNvPr id="6" name="Footer Placeholder 5">
            <a:extLst>
              <a:ext uri="{FF2B5EF4-FFF2-40B4-BE49-F238E27FC236}">
                <a16:creationId xmlns:a16="http://schemas.microsoft.com/office/drawing/2014/main" id="{10FC95A0-8502-DDB7-350B-69039640528D}"/>
              </a:ext>
            </a:extLst>
          </p:cNvPr>
          <p:cNvSpPr>
            <a:spLocks noGrp="1"/>
          </p:cNvSpPr>
          <p:nvPr>
            <p:ph type="ftr" sz="quarter" idx="11"/>
          </p:nvPr>
        </p:nvSpPr>
        <p:spPr/>
        <p:txBody>
          <a:bodyPr/>
          <a:lstStyle/>
          <a:p>
            <a:r>
              <a:rPr lang="en-US"/>
              <a:t>Department of Computer Science &amp; Engineering, PUB</a:t>
            </a:r>
          </a:p>
        </p:txBody>
      </p:sp>
      <p:sp>
        <p:nvSpPr>
          <p:cNvPr id="7" name="Slide Number Placeholder 6">
            <a:extLst>
              <a:ext uri="{FF2B5EF4-FFF2-40B4-BE49-F238E27FC236}">
                <a16:creationId xmlns:a16="http://schemas.microsoft.com/office/drawing/2014/main" id="{38C0FE03-C2CF-FF0D-DA8E-6C168AD822BF}"/>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708569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391A6-EBFE-2902-D783-CC57008B1D9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DDF28CB-12B2-F1D2-C8B6-22F92B2B71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6B5252-2284-738C-D8D3-FDA5C61CFC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61ED42-0717-CEDF-F130-83B329241A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E235ED-66DF-805B-6261-6000A6BB05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0E731C4-35E1-2943-49BF-A9F49F00C522}"/>
              </a:ext>
            </a:extLst>
          </p:cNvPr>
          <p:cNvSpPr>
            <a:spLocks noGrp="1"/>
          </p:cNvSpPr>
          <p:nvPr>
            <p:ph type="dt" sz="half" idx="10"/>
          </p:nvPr>
        </p:nvSpPr>
        <p:spPr/>
        <p:txBody>
          <a:bodyPr/>
          <a:lstStyle/>
          <a:p>
            <a:fld id="{8153173E-BCA8-4A3A-AC75-A00FF2F39098}" type="datetime2">
              <a:rPr lang="en-US" smtClean="0"/>
              <a:t>Monday, January 5, 2026</a:t>
            </a:fld>
            <a:endParaRPr lang="en-US"/>
          </a:p>
        </p:txBody>
      </p:sp>
      <p:sp>
        <p:nvSpPr>
          <p:cNvPr id="8" name="Footer Placeholder 7">
            <a:extLst>
              <a:ext uri="{FF2B5EF4-FFF2-40B4-BE49-F238E27FC236}">
                <a16:creationId xmlns:a16="http://schemas.microsoft.com/office/drawing/2014/main" id="{4578AF73-A3F6-154D-BBC0-390E58653938}"/>
              </a:ext>
            </a:extLst>
          </p:cNvPr>
          <p:cNvSpPr>
            <a:spLocks noGrp="1"/>
          </p:cNvSpPr>
          <p:nvPr>
            <p:ph type="ftr" sz="quarter" idx="11"/>
          </p:nvPr>
        </p:nvSpPr>
        <p:spPr/>
        <p:txBody>
          <a:bodyPr/>
          <a:lstStyle/>
          <a:p>
            <a:r>
              <a:rPr lang="en-US"/>
              <a:t>Department of Computer Science &amp; Engineering, PUB</a:t>
            </a:r>
          </a:p>
        </p:txBody>
      </p:sp>
      <p:sp>
        <p:nvSpPr>
          <p:cNvPr id="9" name="Slide Number Placeholder 8">
            <a:extLst>
              <a:ext uri="{FF2B5EF4-FFF2-40B4-BE49-F238E27FC236}">
                <a16:creationId xmlns:a16="http://schemas.microsoft.com/office/drawing/2014/main" id="{DE319234-EC89-C0B4-E246-54794909DD97}"/>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4279614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0A47B-3B21-F564-4C44-F3F39C8CDF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48F16C-025D-E8CF-C55B-9A48EA5D02D5}"/>
              </a:ext>
            </a:extLst>
          </p:cNvPr>
          <p:cNvSpPr>
            <a:spLocks noGrp="1"/>
          </p:cNvSpPr>
          <p:nvPr>
            <p:ph type="dt" sz="half" idx="10"/>
          </p:nvPr>
        </p:nvSpPr>
        <p:spPr/>
        <p:txBody>
          <a:bodyPr/>
          <a:lstStyle/>
          <a:p>
            <a:fld id="{E58D53B1-6CA6-43AD-AFC7-3BAAD7905353}" type="datetime2">
              <a:rPr lang="en-US" smtClean="0"/>
              <a:t>Monday, January 5, 2026</a:t>
            </a:fld>
            <a:endParaRPr lang="en-US"/>
          </a:p>
        </p:txBody>
      </p:sp>
      <p:sp>
        <p:nvSpPr>
          <p:cNvPr id="4" name="Footer Placeholder 3">
            <a:extLst>
              <a:ext uri="{FF2B5EF4-FFF2-40B4-BE49-F238E27FC236}">
                <a16:creationId xmlns:a16="http://schemas.microsoft.com/office/drawing/2014/main" id="{E086437C-4EC8-2BEE-1B01-39179C281BB4}"/>
              </a:ext>
            </a:extLst>
          </p:cNvPr>
          <p:cNvSpPr>
            <a:spLocks noGrp="1"/>
          </p:cNvSpPr>
          <p:nvPr>
            <p:ph type="ftr" sz="quarter" idx="11"/>
          </p:nvPr>
        </p:nvSpPr>
        <p:spPr/>
        <p:txBody>
          <a:bodyPr/>
          <a:lstStyle/>
          <a:p>
            <a:r>
              <a:rPr lang="en-US"/>
              <a:t>Department of Computer Science &amp; Engineering, PUB</a:t>
            </a:r>
          </a:p>
        </p:txBody>
      </p:sp>
      <p:sp>
        <p:nvSpPr>
          <p:cNvPr id="5" name="Slide Number Placeholder 4">
            <a:extLst>
              <a:ext uri="{FF2B5EF4-FFF2-40B4-BE49-F238E27FC236}">
                <a16:creationId xmlns:a16="http://schemas.microsoft.com/office/drawing/2014/main" id="{9529B9CD-31B6-F216-04D7-2D8490988F43}"/>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3401978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5D2B2E-62E1-D996-0F7D-965298FD88A5}"/>
              </a:ext>
            </a:extLst>
          </p:cNvPr>
          <p:cNvSpPr>
            <a:spLocks noGrp="1"/>
          </p:cNvSpPr>
          <p:nvPr>
            <p:ph type="dt" sz="half" idx="10"/>
          </p:nvPr>
        </p:nvSpPr>
        <p:spPr/>
        <p:txBody>
          <a:bodyPr/>
          <a:lstStyle/>
          <a:p>
            <a:fld id="{E8161911-596A-4E6F-AD9C-B71EEA0CF3A6}" type="datetime2">
              <a:rPr lang="en-US" smtClean="0"/>
              <a:t>Monday, January 5, 2026</a:t>
            </a:fld>
            <a:endParaRPr lang="en-US"/>
          </a:p>
        </p:txBody>
      </p:sp>
      <p:sp>
        <p:nvSpPr>
          <p:cNvPr id="3" name="Footer Placeholder 2">
            <a:extLst>
              <a:ext uri="{FF2B5EF4-FFF2-40B4-BE49-F238E27FC236}">
                <a16:creationId xmlns:a16="http://schemas.microsoft.com/office/drawing/2014/main" id="{F5718A65-0619-BBB3-D0F3-1A04A23521B8}"/>
              </a:ext>
            </a:extLst>
          </p:cNvPr>
          <p:cNvSpPr>
            <a:spLocks noGrp="1"/>
          </p:cNvSpPr>
          <p:nvPr>
            <p:ph type="ftr" sz="quarter" idx="11"/>
          </p:nvPr>
        </p:nvSpPr>
        <p:spPr/>
        <p:txBody>
          <a:bodyPr/>
          <a:lstStyle/>
          <a:p>
            <a:r>
              <a:rPr lang="en-US"/>
              <a:t>Department of Computer Science &amp; Engineering, PUB</a:t>
            </a:r>
          </a:p>
        </p:txBody>
      </p:sp>
      <p:sp>
        <p:nvSpPr>
          <p:cNvPr id="4" name="Slide Number Placeholder 3">
            <a:extLst>
              <a:ext uri="{FF2B5EF4-FFF2-40B4-BE49-F238E27FC236}">
                <a16:creationId xmlns:a16="http://schemas.microsoft.com/office/drawing/2014/main" id="{C62E0F82-47F7-3C1D-3991-A97DD022121C}"/>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1451321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AFD86-268A-E8B1-DF2B-67C9077B41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D599890-208F-07F8-6D61-A8A5E54507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865E985-C31A-EC84-643D-A298C147F6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88AD1E-D15F-13DF-D0EE-3045E9BD972F}"/>
              </a:ext>
            </a:extLst>
          </p:cNvPr>
          <p:cNvSpPr>
            <a:spLocks noGrp="1"/>
          </p:cNvSpPr>
          <p:nvPr>
            <p:ph type="dt" sz="half" idx="10"/>
          </p:nvPr>
        </p:nvSpPr>
        <p:spPr/>
        <p:txBody>
          <a:bodyPr/>
          <a:lstStyle/>
          <a:p>
            <a:fld id="{36C82B00-7004-42D2-934B-515D1C4746E6}" type="datetime2">
              <a:rPr lang="en-US" smtClean="0"/>
              <a:t>Monday, January 5, 2026</a:t>
            </a:fld>
            <a:endParaRPr lang="en-US"/>
          </a:p>
        </p:txBody>
      </p:sp>
      <p:sp>
        <p:nvSpPr>
          <p:cNvPr id="6" name="Footer Placeholder 5">
            <a:extLst>
              <a:ext uri="{FF2B5EF4-FFF2-40B4-BE49-F238E27FC236}">
                <a16:creationId xmlns:a16="http://schemas.microsoft.com/office/drawing/2014/main" id="{08A0CA75-AA80-CA9F-0583-3D76A1D1EB84}"/>
              </a:ext>
            </a:extLst>
          </p:cNvPr>
          <p:cNvSpPr>
            <a:spLocks noGrp="1"/>
          </p:cNvSpPr>
          <p:nvPr>
            <p:ph type="ftr" sz="quarter" idx="11"/>
          </p:nvPr>
        </p:nvSpPr>
        <p:spPr/>
        <p:txBody>
          <a:bodyPr/>
          <a:lstStyle/>
          <a:p>
            <a:r>
              <a:rPr lang="en-US"/>
              <a:t>Department of Computer Science &amp; Engineering, PUB</a:t>
            </a:r>
          </a:p>
        </p:txBody>
      </p:sp>
      <p:sp>
        <p:nvSpPr>
          <p:cNvPr id="7" name="Slide Number Placeholder 6">
            <a:extLst>
              <a:ext uri="{FF2B5EF4-FFF2-40B4-BE49-F238E27FC236}">
                <a16:creationId xmlns:a16="http://schemas.microsoft.com/office/drawing/2014/main" id="{F873539F-6D07-DFE8-9D8E-4D0C9B7DFA87}"/>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1645051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43D71-67DB-BE48-8413-73578AF97B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5F6471-82C4-C1F2-457E-5700D30BEA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DEDCB74-DE1A-64CE-E074-6211862034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2EFCFA-3DB2-F7EC-E730-4AAEBE53AEAD}"/>
              </a:ext>
            </a:extLst>
          </p:cNvPr>
          <p:cNvSpPr>
            <a:spLocks noGrp="1"/>
          </p:cNvSpPr>
          <p:nvPr>
            <p:ph type="dt" sz="half" idx="10"/>
          </p:nvPr>
        </p:nvSpPr>
        <p:spPr/>
        <p:txBody>
          <a:bodyPr/>
          <a:lstStyle/>
          <a:p>
            <a:fld id="{B0C2A020-4EAE-4E4F-8C9E-951F4F971C76}" type="datetime2">
              <a:rPr lang="en-US" smtClean="0"/>
              <a:t>Monday, January 5, 2026</a:t>
            </a:fld>
            <a:endParaRPr lang="en-US"/>
          </a:p>
        </p:txBody>
      </p:sp>
      <p:sp>
        <p:nvSpPr>
          <p:cNvPr id="6" name="Footer Placeholder 5">
            <a:extLst>
              <a:ext uri="{FF2B5EF4-FFF2-40B4-BE49-F238E27FC236}">
                <a16:creationId xmlns:a16="http://schemas.microsoft.com/office/drawing/2014/main" id="{1BDC0783-E417-3900-5A15-F51D98BC1BA1}"/>
              </a:ext>
            </a:extLst>
          </p:cNvPr>
          <p:cNvSpPr>
            <a:spLocks noGrp="1"/>
          </p:cNvSpPr>
          <p:nvPr>
            <p:ph type="ftr" sz="quarter" idx="11"/>
          </p:nvPr>
        </p:nvSpPr>
        <p:spPr/>
        <p:txBody>
          <a:bodyPr/>
          <a:lstStyle/>
          <a:p>
            <a:r>
              <a:rPr lang="en-US"/>
              <a:t>Department of Computer Science &amp; Engineering, PUB</a:t>
            </a:r>
          </a:p>
        </p:txBody>
      </p:sp>
      <p:sp>
        <p:nvSpPr>
          <p:cNvPr id="7" name="Slide Number Placeholder 6">
            <a:extLst>
              <a:ext uri="{FF2B5EF4-FFF2-40B4-BE49-F238E27FC236}">
                <a16:creationId xmlns:a16="http://schemas.microsoft.com/office/drawing/2014/main" id="{6F6B4EA3-183F-C894-634E-C87BFD306370}"/>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4106246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1E11E-BBAC-E306-F0F6-8C56428592E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5E9375-E4F8-5E47-F749-0E43582A32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D69470-97B2-066F-3D3E-E9A4FB0264D6}"/>
              </a:ext>
            </a:extLst>
          </p:cNvPr>
          <p:cNvSpPr>
            <a:spLocks noGrp="1"/>
          </p:cNvSpPr>
          <p:nvPr>
            <p:ph type="dt" sz="half" idx="10"/>
          </p:nvPr>
        </p:nvSpPr>
        <p:spPr/>
        <p:txBody>
          <a:bodyPr/>
          <a:lstStyle/>
          <a:p>
            <a:fld id="{7C1C06AA-0BDC-429B-AE85-E36D6466E38F}" type="datetime2">
              <a:rPr lang="en-US" smtClean="0"/>
              <a:t>Monday, January 5, 2026</a:t>
            </a:fld>
            <a:endParaRPr lang="en-US"/>
          </a:p>
        </p:txBody>
      </p:sp>
      <p:sp>
        <p:nvSpPr>
          <p:cNvPr id="5" name="Footer Placeholder 4">
            <a:extLst>
              <a:ext uri="{FF2B5EF4-FFF2-40B4-BE49-F238E27FC236}">
                <a16:creationId xmlns:a16="http://schemas.microsoft.com/office/drawing/2014/main" id="{E0706243-198A-3AF4-6167-B23E62CC7287}"/>
              </a:ext>
            </a:extLst>
          </p:cNvPr>
          <p:cNvSpPr>
            <a:spLocks noGrp="1"/>
          </p:cNvSpPr>
          <p:nvPr>
            <p:ph type="ftr" sz="quarter" idx="11"/>
          </p:nvPr>
        </p:nvSpPr>
        <p:spPr/>
        <p:txBody>
          <a:bodyPr/>
          <a:lstStyle/>
          <a:p>
            <a:r>
              <a:rPr lang="en-US"/>
              <a:t>Department of Computer Science &amp; Engineering, PUB</a:t>
            </a:r>
          </a:p>
        </p:txBody>
      </p:sp>
      <p:sp>
        <p:nvSpPr>
          <p:cNvPr id="6" name="Slide Number Placeholder 5">
            <a:extLst>
              <a:ext uri="{FF2B5EF4-FFF2-40B4-BE49-F238E27FC236}">
                <a16:creationId xmlns:a16="http://schemas.microsoft.com/office/drawing/2014/main" id="{B4F4819B-7F1A-1712-57FD-A38659BB87D1}"/>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2694016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2B1DF7-140F-18DE-6C89-ED937C3F58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AED161-72AA-0748-E7D9-A9002D3E61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42EE77-787F-8250-D203-870E3BDCC612}"/>
              </a:ext>
            </a:extLst>
          </p:cNvPr>
          <p:cNvSpPr>
            <a:spLocks noGrp="1"/>
          </p:cNvSpPr>
          <p:nvPr>
            <p:ph type="dt" sz="half" idx="10"/>
          </p:nvPr>
        </p:nvSpPr>
        <p:spPr/>
        <p:txBody>
          <a:bodyPr/>
          <a:lstStyle/>
          <a:p>
            <a:fld id="{B911CE58-21A7-48A7-8899-442DC8E1F8DD}" type="datetime2">
              <a:rPr lang="en-US" smtClean="0"/>
              <a:t>Monday, January 5, 2026</a:t>
            </a:fld>
            <a:endParaRPr lang="en-US"/>
          </a:p>
        </p:txBody>
      </p:sp>
      <p:sp>
        <p:nvSpPr>
          <p:cNvPr id="5" name="Footer Placeholder 4">
            <a:extLst>
              <a:ext uri="{FF2B5EF4-FFF2-40B4-BE49-F238E27FC236}">
                <a16:creationId xmlns:a16="http://schemas.microsoft.com/office/drawing/2014/main" id="{A755A889-6AB3-60FB-051F-B1DD3B910BB0}"/>
              </a:ext>
            </a:extLst>
          </p:cNvPr>
          <p:cNvSpPr>
            <a:spLocks noGrp="1"/>
          </p:cNvSpPr>
          <p:nvPr>
            <p:ph type="ftr" sz="quarter" idx="11"/>
          </p:nvPr>
        </p:nvSpPr>
        <p:spPr/>
        <p:txBody>
          <a:bodyPr/>
          <a:lstStyle/>
          <a:p>
            <a:r>
              <a:rPr lang="en-US"/>
              <a:t>Department of Computer Science &amp; Engineering, PUB</a:t>
            </a:r>
          </a:p>
        </p:txBody>
      </p:sp>
      <p:sp>
        <p:nvSpPr>
          <p:cNvPr id="6" name="Slide Number Placeholder 5">
            <a:extLst>
              <a:ext uri="{FF2B5EF4-FFF2-40B4-BE49-F238E27FC236}">
                <a16:creationId xmlns:a16="http://schemas.microsoft.com/office/drawing/2014/main" id="{9C774A74-18F7-DE41-0F12-EABFBBB6F4AA}"/>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170829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ED10EF-3C6F-5653-1C40-257FA515FA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F79F23-7CA2-A3B1-C6F7-BBA7DE0077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6A714A-5F1A-95E3-6CA0-47E2358F4C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2E878E-58C3-45D4-9533-4D4E368A52BC}" type="datetime2">
              <a:rPr lang="en-US" smtClean="0"/>
              <a:t>Monday, January 5, 2026</a:t>
            </a:fld>
            <a:endParaRPr lang="en-US"/>
          </a:p>
        </p:txBody>
      </p:sp>
      <p:sp>
        <p:nvSpPr>
          <p:cNvPr id="5" name="Footer Placeholder 4">
            <a:extLst>
              <a:ext uri="{FF2B5EF4-FFF2-40B4-BE49-F238E27FC236}">
                <a16:creationId xmlns:a16="http://schemas.microsoft.com/office/drawing/2014/main" id="{B217EFD6-72B9-7DEE-473C-C500D5DC1A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Computer Science &amp; Engineering, PUB</a:t>
            </a:r>
          </a:p>
        </p:txBody>
      </p:sp>
      <p:sp>
        <p:nvSpPr>
          <p:cNvPr id="6" name="Slide Number Placeholder 5">
            <a:extLst>
              <a:ext uri="{FF2B5EF4-FFF2-40B4-BE49-F238E27FC236}">
                <a16:creationId xmlns:a16="http://schemas.microsoft.com/office/drawing/2014/main" id="{6D0DB06F-F648-F322-F9B5-7514010746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B5837F-C97E-4545-805A-A81BC2BC5EE4}" type="slidenum">
              <a:rPr lang="en-US" smtClean="0"/>
              <a:t>‹#›</a:t>
            </a:fld>
            <a:endParaRPr lang="en-US"/>
          </a:p>
        </p:txBody>
      </p:sp>
    </p:spTree>
    <p:extLst>
      <p:ext uri="{BB962C8B-B14F-4D97-AF65-F5344CB8AC3E}">
        <p14:creationId xmlns:p14="http://schemas.microsoft.com/office/powerpoint/2010/main" val="22958385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1.jpe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1.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developer.android.com/studio"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developers.google.com/maps/documentation"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23E7505-B103-38D8-46D8-4E396DB4C8E4}"/>
              </a:ext>
            </a:extLst>
          </p:cNvPr>
          <p:cNvSpPr/>
          <p:nvPr/>
        </p:nvSpPr>
        <p:spPr>
          <a:xfrm>
            <a:off x="0" y="0"/>
            <a:ext cx="12192000" cy="3655326"/>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094E39D-8B8A-99C8-8601-F65BD25FBA29}"/>
              </a:ext>
            </a:extLst>
          </p:cNvPr>
          <p:cNvSpPr>
            <a:spLocks noGrp="1"/>
          </p:cNvSpPr>
          <p:nvPr>
            <p:ph type="ctrTitle"/>
          </p:nvPr>
        </p:nvSpPr>
        <p:spPr>
          <a:xfrm>
            <a:off x="1663990" y="2118731"/>
            <a:ext cx="9617613" cy="1017726"/>
          </a:xfrm>
          <a:effectLst>
            <a:outerShdw blurRad="63500" sx="102000" sy="102000" algn="ctr" rotWithShape="0">
              <a:prstClr val="black">
                <a:alpha val="40000"/>
              </a:prstClr>
            </a:outerShdw>
          </a:effectLst>
        </p:spPr>
        <p:txBody>
          <a:bodyPr>
            <a:noAutofit/>
          </a:bodyPr>
          <a:lstStyle/>
          <a:p>
            <a:br>
              <a:rPr lang="en-US" sz="3200" b="1" dirty="0">
                <a:solidFill>
                  <a:srgbClr val="134E1A"/>
                </a:solidFill>
                <a:latin typeface="Akzidenz-Grotesk Bold"/>
                <a:ea typeface="Akzidenz-Grotesk Bold"/>
                <a:cs typeface="Akzidenz-Grotesk Bold"/>
                <a:sym typeface="Akzidenz-Grotesk Bold"/>
              </a:rPr>
            </a:br>
            <a:br>
              <a:rPr lang="en-US" sz="3200" b="1" dirty="0">
                <a:solidFill>
                  <a:srgbClr val="134E1A"/>
                </a:solidFill>
                <a:latin typeface="Akzidenz-Grotesk Bold"/>
                <a:ea typeface="Akzidenz-Grotesk Bold"/>
                <a:cs typeface="Akzidenz-Grotesk Bold"/>
                <a:sym typeface="Akzidenz-Grotesk Bold"/>
              </a:rPr>
            </a:br>
            <a:br>
              <a:rPr lang="en-US" sz="3200" b="1" dirty="0">
                <a:solidFill>
                  <a:srgbClr val="134E1A"/>
                </a:solidFill>
                <a:latin typeface="Akzidenz-Grotesk Bold"/>
                <a:ea typeface="Akzidenz-Grotesk Bold"/>
                <a:cs typeface="Akzidenz-Grotesk Bold"/>
                <a:sym typeface="Akzidenz-Grotesk Bold"/>
              </a:rPr>
            </a:br>
            <a:br>
              <a:rPr lang="en-US" sz="3200" b="1" dirty="0">
                <a:solidFill>
                  <a:srgbClr val="134E1A"/>
                </a:solidFill>
                <a:latin typeface="Akzidenz-Grotesk Bold"/>
                <a:ea typeface="Akzidenz-Grotesk Bold"/>
                <a:cs typeface="Akzidenz-Grotesk Bold"/>
                <a:sym typeface="Akzidenz-Grotesk Bold"/>
              </a:rPr>
            </a:br>
            <a:br>
              <a:rPr lang="en-US" sz="3200" b="1" dirty="0">
                <a:solidFill>
                  <a:srgbClr val="134E1A"/>
                </a:solidFill>
                <a:latin typeface="Akzidenz-Grotesk Bold"/>
                <a:ea typeface="Akzidenz-Grotesk Bold"/>
                <a:cs typeface="Akzidenz-Grotesk Bold"/>
                <a:sym typeface="Akzidenz-Grotesk Bold"/>
              </a:rPr>
            </a:br>
            <a:br>
              <a:rPr lang="en-US" sz="3200" b="1" dirty="0">
                <a:solidFill>
                  <a:srgbClr val="134E1A"/>
                </a:solidFill>
                <a:latin typeface="Akzidenz-Grotesk Bold"/>
                <a:ea typeface="Akzidenz-Grotesk Bold"/>
                <a:cs typeface="Akzidenz-Grotesk Bold"/>
                <a:sym typeface="Akzidenz-Grotesk Bold"/>
              </a:rPr>
            </a:br>
            <a:br>
              <a:rPr lang="en-US" sz="3200" b="1" dirty="0">
                <a:solidFill>
                  <a:srgbClr val="134E1A"/>
                </a:solidFill>
                <a:latin typeface="Akzidenz-Grotesk Bold"/>
                <a:ea typeface="Akzidenz-Grotesk Bold"/>
                <a:cs typeface="Akzidenz-Grotesk Bold"/>
                <a:sym typeface="Akzidenz-Grotesk Bold"/>
              </a:rPr>
            </a:br>
            <a:br>
              <a:rPr lang="en-US" sz="3200" b="1" dirty="0">
                <a:solidFill>
                  <a:srgbClr val="134E1A"/>
                </a:solidFill>
                <a:latin typeface="Akzidenz-Grotesk Bold"/>
                <a:ea typeface="Akzidenz-Grotesk Bold"/>
                <a:cs typeface="Akzidenz-Grotesk Bold"/>
                <a:sym typeface="Akzidenz-Grotesk Bold"/>
              </a:rPr>
            </a:br>
            <a:r>
              <a:rPr lang="en-US" sz="3200" b="1" dirty="0">
                <a:latin typeface="Times New Roman" panose="02020603050405020304" pitchFamily="18" charset="0"/>
                <a:cs typeface="Times New Roman" panose="02020603050405020304" pitchFamily="18" charset="0"/>
              </a:rPr>
              <a:t>A Geo-Location-Based Platform for Connecting Users with Skilled Professionals Using Mobile Application</a:t>
            </a:r>
          </a:p>
        </p:txBody>
      </p:sp>
      <p:sp>
        <p:nvSpPr>
          <p:cNvPr id="7" name="Rectangle 6">
            <a:extLst>
              <a:ext uri="{FF2B5EF4-FFF2-40B4-BE49-F238E27FC236}">
                <a16:creationId xmlns:a16="http://schemas.microsoft.com/office/drawing/2014/main" id="{86E891FF-ACD8-A286-1B16-C741C516BE9D}"/>
              </a:ext>
            </a:extLst>
          </p:cNvPr>
          <p:cNvSpPr/>
          <p:nvPr/>
        </p:nvSpPr>
        <p:spPr>
          <a:xfrm>
            <a:off x="0" y="5946468"/>
            <a:ext cx="12192000" cy="931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2CAD4A7C-23A4-C9B0-5B9A-9EED475F37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9203" y="641463"/>
            <a:ext cx="753594" cy="746088"/>
          </a:xfrm>
          <a:prstGeom prst="rect">
            <a:avLst/>
          </a:prstGeom>
          <a:effectLst>
            <a:outerShdw blurRad="50800" dist="38100" dir="2700000" algn="tl" rotWithShape="0">
              <a:prstClr val="black">
                <a:alpha val="40000"/>
              </a:prstClr>
            </a:outerShdw>
          </a:effectLst>
        </p:spPr>
      </p:pic>
      <p:sp>
        <p:nvSpPr>
          <p:cNvPr id="14" name="Subtitle 2">
            <a:extLst>
              <a:ext uri="{FF2B5EF4-FFF2-40B4-BE49-F238E27FC236}">
                <a16:creationId xmlns:a16="http://schemas.microsoft.com/office/drawing/2014/main" id="{D3E81951-58C0-5A3E-0A39-6A867C978B17}"/>
              </a:ext>
            </a:extLst>
          </p:cNvPr>
          <p:cNvSpPr>
            <a:spLocks noGrp="1"/>
          </p:cNvSpPr>
          <p:nvPr/>
        </p:nvSpPr>
        <p:spPr>
          <a:xfrm>
            <a:off x="1523999" y="1463716"/>
            <a:ext cx="9144000" cy="4378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200" dirty="0">
                <a:latin typeface="Times New Roman" panose="02020603050405020304" pitchFamily="18" charset="0"/>
                <a:cs typeface="Times New Roman" panose="02020603050405020304" pitchFamily="18" charset="0"/>
              </a:rPr>
              <a:t>Presentation on</a:t>
            </a:r>
          </a:p>
        </p:txBody>
      </p:sp>
      <p:sp>
        <p:nvSpPr>
          <p:cNvPr id="15" name="TextBox 14">
            <a:extLst>
              <a:ext uri="{FF2B5EF4-FFF2-40B4-BE49-F238E27FC236}">
                <a16:creationId xmlns:a16="http://schemas.microsoft.com/office/drawing/2014/main" id="{CE67231A-ED4F-8480-A39E-C3D024BD1954}"/>
              </a:ext>
            </a:extLst>
          </p:cNvPr>
          <p:cNvSpPr txBox="1"/>
          <p:nvPr/>
        </p:nvSpPr>
        <p:spPr>
          <a:xfrm>
            <a:off x="3282222" y="6089006"/>
            <a:ext cx="5627553" cy="646331"/>
          </a:xfrm>
          <a:prstGeom prst="rect">
            <a:avLst/>
          </a:prstGeom>
          <a:noFill/>
        </p:spPr>
        <p:txBody>
          <a:bodyPr wrap="square" rtlCol="0">
            <a:spAutoFit/>
          </a:bodyPr>
          <a:lstStyle/>
          <a:p>
            <a:pPr algn="ctr"/>
            <a:r>
              <a:rPr lang="en-US" sz="2000" b="1" dirty="0">
                <a:solidFill>
                  <a:schemeClr val="bg1"/>
                </a:solidFill>
                <a:latin typeface="Times New Roman" panose="02020603050405020304" pitchFamily="18" charset="0"/>
                <a:cs typeface="Times New Roman" panose="02020603050405020304" pitchFamily="18" charset="0"/>
              </a:rPr>
              <a:t>Department of Computer Science &amp; Engineering</a:t>
            </a:r>
          </a:p>
          <a:p>
            <a:pPr algn="ctr"/>
            <a:r>
              <a:rPr lang="en-US" sz="1600" dirty="0">
                <a:solidFill>
                  <a:schemeClr val="bg1"/>
                </a:solidFill>
                <a:latin typeface="Times New Roman" panose="02020603050405020304" pitchFamily="18" charset="0"/>
                <a:cs typeface="Times New Roman" panose="02020603050405020304" pitchFamily="18" charset="0"/>
              </a:rPr>
              <a:t>Pundra University of Science &amp; Technology, Bogura – 5800 </a:t>
            </a:r>
          </a:p>
        </p:txBody>
      </p:sp>
      <p:sp>
        <p:nvSpPr>
          <p:cNvPr id="16" name="Subtitle 2">
            <a:extLst>
              <a:ext uri="{FF2B5EF4-FFF2-40B4-BE49-F238E27FC236}">
                <a16:creationId xmlns:a16="http://schemas.microsoft.com/office/drawing/2014/main" id="{13E5F164-E916-2F98-E982-B62138FB2D35}"/>
              </a:ext>
            </a:extLst>
          </p:cNvPr>
          <p:cNvSpPr txBox="1">
            <a:spLocks/>
          </p:cNvSpPr>
          <p:nvPr/>
        </p:nvSpPr>
        <p:spPr>
          <a:xfrm>
            <a:off x="1523999" y="3940404"/>
            <a:ext cx="9144000" cy="1415895"/>
          </a:xfrm>
          <a:prstGeom prst="rect">
            <a:avLst/>
          </a:prstGeom>
          <a:ln>
            <a:solidFill>
              <a:schemeClr val="bg1"/>
            </a:solidFill>
            <a:prstDash val="dash"/>
          </a:ln>
        </p:spPr>
        <p:txBody>
          <a:bodyPr vert="horz" lIns="91440" tIns="45720" rIns="91440" bIns="45720" rtlCol="0">
            <a:normAutofit/>
          </a:bodyPr>
          <a:lstStyle>
            <a:defPPr>
              <a:defRPr lang="en-US"/>
            </a:defPPr>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i="1" dirty="0">
                <a:latin typeface="Times New Roman" panose="02020603050405020304" pitchFamily="18" charset="0"/>
                <a:cs typeface="Times New Roman" panose="02020603050405020304" pitchFamily="18" charset="0"/>
              </a:rPr>
              <a:t>Presenter:</a:t>
            </a:r>
          </a:p>
          <a:p>
            <a:pPr>
              <a:spcBef>
                <a:spcPts val="0"/>
              </a:spcBef>
            </a:pPr>
            <a:r>
              <a:rPr lang="en-US" sz="2200" b="1" dirty="0">
                <a:latin typeface="Times New Roman" panose="02020603050405020304" pitchFamily="18" charset="0"/>
                <a:cs typeface="Times New Roman" panose="02020603050405020304" pitchFamily="18" charset="0"/>
              </a:rPr>
              <a:t>Md </a:t>
            </a:r>
            <a:r>
              <a:rPr lang="en-US" sz="2200" b="1" dirty="0" err="1">
                <a:latin typeface="Times New Roman" panose="02020603050405020304" pitchFamily="18" charset="0"/>
                <a:cs typeface="Times New Roman" panose="02020603050405020304" pitchFamily="18" charset="0"/>
              </a:rPr>
              <a:t>Mominur</a:t>
            </a:r>
            <a:r>
              <a:rPr lang="en-US" sz="2200" b="1" dirty="0">
                <a:latin typeface="Times New Roman" panose="02020603050405020304" pitchFamily="18" charset="0"/>
                <a:cs typeface="Times New Roman" panose="02020603050405020304" pitchFamily="18" charset="0"/>
              </a:rPr>
              <a:t> </a:t>
            </a:r>
            <a:r>
              <a:rPr lang="en-US" sz="2200" b="1" dirty="0" err="1">
                <a:latin typeface="Times New Roman" panose="02020603050405020304" pitchFamily="18" charset="0"/>
                <a:cs typeface="Times New Roman" panose="02020603050405020304" pitchFamily="18" charset="0"/>
              </a:rPr>
              <a:t>Rahaman</a:t>
            </a:r>
            <a:endParaRPr lang="en-US" sz="2200" b="1" dirty="0">
              <a:latin typeface="Times New Roman" panose="02020603050405020304" pitchFamily="18" charset="0"/>
              <a:cs typeface="Times New Roman" panose="02020603050405020304" pitchFamily="18" charset="0"/>
            </a:endParaRPr>
          </a:p>
          <a:p>
            <a:pPr>
              <a:spcBef>
                <a:spcPts val="0"/>
              </a:spcBef>
            </a:pPr>
            <a:r>
              <a:rPr lang="en-US" sz="1800" dirty="0">
                <a:latin typeface="Times New Roman" panose="02020603050405020304" pitchFamily="18" charset="0"/>
                <a:cs typeface="Times New Roman" panose="02020603050405020304" pitchFamily="18" charset="0"/>
              </a:rPr>
              <a:t>Program: B.Sc. in CSE</a:t>
            </a:r>
          </a:p>
          <a:p>
            <a:pPr>
              <a:spcBef>
                <a:spcPts val="0"/>
              </a:spcBef>
            </a:pPr>
            <a:r>
              <a:rPr lang="en-US" sz="1800" dirty="0">
                <a:latin typeface="Times New Roman" panose="02020603050405020304" pitchFamily="18" charset="0"/>
                <a:cs typeface="Times New Roman" panose="02020603050405020304" pitchFamily="18" charset="0"/>
              </a:rPr>
              <a:t>ID: 0322210105101511</a:t>
            </a:r>
          </a:p>
        </p:txBody>
      </p:sp>
    </p:spTree>
    <p:extLst>
      <p:ext uri="{BB962C8B-B14F-4D97-AF65-F5344CB8AC3E}">
        <p14:creationId xmlns:p14="http://schemas.microsoft.com/office/powerpoint/2010/main" val="4045380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bg1"/>
            </a:gs>
            <a:gs pos="100000">
              <a:schemeClr val="tx2">
                <a:lumMod val="20000"/>
                <a:lumOff val="80000"/>
              </a:schemeClr>
            </a:gs>
          </a:gsLst>
          <a:lin ang="0" scaled="1"/>
          <a:tileRect/>
        </a:gradFill>
        <a:effectLst/>
      </p:bgPr>
    </p:bg>
    <p:spTree>
      <p:nvGrpSpPr>
        <p:cNvPr id="1" name="">
          <a:extLst>
            <a:ext uri="{FF2B5EF4-FFF2-40B4-BE49-F238E27FC236}">
              <a16:creationId xmlns:a16="http://schemas.microsoft.com/office/drawing/2014/main" id="{6916CA18-ACC6-ED2A-DB4B-07297A96D16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027AE48-C47C-33FE-8F56-0AA4260C9B62}"/>
              </a:ext>
            </a:extLst>
          </p:cNvPr>
          <p:cNvSpPr/>
          <p:nvPr/>
        </p:nvSpPr>
        <p:spPr>
          <a:xfrm>
            <a:off x="0" y="0"/>
            <a:ext cx="12192000" cy="150080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37F49795-9FC6-D65C-AAE9-247F6DF3DA3F}"/>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4C2A3C15-2DFB-89FB-3AD7-611F4E0BA472}"/>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Monday, January 5, 2026</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16B89723-33F1-15E2-783B-D602C96206A1}"/>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7104B3F8-8A1A-BE19-5C71-AE319E3DCF2B}"/>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2</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EC94E882-00DB-7A8B-5FFE-4F8C1F2118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8" name="Subtitle 2">
            <a:extLst>
              <a:ext uri="{FF2B5EF4-FFF2-40B4-BE49-F238E27FC236}">
                <a16:creationId xmlns:a16="http://schemas.microsoft.com/office/drawing/2014/main" id="{7E55A027-666B-E95E-32AE-3F78C66DCD6A}"/>
              </a:ext>
            </a:extLst>
          </p:cNvPr>
          <p:cNvSpPr>
            <a:spLocks noGrp="1"/>
          </p:cNvSpPr>
          <p:nvPr/>
        </p:nvSpPr>
        <p:spPr>
          <a:xfrm>
            <a:off x="1192696" y="312750"/>
            <a:ext cx="2441713" cy="4050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i="1" dirty="0">
                <a:latin typeface="Times New Roman" panose="02020603050405020304" pitchFamily="18" charset="0"/>
                <a:cs typeface="Times New Roman" panose="02020603050405020304" pitchFamily="18" charset="0"/>
              </a:rPr>
              <a:t>Presentation on</a:t>
            </a:r>
          </a:p>
        </p:txBody>
      </p:sp>
      <p:sp>
        <p:nvSpPr>
          <p:cNvPr id="11" name="Rectangle 10">
            <a:extLst>
              <a:ext uri="{FF2B5EF4-FFF2-40B4-BE49-F238E27FC236}">
                <a16:creationId xmlns:a16="http://schemas.microsoft.com/office/drawing/2014/main" id="{D059D760-A365-91EB-B942-587B657A477E}"/>
              </a:ext>
            </a:extLst>
          </p:cNvPr>
          <p:cNvSpPr/>
          <p:nvPr/>
        </p:nvSpPr>
        <p:spPr>
          <a:xfrm>
            <a:off x="-1" y="1500807"/>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41599327-FBFA-84FA-1224-4DB5EAF2CCCB}"/>
              </a:ext>
            </a:extLst>
          </p:cNvPr>
          <p:cNvSpPr>
            <a:spLocks noGrp="1"/>
          </p:cNvSpPr>
          <p:nvPr>
            <p:ph type="ctrTitle"/>
          </p:nvPr>
        </p:nvSpPr>
        <p:spPr>
          <a:xfrm>
            <a:off x="1344303" y="668541"/>
            <a:ext cx="10891452" cy="873808"/>
          </a:xfrm>
          <a:effectLst>
            <a:outerShdw blurRad="63500" sx="102000" sy="102000" algn="ctr" rotWithShape="0">
              <a:prstClr val="black">
                <a:alpha val="40000"/>
              </a:prstClr>
            </a:outerShdw>
          </a:effectLst>
        </p:spPr>
        <p:txBody>
          <a:bodyPr>
            <a:noAutofit/>
          </a:bodyPr>
          <a:lstStyle/>
          <a:p>
            <a:pPr algn="l"/>
            <a:r>
              <a:rPr lang="en-US" sz="3200" b="1" dirty="0">
                <a:latin typeface="Times New Roman" panose="02020603050405020304" pitchFamily="18" charset="0"/>
                <a:cs typeface="Times New Roman" panose="02020603050405020304" pitchFamily="18" charset="0"/>
              </a:rPr>
              <a:t>A Geo-Location-Based Platform for Connecting Users with Skilled Professionals Using Mobile Application</a:t>
            </a:r>
          </a:p>
        </p:txBody>
      </p:sp>
      <p:grpSp>
        <p:nvGrpSpPr>
          <p:cNvPr id="17" name="Group 16">
            <a:extLst>
              <a:ext uri="{FF2B5EF4-FFF2-40B4-BE49-F238E27FC236}">
                <a16:creationId xmlns:a16="http://schemas.microsoft.com/office/drawing/2014/main" id="{1AE71D53-CD38-E95D-68B1-C4A69B9F34DE}"/>
              </a:ext>
            </a:extLst>
          </p:cNvPr>
          <p:cNvGrpSpPr/>
          <p:nvPr/>
        </p:nvGrpSpPr>
        <p:grpSpPr>
          <a:xfrm>
            <a:off x="7472680" y="2278627"/>
            <a:ext cx="3881120" cy="1983385"/>
            <a:chOff x="1209040" y="2126227"/>
            <a:chExt cx="3881120" cy="1983385"/>
          </a:xfrm>
        </p:grpSpPr>
        <p:sp>
          <p:nvSpPr>
            <p:cNvPr id="15" name="TextBox 14">
              <a:extLst>
                <a:ext uri="{FF2B5EF4-FFF2-40B4-BE49-F238E27FC236}">
                  <a16:creationId xmlns:a16="http://schemas.microsoft.com/office/drawing/2014/main" id="{002E649B-51E0-5B54-84DC-8AD3A0330593}"/>
                </a:ext>
              </a:extLst>
            </p:cNvPr>
            <p:cNvSpPr txBox="1"/>
            <p:nvPr/>
          </p:nvSpPr>
          <p:spPr>
            <a:xfrm>
              <a:off x="1209040" y="2126227"/>
              <a:ext cx="2580640"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Supervised By</a:t>
              </a:r>
            </a:p>
          </p:txBody>
        </p:sp>
        <p:sp>
          <p:nvSpPr>
            <p:cNvPr id="16" name="TextBox 15">
              <a:extLst>
                <a:ext uri="{FF2B5EF4-FFF2-40B4-BE49-F238E27FC236}">
                  <a16:creationId xmlns:a16="http://schemas.microsoft.com/office/drawing/2014/main" id="{62C98C12-9BA1-8D10-A901-7624B61F2154}"/>
                </a:ext>
              </a:extLst>
            </p:cNvPr>
            <p:cNvSpPr txBox="1"/>
            <p:nvPr/>
          </p:nvSpPr>
          <p:spPr>
            <a:xfrm>
              <a:off x="1209040" y="2632284"/>
              <a:ext cx="3881120" cy="1477328"/>
            </a:xfrm>
            <a:prstGeom prst="rect">
              <a:avLst/>
            </a:prstGeom>
            <a:noFill/>
          </p:spPr>
          <p:txBody>
            <a:bodyPr wrap="square" rtlCol="0">
              <a:spAutoFit/>
            </a:bodyPr>
            <a:lstStyle/>
            <a:p>
              <a:r>
                <a:rPr lang="en-US" b="1" cap="all" dirty="0" err="1"/>
                <a:t>Mst</a:t>
              </a:r>
              <a:r>
                <a:rPr lang="en-US" b="1" cap="all" dirty="0"/>
                <a:t>. </a:t>
              </a:r>
              <a:r>
                <a:rPr lang="en-US" b="1" cap="all" dirty="0" err="1"/>
                <a:t>Sahela</a:t>
              </a:r>
              <a:r>
                <a:rPr lang="en-US" b="1" cap="all" dirty="0"/>
                <a:t> Rahman</a:t>
              </a:r>
            </a:p>
            <a:p>
              <a:r>
                <a:rPr lang="en-US" dirty="0">
                  <a:latin typeface="Times New Roman" panose="02020603050405020304" pitchFamily="18" charset="0"/>
                  <a:cs typeface="Times New Roman" panose="02020603050405020304" pitchFamily="18" charset="0"/>
                </a:rPr>
                <a:t>Lecturer</a:t>
              </a:r>
            </a:p>
            <a:p>
              <a:r>
                <a:rPr lang="en-US" dirty="0">
                  <a:latin typeface="Times New Roman" panose="02020603050405020304" pitchFamily="18" charset="0"/>
                  <a:cs typeface="Times New Roman" panose="02020603050405020304" pitchFamily="18" charset="0"/>
                </a:rPr>
                <a:t>Dept. of CSE, PUB </a:t>
              </a:r>
            </a:p>
            <a:p>
              <a:endParaRPr lang="en-US" i="1" dirty="0">
                <a:latin typeface="Times New Roman" panose="02020603050405020304" pitchFamily="18" charset="0"/>
                <a:cs typeface="Times New Roman" panose="02020603050405020304" pitchFamily="18" charset="0"/>
              </a:endParaRPr>
            </a:p>
            <a:p>
              <a:endParaRPr lang="en-US" i="1" dirty="0">
                <a:latin typeface="Times New Roman" panose="02020603050405020304" pitchFamily="18" charset="0"/>
                <a:cs typeface="Times New Roman" panose="02020603050405020304" pitchFamily="18" charset="0"/>
              </a:endParaRPr>
            </a:p>
          </p:txBody>
        </p:sp>
      </p:grpSp>
      <p:grpSp>
        <p:nvGrpSpPr>
          <p:cNvPr id="18" name="Group 17">
            <a:extLst>
              <a:ext uri="{FF2B5EF4-FFF2-40B4-BE49-F238E27FC236}">
                <a16:creationId xmlns:a16="http://schemas.microsoft.com/office/drawing/2014/main" id="{8D4BA542-E32C-3038-9E28-27F3BD28D2B2}"/>
              </a:ext>
            </a:extLst>
          </p:cNvPr>
          <p:cNvGrpSpPr/>
          <p:nvPr/>
        </p:nvGrpSpPr>
        <p:grpSpPr>
          <a:xfrm>
            <a:off x="1344303" y="2169350"/>
            <a:ext cx="3881120" cy="2845159"/>
            <a:chOff x="1209040" y="2126227"/>
            <a:chExt cx="3881120" cy="2845159"/>
          </a:xfrm>
        </p:grpSpPr>
        <p:sp>
          <p:nvSpPr>
            <p:cNvPr id="19" name="TextBox 18">
              <a:extLst>
                <a:ext uri="{FF2B5EF4-FFF2-40B4-BE49-F238E27FC236}">
                  <a16:creationId xmlns:a16="http://schemas.microsoft.com/office/drawing/2014/main" id="{269EE7FB-5D32-1C78-4F5C-981A4B2AD585}"/>
                </a:ext>
              </a:extLst>
            </p:cNvPr>
            <p:cNvSpPr txBox="1"/>
            <p:nvPr/>
          </p:nvSpPr>
          <p:spPr>
            <a:xfrm>
              <a:off x="1209040" y="2126227"/>
              <a:ext cx="2580640"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Presented By</a:t>
              </a:r>
            </a:p>
          </p:txBody>
        </p:sp>
        <p:sp>
          <p:nvSpPr>
            <p:cNvPr id="20" name="TextBox 19">
              <a:extLst>
                <a:ext uri="{FF2B5EF4-FFF2-40B4-BE49-F238E27FC236}">
                  <a16:creationId xmlns:a16="http://schemas.microsoft.com/office/drawing/2014/main" id="{56326699-7398-B0E9-E6B6-4A804D0163F2}"/>
                </a:ext>
              </a:extLst>
            </p:cNvPr>
            <p:cNvSpPr txBox="1"/>
            <p:nvPr/>
          </p:nvSpPr>
          <p:spPr>
            <a:xfrm>
              <a:off x="1209040" y="2632284"/>
              <a:ext cx="3881120" cy="2339102"/>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Md </a:t>
              </a:r>
              <a:r>
                <a:rPr lang="en-US" sz="2000" b="1" dirty="0" err="1">
                  <a:latin typeface="Times New Roman" panose="02020603050405020304" pitchFamily="18" charset="0"/>
                  <a:cs typeface="Times New Roman" panose="02020603050405020304" pitchFamily="18" charset="0"/>
                </a:rPr>
                <a:t>Mominur</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Rahaman</a:t>
              </a:r>
              <a:endParaRPr lang="en-US" sz="2000"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Program: B.Sc. in CSE (Diploma)</a:t>
              </a:r>
            </a:p>
            <a:p>
              <a:r>
                <a:rPr lang="en-US" dirty="0">
                  <a:latin typeface="Times New Roman" panose="02020603050405020304" pitchFamily="18" charset="0"/>
                  <a:cs typeface="Times New Roman" panose="02020603050405020304" pitchFamily="18" charset="0"/>
                </a:rPr>
                <a:t>ID:  0322210105101511</a:t>
              </a:r>
            </a:p>
            <a:p>
              <a:r>
                <a:rPr lang="en-US" dirty="0">
                  <a:latin typeface="Times New Roman" panose="02020603050405020304" pitchFamily="18" charset="0"/>
                  <a:cs typeface="Times New Roman" panose="02020603050405020304" pitchFamily="18" charset="0"/>
                </a:rPr>
                <a:t>Batch: 14</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Semester: 8</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Session: Spring- 2022</a:t>
              </a:r>
            </a:p>
            <a:p>
              <a:endParaRPr lang="en-US" i="1" dirty="0">
                <a:latin typeface="Times New Roman" panose="02020603050405020304" pitchFamily="18" charset="0"/>
                <a:cs typeface="Times New Roman" panose="02020603050405020304" pitchFamily="18" charset="0"/>
              </a:endParaRPr>
            </a:p>
            <a:p>
              <a:endParaRPr lang="en-US" i="1"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2326884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6" presetClass="entr" presetSubtype="21"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barn(inVertical)">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92D2D3C-6D65-666A-F31D-9B6019426E6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388CB1B-A43A-BE41-5EF7-F8E75B602485}"/>
              </a:ext>
            </a:extLst>
          </p:cNvPr>
          <p:cNvSpPr/>
          <p:nvPr/>
        </p:nvSpPr>
        <p:spPr>
          <a:xfrm>
            <a:off x="0" y="0"/>
            <a:ext cx="12192000" cy="132611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A408431F-F848-D589-F3FD-3000CE280D9A}"/>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61623BD3-272D-7E5C-15F6-BA3C0AA1CBE6}"/>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Monday, January 5, 2026</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99204495-AEDE-C6BB-FF37-725EC13706C9}"/>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6E7D443C-A9DD-3101-5592-C663025D0FF0}"/>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3</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7F3E920C-4154-EE3F-FC3F-CA8908153C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B8262C06-A001-4FB5-44DA-941ED2302A25}"/>
              </a:ext>
            </a:extLst>
          </p:cNvPr>
          <p:cNvSpPr/>
          <p:nvPr/>
        </p:nvSpPr>
        <p:spPr>
          <a:xfrm>
            <a:off x="-1" y="1314639"/>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F0855F84-7D5E-FD02-1DAA-D81F165B76A2}"/>
              </a:ext>
            </a:extLst>
          </p:cNvPr>
          <p:cNvSpPr>
            <a:spLocks noGrp="1"/>
          </p:cNvSpPr>
          <p:nvPr>
            <p:ph type="ctrTitle"/>
          </p:nvPr>
        </p:nvSpPr>
        <p:spPr>
          <a:xfrm>
            <a:off x="1273976" y="457199"/>
            <a:ext cx="10161104" cy="619813"/>
          </a:xfrm>
          <a:effectLst>
            <a:outerShdw blurRad="63500" sx="102000" sy="102000" algn="ctr" rotWithShape="0">
              <a:prstClr val="black">
                <a:alpha val="40000"/>
              </a:prstClr>
            </a:outerShdw>
          </a:effectLst>
        </p:spPr>
        <p:txBody>
          <a:bodyPr>
            <a:noAutofit/>
          </a:bodyPr>
          <a:lstStyle/>
          <a:p>
            <a:pPr algn="l"/>
            <a:r>
              <a:rPr lang="en-US" sz="3200" b="1" dirty="0">
                <a:latin typeface="Times New Roman" panose="02020603050405020304" pitchFamily="18" charset="0"/>
                <a:cs typeface="Times New Roman" panose="02020603050405020304" pitchFamily="18" charset="0"/>
              </a:rPr>
              <a:t>Outline</a:t>
            </a:r>
          </a:p>
        </p:txBody>
      </p:sp>
      <p:sp>
        <p:nvSpPr>
          <p:cNvPr id="12" name="TextBox 10">
            <a:extLst>
              <a:ext uri="{FF2B5EF4-FFF2-40B4-BE49-F238E27FC236}">
                <a16:creationId xmlns:a16="http://schemas.microsoft.com/office/drawing/2014/main" id="{87484D2B-65A5-4C82-A14F-804CCE086593}"/>
              </a:ext>
            </a:extLst>
          </p:cNvPr>
          <p:cNvSpPr txBox="1"/>
          <p:nvPr/>
        </p:nvSpPr>
        <p:spPr>
          <a:xfrm>
            <a:off x="1105183" y="1563744"/>
            <a:ext cx="3931052" cy="4430315"/>
          </a:xfrm>
          <a:prstGeom prst="rect">
            <a:avLst/>
          </a:prstGeom>
        </p:spPr>
        <p:txBody>
          <a:bodyPr wrap="square" lIns="0" tIns="0" rIns="0" bIns="0" rtlCol="0" anchor="t">
            <a:spAutoFit/>
          </a:bodyPr>
          <a:lstStyle/>
          <a:p>
            <a:pPr marL="342900" indent="-342900">
              <a:lnSpc>
                <a:spcPts val="3500"/>
              </a:lnSpc>
              <a:buFont typeface="+mj-lt"/>
              <a:buAutoNum type="arabicPeriod"/>
            </a:pPr>
            <a:r>
              <a:rPr lang="en-US"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ea typeface="Aileron Bold"/>
              <a:cs typeface="Times New Roman" panose="02020603050405020304" pitchFamily="18" charset="0"/>
              <a:sym typeface="Aileron Bold"/>
            </a:endParaRPr>
          </a:p>
          <a:p>
            <a:pPr marL="342900" indent="-342900" algn="l">
              <a:lnSpc>
                <a:spcPts val="3500"/>
              </a:lnSpc>
              <a:buFont typeface="+mj-lt"/>
              <a:buAutoNum type="arabicPeriod"/>
            </a:pPr>
            <a:r>
              <a:rPr lang="en-US" dirty="0">
                <a:latin typeface="Times New Roman" panose="02020603050405020304" pitchFamily="18" charset="0"/>
                <a:ea typeface="Aileron Bold"/>
                <a:cs typeface="Times New Roman" panose="02020603050405020304" pitchFamily="18" charset="0"/>
                <a:sym typeface="Aileron Bold"/>
              </a:rPr>
              <a:t>Problem Statement</a:t>
            </a:r>
          </a:p>
          <a:p>
            <a:pPr marL="342900" indent="-342900">
              <a:lnSpc>
                <a:spcPts val="3500"/>
              </a:lnSpc>
              <a:buFont typeface="+mj-lt"/>
              <a:buAutoNum type="arabicPeriod"/>
            </a:pPr>
            <a:r>
              <a:rPr lang="en-US" dirty="0">
                <a:latin typeface="Times New Roman" panose="02020603050405020304" pitchFamily="18" charset="0"/>
                <a:ea typeface="Aileron Bold"/>
                <a:cs typeface="Times New Roman" panose="02020603050405020304" pitchFamily="18" charset="0"/>
                <a:sym typeface="Aileron Bold"/>
              </a:rPr>
              <a:t>Feasibility Study</a:t>
            </a:r>
          </a:p>
          <a:p>
            <a:pPr marL="342900" indent="-342900">
              <a:lnSpc>
                <a:spcPts val="3500"/>
              </a:lnSpc>
              <a:buFont typeface="+mj-lt"/>
              <a:buAutoNum type="arabicPeriod"/>
            </a:pPr>
            <a:r>
              <a:rPr lang="en-US" dirty="0">
                <a:latin typeface="Times New Roman" panose="02020603050405020304" pitchFamily="18" charset="0"/>
                <a:ea typeface="Aileron Bold"/>
                <a:cs typeface="Times New Roman" panose="02020603050405020304" pitchFamily="18" charset="0"/>
                <a:sym typeface="Aileron Bold"/>
              </a:rPr>
              <a:t>Objectives</a:t>
            </a:r>
          </a:p>
          <a:p>
            <a:pPr marL="342900" indent="-342900">
              <a:lnSpc>
                <a:spcPts val="3500"/>
              </a:lnSpc>
              <a:buFont typeface="+mj-lt"/>
              <a:buAutoNum type="arabicPeriod"/>
            </a:pPr>
            <a:r>
              <a:rPr lang="en-US" dirty="0">
                <a:latin typeface="Times New Roman" panose="02020603050405020304" pitchFamily="18" charset="0"/>
                <a:ea typeface="Aileron Bold"/>
                <a:cs typeface="Times New Roman" panose="02020603050405020304" pitchFamily="18" charset="0"/>
                <a:sym typeface="Aileron Bold"/>
              </a:rPr>
              <a:t>Proposed Methodology</a:t>
            </a:r>
          </a:p>
          <a:p>
            <a:pPr marL="342900" indent="-342900">
              <a:lnSpc>
                <a:spcPts val="3500"/>
              </a:lnSpc>
              <a:buFont typeface="+mj-lt"/>
              <a:buAutoNum type="arabicPeriod"/>
            </a:pPr>
            <a:r>
              <a:rPr lang="en-US" dirty="0">
                <a:latin typeface="Times New Roman" panose="02020603050405020304" pitchFamily="18" charset="0"/>
                <a:ea typeface="Aileron Bold"/>
                <a:cs typeface="Times New Roman" panose="02020603050405020304" pitchFamily="18" charset="0"/>
                <a:sym typeface="Aileron Bold"/>
              </a:rPr>
              <a:t>Key Features</a:t>
            </a:r>
          </a:p>
          <a:p>
            <a:pPr marL="342900" indent="-342900">
              <a:lnSpc>
                <a:spcPts val="3500"/>
              </a:lnSpc>
              <a:buFont typeface="+mj-lt"/>
              <a:buAutoNum type="arabicPeriod"/>
            </a:pPr>
            <a:r>
              <a:rPr lang="en-US" dirty="0">
                <a:latin typeface="Times New Roman" panose="02020603050405020304" pitchFamily="18" charset="0"/>
                <a:ea typeface="Akzidenz-Grotesk Bold"/>
                <a:cs typeface="Times New Roman" panose="02020603050405020304" pitchFamily="18" charset="0"/>
                <a:sym typeface="Akzidenz-Grotesk Bold"/>
              </a:rPr>
              <a:t>Activity Diagram</a:t>
            </a:r>
          </a:p>
          <a:p>
            <a:pPr marL="342900" indent="-342900">
              <a:lnSpc>
                <a:spcPts val="3500"/>
              </a:lnSpc>
              <a:buFont typeface="+mj-lt"/>
              <a:buAutoNum type="arabicPeriod"/>
            </a:pPr>
            <a:r>
              <a:rPr lang="en-US" dirty="0">
                <a:latin typeface="Times New Roman" panose="02020603050405020304" pitchFamily="18" charset="0"/>
                <a:cs typeface="Times New Roman" panose="02020603050405020304" pitchFamily="18" charset="0"/>
              </a:rPr>
              <a:t>Use Case Diagram </a:t>
            </a:r>
          </a:p>
          <a:p>
            <a:pPr marL="342900" indent="-342900">
              <a:lnSpc>
                <a:spcPts val="3500"/>
              </a:lnSpc>
              <a:buFont typeface="+mj-lt"/>
              <a:buAutoNum type="arabicPeriod"/>
            </a:pPr>
            <a:r>
              <a:rPr lang="en-US" dirty="0">
                <a:latin typeface="Times New Roman" panose="02020603050405020304" pitchFamily="18" charset="0"/>
                <a:ea typeface="Akzidenz-Grotesk Bold"/>
                <a:cs typeface="Times New Roman" panose="02020603050405020304" pitchFamily="18" charset="0"/>
                <a:sym typeface="Akzidenz-Grotesk Bold"/>
              </a:rPr>
              <a:t>Entity-Relationship Diagram</a:t>
            </a:r>
          </a:p>
          <a:p>
            <a:pPr marL="342900" indent="-342900">
              <a:lnSpc>
                <a:spcPts val="3500"/>
              </a:lnSpc>
              <a:buFont typeface="+mj-lt"/>
              <a:buAutoNum type="arabicPeriod"/>
            </a:pPr>
            <a:r>
              <a:rPr lang="en-US" dirty="0">
                <a:latin typeface="Times New Roman" panose="02020603050405020304" pitchFamily="18" charset="0"/>
                <a:ea typeface="Akzidenz-Grotesk Bold"/>
                <a:cs typeface="Times New Roman" panose="02020603050405020304" pitchFamily="18" charset="0"/>
                <a:sym typeface="Akzidenz-Grotesk Bold"/>
              </a:rPr>
              <a:t>Data Flow Diagram(DFD)</a:t>
            </a:r>
            <a:endParaRPr lang="en-US" dirty="0">
              <a:latin typeface="Times New Roman" panose="02020603050405020304" pitchFamily="18" charset="0"/>
              <a:ea typeface="Aileron Bold"/>
              <a:cs typeface="Times New Roman" panose="02020603050405020304" pitchFamily="18" charset="0"/>
              <a:sym typeface="Aileron Bold"/>
            </a:endParaRPr>
          </a:p>
        </p:txBody>
      </p:sp>
      <p:sp>
        <p:nvSpPr>
          <p:cNvPr id="13" name="TextBox 10">
            <a:extLst>
              <a:ext uri="{FF2B5EF4-FFF2-40B4-BE49-F238E27FC236}">
                <a16:creationId xmlns:a16="http://schemas.microsoft.com/office/drawing/2014/main" id="{D265FBEA-16B5-4BE0-933F-42A0BFA4B132}"/>
              </a:ext>
            </a:extLst>
          </p:cNvPr>
          <p:cNvSpPr txBox="1"/>
          <p:nvPr/>
        </p:nvSpPr>
        <p:spPr>
          <a:xfrm>
            <a:off x="7422748" y="1623526"/>
            <a:ext cx="3931052" cy="1288430"/>
          </a:xfrm>
          <a:prstGeom prst="rect">
            <a:avLst/>
          </a:prstGeom>
        </p:spPr>
        <p:txBody>
          <a:bodyPr wrap="square" lIns="0" tIns="0" rIns="0" bIns="0" rtlCol="0" anchor="t">
            <a:spAutoFit/>
          </a:bodyPr>
          <a:lstStyle/>
          <a:p>
            <a:pPr>
              <a:lnSpc>
                <a:spcPts val="3500"/>
              </a:lnSpc>
            </a:pPr>
            <a:r>
              <a:rPr lang="en-US" dirty="0">
                <a:latin typeface="Times New Roman" panose="02020603050405020304" pitchFamily="18" charset="0"/>
                <a:ea typeface="Aileron Bold"/>
                <a:cs typeface="Times New Roman" panose="02020603050405020304" pitchFamily="18" charset="0"/>
                <a:sym typeface="Aileron Bold"/>
              </a:rPr>
              <a:t>11.Tools &amp; Technologies</a:t>
            </a:r>
          </a:p>
          <a:p>
            <a:pPr>
              <a:lnSpc>
                <a:spcPts val="3500"/>
              </a:lnSpc>
            </a:pPr>
            <a:r>
              <a:rPr lang="en-US" dirty="0">
                <a:latin typeface="Times New Roman" panose="02020603050405020304" pitchFamily="18" charset="0"/>
                <a:ea typeface="Aileron Bold"/>
                <a:cs typeface="Times New Roman" panose="02020603050405020304" pitchFamily="18" charset="0"/>
                <a:sym typeface="Aileron Bold"/>
              </a:rPr>
              <a:t>12. Expected Outcomes</a:t>
            </a:r>
          </a:p>
          <a:p>
            <a:pPr>
              <a:lnSpc>
                <a:spcPts val="3500"/>
              </a:lnSpc>
            </a:pPr>
            <a:r>
              <a:rPr lang="en-US" dirty="0">
                <a:latin typeface="Times New Roman" panose="02020603050405020304" pitchFamily="18" charset="0"/>
                <a:ea typeface="Aileron Bold"/>
                <a:cs typeface="Times New Roman" panose="02020603050405020304" pitchFamily="18" charset="0"/>
                <a:sym typeface="Aileron Bold"/>
              </a:rPr>
              <a:t>13. References</a:t>
            </a:r>
          </a:p>
        </p:txBody>
      </p:sp>
    </p:spTree>
    <p:extLst>
      <p:ext uri="{BB962C8B-B14F-4D97-AF65-F5344CB8AC3E}">
        <p14:creationId xmlns:p14="http://schemas.microsoft.com/office/powerpoint/2010/main" val="38235690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17E9FDF-FB10-A16A-2234-7E0F4FF99EA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02B42DF-CDE4-B99D-9607-4424671FD2E1}"/>
              </a:ext>
            </a:extLst>
          </p:cNvPr>
          <p:cNvSpPr/>
          <p:nvPr/>
        </p:nvSpPr>
        <p:spPr>
          <a:xfrm>
            <a:off x="0" y="0"/>
            <a:ext cx="12192000" cy="132611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7EE94DAE-2F81-D09D-39F7-0862CC3BFCA1}"/>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387E61C2-183C-610A-8ADB-FC1A79F5631C}"/>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Monday, January 5, 2026</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CA37D2F1-22D6-23DF-D521-70F0C04EC4F5}"/>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DEE11539-F0BA-57FA-5C06-6A9B3D3AB3AF}"/>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4</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38B91DB-FC47-2A16-8960-04DBCF75D2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DF8CD983-8B24-CA8C-7EA1-74CB55EC4D60}"/>
              </a:ext>
            </a:extLst>
          </p:cNvPr>
          <p:cNvSpPr/>
          <p:nvPr/>
        </p:nvSpPr>
        <p:spPr>
          <a:xfrm>
            <a:off x="-1" y="1314639"/>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EF92D417-0BBC-E932-B2B1-184F7656F194}"/>
              </a:ext>
            </a:extLst>
          </p:cNvPr>
          <p:cNvSpPr>
            <a:spLocks noGrp="1"/>
          </p:cNvSpPr>
          <p:nvPr>
            <p:ph type="ctrTitle"/>
          </p:nvPr>
        </p:nvSpPr>
        <p:spPr>
          <a:xfrm>
            <a:off x="1273976" y="457199"/>
            <a:ext cx="10161104" cy="619813"/>
          </a:xfrm>
          <a:effectLst>
            <a:outerShdw blurRad="63500" sx="102000" sy="102000" algn="ctr" rotWithShape="0">
              <a:prstClr val="black">
                <a:alpha val="40000"/>
              </a:prstClr>
            </a:outerShdw>
          </a:effectLst>
        </p:spPr>
        <p:txBody>
          <a:bodyPr>
            <a:noAutofit/>
          </a:bodyPr>
          <a:lstStyle/>
          <a:p>
            <a:pPr lvl="1"/>
            <a:r>
              <a:rPr lang="en-US" sz="3200" b="1" dirty="0">
                <a:latin typeface="Times New Roman" panose="02020603050405020304" pitchFamily="18" charset="0"/>
                <a:cs typeface="Times New Roman" panose="02020603050405020304" pitchFamily="18" charset="0"/>
              </a:rPr>
              <a:t>Introduction </a:t>
            </a:r>
          </a:p>
        </p:txBody>
      </p:sp>
      <p:sp>
        <p:nvSpPr>
          <p:cNvPr id="12" name="TextBox 18">
            <a:extLst>
              <a:ext uri="{FF2B5EF4-FFF2-40B4-BE49-F238E27FC236}">
                <a16:creationId xmlns:a16="http://schemas.microsoft.com/office/drawing/2014/main" id="{CAB1FF6E-3855-473D-8355-E3D84DB4CCF6}"/>
              </a:ext>
            </a:extLst>
          </p:cNvPr>
          <p:cNvSpPr txBox="1"/>
          <p:nvPr/>
        </p:nvSpPr>
        <p:spPr>
          <a:xfrm>
            <a:off x="1320868" y="1664982"/>
            <a:ext cx="5094000" cy="3109593"/>
          </a:xfrm>
          <a:prstGeom prst="rect">
            <a:avLst/>
          </a:prstGeom>
        </p:spPr>
        <p:txBody>
          <a:bodyPr lIns="0" tIns="0" rIns="0" bIns="0" rtlCol="0" anchor="t"/>
          <a:lstStyle/>
          <a:p>
            <a:pPr algn="just">
              <a:lnSpc>
                <a:spcPts val="3500"/>
              </a:lnSpc>
            </a:pPr>
            <a:r>
              <a:rPr lang="en-US" dirty="0">
                <a:latin typeface="Times New Roman" panose="02020603050405020304" pitchFamily="18" charset="0"/>
                <a:cs typeface="Times New Roman" panose="02020603050405020304" pitchFamily="18" charset="0"/>
              </a:rPr>
              <a:t>This project aims to create a mobile application that helps users find skilled professionals nearby using geo-location technology. Many people struggle to find reliable professionals like electricians, plumbers, or tutors in their area. This app will solve this problem by connecting users with nearby professionals quickly and easily</a:t>
            </a:r>
            <a:r>
              <a:rPr lang="en-US" dirty="0">
                <a:latin typeface="Times New Roman" panose="02020603050405020304" pitchFamily="18" charset="0"/>
                <a:ea typeface="Aileron Bold"/>
                <a:cs typeface="Times New Roman" panose="02020603050405020304" pitchFamily="18" charset="0"/>
                <a:sym typeface="Aileron Bold"/>
              </a:rPr>
              <a:t>.</a:t>
            </a:r>
          </a:p>
          <a:p>
            <a:pPr marL="1021310" lvl="3" indent="-255327" algn="just">
              <a:lnSpc>
                <a:spcPts val="3500"/>
              </a:lnSpc>
            </a:pPr>
            <a:endParaRPr lang="en-US" sz="2499" b="1" dirty="0">
              <a:latin typeface="Aileron Bold"/>
              <a:ea typeface="Aileron Bold"/>
              <a:cs typeface="Aileron Bold"/>
              <a:sym typeface="Aileron Bold"/>
            </a:endParaRPr>
          </a:p>
        </p:txBody>
      </p:sp>
      <p:pic>
        <p:nvPicPr>
          <p:cNvPr id="8" name="Picture 7">
            <a:extLst>
              <a:ext uri="{FF2B5EF4-FFF2-40B4-BE49-F238E27FC236}">
                <a16:creationId xmlns:a16="http://schemas.microsoft.com/office/drawing/2014/main" id="{B78884E6-F7D8-4A7C-9F66-C09B2DAFCE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8672" y="2275690"/>
            <a:ext cx="1165284" cy="2498886"/>
          </a:xfrm>
          <a:prstGeom prst="rect">
            <a:avLst/>
          </a:prstGeom>
        </p:spPr>
      </p:pic>
      <p:pic>
        <p:nvPicPr>
          <p:cNvPr id="20" name="Picture 19">
            <a:extLst>
              <a:ext uri="{FF2B5EF4-FFF2-40B4-BE49-F238E27FC236}">
                <a16:creationId xmlns:a16="http://schemas.microsoft.com/office/drawing/2014/main" id="{8333D0D9-6824-456C-A344-FF1F5F64B1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4674" y="2269939"/>
            <a:ext cx="1199699" cy="2572686"/>
          </a:xfrm>
          <a:prstGeom prst="rect">
            <a:avLst/>
          </a:prstGeom>
        </p:spPr>
      </p:pic>
      <p:pic>
        <p:nvPicPr>
          <p:cNvPr id="22" name="Picture 21">
            <a:extLst>
              <a:ext uri="{FF2B5EF4-FFF2-40B4-BE49-F238E27FC236}">
                <a16:creationId xmlns:a16="http://schemas.microsoft.com/office/drawing/2014/main" id="{1BA067C1-0839-46DF-9F49-F1C3DDF15C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73148" y="2158153"/>
            <a:ext cx="1274904" cy="2733960"/>
          </a:xfrm>
          <a:prstGeom prst="rect">
            <a:avLst/>
          </a:prstGeom>
        </p:spPr>
      </p:pic>
      <p:pic>
        <p:nvPicPr>
          <p:cNvPr id="24" name="Picture 23">
            <a:extLst>
              <a:ext uri="{FF2B5EF4-FFF2-40B4-BE49-F238E27FC236}">
                <a16:creationId xmlns:a16="http://schemas.microsoft.com/office/drawing/2014/main" id="{9F4DA298-8C97-47A6-8176-8CA2181A78C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620995" y="2269939"/>
            <a:ext cx="1274903" cy="2733957"/>
          </a:xfrm>
          <a:prstGeom prst="rect">
            <a:avLst/>
          </a:prstGeom>
        </p:spPr>
      </p:pic>
    </p:spTree>
    <p:extLst>
      <p:ext uri="{BB962C8B-B14F-4D97-AF65-F5344CB8AC3E}">
        <p14:creationId xmlns:p14="http://schemas.microsoft.com/office/powerpoint/2010/main" val="7015784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17E9FDF-FB10-A16A-2234-7E0F4FF99EA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02B42DF-CDE4-B99D-9607-4424671FD2E1}"/>
              </a:ext>
            </a:extLst>
          </p:cNvPr>
          <p:cNvSpPr/>
          <p:nvPr/>
        </p:nvSpPr>
        <p:spPr>
          <a:xfrm>
            <a:off x="0" y="0"/>
            <a:ext cx="12192000" cy="132611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7EE94DAE-2F81-D09D-39F7-0862CC3BFCA1}"/>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387E61C2-183C-610A-8ADB-FC1A79F5631C}"/>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Monday, January 5, 2026</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CA37D2F1-22D6-23DF-D521-70F0C04EC4F5}"/>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DEE11539-F0BA-57FA-5C06-6A9B3D3AB3AF}"/>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5</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38B91DB-FC47-2A16-8960-04DBCF75D2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DF8CD983-8B24-CA8C-7EA1-74CB55EC4D60}"/>
              </a:ext>
            </a:extLst>
          </p:cNvPr>
          <p:cNvSpPr/>
          <p:nvPr/>
        </p:nvSpPr>
        <p:spPr>
          <a:xfrm>
            <a:off x="-1" y="1314639"/>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EF92D417-0BBC-E932-B2B1-184F7656F194}"/>
              </a:ext>
            </a:extLst>
          </p:cNvPr>
          <p:cNvSpPr>
            <a:spLocks noGrp="1"/>
          </p:cNvSpPr>
          <p:nvPr>
            <p:ph type="ctrTitle"/>
          </p:nvPr>
        </p:nvSpPr>
        <p:spPr>
          <a:xfrm>
            <a:off x="1273976" y="457199"/>
            <a:ext cx="10161104" cy="619813"/>
          </a:xfrm>
          <a:effectLst>
            <a:outerShdw blurRad="63500" sx="102000" sy="102000" algn="ctr" rotWithShape="0">
              <a:prstClr val="black">
                <a:alpha val="40000"/>
              </a:prstClr>
            </a:outerShdw>
          </a:effectLst>
        </p:spPr>
        <p:txBody>
          <a:bodyPr>
            <a:noAutofit/>
          </a:bodyPr>
          <a:lstStyle/>
          <a:p>
            <a:pPr algn="l">
              <a:lnSpc>
                <a:spcPts val="8119"/>
              </a:lnSpc>
            </a:pPr>
            <a:r>
              <a:rPr lang="en-US" sz="3200" b="1" dirty="0">
                <a:latin typeface="Times New Roman" panose="02020603050405020304" pitchFamily="18" charset="0"/>
                <a:ea typeface="Akzidenz-Grotesk Bold"/>
                <a:cs typeface="Times New Roman" panose="02020603050405020304" pitchFamily="18" charset="0"/>
                <a:sym typeface="Akzidenz-Grotesk Bold"/>
              </a:rPr>
              <a:t>Problem Statement</a:t>
            </a:r>
          </a:p>
        </p:txBody>
      </p:sp>
      <p:sp>
        <p:nvSpPr>
          <p:cNvPr id="12" name="TextBox 18">
            <a:extLst>
              <a:ext uri="{FF2B5EF4-FFF2-40B4-BE49-F238E27FC236}">
                <a16:creationId xmlns:a16="http://schemas.microsoft.com/office/drawing/2014/main" id="{CAB1FF6E-3855-473D-8355-E3D84DB4CCF6}"/>
              </a:ext>
            </a:extLst>
          </p:cNvPr>
          <p:cNvSpPr txBox="1"/>
          <p:nvPr/>
        </p:nvSpPr>
        <p:spPr>
          <a:xfrm>
            <a:off x="1320868" y="1664982"/>
            <a:ext cx="9689352" cy="3180531"/>
          </a:xfrm>
          <a:prstGeom prst="rect">
            <a:avLst/>
          </a:prstGeom>
        </p:spPr>
        <p:txBody>
          <a:bodyPr lIns="0" tIns="0" rIns="0" bIns="0" rtlCol="0" anchor="t"/>
          <a:lstStyle/>
          <a:p>
            <a:pPr algn="just">
              <a:lnSpc>
                <a:spcPts val="3500"/>
              </a:lnSpc>
            </a:pPr>
            <a:r>
              <a:rPr lang="en-US" dirty="0">
                <a:latin typeface="Times New Roman" panose="02020603050405020304" pitchFamily="18" charset="0"/>
                <a:ea typeface="Aileron Bold"/>
                <a:cs typeface="Times New Roman" panose="02020603050405020304" pitchFamily="18" charset="0"/>
                <a:sym typeface="Aileron Bold"/>
              </a:rPr>
              <a:t>Current Challenges:</a:t>
            </a:r>
          </a:p>
          <a:p>
            <a:pPr algn="just">
              <a:lnSpc>
                <a:spcPts val="3500"/>
              </a:lnSpc>
            </a:pPr>
            <a:r>
              <a:rPr lang="en-US" dirty="0">
                <a:latin typeface="Times New Roman" panose="02020603050405020304" pitchFamily="18" charset="0"/>
                <a:ea typeface="Aileron Bold"/>
                <a:cs typeface="Times New Roman" panose="02020603050405020304" pitchFamily="18" charset="0"/>
                <a:sym typeface="Aileron Bold"/>
              </a:rPr>
              <a:t>Difficulty finding reliable skilled professionals (plumbers, tutors, electricians, etc.).</a:t>
            </a:r>
          </a:p>
          <a:p>
            <a:pPr algn="just">
              <a:lnSpc>
                <a:spcPts val="3500"/>
              </a:lnSpc>
            </a:pPr>
            <a:r>
              <a:rPr lang="en-US" dirty="0">
                <a:latin typeface="Times New Roman" panose="02020603050405020304" pitchFamily="18" charset="0"/>
                <a:ea typeface="Aileron Bold"/>
                <a:cs typeface="Times New Roman" panose="02020603050405020304" pitchFamily="18" charset="0"/>
                <a:sym typeface="Aileron Bold"/>
              </a:rPr>
              <a:t>Existing platforms lack geo-location-specific features, causing inefficiencies.</a:t>
            </a:r>
          </a:p>
          <a:p>
            <a:pPr algn="just">
              <a:lnSpc>
                <a:spcPts val="3500"/>
              </a:lnSpc>
            </a:pPr>
            <a:r>
              <a:rPr lang="en-US" dirty="0">
                <a:latin typeface="Times New Roman" panose="02020603050405020304" pitchFamily="18" charset="0"/>
                <a:ea typeface="Aileron Bold"/>
                <a:cs typeface="Times New Roman" panose="02020603050405020304" pitchFamily="18" charset="0"/>
                <a:sym typeface="Aileron Bold"/>
              </a:rPr>
              <a:t>Service providers struggle to reach local clients effectively.</a:t>
            </a:r>
          </a:p>
          <a:p>
            <a:pPr algn="just">
              <a:lnSpc>
                <a:spcPts val="3500"/>
              </a:lnSpc>
            </a:pPr>
            <a:r>
              <a:rPr lang="en-US" dirty="0">
                <a:latin typeface="Times New Roman" panose="02020603050405020304" pitchFamily="18" charset="0"/>
                <a:ea typeface="Aileron Bold"/>
                <a:cs typeface="Times New Roman" panose="02020603050405020304" pitchFamily="18" charset="0"/>
                <a:sym typeface="Aileron Bold"/>
              </a:rPr>
              <a:t>Solution: A streamlined mobile app connecting users with nearby professionals in real time.</a:t>
            </a:r>
          </a:p>
          <a:p>
            <a:pPr marL="1021310" lvl="3" indent="-255327" algn="just">
              <a:lnSpc>
                <a:spcPts val="3500"/>
              </a:lnSpc>
            </a:pPr>
            <a:endParaRPr lang="en-US" sz="2499" b="1" dirty="0">
              <a:latin typeface="Aileron Bold"/>
              <a:ea typeface="Aileron Bold"/>
              <a:cs typeface="Aileron Bold"/>
              <a:sym typeface="Aileron Bold"/>
            </a:endParaRPr>
          </a:p>
        </p:txBody>
      </p:sp>
      <p:grpSp>
        <p:nvGrpSpPr>
          <p:cNvPr id="13" name="Group 6">
            <a:extLst>
              <a:ext uri="{FF2B5EF4-FFF2-40B4-BE49-F238E27FC236}">
                <a16:creationId xmlns:a16="http://schemas.microsoft.com/office/drawing/2014/main" id="{5C07A5AF-6D24-40CB-9C70-93DA5A13EC90}"/>
              </a:ext>
            </a:extLst>
          </p:cNvPr>
          <p:cNvGrpSpPr/>
          <p:nvPr/>
        </p:nvGrpSpPr>
        <p:grpSpPr>
          <a:xfrm>
            <a:off x="1320868" y="4431323"/>
            <a:ext cx="6627378" cy="1860145"/>
            <a:chOff x="0" y="0"/>
            <a:chExt cx="13336381" cy="5289537"/>
          </a:xfrm>
        </p:grpSpPr>
        <p:sp>
          <p:nvSpPr>
            <p:cNvPr id="15" name="Freeform 7">
              <a:extLst>
                <a:ext uri="{FF2B5EF4-FFF2-40B4-BE49-F238E27FC236}">
                  <a16:creationId xmlns:a16="http://schemas.microsoft.com/office/drawing/2014/main" id="{F983B0DB-3D5E-46E4-92BE-881FAAABCB10}"/>
                </a:ext>
              </a:extLst>
            </p:cNvPr>
            <p:cNvSpPr/>
            <p:nvPr/>
          </p:nvSpPr>
          <p:spPr>
            <a:xfrm>
              <a:off x="0" y="0"/>
              <a:ext cx="13336397" cy="5289550"/>
            </a:xfrm>
            <a:custGeom>
              <a:avLst/>
              <a:gdLst/>
              <a:ahLst/>
              <a:cxnLst/>
              <a:rect l="l" t="t" r="r" b="b"/>
              <a:pathLst>
                <a:path w="13336397" h="5289550">
                  <a:moveTo>
                    <a:pt x="0" y="0"/>
                  </a:moveTo>
                  <a:lnTo>
                    <a:pt x="13336397" y="0"/>
                  </a:lnTo>
                  <a:lnTo>
                    <a:pt x="13336397" y="5289550"/>
                  </a:lnTo>
                  <a:lnTo>
                    <a:pt x="0" y="5289550"/>
                  </a:lnTo>
                  <a:close/>
                </a:path>
              </a:pathLst>
            </a:custGeom>
            <a:blipFill>
              <a:blip r:embed="rId3"/>
              <a:stretch>
                <a:fillRect t="-33958" b="-33958"/>
              </a:stretch>
            </a:blipFill>
          </p:spPr>
        </p:sp>
      </p:grpSp>
      <p:grpSp>
        <p:nvGrpSpPr>
          <p:cNvPr id="16" name="Group 9">
            <a:extLst>
              <a:ext uri="{FF2B5EF4-FFF2-40B4-BE49-F238E27FC236}">
                <a16:creationId xmlns:a16="http://schemas.microsoft.com/office/drawing/2014/main" id="{02A9EC52-631F-40EF-9D47-FE8E398E9C27}"/>
              </a:ext>
            </a:extLst>
          </p:cNvPr>
          <p:cNvGrpSpPr/>
          <p:nvPr/>
        </p:nvGrpSpPr>
        <p:grpSpPr>
          <a:xfrm>
            <a:off x="9727627" y="2628718"/>
            <a:ext cx="1875717" cy="1875717"/>
            <a:chOff x="0" y="0"/>
            <a:chExt cx="4569701" cy="4569701"/>
          </a:xfrm>
        </p:grpSpPr>
        <p:sp>
          <p:nvSpPr>
            <p:cNvPr id="17" name="Freeform 10">
              <a:extLst>
                <a:ext uri="{FF2B5EF4-FFF2-40B4-BE49-F238E27FC236}">
                  <a16:creationId xmlns:a16="http://schemas.microsoft.com/office/drawing/2014/main" id="{6F82E7CA-3424-48FE-A2E9-C9647A96F50B}"/>
                </a:ext>
              </a:extLst>
            </p:cNvPr>
            <p:cNvSpPr/>
            <p:nvPr/>
          </p:nvSpPr>
          <p:spPr>
            <a:xfrm>
              <a:off x="0" y="0"/>
              <a:ext cx="4569714" cy="4569714"/>
            </a:xfrm>
            <a:custGeom>
              <a:avLst/>
              <a:gdLst/>
              <a:ahLst/>
              <a:cxnLst/>
              <a:rect l="l" t="t" r="r" b="b"/>
              <a:pathLst>
                <a:path w="4569714" h="4569714">
                  <a:moveTo>
                    <a:pt x="2284857" y="0"/>
                  </a:moveTo>
                  <a:cubicBezTo>
                    <a:pt x="1022985" y="0"/>
                    <a:pt x="0" y="1022985"/>
                    <a:pt x="0" y="2284857"/>
                  </a:cubicBezTo>
                  <a:cubicBezTo>
                    <a:pt x="0" y="3546729"/>
                    <a:pt x="1022985" y="4569714"/>
                    <a:pt x="2284857" y="4569714"/>
                  </a:cubicBezTo>
                  <a:cubicBezTo>
                    <a:pt x="3546729" y="4569714"/>
                    <a:pt x="4569714" y="3546729"/>
                    <a:pt x="4569714" y="2284857"/>
                  </a:cubicBezTo>
                  <a:cubicBezTo>
                    <a:pt x="4569714" y="1022985"/>
                    <a:pt x="3546729" y="0"/>
                    <a:pt x="2284857" y="0"/>
                  </a:cubicBezTo>
                  <a:close/>
                </a:path>
              </a:pathLst>
            </a:custGeom>
            <a:blipFill>
              <a:blip r:embed="rId4"/>
              <a:stretch>
                <a:fillRect l="-24955" r="-24955"/>
              </a:stretch>
            </a:blipFill>
          </p:spPr>
        </p:sp>
      </p:grpSp>
      <p:grpSp>
        <p:nvGrpSpPr>
          <p:cNvPr id="18" name="Group 11">
            <a:extLst>
              <a:ext uri="{FF2B5EF4-FFF2-40B4-BE49-F238E27FC236}">
                <a16:creationId xmlns:a16="http://schemas.microsoft.com/office/drawing/2014/main" id="{2C5DF601-E2A9-4C7E-8B49-327863B294DC}"/>
              </a:ext>
            </a:extLst>
          </p:cNvPr>
          <p:cNvGrpSpPr/>
          <p:nvPr/>
        </p:nvGrpSpPr>
        <p:grpSpPr>
          <a:xfrm>
            <a:off x="10532385" y="1534211"/>
            <a:ext cx="1642830" cy="1642830"/>
            <a:chOff x="0" y="0"/>
            <a:chExt cx="4569701" cy="4569701"/>
          </a:xfrm>
        </p:grpSpPr>
        <p:sp>
          <p:nvSpPr>
            <p:cNvPr id="19" name="Freeform 12">
              <a:extLst>
                <a:ext uri="{FF2B5EF4-FFF2-40B4-BE49-F238E27FC236}">
                  <a16:creationId xmlns:a16="http://schemas.microsoft.com/office/drawing/2014/main" id="{1905CED6-E76F-4DF4-94AD-2967E05D5236}"/>
                </a:ext>
              </a:extLst>
            </p:cNvPr>
            <p:cNvSpPr/>
            <p:nvPr/>
          </p:nvSpPr>
          <p:spPr>
            <a:xfrm>
              <a:off x="0" y="0"/>
              <a:ext cx="4569714" cy="4569714"/>
            </a:xfrm>
            <a:custGeom>
              <a:avLst/>
              <a:gdLst/>
              <a:ahLst/>
              <a:cxnLst/>
              <a:rect l="l" t="t" r="r" b="b"/>
              <a:pathLst>
                <a:path w="4569714" h="4569714">
                  <a:moveTo>
                    <a:pt x="2284857" y="0"/>
                  </a:moveTo>
                  <a:cubicBezTo>
                    <a:pt x="1022985" y="0"/>
                    <a:pt x="0" y="1022985"/>
                    <a:pt x="0" y="2284857"/>
                  </a:cubicBezTo>
                  <a:cubicBezTo>
                    <a:pt x="0" y="3546729"/>
                    <a:pt x="1022985" y="4569714"/>
                    <a:pt x="2284857" y="4569714"/>
                  </a:cubicBezTo>
                  <a:cubicBezTo>
                    <a:pt x="3546729" y="4569714"/>
                    <a:pt x="4569714" y="3546729"/>
                    <a:pt x="4569714" y="2284857"/>
                  </a:cubicBezTo>
                  <a:cubicBezTo>
                    <a:pt x="4569714" y="1022985"/>
                    <a:pt x="3546729" y="0"/>
                    <a:pt x="2284857" y="0"/>
                  </a:cubicBezTo>
                  <a:close/>
                </a:path>
              </a:pathLst>
            </a:custGeom>
            <a:blipFill>
              <a:blip r:embed="rId5"/>
              <a:stretch>
                <a:fillRect l="-24880" r="-24880"/>
              </a:stretch>
            </a:blipFill>
          </p:spPr>
        </p:sp>
      </p:grpSp>
    </p:spTree>
    <p:extLst>
      <p:ext uri="{BB962C8B-B14F-4D97-AF65-F5344CB8AC3E}">
        <p14:creationId xmlns:p14="http://schemas.microsoft.com/office/powerpoint/2010/main" val="12816262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F8F538D-149D-C9B5-6C3B-89FD836724F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D7E2A16-805F-8C64-5BC2-8F93CA3B1F2A}"/>
              </a:ext>
            </a:extLst>
          </p:cNvPr>
          <p:cNvSpPr/>
          <p:nvPr/>
        </p:nvSpPr>
        <p:spPr>
          <a:xfrm>
            <a:off x="0" y="0"/>
            <a:ext cx="12192000" cy="132611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66450F2-CF7E-1FE1-30EE-D60D867CF5AC}"/>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D93381EF-E66D-E27A-96B7-92D8E9E855B4}"/>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Monday, January 5, 2026</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C28CB633-F1B1-5AA2-7616-AEF6E0DF8360}"/>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E79D2D25-2955-F5EC-C541-17FA71463E6B}"/>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6</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64D1B26-5C4F-78A5-0FA4-7C65A21418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43FC0F64-C578-9225-8FA3-BA41CCCC1B39}"/>
              </a:ext>
            </a:extLst>
          </p:cNvPr>
          <p:cNvSpPr/>
          <p:nvPr/>
        </p:nvSpPr>
        <p:spPr>
          <a:xfrm>
            <a:off x="-1" y="1314639"/>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D530E3B7-B626-CE1E-83DC-D03F1E27D7F3}"/>
              </a:ext>
            </a:extLst>
          </p:cNvPr>
          <p:cNvSpPr>
            <a:spLocks noGrp="1"/>
          </p:cNvSpPr>
          <p:nvPr>
            <p:ph type="ctrTitle"/>
          </p:nvPr>
        </p:nvSpPr>
        <p:spPr>
          <a:xfrm>
            <a:off x="1273976" y="457199"/>
            <a:ext cx="10161104" cy="619813"/>
          </a:xfrm>
          <a:effectLst>
            <a:outerShdw blurRad="63500" sx="102000" sy="102000" algn="ctr" rotWithShape="0">
              <a:prstClr val="black">
                <a:alpha val="40000"/>
              </a:prstClr>
            </a:outerShdw>
          </a:effectLst>
        </p:spPr>
        <p:txBody>
          <a:bodyPr>
            <a:noAutofit/>
          </a:bodyPr>
          <a:lstStyle/>
          <a:p>
            <a:pPr algn="l">
              <a:lnSpc>
                <a:spcPts val="7539"/>
              </a:lnSpc>
            </a:pPr>
            <a:r>
              <a:rPr lang="en-US" sz="3200" b="1" dirty="0">
                <a:latin typeface="Times New Roman" panose="02020603050405020304" pitchFamily="18" charset="0"/>
                <a:ea typeface="Akzidenz-Grotesk Bold"/>
                <a:cs typeface="Times New Roman" panose="02020603050405020304" pitchFamily="18" charset="0"/>
                <a:sym typeface="Akzidenz-Grotesk Bold"/>
              </a:rPr>
              <a:t>Feasibility Study</a:t>
            </a:r>
          </a:p>
        </p:txBody>
      </p:sp>
      <p:sp>
        <p:nvSpPr>
          <p:cNvPr id="12" name="TextBox 19">
            <a:extLst>
              <a:ext uri="{FF2B5EF4-FFF2-40B4-BE49-F238E27FC236}">
                <a16:creationId xmlns:a16="http://schemas.microsoft.com/office/drawing/2014/main" id="{34EC1495-C727-45FF-B475-13A69C2FC73E}"/>
              </a:ext>
            </a:extLst>
          </p:cNvPr>
          <p:cNvSpPr txBox="1"/>
          <p:nvPr/>
        </p:nvSpPr>
        <p:spPr>
          <a:xfrm>
            <a:off x="1370422" y="1563744"/>
            <a:ext cx="8476963" cy="3981475"/>
          </a:xfrm>
          <a:prstGeom prst="rect">
            <a:avLst/>
          </a:prstGeom>
        </p:spPr>
        <p:txBody>
          <a:bodyPr wrap="square" lIns="0" tIns="0" rIns="0" bIns="0" rtlCol="0" anchor="t">
            <a:spAutoFit/>
          </a:bodyPr>
          <a:lstStyle/>
          <a:p>
            <a:pPr algn="just">
              <a:lnSpc>
                <a:spcPts val="3500"/>
              </a:lnSpc>
              <a:spcBef>
                <a:spcPct val="0"/>
              </a:spcBef>
            </a:pPr>
            <a:r>
              <a:rPr lang="en-US" dirty="0">
                <a:latin typeface="Times New Roman" panose="02020603050405020304" pitchFamily="18" charset="0"/>
                <a:cs typeface="Times New Roman" panose="02020603050405020304" pitchFamily="18" charset="0"/>
              </a:rPr>
              <a:t>Market Feasibility (Will People Use This App?):</a:t>
            </a:r>
          </a:p>
          <a:p>
            <a:pPr algn="just">
              <a:lnSpc>
                <a:spcPts val="3500"/>
              </a:lnSpc>
              <a:spcBef>
                <a:spcPct val="0"/>
              </a:spcBef>
            </a:pPr>
            <a:r>
              <a:rPr lang="en-US" dirty="0">
                <a:latin typeface="Times New Roman" panose="02020603050405020304" pitchFamily="18" charset="0"/>
                <a:cs typeface="Times New Roman" panose="02020603050405020304" pitchFamily="18" charset="0"/>
              </a:rPr>
              <a:t>Rising demand for verified professionals (plumbing, electricians, tutors)</a:t>
            </a:r>
            <a:endParaRPr lang="en-US" dirty="0">
              <a:latin typeface="Times New Roman" panose="02020603050405020304" pitchFamily="18" charset="0"/>
              <a:ea typeface="Aileron Bold"/>
              <a:cs typeface="Times New Roman" panose="02020603050405020304" pitchFamily="18" charset="0"/>
              <a:sym typeface="Aileron Bold"/>
            </a:endParaRPr>
          </a:p>
          <a:p>
            <a:pPr algn="just">
              <a:lnSpc>
                <a:spcPts val="3500"/>
              </a:lnSpc>
              <a:spcBef>
                <a:spcPct val="0"/>
              </a:spcBef>
            </a:pPr>
            <a:r>
              <a:rPr lang="en-US" dirty="0">
                <a:latin typeface="Times New Roman" panose="02020603050405020304" pitchFamily="18" charset="0"/>
                <a:ea typeface="Aileron Bold"/>
                <a:cs typeface="Times New Roman" panose="02020603050405020304" pitchFamily="18" charset="0"/>
                <a:sym typeface="Aileron Bold"/>
              </a:rPr>
              <a:t>Economic Feasibility:  Subscription plans for providers .</a:t>
            </a:r>
          </a:p>
          <a:p>
            <a:pPr algn="just">
              <a:lnSpc>
                <a:spcPts val="3500"/>
              </a:lnSpc>
              <a:spcBef>
                <a:spcPct val="0"/>
              </a:spcBef>
            </a:pPr>
            <a:r>
              <a:rPr lang="en-US" dirty="0">
                <a:latin typeface="Times New Roman" panose="02020603050405020304" pitchFamily="18" charset="0"/>
                <a:ea typeface="Aileron Bold"/>
                <a:cs typeface="Times New Roman" panose="02020603050405020304" pitchFamily="18" charset="0"/>
                <a:sym typeface="Aileron Bold"/>
              </a:rPr>
              <a:t>T</a:t>
            </a:r>
            <a:r>
              <a:rPr lang="en-US" u="none" strike="noStrike" dirty="0">
                <a:latin typeface="Times New Roman" panose="02020603050405020304" pitchFamily="18" charset="0"/>
                <a:ea typeface="Aileron Bold"/>
                <a:cs typeface="Times New Roman" panose="02020603050405020304" pitchFamily="18" charset="0"/>
                <a:sym typeface="Aileron Bold"/>
              </a:rPr>
              <a:t>echnical Feasibility: </a:t>
            </a:r>
          </a:p>
          <a:p>
            <a:pPr algn="just">
              <a:lnSpc>
                <a:spcPts val="3500"/>
              </a:lnSpc>
              <a:spcBef>
                <a:spcPct val="0"/>
              </a:spcBef>
            </a:pPr>
            <a:r>
              <a:rPr lang="en-US" u="none" strike="noStrike" dirty="0">
                <a:latin typeface="Times New Roman" panose="02020603050405020304" pitchFamily="18" charset="0"/>
                <a:ea typeface="Aileron Bold"/>
                <a:cs typeface="Times New Roman" panose="02020603050405020304" pitchFamily="18" charset="0"/>
                <a:sym typeface="Aileron Bold"/>
              </a:rPr>
              <a:t>Android Studio, Java, and Firebase for scalable development. </a:t>
            </a:r>
          </a:p>
          <a:p>
            <a:pPr algn="just">
              <a:lnSpc>
                <a:spcPts val="3500"/>
              </a:lnSpc>
              <a:spcBef>
                <a:spcPct val="0"/>
              </a:spcBef>
            </a:pPr>
            <a:r>
              <a:rPr lang="en-US" u="none" strike="noStrike" dirty="0">
                <a:latin typeface="Times New Roman" panose="02020603050405020304" pitchFamily="18" charset="0"/>
                <a:ea typeface="Aileron Bold"/>
                <a:cs typeface="Times New Roman" panose="02020603050405020304" pitchFamily="18" charset="0"/>
                <a:sym typeface="Aileron Bold"/>
              </a:rPr>
              <a:t>Firebase offers real-time databases, authentication, and cloud functions.</a:t>
            </a:r>
          </a:p>
          <a:p>
            <a:pPr algn="just">
              <a:lnSpc>
                <a:spcPts val="3500"/>
              </a:lnSpc>
              <a:spcBef>
                <a:spcPct val="0"/>
              </a:spcBef>
            </a:pPr>
            <a:r>
              <a:rPr lang="en-US" u="none" strike="noStrike" dirty="0">
                <a:latin typeface="Times New Roman" panose="02020603050405020304" pitchFamily="18" charset="0"/>
                <a:ea typeface="Aileron Bold"/>
                <a:cs typeface="Times New Roman" panose="02020603050405020304" pitchFamily="18" charset="0"/>
                <a:sym typeface="Aileron Bold"/>
              </a:rPr>
              <a:t>Operational Feasibility: Intuitive UI for users and efficient management</a:t>
            </a:r>
          </a:p>
          <a:p>
            <a:pPr algn="just">
              <a:lnSpc>
                <a:spcPts val="3500"/>
              </a:lnSpc>
              <a:spcBef>
                <a:spcPct val="0"/>
              </a:spcBef>
            </a:pPr>
            <a:r>
              <a:rPr lang="en-US" u="none" strike="noStrike" dirty="0">
                <a:latin typeface="Times New Roman" panose="02020603050405020304" pitchFamily="18" charset="0"/>
                <a:ea typeface="Aileron Bold"/>
                <a:cs typeface="Times New Roman" panose="02020603050405020304" pitchFamily="18" charset="0"/>
                <a:sym typeface="Aileron Bold"/>
              </a:rPr>
              <a:t> tools for professionals.</a:t>
            </a:r>
          </a:p>
          <a:p>
            <a:pPr marL="0" lvl="0" indent="0" algn="just">
              <a:lnSpc>
                <a:spcPts val="3500"/>
              </a:lnSpc>
              <a:spcBef>
                <a:spcPct val="0"/>
              </a:spcBef>
            </a:pPr>
            <a:endParaRPr lang="en-US" u="none" strike="noStrike" dirty="0">
              <a:latin typeface="Times New Roman" panose="02020603050405020304" pitchFamily="18" charset="0"/>
              <a:ea typeface="Aileron Bold"/>
              <a:cs typeface="Times New Roman" panose="02020603050405020304" pitchFamily="18" charset="0"/>
              <a:sym typeface="Aileron Bold"/>
            </a:endParaRPr>
          </a:p>
        </p:txBody>
      </p:sp>
      <p:grpSp>
        <p:nvGrpSpPr>
          <p:cNvPr id="13" name="Group 9">
            <a:extLst>
              <a:ext uri="{FF2B5EF4-FFF2-40B4-BE49-F238E27FC236}">
                <a16:creationId xmlns:a16="http://schemas.microsoft.com/office/drawing/2014/main" id="{F8AB9CB0-50F1-4C18-9B13-0A76F392AF31}"/>
              </a:ext>
            </a:extLst>
          </p:cNvPr>
          <p:cNvGrpSpPr/>
          <p:nvPr/>
        </p:nvGrpSpPr>
        <p:grpSpPr>
          <a:xfrm>
            <a:off x="8452256" y="1307829"/>
            <a:ext cx="1821567" cy="2034553"/>
            <a:chOff x="0" y="0"/>
            <a:chExt cx="3901184" cy="4357329"/>
          </a:xfrm>
        </p:grpSpPr>
        <p:sp>
          <p:nvSpPr>
            <p:cNvPr id="15" name="Freeform 10">
              <a:extLst>
                <a:ext uri="{FF2B5EF4-FFF2-40B4-BE49-F238E27FC236}">
                  <a16:creationId xmlns:a16="http://schemas.microsoft.com/office/drawing/2014/main" id="{281A4B5E-A42B-4B7D-A4DF-3B5C38AF1F7C}"/>
                </a:ext>
              </a:extLst>
            </p:cNvPr>
            <p:cNvSpPr/>
            <p:nvPr/>
          </p:nvSpPr>
          <p:spPr>
            <a:xfrm>
              <a:off x="0" y="0"/>
              <a:ext cx="3901186" cy="4357370"/>
            </a:xfrm>
            <a:custGeom>
              <a:avLst/>
              <a:gdLst/>
              <a:ahLst/>
              <a:cxnLst/>
              <a:rect l="l" t="t" r="r" b="b"/>
              <a:pathLst>
                <a:path w="3901186" h="4357370">
                  <a:moveTo>
                    <a:pt x="0" y="0"/>
                  </a:moveTo>
                  <a:lnTo>
                    <a:pt x="3901186" y="0"/>
                  </a:lnTo>
                  <a:lnTo>
                    <a:pt x="3901186" y="4357370"/>
                  </a:lnTo>
                  <a:lnTo>
                    <a:pt x="0" y="4357370"/>
                  </a:lnTo>
                  <a:close/>
                </a:path>
              </a:pathLst>
            </a:custGeom>
            <a:blipFill>
              <a:blip r:embed="rId3"/>
              <a:stretch>
                <a:fillRect l="-32652" r="-32652"/>
              </a:stretch>
            </a:blipFill>
          </p:spPr>
        </p:sp>
      </p:grpSp>
      <p:grpSp>
        <p:nvGrpSpPr>
          <p:cNvPr id="16" name="Group 11">
            <a:extLst>
              <a:ext uri="{FF2B5EF4-FFF2-40B4-BE49-F238E27FC236}">
                <a16:creationId xmlns:a16="http://schemas.microsoft.com/office/drawing/2014/main" id="{6992501C-A590-435E-AA11-8BD9F019188E}"/>
              </a:ext>
            </a:extLst>
          </p:cNvPr>
          <p:cNvGrpSpPr/>
          <p:nvPr/>
        </p:nvGrpSpPr>
        <p:grpSpPr>
          <a:xfrm>
            <a:off x="9092404" y="3899181"/>
            <a:ext cx="1779591" cy="2102151"/>
            <a:chOff x="61863" y="113532"/>
            <a:chExt cx="3901186" cy="4357370"/>
          </a:xfrm>
        </p:grpSpPr>
        <p:sp>
          <p:nvSpPr>
            <p:cNvPr id="17" name="Freeform 12">
              <a:extLst>
                <a:ext uri="{FF2B5EF4-FFF2-40B4-BE49-F238E27FC236}">
                  <a16:creationId xmlns:a16="http://schemas.microsoft.com/office/drawing/2014/main" id="{6505DB1C-91FB-4A80-8B24-A0F0812920D4}"/>
                </a:ext>
              </a:extLst>
            </p:cNvPr>
            <p:cNvSpPr/>
            <p:nvPr/>
          </p:nvSpPr>
          <p:spPr>
            <a:xfrm>
              <a:off x="61863" y="113532"/>
              <a:ext cx="3901186" cy="4357370"/>
            </a:xfrm>
            <a:custGeom>
              <a:avLst/>
              <a:gdLst/>
              <a:ahLst/>
              <a:cxnLst/>
              <a:rect l="l" t="t" r="r" b="b"/>
              <a:pathLst>
                <a:path w="3901186" h="4357370">
                  <a:moveTo>
                    <a:pt x="0" y="0"/>
                  </a:moveTo>
                  <a:lnTo>
                    <a:pt x="3901186" y="0"/>
                  </a:lnTo>
                  <a:lnTo>
                    <a:pt x="3901186" y="4357370"/>
                  </a:lnTo>
                  <a:lnTo>
                    <a:pt x="0" y="4357370"/>
                  </a:lnTo>
                  <a:close/>
                </a:path>
              </a:pathLst>
            </a:custGeom>
            <a:blipFill>
              <a:blip r:embed="rId4"/>
              <a:stretch>
                <a:fillRect l="-56373" r="-56373"/>
              </a:stretch>
            </a:blipFill>
          </p:spPr>
        </p:sp>
      </p:grpSp>
      <p:grpSp>
        <p:nvGrpSpPr>
          <p:cNvPr id="18" name="Group 13">
            <a:extLst>
              <a:ext uri="{FF2B5EF4-FFF2-40B4-BE49-F238E27FC236}">
                <a16:creationId xmlns:a16="http://schemas.microsoft.com/office/drawing/2014/main" id="{637CFB3F-7021-4A3E-9476-9F220288EAD3}"/>
              </a:ext>
            </a:extLst>
          </p:cNvPr>
          <p:cNvGrpSpPr/>
          <p:nvPr/>
        </p:nvGrpSpPr>
        <p:grpSpPr>
          <a:xfrm>
            <a:off x="10343115" y="1518640"/>
            <a:ext cx="1779591" cy="2102151"/>
            <a:chOff x="0" y="0"/>
            <a:chExt cx="3901184" cy="4357329"/>
          </a:xfrm>
        </p:grpSpPr>
        <p:sp>
          <p:nvSpPr>
            <p:cNvPr id="19" name="Freeform 14">
              <a:extLst>
                <a:ext uri="{FF2B5EF4-FFF2-40B4-BE49-F238E27FC236}">
                  <a16:creationId xmlns:a16="http://schemas.microsoft.com/office/drawing/2014/main" id="{9C8D1234-3CA1-421B-9A1F-8F8448D835F8}"/>
                </a:ext>
              </a:extLst>
            </p:cNvPr>
            <p:cNvSpPr/>
            <p:nvPr/>
          </p:nvSpPr>
          <p:spPr>
            <a:xfrm>
              <a:off x="0" y="0"/>
              <a:ext cx="3901186" cy="4357370"/>
            </a:xfrm>
            <a:custGeom>
              <a:avLst/>
              <a:gdLst/>
              <a:ahLst/>
              <a:cxnLst/>
              <a:rect l="l" t="t" r="r" b="b"/>
              <a:pathLst>
                <a:path w="3901186" h="4357370">
                  <a:moveTo>
                    <a:pt x="0" y="0"/>
                  </a:moveTo>
                  <a:lnTo>
                    <a:pt x="3901186" y="0"/>
                  </a:lnTo>
                  <a:lnTo>
                    <a:pt x="3901186" y="4357370"/>
                  </a:lnTo>
                  <a:lnTo>
                    <a:pt x="0" y="4357370"/>
                  </a:lnTo>
                  <a:close/>
                </a:path>
              </a:pathLst>
            </a:custGeom>
            <a:blipFill>
              <a:blip r:embed="rId5"/>
              <a:stretch>
                <a:fillRect l="-24400" r="-24400"/>
              </a:stretch>
            </a:blipFill>
          </p:spPr>
        </p:sp>
      </p:grpSp>
    </p:spTree>
    <p:extLst>
      <p:ext uri="{BB962C8B-B14F-4D97-AF65-F5344CB8AC3E}">
        <p14:creationId xmlns:p14="http://schemas.microsoft.com/office/powerpoint/2010/main" val="32111124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F8F538D-149D-C9B5-6C3B-89FD836724F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D7E2A16-805F-8C64-5BC2-8F93CA3B1F2A}"/>
              </a:ext>
            </a:extLst>
          </p:cNvPr>
          <p:cNvSpPr/>
          <p:nvPr/>
        </p:nvSpPr>
        <p:spPr>
          <a:xfrm>
            <a:off x="0" y="0"/>
            <a:ext cx="12192000" cy="132611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66450F2-CF7E-1FE1-30EE-D60D867CF5AC}"/>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D93381EF-E66D-E27A-96B7-92D8E9E855B4}"/>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Monday, January 5, 2026</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C28CB633-F1B1-5AA2-7616-AEF6E0DF8360}"/>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E79D2D25-2955-F5EC-C541-17FA71463E6B}"/>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7</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64D1B26-5C4F-78A5-0FA4-7C65A21418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43FC0F64-C578-9225-8FA3-BA41CCCC1B39}"/>
              </a:ext>
            </a:extLst>
          </p:cNvPr>
          <p:cNvSpPr/>
          <p:nvPr/>
        </p:nvSpPr>
        <p:spPr>
          <a:xfrm>
            <a:off x="-1" y="1314639"/>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D530E3B7-B626-CE1E-83DC-D03F1E27D7F3}"/>
              </a:ext>
            </a:extLst>
          </p:cNvPr>
          <p:cNvSpPr>
            <a:spLocks noGrp="1"/>
          </p:cNvSpPr>
          <p:nvPr>
            <p:ph type="ctrTitle"/>
          </p:nvPr>
        </p:nvSpPr>
        <p:spPr>
          <a:xfrm>
            <a:off x="1273976" y="457199"/>
            <a:ext cx="10161104" cy="619813"/>
          </a:xfrm>
          <a:effectLst>
            <a:outerShdw blurRad="63500" sx="102000" sy="102000" algn="ctr" rotWithShape="0">
              <a:prstClr val="black">
                <a:alpha val="40000"/>
              </a:prstClr>
            </a:outerShdw>
          </a:effectLst>
        </p:spPr>
        <p:txBody>
          <a:bodyPr>
            <a:noAutofit/>
          </a:bodyPr>
          <a:lstStyle/>
          <a:p>
            <a:pPr algn="l">
              <a:lnSpc>
                <a:spcPts val="7539"/>
              </a:lnSpc>
            </a:pPr>
            <a:r>
              <a:rPr lang="en-US" sz="3200" b="1" dirty="0">
                <a:latin typeface="Times New Roman" panose="02020603050405020304" pitchFamily="18" charset="0"/>
                <a:ea typeface="Akzidenz-Grotesk Bold"/>
                <a:cs typeface="Times New Roman" panose="02020603050405020304" pitchFamily="18" charset="0"/>
                <a:sym typeface="Akzidenz-Grotesk Bold"/>
              </a:rPr>
              <a:t>Existing Work</a:t>
            </a:r>
          </a:p>
        </p:txBody>
      </p:sp>
      <p:sp>
        <p:nvSpPr>
          <p:cNvPr id="20" name="TextBox 7">
            <a:extLst>
              <a:ext uri="{FF2B5EF4-FFF2-40B4-BE49-F238E27FC236}">
                <a16:creationId xmlns:a16="http://schemas.microsoft.com/office/drawing/2014/main" id="{37562556-618C-413F-86F4-889C0ABCCEE7}"/>
              </a:ext>
            </a:extLst>
          </p:cNvPr>
          <p:cNvSpPr txBox="1"/>
          <p:nvPr/>
        </p:nvSpPr>
        <p:spPr>
          <a:xfrm>
            <a:off x="1366786" y="2020860"/>
            <a:ext cx="6717616" cy="2102151"/>
          </a:xfrm>
          <a:prstGeom prst="rect">
            <a:avLst/>
          </a:prstGeom>
        </p:spPr>
        <p:txBody>
          <a:bodyPr lIns="0" tIns="0" rIns="0" bIns="0" rtlCol="0" anchor="t"/>
          <a:lstStyle/>
          <a:p>
            <a:pPr algn="just">
              <a:lnSpc>
                <a:spcPts val="3499"/>
              </a:lnSpc>
            </a:pPr>
            <a:r>
              <a:rPr lang="en-US" dirty="0">
                <a:latin typeface="Times New Roman" panose="02020603050405020304" pitchFamily="18" charset="0"/>
                <a:ea typeface="Aileron Bold"/>
                <a:cs typeface="Times New Roman" panose="02020603050405020304" pitchFamily="18" charset="0"/>
                <a:sym typeface="Aileron Bold"/>
              </a:rPr>
              <a:t>Thumbtack[1]: Matches users with local professionals for home services.</a:t>
            </a:r>
          </a:p>
          <a:p>
            <a:pPr algn="just">
              <a:lnSpc>
                <a:spcPts val="3499"/>
              </a:lnSpc>
            </a:pPr>
            <a:r>
              <a:rPr lang="en-US" dirty="0">
                <a:latin typeface="Times New Roman" panose="02020603050405020304" pitchFamily="18" charset="0"/>
                <a:ea typeface="Aileron Bold"/>
                <a:cs typeface="Times New Roman" panose="02020603050405020304" pitchFamily="18" charset="0"/>
                <a:sym typeface="Aileron Bold"/>
              </a:rPr>
              <a:t>Limitation: No real-time tracking; relies on quote comparisons.</a:t>
            </a:r>
          </a:p>
          <a:p>
            <a:pPr algn="just">
              <a:lnSpc>
                <a:spcPts val="3499"/>
              </a:lnSpc>
            </a:pPr>
            <a:r>
              <a:rPr lang="en-US" dirty="0">
                <a:latin typeface="Times New Roman" panose="02020603050405020304" pitchFamily="18" charset="0"/>
                <a:ea typeface="Aileron Bold"/>
                <a:cs typeface="Times New Roman" panose="02020603050405020304" pitchFamily="18" charset="0"/>
                <a:sym typeface="Aileron Bold"/>
              </a:rPr>
              <a:t>Handy[2] : Offers instant booking for cleaning and repairs.</a:t>
            </a:r>
          </a:p>
          <a:p>
            <a:pPr algn="just">
              <a:lnSpc>
                <a:spcPts val="3499"/>
              </a:lnSpc>
            </a:pPr>
            <a:r>
              <a:rPr lang="en-US" dirty="0">
                <a:latin typeface="Times New Roman" panose="02020603050405020304" pitchFamily="18" charset="0"/>
                <a:ea typeface="Aileron Bold"/>
                <a:cs typeface="Times New Roman" panose="02020603050405020304" pitchFamily="18" charset="0"/>
                <a:sym typeface="Aileron Bold"/>
              </a:rPr>
              <a:t>Limitation: Narrow service range; </a:t>
            </a:r>
          </a:p>
          <a:p>
            <a:pPr algn="just">
              <a:lnSpc>
                <a:spcPts val="3499"/>
              </a:lnSpc>
            </a:pPr>
            <a:endParaRPr lang="en-US" dirty="0">
              <a:latin typeface="Times New Roman" panose="02020603050405020304" pitchFamily="18" charset="0"/>
              <a:ea typeface="Aileron Bold"/>
              <a:cs typeface="Times New Roman" panose="02020603050405020304" pitchFamily="18" charset="0"/>
              <a:sym typeface="Aileron Bold"/>
            </a:endParaRPr>
          </a:p>
          <a:p>
            <a:pPr algn="just">
              <a:lnSpc>
                <a:spcPts val="3499"/>
              </a:lnSpc>
            </a:pPr>
            <a:endParaRPr lang="en-US" dirty="0">
              <a:latin typeface="Times New Roman" panose="02020603050405020304" pitchFamily="18" charset="0"/>
              <a:ea typeface="Aileron Bold"/>
              <a:cs typeface="Times New Roman" panose="02020603050405020304" pitchFamily="18" charset="0"/>
              <a:sym typeface="Aileron Bold"/>
            </a:endParaRPr>
          </a:p>
          <a:p>
            <a:pPr algn="just">
              <a:lnSpc>
                <a:spcPts val="3499"/>
              </a:lnSpc>
            </a:pPr>
            <a:endParaRPr lang="en-US" dirty="0">
              <a:latin typeface="Times New Roman" panose="02020603050405020304" pitchFamily="18" charset="0"/>
              <a:ea typeface="Aileron Bold"/>
              <a:cs typeface="Times New Roman" panose="02020603050405020304" pitchFamily="18" charset="0"/>
              <a:sym typeface="Aileron Bold"/>
            </a:endParaRPr>
          </a:p>
          <a:p>
            <a:pPr algn="just">
              <a:lnSpc>
                <a:spcPts val="3499"/>
              </a:lnSpc>
            </a:pPr>
            <a:endParaRPr lang="en-US" dirty="0">
              <a:latin typeface="Times New Roman" panose="02020603050405020304" pitchFamily="18" charset="0"/>
              <a:ea typeface="Aileron Bold"/>
              <a:cs typeface="Times New Roman" panose="02020603050405020304" pitchFamily="18" charset="0"/>
              <a:sym typeface="Aileron Bold"/>
            </a:endParaRPr>
          </a:p>
          <a:p>
            <a:pPr algn="just">
              <a:lnSpc>
                <a:spcPts val="3499"/>
              </a:lnSpc>
            </a:pPr>
            <a:endParaRPr lang="en-US" dirty="0">
              <a:latin typeface="Times New Roman" panose="02020603050405020304" pitchFamily="18" charset="0"/>
              <a:ea typeface="Aileron Bold"/>
              <a:cs typeface="Times New Roman" panose="02020603050405020304" pitchFamily="18" charset="0"/>
              <a:sym typeface="Aileron Bold"/>
            </a:endParaRPr>
          </a:p>
        </p:txBody>
      </p:sp>
      <p:grpSp>
        <p:nvGrpSpPr>
          <p:cNvPr id="28" name="Group 12">
            <a:extLst>
              <a:ext uri="{FF2B5EF4-FFF2-40B4-BE49-F238E27FC236}">
                <a16:creationId xmlns:a16="http://schemas.microsoft.com/office/drawing/2014/main" id="{CBA944AA-BBEC-4DD9-AFA2-C3F73BEFE1AF}"/>
              </a:ext>
            </a:extLst>
          </p:cNvPr>
          <p:cNvGrpSpPr/>
          <p:nvPr/>
        </p:nvGrpSpPr>
        <p:grpSpPr>
          <a:xfrm>
            <a:off x="7728063" y="2888191"/>
            <a:ext cx="2290479" cy="2290479"/>
            <a:chOff x="0" y="0"/>
            <a:chExt cx="4569701" cy="4569701"/>
          </a:xfrm>
        </p:grpSpPr>
        <p:sp>
          <p:nvSpPr>
            <p:cNvPr id="29" name="Freeform 13">
              <a:extLst>
                <a:ext uri="{FF2B5EF4-FFF2-40B4-BE49-F238E27FC236}">
                  <a16:creationId xmlns:a16="http://schemas.microsoft.com/office/drawing/2014/main" id="{DDB73395-2A92-4AD2-A0A9-F581D9DCC8C2}"/>
                </a:ext>
              </a:extLst>
            </p:cNvPr>
            <p:cNvSpPr/>
            <p:nvPr/>
          </p:nvSpPr>
          <p:spPr>
            <a:xfrm>
              <a:off x="0" y="0"/>
              <a:ext cx="4569714" cy="4569714"/>
            </a:xfrm>
            <a:custGeom>
              <a:avLst/>
              <a:gdLst/>
              <a:ahLst/>
              <a:cxnLst/>
              <a:rect l="l" t="t" r="r" b="b"/>
              <a:pathLst>
                <a:path w="4569714" h="4569714">
                  <a:moveTo>
                    <a:pt x="2284857" y="0"/>
                  </a:moveTo>
                  <a:cubicBezTo>
                    <a:pt x="1022985" y="0"/>
                    <a:pt x="0" y="1022985"/>
                    <a:pt x="0" y="2284857"/>
                  </a:cubicBezTo>
                  <a:cubicBezTo>
                    <a:pt x="0" y="3546729"/>
                    <a:pt x="1022985" y="4569714"/>
                    <a:pt x="2284857" y="4569714"/>
                  </a:cubicBezTo>
                  <a:cubicBezTo>
                    <a:pt x="3546729" y="4569714"/>
                    <a:pt x="4569714" y="3546729"/>
                    <a:pt x="4569714" y="2284857"/>
                  </a:cubicBezTo>
                  <a:cubicBezTo>
                    <a:pt x="4569714" y="1022985"/>
                    <a:pt x="3546729" y="0"/>
                    <a:pt x="2284857" y="0"/>
                  </a:cubicBezTo>
                  <a:close/>
                </a:path>
              </a:pathLst>
            </a:custGeom>
            <a:blipFill>
              <a:blip r:embed="rId3"/>
              <a:stretch>
                <a:fillRect r="-90476"/>
              </a:stretch>
            </a:blipFill>
          </p:spPr>
        </p:sp>
      </p:grpSp>
      <p:grpSp>
        <p:nvGrpSpPr>
          <p:cNvPr id="30" name="Group 14">
            <a:extLst>
              <a:ext uri="{FF2B5EF4-FFF2-40B4-BE49-F238E27FC236}">
                <a16:creationId xmlns:a16="http://schemas.microsoft.com/office/drawing/2014/main" id="{EB23AA21-997E-4374-8335-EEEBE6D5FBB7}"/>
              </a:ext>
            </a:extLst>
          </p:cNvPr>
          <p:cNvGrpSpPr/>
          <p:nvPr/>
        </p:nvGrpSpPr>
        <p:grpSpPr>
          <a:xfrm>
            <a:off x="9482225" y="1650634"/>
            <a:ext cx="2290479" cy="2290479"/>
            <a:chOff x="0" y="0"/>
            <a:chExt cx="4569701" cy="4569701"/>
          </a:xfrm>
        </p:grpSpPr>
        <p:sp>
          <p:nvSpPr>
            <p:cNvPr id="31" name="Freeform 15">
              <a:extLst>
                <a:ext uri="{FF2B5EF4-FFF2-40B4-BE49-F238E27FC236}">
                  <a16:creationId xmlns:a16="http://schemas.microsoft.com/office/drawing/2014/main" id="{8CE4DC40-DA62-43E9-8485-518514964376}"/>
                </a:ext>
              </a:extLst>
            </p:cNvPr>
            <p:cNvSpPr/>
            <p:nvPr/>
          </p:nvSpPr>
          <p:spPr>
            <a:xfrm>
              <a:off x="0" y="0"/>
              <a:ext cx="4569714" cy="4569714"/>
            </a:xfrm>
            <a:custGeom>
              <a:avLst/>
              <a:gdLst/>
              <a:ahLst/>
              <a:cxnLst/>
              <a:rect l="l" t="t" r="r" b="b"/>
              <a:pathLst>
                <a:path w="4569714" h="4569714">
                  <a:moveTo>
                    <a:pt x="2284857" y="0"/>
                  </a:moveTo>
                  <a:cubicBezTo>
                    <a:pt x="1022985" y="0"/>
                    <a:pt x="0" y="1022985"/>
                    <a:pt x="0" y="2284857"/>
                  </a:cubicBezTo>
                  <a:cubicBezTo>
                    <a:pt x="0" y="3546729"/>
                    <a:pt x="1022985" y="4569714"/>
                    <a:pt x="2284857" y="4569714"/>
                  </a:cubicBezTo>
                  <a:cubicBezTo>
                    <a:pt x="3546729" y="4569714"/>
                    <a:pt x="4569714" y="3546729"/>
                    <a:pt x="4569714" y="2284857"/>
                  </a:cubicBezTo>
                  <a:cubicBezTo>
                    <a:pt x="4569714" y="1022985"/>
                    <a:pt x="3546729" y="0"/>
                    <a:pt x="2284857" y="0"/>
                  </a:cubicBezTo>
                  <a:close/>
                </a:path>
              </a:pathLst>
            </a:custGeom>
            <a:blipFill>
              <a:blip r:embed="rId4"/>
              <a:stretch>
                <a:fillRect t="-1526" b="-17750"/>
              </a:stretch>
            </a:blipFill>
          </p:spPr>
        </p:sp>
      </p:grpSp>
    </p:spTree>
    <p:extLst>
      <p:ext uri="{BB962C8B-B14F-4D97-AF65-F5344CB8AC3E}">
        <p14:creationId xmlns:p14="http://schemas.microsoft.com/office/powerpoint/2010/main" val="4754399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F8F538D-149D-C9B5-6C3B-89FD836724F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D7E2A16-805F-8C64-5BC2-8F93CA3B1F2A}"/>
              </a:ext>
            </a:extLst>
          </p:cNvPr>
          <p:cNvSpPr/>
          <p:nvPr/>
        </p:nvSpPr>
        <p:spPr>
          <a:xfrm>
            <a:off x="0" y="0"/>
            <a:ext cx="12192000" cy="132611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66450F2-CF7E-1FE1-30EE-D60D867CF5AC}"/>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D93381EF-E66D-E27A-96B7-92D8E9E855B4}"/>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Monday, January 5, 2026</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C28CB633-F1B1-5AA2-7616-AEF6E0DF8360}"/>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E79D2D25-2955-F5EC-C541-17FA71463E6B}"/>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8</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64D1B26-5C4F-78A5-0FA4-7C65A21418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43FC0F64-C578-9225-8FA3-BA41CCCC1B39}"/>
              </a:ext>
            </a:extLst>
          </p:cNvPr>
          <p:cNvSpPr/>
          <p:nvPr/>
        </p:nvSpPr>
        <p:spPr>
          <a:xfrm>
            <a:off x="-1" y="1314639"/>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D530E3B7-B626-CE1E-83DC-D03F1E27D7F3}"/>
              </a:ext>
            </a:extLst>
          </p:cNvPr>
          <p:cNvSpPr>
            <a:spLocks noGrp="1"/>
          </p:cNvSpPr>
          <p:nvPr>
            <p:ph type="ctrTitle"/>
          </p:nvPr>
        </p:nvSpPr>
        <p:spPr>
          <a:xfrm>
            <a:off x="1273976" y="457199"/>
            <a:ext cx="10161104" cy="619813"/>
          </a:xfrm>
          <a:effectLst>
            <a:outerShdw blurRad="63500" sx="102000" sy="102000" algn="ctr" rotWithShape="0">
              <a:prstClr val="black">
                <a:alpha val="40000"/>
              </a:prstClr>
            </a:outerShdw>
          </a:effectLst>
        </p:spPr>
        <p:txBody>
          <a:bodyPr>
            <a:noAutofit/>
          </a:bodyPr>
          <a:lstStyle/>
          <a:p>
            <a:pPr algn="l">
              <a:lnSpc>
                <a:spcPts val="7539"/>
              </a:lnSpc>
            </a:pPr>
            <a:r>
              <a:rPr lang="en-US" sz="3200" b="1" dirty="0">
                <a:solidFill>
                  <a:srgbClr val="134E1A"/>
                </a:solidFill>
                <a:latin typeface="Akzidenz-Grotesk Bold"/>
                <a:ea typeface="Akzidenz-Grotesk Bold"/>
                <a:cs typeface="Akzidenz-Grotesk Bold"/>
                <a:sym typeface="Akzidenz-Grotesk Bold"/>
              </a:rPr>
              <a:t> </a:t>
            </a:r>
            <a:r>
              <a:rPr lang="en-US" sz="3200" b="1" dirty="0">
                <a:latin typeface="Times New Roman" panose="02020603050405020304" pitchFamily="18" charset="0"/>
                <a:ea typeface="Akzidenz-Grotesk Bold"/>
                <a:cs typeface="Times New Roman" panose="02020603050405020304" pitchFamily="18" charset="0"/>
                <a:sym typeface="Akzidenz-Grotesk Bold"/>
              </a:rPr>
              <a:t>Objectives</a:t>
            </a:r>
          </a:p>
        </p:txBody>
      </p:sp>
      <p:sp>
        <p:nvSpPr>
          <p:cNvPr id="20" name="TextBox 7">
            <a:extLst>
              <a:ext uri="{FF2B5EF4-FFF2-40B4-BE49-F238E27FC236}">
                <a16:creationId xmlns:a16="http://schemas.microsoft.com/office/drawing/2014/main" id="{37562556-618C-413F-86F4-889C0ABCCEE7}"/>
              </a:ext>
            </a:extLst>
          </p:cNvPr>
          <p:cNvSpPr txBox="1"/>
          <p:nvPr/>
        </p:nvSpPr>
        <p:spPr>
          <a:xfrm>
            <a:off x="1435784" y="1931283"/>
            <a:ext cx="6717616" cy="2102151"/>
          </a:xfrm>
          <a:prstGeom prst="rect">
            <a:avLst/>
          </a:prstGeom>
        </p:spPr>
        <p:txBody>
          <a:bodyPr lIns="0" tIns="0" rIns="0" bIns="0" rtlCol="0" anchor="t"/>
          <a:lstStyle/>
          <a:p>
            <a:pPr marL="285750" indent="-285750">
              <a:lnSpc>
                <a:spcPts val="3500"/>
              </a:lnSpc>
              <a:buFont typeface="Wingdings" panose="05000000000000000000" pitchFamily="2" charset="2"/>
              <a:buChar char="Ø"/>
            </a:pPr>
            <a:r>
              <a:rPr lang="en-US" dirty="0">
                <a:latin typeface="Times New Roman" panose="02020603050405020304" pitchFamily="18" charset="0"/>
                <a:ea typeface="Aileron Bold"/>
                <a:cs typeface="Times New Roman" panose="02020603050405020304" pitchFamily="18" charset="0"/>
                <a:sym typeface="Aileron Bold"/>
              </a:rPr>
              <a:t>Create a user-friendly platform for local service connections.</a:t>
            </a:r>
          </a:p>
          <a:p>
            <a:pPr marL="285750" indent="-285750">
              <a:lnSpc>
                <a:spcPts val="3500"/>
              </a:lnSpc>
              <a:buFont typeface="Wingdings" panose="05000000000000000000" pitchFamily="2" charset="2"/>
              <a:buChar char="Ø"/>
            </a:pPr>
            <a:r>
              <a:rPr lang="en-US" dirty="0">
                <a:latin typeface="Times New Roman" panose="02020603050405020304" pitchFamily="18" charset="0"/>
                <a:ea typeface="Aileron Bold"/>
                <a:cs typeface="Times New Roman" panose="02020603050405020304" pitchFamily="18" charset="0"/>
                <a:sym typeface="Aileron Bold"/>
              </a:rPr>
              <a:t>Enable real-time service tracking</a:t>
            </a:r>
          </a:p>
          <a:p>
            <a:pPr marL="285750" indent="-285750">
              <a:lnSpc>
                <a:spcPts val="3500"/>
              </a:lnSpc>
              <a:buFont typeface="Wingdings" panose="05000000000000000000" pitchFamily="2" charset="2"/>
              <a:buChar char="Ø"/>
            </a:pPr>
            <a:r>
              <a:rPr lang="en-US" dirty="0">
                <a:latin typeface="Times New Roman" panose="02020603050405020304" pitchFamily="18" charset="0"/>
                <a:ea typeface="Aileron Bold"/>
                <a:cs typeface="Times New Roman" panose="02020603050405020304" pitchFamily="18" charset="0"/>
                <a:sym typeface="Aileron Bold"/>
              </a:rPr>
              <a:t>Implement a transparent rating/review system.</a:t>
            </a:r>
          </a:p>
          <a:p>
            <a:pPr marL="285750" indent="-285750">
              <a:lnSpc>
                <a:spcPts val="3500"/>
              </a:lnSpc>
              <a:buFont typeface="Wingdings" panose="05000000000000000000" pitchFamily="2" charset="2"/>
              <a:buChar char="Ø"/>
            </a:pPr>
            <a:r>
              <a:rPr lang="en-US" dirty="0">
                <a:latin typeface="Times New Roman" panose="02020603050405020304" pitchFamily="18" charset="0"/>
                <a:ea typeface="Aileron Bold"/>
                <a:cs typeface="Times New Roman" panose="02020603050405020304" pitchFamily="18" charset="0"/>
                <a:sym typeface="Aileron Bold"/>
              </a:rPr>
              <a:t>Help service providers expand their reach and grow businesses.</a:t>
            </a:r>
          </a:p>
          <a:p>
            <a:pPr>
              <a:lnSpc>
                <a:spcPts val="3500"/>
              </a:lnSpc>
            </a:pPr>
            <a:endParaRPr lang="en-US" dirty="0">
              <a:latin typeface="Times New Roman" panose="02020603050405020304" pitchFamily="18" charset="0"/>
              <a:ea typeface="Aileron Bold"/>
              <a:cs typeface="Times New Roman" panose="02020603050405020304" pitchFamily="18" charset="0"/>
              <a:sym typeface="Aileron Bold"/>
            </a:endParaRPr>
          </a:p>
          <a:p>
            <a:pPr>
              <a:lnSpc>
                <a:spcPts val="3500"/>
              </a:lnSpc>
            </a:pPr>
            <a:endParaRPr lang="en-US" dirty="0">
              <a:latin typeface="Times New Roman" panose="02020603050405020304" pitchFamily="18" charset="0"/>
              <a:ea typeface="Aileron Bold"/>
              <a:cs typeface="Times New Roman" panose="02020603050405020304" pitchFamily="18" charset="0"/>
              <a:sym typeface="Aileron Bold"/>
            </a:endParaRPr>
          </a:p>
          <a:p>
            <a:pPr>
              <a:lnSpc>
                <a:spcPts val="3500"/>
              </a:lnSpc>
            </a:pPr>
            <a:endParaRPr lang="en-US" dirty="0">
              <a:latin typeface="Times New Roman" panose="02020603050405020304" pitchFamily="18" charset="0"/>
              <a:ea typeface="Aileron Bold"/>
              <a:cs typeface="Times New Roman" panose="02020603050405020304" pitchFamily="18" charset="0"/>
              <a:sym typeface="Aileron Bold"/>
            </a:endParaRPr>
          </a:p>
          <a:p>
            <a:pPr algn="just">
              <a:lnSpc>
                <a:spcPts val="3499"/>
              </a:lnSpc>
            </a:pPr>
            <a:endParaRPr lang="en-US" dirty="0">
              <a:latin typeface="Times New Roman" panose="02020603050405020304" pitchFamily="18" charset="0"/>
              <a:ea typeface="Aileron Bold"/>
              <a:cs typeface="Times New Roman" panose="02020603050405020304" pitchFamily="18" charset="0"/>
              <a:sym typeface="Aileron Bold"/>
            </a:endParaRPr>
          </a:p>
          <a:p>
            <a:pPr algn="just">
              <a:lnSpc>
                <a:spcPts val="3499"/>
              </a:lnSpc>
            </a:pPr>
            <a:endParaRPr lang="en-US" dirty="0">
              <a:latin typeface="Times New Roman" panose="02020603050405020304" pitchFamily="18" charset="0"/>
              <a:ea typeface="Aileron Bold"/>
              <a:cs typeface="Times New Roman" panose="02020603050405020304" pitchFamily="18" charset="0"/>
              <a:sym typeface="Aileron Bold"/>
            </a:endParaRPr>
          </a:p>
          <a:p>
            <a:pPr algn="just">
              <a:lnSpc>
                <a:spcPts val="3499"/>
              </a:lnSpc>
            </a:pPr>
            <a:endParaRPr lang="en-US" dirty="0">
              <a:latin typeface="Times New Roman" panose="02020603050405020304" pitchFamily="18" charset="0"/>
              <a:ea typeface="Aileron Bold"/>
              <a:cs typeface="Times New Roman" panose="02020603050405020304" pitchFamily="18" charset="0"/>
              <a:sym typeface="Aileron Bold"/>
            </a:endParaRPr>
          </a:p>
          <a:p>
            <a:pPr algn="just">
              <a:lnSpc>
                <a:spcPts val="3499"/>
              </a:lnSpc>
            </a:pPr>
            <a:endParaRPr lang="en-US" dirty="0">
              <a:latin typeface="Times New Roman" panose="02020603050405020304" pitchFamily="18" charset="0"/>
              <a:ea typeface="Aileron Bold"/>
              <a:cs typeface="Times New Roman" panose="02020603050405020304" pitchFamily="18" charset="0"/>
              <a:sym typeface="Aileron Bold"/>
            </a:endParaRPr>
          </a:p>
          <a:p>
            <a:pPr algn="just">
              <a:lnSpc>
                <a:spcPts val="3499"/>
              </a:lnSpc>
            </a:pPr>
            <a:endParaRPr lang="en-US" dirty="0">
              <a:latin typeface="Times New Roman" panose="02020603050405020304" pitchFamily="18" charset="0"/>
              <a:ea typeface="Aileron Bold"/>
              <a:cs typeface="Times New Roman" panose="02020603050405020304" pitchFamily="18" charset="0"/>
              <a:sym typeface="Aileron Bold"/>
            </a:endParaRPr>
          </a:p>
        </p:txBody>
      </p:sp>
      <p:grpSp>
        <p:nvGrpSpPr>
          <p:cNvPr id="15" name="Group 18">
            <a:extLst>
              <a:ext uri="{FF2B5EF4-FFF2-40B4-BE49-F238E27FC236}">
                <a16:creationId xmlns:a16="http://schemas.microsoft.com/office/drawing/2014/main" id="{B801407C-B283-4C4C-8D86-E55AA0974631}"/>
              </a:ext>
            </a:extLst>
          </p:cNvPr>
          <p:cNvGrpSpPr/>
          <p:nvPr/>
        </p:nvGrpSpPr>
        <p:grpSpPr>
          <a:xfrm>
            <a:off x="7924837" y="1559441"/>
            <a:ext cx="1982175" cy="1993917"/>
            <a:chOff x="0" y="0"/>
            <a:chExt cx="3918913" cy="3942127"/>
          </a:xfrm>
        </p:grpSpPr>
        <p:sp>
          <p:nvSpPr>
            <p:cNvPr id="16" name="Freeform 19">
              <a:extLst>
                <a:ext uri="{FF2B5EF4-FFF2-40B4-BE49-F238E27FC236}">
                  <a16:creationId xmlns:a16="http://schemas.microsoft.com/office/drawing/2014/main" id="{9FF049E5-248D-4BC0-BE44-DA312802864F}"/>
                </a:ext>
              </a:extLst>
            </p:cNvPr>
            <p:cNvSpPr/>
            <p:nvPr/>
          </p:nvSpPr>
          <p:spPr>
            <a:xfrm>
              <a:off x="0" y="0"/>
              <a:ext cx="3918966" cy="3942080"/>
            </a:xfrm>
            <a:custGeom>
              <a:avLst/>
              <a:gdLst/>
              <a:ahLst/>
              <a:cxnLst/>
              <a:rect l="l" t="t" r="r" b="b"/>
              <a:pathLst>
                <a:path w="3918966" h="3942080">
                  <a:moveTo>
                    <a:pt x="0" y="0"/>
                  </a:moveTo>
                  <a:lnTo>
                    <a:pt x="3918966" y="0"/>
                  </a:lnTo>
                  <a:lnTo>
                    <a:pt x="3918966" y="3942080"/>
                  </a:lnTo>
                  <a:lnTo>
                    <a:pt x="0" y="3942080"/>
                  </a:lnTo>
                  <a:close/>
                </a:path>
              </a:pathLst>
            </a:custGeom>
            <a:blipFill>
              <a:blip r:embed="rId3"/>
              <a:stretch>
                <a:fillRect l="-296" r="-294" b="-1"/>
              </a:stretch>
            </a:blipFill>
          </p:spPr>
        </p:sp>
      </p:grpSp>
      <p:grpSp>
        <p:nvGrpSpPr>
          <p:cNvPr id="17" name="Group 20">
            <a:extLst>
              <a:ext uri="{FF2B5EF4-FFF2-40B4-BE49-F238E27FC236}">
                <a16:creationId xmlns:a16="http://schemas.microsoft.com/office/drawing/2014/main" id="{75CA6922-7B11-418B-A58F-CE26C3CD7DA0}"/>
              </a:ext>
            </a:extLst>
          </p:cNvPr>
          <p:cNvGrpSpPr/>
          <p:nvPr/>
        </p:nvGrpSpPr>
        <p:grpSpPr>
          <a:xfrm>
            <a:off x="7924837" y="3804598"/>
            <a:ext cx="1982201" cy="1993893"/>
            <a:chOff x="0" y="0"/>
            <a:chExt cx="3918913" cy="3942127"/>
          </a:xfrm>
        </p:grpSpPr>
        <p:sp>
          <p:nvSpPr>
            <p:cNvPr id="18" name="Freeform 21">
              <a:extLst>
                <a:ext uri="{FF2B5EF4-FFF2-40B4-BE49-F238E27FC236}">
                  <a16:creationId xmlns:a16="http://schemas.microsoft.com/office/drawing/2014/main" id="{45B5EC71-17C6-44C4-BB24-595EA7C6C70B}"/>
                </a:ext>
              </a:extLst>
            </p:cNvPr>
            <p:cNvSpPr/>
            <p:nvPr/>
          </p:nvSpPr>
          <p:spPr>
            <a:xfrm>
              <a:off x="0" y="0"/>
              <a:ext cx="3918966" cy="3942080"/>
            </a:xfrm>
            <a:custGeom>
              <a:avLst/>
              <a:gdLst/>
              <a:ahLst/>
              <a:cxnLst/>
              <a:rect l="l" t="t" r="r" b="b"/>
              <a:pathLst>
                <a:path w="3918966" h="3942080">
                  <a:moveTo>
                    <a:pt x="0" y="0"/>
                  </a:moveTo>
                  <a:lnTo>
                    <a:pt x="3918966" y="0"/>
                  </a:lnTo>
                  <a:lnTo>
                    <a:pt x="3918966" y="3942080"/>
                  </a:lnTo>
                  <a:lnTo>
                    <a:pt x="0" y="3942080"/>
                  </a:lnTo>
                  <a:close/>
                </a:path>
              </a:pathLst>
            </a:custGeom>
            <a:blipFill>
              <a:blip r:embed="rId4"/>
              <a:stretch>
                <a:fillRect l="-39292" r="-39291" b="-1"/>
              </a:stretch>
            </a:blipFill>
          </p:spPr>
        </p:sp>
      </p:grpSp>
      <p:grpSp>
        <p:nvGrpSpPr>
          <p:cNvPr id="19" name="Group 22">
            <a:extLst>
              <a:ext uri="{FF2B5EF4-FFF2-40B4-BE49-F238E27FC236}">
                <a16:creationId xmlns:a16="http://schemas.microsoft.com/office/drawing/2014/main" id="{1B335A1A-D244-46F6-B20D-A7FA9EFD79FE}"/>
              </a:ext>
            </a:extLst>
          </p:cNvPr>
          <p:cNvGrpSpPr/>
          <p:nvPr/>
        </p:nvGrpSpPr>
        <p:grpSpPr>
          <a:xfrm>
            <a:off x="9982200" y="2799606"/>
            <a:ext cx="1982201" cy="1993943"/>
            <a:chOff x="0" y="0"/>
            <a:chExt cx="3918913" cy="3942127"/>
          </a:xfrm>
        </p:grpSpPr>
        <p:sp>
          <p:nvSpPr>
            <p:cNvPr id="21" name="Freeform 23">
              <a:extLst>
                <a:ext uri="{FF2B5EF4-FFF2-40B4-BE49-F238E27FC236}">
                  <a16:creationId xmlns:a16="http://schemas.microsoft.com/office/drawing/2014/main" id="{84882D88-BA0B-45C0-B991-A668F244B1DE}"/>
                </a:ext>
              </a:extLst>
            </p:cNvPr>
            <p:cNvSpPr/>
            <p:nvPr/>
          </p:nvSpPr>
          <p:spPr>
            <a:xfrm>
              <a:off x="0" y="0"/>
              <a:ext cx="3918966" cy="3942080"/>
            </a:xfrm>
            <a:custGeom>
              <a:avLst/>
              <a:gdLst/>
              <a:ahLst/>
              <a:cxnLst/>
              <a:rect l="l" t="t" r="r" b="b"/>
              <a:pathLst>
                <a:path w="3918966" h="3942080">
                  <a:moveTo>
                    <a:pt x="0" y="0"/>
                  </a:moveTo>
                  <a:lnTo>
                    <a:pt x="3918966" y="0"/>
                  </a:lnTo>
                  <a:lnTo>
                    <a:pt x="3918966" y="3942080"/>
                  </a:lnTo>
                  <a:lnTo>
                    <a:pt x="0" y="3942080"/>
                  </a:lnTo>
                  <a:close/>
                </a:path>
              </a:pathLst>
            </a:custGeom>
            <a:blipFill>
              <a:blip r:embed="rId5"/>
              <a:stretch>
                <a:fillRect l="-32772" r="-32771" b="-1"/>
              </a:stretch>
            </a:blipFill>
          </p:spPr>
        </p:sp>
      </p:grpSp>
      <p:sp>
        <p:nvSpPr>
          <p:cNvPr id="23" name="Freeform 37">
            <a:extLst>
              <a:ext uri="{FF2B5EF4-FFF2-40B4-BE49-F238E27FC236}">
                <a16:creationId xmlns:a16="http://schemas.microsoft.com/office/drawing/2014/main" id="{9697CFD7-210F-42BF-BF1F-A778D93ACAC3}"/>
              </a:ext>
            </a:extLst>
          </p:cNvPr>
          <p:cNvSpPr/>
          <p:nvPr/>
        </p:nvSpPr>
        <p:spPr>
          <a:xfrm>
            <a:off x="1987224" y="6751338"/>
            <a:ext cx="5997471" cy="1308098"/>
          </a:xfrm>
          <a:custGeom>
            <a:avLst/>
            <a:gdLst/>
            <a:ahLst/>
            <a:cxnLst/>
            <a:rect l="l" t="t" r="r" b="b"/>
            <a:pathLst>
              <a:path w="7996628" h="1744131">
                <a:moveTo>
                  <a:pt x="0" y="0"/>
                </a:moveTo>
                <a:lnTo>
                  <a:pt x="7996628" y="0"/>
                </a:lnTo>
                <a:lnTo>
                  <a:pt x="7996628" y="1744131"/>
                </a:lnTo>
                <a:lnTo>
                  <a:pt x="0" y="1744131"/>
                </a:lnTo>
                <a:close/>
              </a:path>
            </a:pathLst>
          </a:custGeom>
          <a:solidFill>
            <a:srgbClr val="000000">
              <a:alpha val="0"/>
            </a:srgbClr>
          </a:solidFill>
        </p:spPr>
      </p:sp>
    </p:spTree>
    <p:extLst>
      <p:ext uri="{BB962C8B-B14F-4D97-AF65-F5344CB8AC3E}">
        <p14:creationId xmlns:p14="http://schemas.microsoft.com/office/powerpoint/2010/main" val="5954994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F8F538D-149D-C9B5-6C3B-89FD836724F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D7E2A16-805F-8C64-5BC2-8F93CA3B1F2A}"/>
              </a:ext>
            </a:extLst>
          </p:cNvPr>
          <p:cNvSpPr/>
          <p:nvPr/>
        </p:nvSpPr>
        <p:spPr>
          <a:xfrm>
            <a:off x="0" y="0"/>
            <a:ext cx="12192000" cy="132611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66450F2-CF7E-1FE1-30EE-D60D867CF5AC}"/>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D93381EF-E66D-E27A-96B7-92D8E9E855B4}"/>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Monday, January 5, 2026</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C28CB633-F1B1-5AA2-7616-AEF6E0DF8360}"/>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E79D2D25-2955-F5EC-C541-17FA71463E6B}"/>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9</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64D1B26-5C4F-78A5-0FA4-7C65A21418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43FC0F64-C578-9225-8FA3-BA41CCCC1B39}"/>
              </a:ext>
            </a:extLst>
          </p:cNvPr>
          <p:cNvSpPr/>
          <p:nvPr/>
        </p:nvSpPr>
        <p:spPr>
          <a:xfrm>
            <a:off x="-1" y="1314639"/>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D530E3B7-B626-CE1E-83DC-D03F1E27D7F3}"/>
              </a:ext>
            </a:extLst>
          </p:cNvPr>
          <p:cNvSpPr>
            <a:spLocks noGrp="1"/>
          </p:cNvSpPr>
          <p:nvPr>
            <p:ph type="ctrTitle"/>
          </p:nvPr>
        </p:nvSpPr>
        <p:spPr>
          <a:xfrm>
            <a:off x="1273976" y="457199"/>
            <a:ext cx="10161104" cy="619813"/>
          </a:xfrm>
          <a:effectLst>
            <a:outerShdw blurRad="63500" sx="102000" sy="102000" algn="ctr" rotWithShape="0">
              <a:prstClr val="black">
                <a:alpha val="40000"/>
              </a:prstClr>
            </a:outerShdw>
          </a:effectLst>
        </p:spPr>
        <p:txBody>
          <a:bodyPr>
            <a:noAutofit/>
          </a:bodyPr>
          <a:lstStyle/>
          <a:p>
            <a:pPr algn="l">
              <a:lnSpc>
                <a:spcPts val="7539"/>
              </a:lnSpc>
            </a:pPr>
            <a:r>
              <a:rPr lang="en-US" sz="3200" b="1" dirty="0">
                <a:solidFill>
                  <a:srgbClr val="134E1A"/>
                </a:solidFill>
                <a:latin typeface="Akzidenz-Grotesk Bold"/>
                <a:ea typeface="Akzidenz-Grotesk Bold"/>
                <a:cs typeface="Akzidenz-Grotesk Bold"/>
                <a:sym typeface="Akzidenz-Grotesk Bold"/>
              </a:rPr>
              <a:t> </a:t>
            </a:r>
            <a:r>
              <a:rPr lang="en-US" sz="3200" b="1" dirty="0">
                <a:latin typeface="Times New Roman" panose="02020603050405020304" pitchFamily="18" charset="0"/>
                <a:ea typeface="Akzidenz-Grotesk Bold"/>
                <a:cs typeface="Times New Roman" panose="02020603050405020304" pitchFamily="18" charset="0"/>
                <a:sym typeface="Akzidenz-Grotesk Bold"/>
              </a:rPr>
              <a:t>Proposed Methodology</a:t>
            </a:r>
          </a:p>
        </p:txBody>
      </p:sp>
      <p:sp>
        <p:nvSpPr>
          <p:cNvPr id="23" name="Freeform 37">
            <a:extLst>
              <a:ext uri="{FF2B5EF4-FFF2-40B4-BE49-F238E27FC236}">
                <a16:creationId xmlns:a16="http://schemas.microsoft.com/office/drawing/2014/main" id="{9697CFD7-210F-42BF-BF1F-A778D93ACAC3}"/>
              </a:ext>
            </a:extLst>
          </p:cNvPr>
          <p:cNvSpPr/>
          <p:nvPr/>
        </p:nvSpPr>
        <p:spPr>
          <a:xfrm>
            <a:off x="1987224" y="6751338"/>
            <a:ext cx="5997471" cy="1308098"/>
          </a:xfrm>
          <a:custGeom>
            <a:avLst/>
            <a:gdLst/>
            <a:ahLst/>
            <a:cxnLst/>
            <a:rect l="l" t="t" r="r" b="b"/>
            <a:pathLst>
              <a:path w="7996628" h="1744131">
                <a:moveTo>
                  <a:pt x="0" y="0"/>
                </a:moveTo>
                <a:lnTo>
                  <a:pt x="7996628" y="0"/>
                </a:lnTo>
                <a:lnTo>
                  <a:pt x="7996628" y="1744131"/>
                </a:lnTo>
                <a:lnTo>
                  <a:pt x="0" y="1744131"/>
                </a:lnTo>
                <a:close/>
              </a:path>
            </a:pathLst>
          </a:custGeom>
          <a:solidFill>
            <a:srgbClr val="000000">
              <a:alpha val="0"/>
            </a:srgbClr>
          </a:solidFill>
        </p:spPr>
      </p:sp>
      <p:sp>
        <p:nvSpPr>
          <p:cNvPr id="22" name="TextBox 18">
            <a:extLst>
              <a:ext uri="{FF2B5EF4-FFF2-40B4-BE49-F238E27FC236}">
                <a16:creationId xmlns:a16="http://schemas.microsoft.com/office/drawing/2014/main" id="{E63716E3-4BCA-4AD3-AC48-6E5DF719CF2E}"/>
              </a:ext>
            </a:extLst>
          </p:cNvPr>
          <p:cNvSpPr txBox="1"/>
          <p:nvPr/>
        </p:nvSpPr>
        <p:spPr>
          <a:xfrm>
            <a:off x="1484592" y="1397809"/>
            <a:ext cx="7056842" cy="3967039"/>
          </a:xfrm>
          <a:prstGeom prst="rect">
            <a:avLst/>
          </a:prstGeom>
        </p:spPr>
        <p:txBody>
          <a:bodyPr lIns="0" tIns="0" rIns="0" bIns="0" rtlCol="0" anchor="t"/>
          <a:lstStyle/>
          <a:p>
            <a:pPr algn="just">
              <a:lnSpc>
                <a:spcPts val="3220"/>
              </a:lnSpc>
            </a:pPr>
            <a:r>
              <a:rPr lang="en-US" dirty="0">
                <a:latin typeface="Times New Roman" panose="02020603050405020304" pitchFamily="18" charset="0"/>
                <a:ea typeface="Aileron Bold"/>
                <a:cs typeface="Times New Roman" panose="02020603050405020304" pitchFamily="18" charset="0"/>
                <a:sym typeface="Aileron Bold"/>
              </a:rPr>
              <a:t>Research: Surveys and analysis of existing platforms.</a:t>
            </a:r>
          </a:p>
          <a:p>
            <a:pPr algn="just">
              <a:lnSpc>
                <a:spcPts val="3220"/>
              </a:lnSpc>
            </a:pPr>
            <a:r>
              <a:rPr lang="en-US" dirty="0">
                <a:latin typeface="Times New Roman" panose="02020603050405020304" pitchFamily="18" charset="0"/>
                <a:ea typeface="Aileron Bold"/>
                <a:cs typeface="Times New Roman" panose="02020603050405020304" pitchFamily="18" charset="0"/>
                <a:sym typeface="Aileron Bold"/>
              </a:rPr>
              <a:t>Design: Wireframes, prototypes, and Firebase database structure.</a:t>
            </a:r>
          </a:p>
          <a:p>
            <a:pPr algn="just">
              <a:lnSpc>
                <a:spcPts val="3500"/>
              </a:lnSpc>
            </a:pPr>
            <a:r>
              <a:rPr lang="en-US" dirty="0">
                <a:latin typeface="Times New Roman" panose="02020603050405020304" pitchFamily="18" charset="0"/>
                <a:ea typeface="Aileron Bold"/>
                <a:cs typeface="Times New Roman" panose="02020603050405020304" pitchFamily="18" charset="0"/>
                <a:sym typeface="Aileron Bold"/>
              </a:rPr>
              <a:t>Development:</a:t>
            </a:r>
          </a:p>
          <a:p>
            <a:pPr marL="285750" indent="-285750" algn="just">
              <a:lnSpc>
                <a:spcPts val="3500"/>
              </a:lnSpc>
              <a:buFont typeface="Wingdings" panose="05000000000000000000" pitchFamily="2" charset="2"/>
              <a:buChar char="Ø"/>
            </a:pPr>
            <a:r>
              <a:rPr lang="en-US" dirty="0">
                <a:latin typeface="Times New Roman" panose="02020603050405020304" pitchFamily="18" charset="0"/>
                <a:ea typeface="Aileron Bold"/>
                <a:cs typeface="Times New Roman" panose="02020603050405020304" pitchFamily="18" charset="0"/>
                <a:sym typeface="Aileron Bold"/>
              </a:rPr>
              <a:t>Front-end:  Android Studio (Java).</a:t>
            </a:r>
          </a:p>
          <a:p>
            <a:pPr marL="285750" indent="-285750" algn="just">
              <a:lnSpc>
                <a:spcPts val="3500"/>
              </a:lnSpc>
              <a:buFont typeface="Wingdings" panose="05000000000000000000" pitchFamily="2" charset="2"/>
              <a:buChar char="Ø"/>
            </a:pPr>
            <a:r>
              <a:rPr lang="en-US" dirty="0">
                <a:latin typeface="Times New Roman" panose="02020603050405020304" pitchFamily="18" charset="0"/>
                <a:ea typeface="Aileron Bold"/>
                <a:cs typeface="Times New Roman" panose="02020603050405020304" pitchFamily="18" charset="0"/>
                <a:sym typeface="Aileron Bold"/>
              </a:rPr>
              <a:t>Back-end:  Firebase + Google Maps </a:t>
            </a:r>
          </a:p>
          <a:p>
            <a:pPr marL="285750" indent="-285750" algn="just">
              <a:lnSpc>
                <a:spcPts val="3500"/>
              </a:lnSpc>
              <a:buFont typeface="Wingdings" panose="05000000000000000000" pitchFamily="2" charset="2"/>
              <a:buChar char="Ø"/>
            </a:pPr>
            <a:r>
              <a:rPr lang="en-US" dirty="0">
                <a:latin typeface="Times New Roman" panose="02020603050405020304" pitchFamily="18" charset="0"/>
                <a:ea typeface="Aileron Bold"/>
                <a:cs typeface="Times New Roman" panose="02020603050405020304" pitchFamily="18" charset="0"/>
                <a:sym typeface="Aileron Bold"/>
              </a:rPr>
              <a:t>API for location tracking</a:t>
            </a:r>
          </a:p>
          <a:p>
            <a:pPr algn="just">
              <a:lnSpc>
                <a:spcPts val="3500"/>
              </a:lnSpc>
            </a:pPr>
            <a:r>
              <a:rPr lang="en-US" dirty="0">
                <a:latin typeface="Times New Roman" panose="02020603050405020304" pitchFamily="18" charset="0"/>
                <a:ea typeface="Aileron Bold"/>
                <a:cs typeface="Times New Roman" panose="02020603050405020304" pitchFamily="18" charset="0"/>
                <a:sym typeface="Aileron Bold"/>
              </a:rPr>
              <a:t>Testing: Each unit, integration, and user acceptance testing.</a:t>
            </a:r>
          </a:p>
          <a:p>
            <a:pPr algn="just">
              <a:lnSpc>
                <a:spcPts val="3500"/>
              </a:lnSpc>
            </a:pPr>
            <a:r>
              <a:rPr lang="en-US" dirty="0">
                <a:latin typeface="Times New Roman" panose="02020603050405020304" pitchFamily="18" charset="0"/>
                <a:ea typeface="Aileron Bold"/>
                <a:cs typeface="Times New Roman" panose="02020603050405020304" pitchFamily="18" charset="0"/>
                <a:sym typeface="Aileron Bold"/>
              </a:rPr>
              <a:t>Launch &amp; Marketing: Release on Google Play Store with regular updates</a:t>
            </a:r>
          </a:p>
          <a:p>
            <a:pPr algn="just">
              <a:lnSpc>
                <a:spcPts val="3500"/>
              </a:lnSpc>
            </a:pPr>
            <a:endParaRPr lang="en-US" dirty="0">
              <a:latin typeface="Times New Roman" panose="02020603050405020304" pitchFamily="18" charset="0"/>
              <a:ea typeface="Aileron Bold"/>
              <a:cs typeface="Times New Roman" panose="02020603050405020304" pitchFamily="18" charset="0"/>
              <a:sym typeface="Aileron Bold"/>
            </a:endParaRPr>
          </a:p>
          <a:p>
            <a:pPr algn="just">
              <a:lnSpc>
                <a:spcPts val="3220"/>
              </a:lnSpc>
            </a:pPr>
            <a:endParaRPr lang="en-US" sz="2300" b="1" dirty="0">
              <a:solidFill>
                <a:srgbClr val="134E1A"/>
              </a:solidFill>
              <a:latin typeface="Aileron Bold"/>
              <a:ea typeface="Aileron Bold"/>
              <a:cs typeface="Aileron Bold"/>
              <a:sym typeface="Aileron Bold"/>
            </a:endParaRPr>
          </a:p>
        </p:txBody>
      </p:sp>
      <p:pic>
        <p:nvPicPr>
          <p:cNvPr id="8" name="Picture 7">
            <a:extLst>
              <a:ext uri="{FF2B5EF4-FFF2-40B4-BE49-F238E27FC236}">
                <a16:creationId xmlns:a16="http://schemas.microsoft.com/office/drawing/2014/main" id="{8D0548BA-0B35-4A0A-A185-0720B369CC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42387" y="2935689"/>
            <a:ext cx="2149108" cy="1611831"/>
          </a:xfrm>
          <a:prstGeom prst="rect">
            <a:avLst/>
          </a:prstGeom>
        </p:spPr>
      </p:pic>
      <p:pic>
        <p:nvPicPr>
          <p:cNvPr id="12" name="Picture 11">
            <a:extLst>
              <a:ext uri="{FF2B5EF4-FFF2-40B4-BE49-F238E27FC236}">
                <a16:creationId xmlns:a16="http://schemas.microsoft.com/office/drawing/2014/main" id="{9847BA09-D911-4C6C-B6A2-5D8002EB61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41434" y="3543086"/>
            <a:ext cx="3247905" cy="2165270"/>
          </a:xfrm>
          <a:prstGeom prst="rect">
            <a:avLst/>
          </a:prstGeom>
        </p:spPr>
      </p:pic>
      <p:pic>
        <p:nvPicPr>
          <p:cNvPr id="24" name="Picture 23">
            <a:extLst>
              <a:ext uri="{FF2B5EF4-FFF2-40B4-BE49-F238E27FC236}">
                <a16:creationId xmlns:a16="http://schemas.microsoft.com/office/drawing/2014/main" id="{BA1F2086-2AB4-47F0-8884-4F2EBEBE046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6678" y="1783316"/>
            <a:ext cx="1452880" cy="1452880"/>
          </a:xfrm>
          <a:prstGeom prst="rect">
            <a:avLst/>
          </a:prstGeom>
        </p:spPr>
      </p:pic>
      <p:pic>
        <p:nvPicPr>
          <p:cNvPr id="26" name="Picture 25">
            <a:extLst>
              <a:ext uri="{FF2B5EF4-FFF2-40B4-BE49-F238E27FC236}">
                <a16:creationId xmlns:a16="http://schemas.microsoft.com/office/drawing/2014/main" id="{596EA171-B463-404C-BEB6-F9DE58BBEEE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88048" y="2277675"/>
            <a:ext cx="1912828" cy="1912828"/>
          </a:xfrm>
          <a:prstGeom prst="rect">
            <a:avLst/>
          </a:prstGeom>
        </p:spPr>
      </p:pic>
      <p:grpSp>
        <p:nvGrpSpPr>
          <p:cNvPr id="27" name="Group 7">
            <a:extLst>
              <a:ext uri="{FF2B5EF4-FFF2-40B4-BE49-F238E27FC236}">
                <a16:creationId xmlns:a16="http://schemas.microsoft.com/office/drawing/2014/main" id="{C22A5F52-0121-4191-8C29-F5C3CF76B0C7}"/>
              </a:ext>
            </a:extLst>
          </p:cNvPr>
          <p:cNvGrpSpPr/>
          <p:nvPr/>
        </p:nvGrpSpPr>
        <p:grpSpPr>
          <a:xfrm rot="-80125">
            <a:off x="9005915" y="1873730"/>
            <a:ext cx="1439830" cy="1130049"/>
            <a:chOff x="1853333" y="-1809311"/>
            <a:chExt cx="2339556" cy="1460704"/>
          </a:xfrm>
        </p:grpSpPr>
        <p:sp>
          <p:nvSpPr>
            <p:cNvPr id="28" name="Freeform 8">
              <a:extLst>
                <a:ext uri="{FF2B5EF4-FFF2-40B4-BE49-F238E27FC236}">
                  <a16:creationId xmlns:a16="http://schemas.microsoft.com/office/drawing/2014/main" id="{378C378E-A2C7-41D5-9844-69C1CEAAC4E9}"/>
                </a:ext>
              </a:extLst>
            </p:cNvPr>
            <p:cNvSpPr/>
            <p:nvPr/>
          </p:nvSpPr>
          <p:spPr>
            <a:xfrm>
              <a:off x="1853333" y="-1809311"/>
              <a:ext cx="2339556" cy="1460704"/>
            </a:xfrm>
            <a:custGeom>
              <a:avLst/>
              <a:gdLst/>
              <a:ahLst/>
              <a:cxnLst/>
              <a:rect l="l" t="t" r="r" b="b"/>
              <a:pathLst>
                <a:path w="3780409" h="3780409">
                  <a:moveTo>
                    <a:pt x="0" y="0"/>
                  </a:moveTo>
                  <a:lnTo>
                    <a:pt x="3780409" y="0"/>
                  </a:lnTo>
                  <a:lnTo>
                    <a:pt x="3780409" y="3780409"/>
                  </a:lnTo>
                  <a:lnTo>
                    <a:pt x="0" y="3780409"/>
                  </a:lnTo>
                  <a:lnTo>
                    <a:pt x="0" y="0"/>
                  </a:lnTo>
                  <a:close/>
                </a:path>
              </a:pathLst>
            </a:custGeom>
            <a:blipFill>
              <a:blip r:embed="rId7"/>
              <a:stretch>
                <a:fillRect r="1" b="1"/>
              </a:stretch>
            </a:blipFill>
          </p:spPr>
        </p:sp>
      </p:grpSp>
    </p:spTree>
    <p:extLst>
      <p:ext uri="{BB962C8B-B14F-4D97-AF65-F5344CB8AC3E}">
        <p14:creationId xmlns:p14="http://schemas.microsoft.com/office/powerpoint/2010/main" val="26262072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F8F538D-149D-C9B5-6C3B-89FD836724F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D7E2A16-805F-8C64-5BC2-8F93CA3B1F2A}"/>
              </a:ext>
            </a:extLst>
          </p:cNvPr>
          <p:cNvSpPr/>
          <p:nvPr/>
        </p:nvSpPr>
        <p:spPr>
          <a:xfrm>
            <a:off x="0" y="0"/>
            <a:ext cx="12192000" cy="132611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66450F2-CF7E-1FE1-30EE-D60D867CF5AC}"/>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D93381EF-E66D-E27A-96B7-92D8E9E855B4}"/>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Monday, January 5, 2026</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C28CB633-F1B1-5AA2-7616-AEF6E0DF8360}"/>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E79D2D25-2955-F5EC-C541-17FA71463E6B}"/>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10</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64D1B26-5C4F-78A5-0FA4-7C65A21418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43FC0F64-C578-9225-8FA3-BA41CCCC1B39}"/>
              </a:ext>
            </a:extLst>
          </p:cNvPr>
          <p:cNvSpPr/>
          <p:nvPr/>
        </p:nvSpPr>
        <p:spPr>
          <a:xfrm>
            <a:off x="-1" y="1314639"/>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D530E3B7-B626-CE1E-83DC-D03F1E27D7F3}"/>
              </a:ext>
            </a:extLst>
          </p:cNvPr>
          <p:cNvSpPr>
            <a:spLocks noGrp="1"/>
          </p:cNvSpPr>
          <p:nvPr>
            <p:ph type="ctrTitle"/>
          </p:nvPr>
        </p:nvSpPr>
        <p:spPr>
          <a:xfrm>
            <a:off x="1273976" y="457199"/>
            <a:ext cx="10161104" cy="619813"/>
          </a:xfrm>
          <a:effectLst>
            <a:outerShdw blurRad="63500" sx="102000" sy="102000" algn="ctr" rotWithShape="0">
              <a:prstClr val="black">
                <a:alpha val="40000"/>
              </a:prstClr>
            </a:outerShdw>
          </a:effectLst>
        </p:spPr>
        <p:txBody>
          <a:bodyPr>
            <a:noAutofit/>
          </a:bodyPr>
          <a:lstStyle/>
          <a:p>
            <a:pPr algn="l">
              <a:lnSpc>
                <a:spcPts val="7539"/>
              </a:lnSpc>
            </a:pPr>
            <a:r>
              <a:rPr lang="en-US" sz="3200" b="1" dirty="0">
                <a:solidFill>
                  <a:srgbClr val="134E1A"/>
                </a:solidFill>
                <a:latin typeface="Akzidenz-Grotesk Bold"/>
                <a:ea typeface="Akzidenz-Grotesk Bold"/>
                <a:cs typeface="Akzidenz-Grotesk Bold"/>
                <a:sym typeface="Akzidenz-Grotesk Bold"/>
              </a:rPr>
              <a:t> </a:t>
            </a:r>
            <a:r>
              <a:rPr lang="en-US" sz="3200" b="1" dirty="0">
                <a:latin typeface="Times New Roman" panose="02020603050405020304" pitchFamily="18" charset="0"/>
                <a:ea typeface="Akzidenz-Grotesk Bold"/>
                <a:cs typeface="Times New Roman" panose="02020603050405020304" pitchFamily="18" charset="0"/>
                <a:sym typeface="Akzidenz-Grotesk Bold"/>
              </a:rPr>
              <a:t>Key Features</a:t>
            </a:r>
          </a:p>
        </p:txBody>
      </p:sp>
      <p:sp>
        <p:nvSpPr>
          <p:cNvPr id="23" name="Freeform 37">
            <a:extLst>
              <a:ext uri="{FF2B5EF4-FFF2-40B4-BE49-F238E27FC236}">
                <a16:creationId xmlns:a16="http://schemas.microsoft.com/office/drawing/2014/main" id="{9697CFD7-210F-42BF-BF1F-A778D93ACAC3}"/>
              </a:ext>
            </a:extLst>
          </p:cNvPr>
          <p:cNvSpPr/>
          <p:nvPr/>
        </p:nvSpPr>
        <p:spPr>
          <a:xfrm>
            <a:off x="1987224" y="6751338"/>
            <a:ext cx="5997471" cy="1308098"/>
          </a:xfrm>
          <a:custGeom>
            <a:avLst/>
            <a:gdLst/>
            <a:ahLst/>
            <a:cxnLst/>
            <a:rect l="l" t="t" r="r" b="b"/>
            <a:pathLst>
              <a:path w="7996628" h="1744131">
                <a:moveTo>
                  <a:pt x="0" y="0"/>
                </a:moveTo>
                <a:lnTo>
                  <a:pt x="7996628" y="0"/>
                </a:lnTo>
                <a:lnTo>
                  <a:pt x="7996628" y="1744131"/>
                </a:lnTo>
                <a:lnTo>
                  <a:pt x="0" y="1744131"/>
                </a:lnTo>
                <a:close/>
              </a:path>
            </a:pathLst>
          </a:custGeom>
          <a:solidFill>
            <a:srgbClr val="000000">
              <a:alpha val="0"/>
            </a:srgbClr>
          </a:solidFill>
        </p:spPr>
      </p:sp>
      <p:sp>
        <p:nvSpPr>
          <p:cNvPr id="22" name="TextBox 18">
            <a:extLst>
              <a:ext uri="{FF2B5EF4-FFF2-40B4-BE49-F238E27FC236}">
                <a16:creationId xmlns:a16="http://schemas.microsoft.com/office/drawing/2014/main" id="{E63716E3-4BCA-4AD3-AC48-6E5DF719CF2E}"/>
              </a:ext>
            </a:extLst>
          </p:cNvPr>
          <p:cNvSpPr txBox="1"/>
          <p:nvPr/>
        </p:nvSpPr>
        <p:spPr>
          <a:xfrm>
            <a:off x="1498886" y="1974997"/>
            <a:ext cx="5310103" cy="2415594"/>
          </a:xfrm>
          <a:prstGeom prst="rect">
            <a:avLst/>
          </a:prstGeom>
        </p:spPr>
        <p:txBody>
          <a:bodyPr lIns="0" tIns="0" rIns="0" bIns="0" rtlCol="0" anchor="t"/>
          <a:lstStyle/>
          <a:p>
            <a:pPr algn="just">
              <a:lnSpc>
                <a:spcPts val="3500"/>
              </a:lnSpc>
            </a:pPr>
            <a:r>
              <a:rPr lang="en-US" dirty="0">
                <a:latin typeface="Times New Roman" panose="02020603050405020304" pitchFamily="18" charset="0"/>
                <a:ea typeface="Aileron Bold"/>
                <a:cs typeface="Times New Roman" panose="02020603050405020304" pitchFamily="18" charset="0"/>
                <a:sym typeface="Aileron Bold"/>
              </a:rPr>
              <a:t>For  Users</a:t>
            </a:r>
          </a:p>
          <a:p>
            <a:pPr marL="285750" indent="-285750" algn="just">
              <a:lnSpc>
                <a:spcPts val="3500"/>
              </a:lnSpc>
              <a:buFont typeface="Wingdings" panose="05000000000000000000" pitchFamily="2" charset="2"/>
              <a:buChar char="Ø"/>
            </a:pPr>
            <a:r>
              <a:rPr lang="en-US" dirty="0">
                <a:latin typeface="Times New Roman" panose="02020603050405020304" pitchFamily="18" charset="0"/>
                <a:ea typeface="Aileron Bold"/>
                <a:cs typeface="Times New Roman" panose="02020603050405020304" pitchFamily="18" charset="0"/>
                <a:sym typeface="Aileron Bold"/>
              </a:rPr>
              <a:t>Location-Based Search – Find nearby professionals.</a:t>
            </a:r>
          </a:p>
          <a:p>
            <a:pPr marL="285750" indent="-285750" algn="just">
              <a:lnSpc>
                <a:spcPts val="3500"/>
              </a:lnSpc>
              <a:buFont typeface="Wingdings" panose="05000000000000000000" pitchFamily="2" charset="2"/>
              <a:buChar char="Ø"/>
            </a:pPr>
            <a:r>
              <a:rPr lang="en-US" dirty="0">
                <a:latin typeface="Times New Roman" panose="02020603050405020304" pitchFamily="18" charset="0"/>
                <a:ea typeface="Aileron Bold"/>
                <a:cs typeface="Times New Roman" panose="02020603050405020304" pitchFamily="18" charset="0"/>
                <a:sym typeface="Aileron Bold"/>
              </a:rPr>
              <a:t>Instant Booking – Schedule appointments in real-time.</a:t>
            </a:r>
          </a:p>
          <a:p>
            <a:pPr marL="285750" indent="-285750" algn="just">
              <a:lnSpc>
                <a:spcPts val="3500"/>
              </a:lnSpc>
              <a:buFont typeface="Wingdings" panose="05000000000000000000" pitchFamily="2" charset="2"/>
              <a:buChar char="Ø"/>
            </a:pPr>
            <a:r>
              <a:rPr lang="en-US" dirty="0">
                <a:latin typeface="Times New Roman" panose="02020603050405020304" pitchFamily="18" charset="0"/>
                <a:ea typeface="Aileron Bold"/>
                <a:cs typeface="Times New Roman" panose="02020603050405020304" pitchFamily="18" charset="0"/>
                <a:sym typeface="Aileron Bold"/>
              </a:rPr>
              <a:t>Ratings &amp; Reviews – Make informed decisions</a:t>
            </a:r>
            <a:r>
              <a:rPr lang="en-US" b="1" dirty="0">
                <a:solidFill>
                  <a:srgbClr val="134E1A"/>
                </a:solidFill>
                <a:latin typeface="Aileron Bold"/>
                <a:ea typeface="Aileron Bold"/>
                <a:cs typeface="Aileron Bold"/>
                <a:sym typeface="Aileron Bold"/>
              </a:rPr>
              <a:t>.</a:t>
            </a:r>
          </a:p>
          <a:p>
            <a:pPr marL="285750" indent="-285750" algn="just">
              <a:lnSpc>
                <a:spcPts val="3500"/>
              </a:lnSpc>
              <a:buFont typeface="Wingdings" panose="05000000000000000000" pitchFamily="2" charset="2"/>
              <a:buChar char="Ø"/>
            </a:pPr>
            <a:r>
              <a:rPr lang="en-US" dirty="0">
                <a:latin typeface="Times New Roman" panose="02020603050405020304" pitchFamily="18" charset="0"/>
                <a:ea typeface="Aileron Bold"/>
                <a:cs typeface="Times New Roman" panose="02020603050405020304" pitchFamily="18" charset="0"/>
                <a:sym typeface="Aileron Bold"/>
              </a:rPr>
              <a:t>In-App Chat/Call – Direct communication.</a:t>
            </a:r>
          </a:p>
          <a:p>
            <a:pPr algn="just">
              <a:lnSpc>
                <a:spcPts val="3500"/>
              </a:lnSpc>
            </a:pPr>
            <a:endParaRPr lang="en-US" dirty="0">
              <a:latin typeface="Times New Roman" panose="02020603050405020304" pitchFamily="18" charset="0"/>
              <a:ea typeface="Aileron Bold"/>
              <a:cs typeface="Times New Roman" panose="02020603050405020304" pitchFamily="18" charset="0"/>
              <a:sym typeface="Aileron Bold"/>
            </a:endParaRPr>
          </a:p>
        </p:txBody>
      </p:sp>
      <p:sp>
        <p:nvSpPr>
          <p:cNvPr id="16" name="TextBox 18">
            <a:extLst>
              <a:ext uri="{FF2B5EF4-FFF2-40B4-BE49-F238E27FC236}">
                <a16:creationId xmlns:a16="http://schemas.microsoft.com/office/drawing/2014/main" id="{A7456489-1936-467A-ACCE-C0439EE90776}"/>
              </a:ext>
            </a:extLst>
          </p:cNvPr>
          <p:cNvSpPr txBox="1"/>
          <p:nvPr/>
        </p:nvSpPr>
        <p:spPr>
          <a:xfrm>
            <a:off x="7036641" y="1963244"/>
            <a:ext cx="5310103" cy="1884347"/>
          </a:xfrm>
          <a:prstGeom prst="rect">
            <a:avLst/>
          </a:prstGeom>
        </p:spPr>
        <p:txBody>
          <a:bodyPr lIns="0" tIns="0" rIns="0" bIns="0" rtlCol="0" anchor="t"/>
          <a:lstStyle/>
          <a:p>
            <a:pPr algn="just">
              <a:lnSpc>
                <a:spcPts val="3500"/>
              </a:lnSpc>
            </a:pPr>
            <a:r>
              <a:rPr lang="en-US" dirty="0">
                <a:latin typeface="Times New Roman" panose="02020603050405020304" pitchFamily="18" charset="0"/>
                <a:ea typeface="Aileron Bold"/>
                <a:cs typeface="Times New Roman" panose="02020603050405020304" pitchFamily="18" charset="0"/>
                <a:sym typeface="Aileron Bold"/>
              </a:rPr>
              <a:t>For Professionals</a:t>
            </a:r>
          </a:p>
          <a:p>
            <a:pPr marL="285750" indent="-285750">
              <a:lnSpc>
                <a:spcPts val="3500"/>
              </a:lnSpc>
              <a:buFont typeface="Wingdings" panose="05000000000000000000" pitchFamily="2" charset="2"/>
              <a:buChar char="Ø"/>
            </a:pPr>
            <a:r>
              <a:rPr lang="en-US" dirty="0">
                <a:latin typeface="Times New Roman" panose="02020603050405020304" pitchFamily="18" charset="0"/>
                <a:ea typeface="Aileron Bold"/>
                <a:cs typeface="Times New Roman" panose="02020603050405020304" pitchFamily="18" charset="0"/>
                <a:sym typeface="Aileron Bold"/>
              </a:rPr>
              <a:t>Profile Management – Showcase skills, experience, and pricing.</a:t>
            </a:r>
          </a:p>
          <a:p>
            <a:pPr marL="285750" indent="-285750" algn="just">
              <a:lnSpc>
                <a:spcPts val="3500"/>
              </a:lnSpc>
              <a:buFont typeface="Wingdings" panose="05000000000000000000" pitchFamily="2" charset="2"/>
              <a:buChar char="Ø"/>
            </a:pPr>
            <a:r>
              <a:rPr lang="en-US" dirty="0">
                <a:latin typeface="Times New Roman" panose="02020603050405020304" pitchFamily="18" charset="0"/>
                <a:ea typeface="Aileron Bold"/>
                <a:cs typeface="Times New Roman" panose="02020603050405020304" pitchFamily="18" charset="0"/>
                <a:sym typeface="Aileron Bold"/>
              </a:rPr>
              <a:t>Job Notifications – Get alerts for new requests.</a:t>
            </a:r>
          </a:p>
        </p:txBody>
      </p:sp>
    </p:spTree>
    <p:extLst>
      <p:ext uri="{BB962C8B-B14F-4D97-AF65-F5344CB8AC3E}">
        <p14:creationId xmlns:p14="http://schemas.microsoft.com/office/powerpoint/2010/main" val="22888736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F8F538D-149D-C9B5-6C3B-89FD836724F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D7E2A16-805F-8C64-5BC2-8F93CA3B1F2A}"/>
              </a:ext>
            </a:extLst>
          </p:cNvPr>
          <p:cNvSpPr/>
          <p:nvPr/>
        </p:nvSpPr>
        <p:spPr>
          <a:xfrm>
            <a:off x="0" y="0"/>
            <a:ext cx="12192000" cy="132611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66450F2-CF7E-1FE1-30EE-D60D867CF5AC}"/>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D93381EF-E66D-E27A-96B7-92D8E9E855B4}"/>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Monday, January 5, 2026</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C28CB633-F1B1-5AA2-7616-AEF6E0DF8360}"/>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E79D2D25-2955-F5EC-C541-17FA71463E6B}"/>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11</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64D1B26-5C4F-78A5-0FA4-7C65A21418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43FC0F64-C578-9225-8FA3-BA41CCCC1B39}"/>
              </a:ext>
            </a:extLst>
          </p:cNvPr>
          <p:cNvSpPr/>
          <p:nvPr/>
        </p:nvSpPr>
        <p:spPr>
          <a:xfrm>
            <a:off x="-1" y="1314639"/>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D530E3B7-B626-CE1E-83DC-D03F1E27D7F3}"/>
              </a:ext>
            </a:extLst>
          </p:cNvPr>
          <p:cNvSpPr>
            <a:spLocks noGrp="1"/>
          </p:cNvSpPr>
          <p:nvPr>
            <p:ph type="ctrTitle"/>
          </p:nvPr>
        </p:nvSpPr>
        <p:spPr>
          <a:xfrm>
            <a:off x="1273976" y="457199"/>
            <a:ext cx="10161104" cy="619813"/>
          </a:xfrm>
          <a:effectLst>
            <a:outerShdw blurRad="63500" sx="102000" sy="102000" algn="ctr" rotWithShape="0">
              <a:prstClr val="black">
                <a:alpha val="40000"/>
              </a:prstClr>
            </a:outerShdw>
          </a:effectLst>
        </p:spPr>
        <p:txBody>
          <a:bodyPr>
            <a:noAutofit/>
          </a:bodyPr>
          <a:lstStyle/>
          <a:p>
            <a:pPr algn="l">
              <a:lnSpc>
                <a:spcPts val="7539"/>
              </a:lnSpc>
            </a:pPr>
            <a:br>
              <a:rPr lang="en-US" sz="3200" b="1" dirty="0">
                <a:solidFill>
                  <a:srgbClr val="134E1A"/>
                </a:solidFill>
                <a:latin typeface="Akzidenz-Grotesk Bold"/>
                <a:ea typeface="Akzidenz-Grotesk Bold"/>
                <a:cs typeface="Akzidenz-Grotesk Bold"/>
                <a:sym typeface="Akzidenz-Grotesk Bold"/>
              </a:rPr>
            </a:br>
            <a:br>
              <a:rPr lang="en-US" sz="3200" b="1" dirty="0">
                <a:solidFill>
                  <a:srgbClr val="134E1A"/>
                </a:solidFill>
                <a:latin typeface="Akzidenz-Grotesk Bold"/>
                <a:ea typeface="Akzidenz-Grotesk Bold"/>
                <a:cs typeface="Akzidenz-Grotesk Bold"/>
                <a:sym typeface="Akzidenz-Grotesk Bold"/>
              </a:rPr>
            </a:br>
            <a:r>
              <a:rPr lang="en-US" sz="3200" b="1" dirty="0">
                <a:latin typeface="Times New Roman" panose="02020603050405020304" pitchFamily="18" charset="0"/>
                <a:ea typeface="Akzidenz-Grotesk Bold"/>
                <a:cs typeface="Times New Roman" panose="02020603050405020304" pitchFamily="18" charset="0"/>
                <a:sym typeface="Akzidenz-Grotesk Bold"/>
              </a:rPr>
              <a:t>Activity Diagram</a:t>
            </a:r>
          </a:p>
        </p:txBody>
      </p:sp>
      <p:sp>
        <p:nvSpPr>
          <p:cNvPr id="23" name="Freeform 37">
            <a:extLst>
              <a:ext uri="{FF2B5EF4-FFF2-40B4-BE49-F238E27FC236}">
                <a16:creationId xmlns:a16="http://schemas.microsoft.com/office/drawing/2014/main" id="{9697CFD7-210F-42BF-BF1F-A778D93ACAC3}"/>
              </a:ext>
            </a:extLst>
          </p:cNvPr>
          <p:cNvSpPr/>
          <p:nvPr/>
        </p:nvSpPr>
        <p:spPr>
          <a:xfrm>
            <a:off x="1987224" y="6751338"/>
            <a:ext cx="5997471" cy="1308098"/>
          </a:xfrm>
          <a:custGeom>
            <a:avLst/>
            <a:gdLst/>
            <a:ahLst/>
            <a:cxnLst/>
            <a:rect l="l" t="t" r="r" b="b"/>
            <a:pathLst>
              <a:path w="7996628" h="1744131">
                <a:moveTo>
                  <a:pt x="0" y="0"/>
                </a:moveTo>
                <a:lnTo>
                  <a:pt x="7996628" y="0"/>
                </a:lnTo>
                <a:lnTo>
                  <a:pt x="7996628" y="1744131"/>
                </a:lnTo>
                <a:lnTo>
                  <a:pt x="0" y="1744131"/>
                </a:lnTo>
                <a:close/>
              </a:path>
            </a:pathLst>
          </a:custGeom>
          <a:solidFill>
            <a:srgbClr val="000000">
              <a:alpha val="0"/>
            </a:srgbClr>
          </a:solidFill>
        </p:spPr>
      </p:sp>
      <p:pic>
        <p:nvPicPr>
          <p:cNvPr id="8" name="Picture 7">
            <a:extLst>
              <a:ext uri="{FF2B5EF4-FFF2-40B4-BE49-F238E27FC236}">
                <a16:creationId xmlns:a16="http://schemas.microsoft.com/office/drawing/2014/main" id="{61C0D60B-AD95-4B37-BBD6-64F6B867DB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2306" y="1323783"/>
            <a:ext cx="9847384" cy="4656163"/>
          </a:xfrm>
          <a:prstGeom prst="rect">
            <a:avLst/>
          </a:prstGeom>
        </p:spPr>
      </p:pic>
    </p:spTree>
    <p:extLst>
      <p:ext uri="{BB962C8B-B14F-4D97-AF65-F5344CB8AC3E}">
        <p14:creationId xmlns:p14="http://schemas.microsoft.com/office/powerpoint/2010/main" val="39058575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C9B9360-CC15-48FE-9500-453C4F9B5924}"/>
              </a:ext>
            </a:extLst>
          </p:cNvPr>
          <p:cNvSpPr>
            <a:spLocks noGrp="1"/>
          </p:cNvSpPr>
          <p:nvPr>
            <p:ph type="dt" sz="half" idx="10"/>
          </p:nvPr>
        </p:nvSpPr>
        <p:spPr/>
        <p:txBody>
          <a:bodyPr/>
          <a:lstStyle/>
          <a:p>
            <a:fld id="{BF5A2554-468B-44E7-959E-8F3376471EAD}" type="datetime2">
              <a:rPr lang="en-US" smtClean="0"/>
              <a:t>Monday, January 5, 2026</a:t>
            </a:fld>
            <a:endParaRPr lang="en-US"/>
          </a:p>
        </p:txBody>
      </p:sp>
      <p:sp>
        <p:nvSpPr>
          <p:cNvPr id="5" name="Footer Placeholder 4">
            <a:extLst>
              <a:ext uri="{FF2B5EF4-FFF2-40B4-BE49-F238E27FC236}">
                <a16:creationId xmlns:a16="http://schemas.microsoft.com/office/drawing/2014/main" id="{4575E253-2A02-4AC1-AF8B-1C834B4AED1B}"/>
              </a:ext>
            </a:extLst>
          </p:cNvPr>
          <p:cNvSpPr>
            <a:spLocks noGrp="1"/>
          </p:cNvSpPr>
          <p:nvPr>
            <p:ph type="ftr" sz="quarter" idx="11"/>
          </p:nvPr>
        </p:nvSpPr>
        <p:spPr/>
        <p:txBody>
          <a:bodyPr/>
          <a:lstStyle/>
          <a:p>
            <a:r>
              <a:rPr lang="en-US"/>
              <a:t>Department of Computer Science &amp; Engineering, PUB</a:t>
            </a:r>
          </a:p>
        </p:txBody>
      </p:sp>
      <p:sp>
        <p:nvSpPr>
          <p:cNvPr id="6" name="Slide Number Placeholder 5">
            <a:extLst>
              <a:ext uri="{FF2B5EF4-FFF2-40B4-BE49-F238E27FC236}">
                <a16:creationId xmlns:a16="http://schemas.microsoft.com/office/drawing/2014/main" id="{58C688FC-DA45-4B65-BE4F-96AC3B0CC3DC}"/>
              </a:ext>
            </a:extLst>
          </p:cNvPr>
          <p:cNvSpPr>
            <a:spLocks noGrp="1"/>
          </p:cNvSpPr>
          <p:nvPr>
            <p:ph type="sldNum" sz="quarter" idx="12"/>
          </p:nvPr>
        </p:nvSpPr>
        <p:spPr/>
        <p:txBody>
          <a:bodyPr/>
          <a:lstStyle/>
          <a:p>
            <a:fld id="{B4B5837F-C97E-4545-805A-A81BC2BC5EE4}" type="slidenum">
              <a:rPr lang="en-US" smtClean="0"/>
              <a:t>12</a:t>
            </a:fld>
            <a:endParaRPr lang="en-US"/>
          </a:p>
        </p:txBody>
      </p:sp>
      <p:sp>
        <p:nvSpPr>
          <p:cNvPr id="7" name="Rectangle 6">
            <a:extLst>
              <a:ext uri="{FF2B5EF4-FFF2-40B4-BE49-F238E27FC236}">
                <a16:creationId xmlns:a16="http://schemas.microsoft.com/office/drawing/2014/main" id="{D8EAD0F2-861C-4577-9714-03D1DB308845}"/>
              </a:ext>
            </a:extLst>
          </p:cNvPr>
          <p:cNvSpPr/>
          <p:nvPr/>
        </p:nvSpPr>
        <p:spPr>
          <a:xfrm>
            <a:off x="0" y="0"/>
            <a:ext cx="12192000" cy="132611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FF7BDC53-3124-4642-AFF9-6CF3C776C5B2}"/>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9" name="Date Placeholder 3">
            <a:extLst>
              <a:ext uri="{FF2B5EF4-FFF2-40B4-BE49-F238E27FC236}">
                <a16:creationId xmlns:a16="http://schemas.microsoft.com/office/drawing/2014/main" id="{AD39A4B0-8DA4-4823-B476-2D05ABDEF13C}"/>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pPr/>
              <a:t>Monday, January 5, 2026</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0" name="Footer Placeholder 4">
            <a:extLst>
              <a:ext uri="{FF2B5EF4-FFF2-40B4-BE49-F238E27FC236}">
                <a16:creationId xmlns:a16="http://schemas.microsoft.com/office/drawing/2014/main" id="{503C20A1-D68F-401E-9746-4AA65FFE9B22}"/>
              </a:ext>
            </a:extLst>
          </p:cNvPr>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latin typeface="Times New Roman" panose="02020603050405020304" pitchFamily="18" charset="0"/>
                <a:cs typeface="Times New Roman" panose="02020603050405020304" pitchFamily="18" charset="0"/>
              </a:rPr>
              <a:t>Department of Computer Science &amp; Engineering, PUB</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1" name="Slide Number Placeholder 5">
            <a:extLst>
              <a:ext uri="{FF2B5EF4-FFF2-40B4-BE49-F238E27FC236}">
                <a16:creationId xmlns:a16="http://schemas.microsoft.com/office/drawing/2014/main" id="{123C922E-3546-46FC-A7F7-7BE1F8125FA4}"/>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pPr/>
              <a:t>12</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A5439EE6-8672-40A0-9364-BB19BC612D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3" name="Rectangle 12">
            <a:extLst>
              <a:ext uri="{FF2B5EF4-FFF2-40B4-BE49-F238E27FC236}">
                <a16:creationId xmlns:a16="http://schemas.microsoft.com/office/drawing/2014/main" id="{F21643EE-42C4-477A-BCEA-8DAB2B630A4D}"/>
              </a:ext>
            </a:extLst>
          </p:cNvPr>
          <p:cNvSpPr/>
          <p:nvPr/>
        </p:nvSpPr>
        <p:spPr>
          <a:xfrm>
            <a:off x="-1" y="1314639"/>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4" name="Title 1">
            <a:extLst>
              <a:ext uri="{FF2B5EF4-FFF2-40B4-BE49-F238E27FC236}">
                <a16:creationId xmlns:a16="http://schemas.microsoft.com/office/drawing/2014/main" id="{5F5B1C98-1FE9-408F-8A3B-A96634A18404}"/>
              </a:ext>
            </a:extLst>
          </p:cNvPr>
          <p:cNvSpPr txBox="1">
            <a:spLocks/>
          </p:cNvSpPr>
          <p:nvPr/>
        </p:nvSpPr>
        <p:spPr>
          <a:xfrm>
            <a:off x="1273976" y="457199"/>
            <a:ext cx="10161104" cy="619813"/>
          </a:xfrm>
          <a:prstGeom prst="rect">
            <a:avLst/>
          </a:prstGeom>
          <a:effectLst>
            <a:outerShdw blurRad="63500" sx="102000" sy="102000" algn="ctr" rotWithShape="0">
              <a:prstClr val="black">
                <a:alpha val="40000"/>
              </a:prstClr>
            </a:outerShdw>
          </a:effec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3200" b="1" dirty="0">
                <a:latin typeface="Times New Roman" panose="02020603050405020304" pitchFamily="18" charset="0"/>
                <a:cs typeface="Times New Roman" panose="02020603050405020304" pitchFamily="18" charset="0"/>
              </a:rPr>
              <a:t>Use Case Diagram </a:t>
            </a:r>
            <a:endParaRPr lang="en-US" sz="3200" b="1" dirty="0">
              <a:latin typeface="Times New Roman" panose="02020603050405020304" pitchFamily="18" charset="0"/>
              <a:ea typeface="Akzidenz-Grotesk Bold"/>
              <a:cs typeface="Times New Roman" panose="02020603050405020304" pitchFamily="18" charset="0"/>
              <a:sym typeface="Akzidenz-Grotesk Bold"/>
            </a:endParaRPr>
          </a:p>
        </p:txBody>
      </p:sp>
      <p:sp>
        <p:nvSpPr>
          <p:cNvPr id="15" name="Freeform 37">
            <a:extLst>
              <a:ext uri="{FF2B5EF4-FFF2-40B4-BE49-F238E27FC236}">
                <a16:creationId xmlns:a16="http://schemas.microsoft.com/office/drawing/2014/main" id="{E6EB10DA-BBEC-494F-8BD8-C9506CF292EF}"/>
              </a:ext>
            </a:extLst>
          </p:cNvPr>
          <p:cNvSpPr/>
          <p:nvPr/>
        </p:nvSpPr>
        <p:spPr>
          <a:xfrm>
            <a:off x="1987224" y="6751338"/>
            <a:ext cx="5997471" cy="1308098"/>
          </a:xfrm>
          <a:custGeom>
            <a:avLst/>
            <a:gdLst/>
            <a:ahLst/>
            <a:cxnLst/>
            <a:rect l="l" t="t" r="r" b="b"/>
            <a:pathLst>
              <a:path w="7996628" h="1744131">
                <a:moveTo>
                  <a:pt x="0" y="0"/>
                </a:moveTo>
                <a:lnTo>
                  <a:pt x="7996628" y="0"/>
                </a:lnTo>
                <a:lnTo>
                  <a:pt x="7996628" y="1744131"/>
                </a:lnTo>
                <a:lnTo>
                  <a:pt x="0" y="1744131"/>
                </a:lnTo>
                <a:close/>
              </a:path>
            </a:pathLst>
          </a:custGeom>
          <a:solidFill>
            <a:srgbClr val="000000">
              <a:alpha val="0"/>
            </a:srgbClr>
          </a:solidFill>
        </p:spPr>
      </p:sp>
      <p:pic>
        <p:nvPicPr>
          <p:cNvPr id="146" name="Picture 145">
            <a:extLst>
              <a:ext uri="{FF2B5EF4-FFF2-40B4-BE49-F238E27FC236}">
                <a16:creationId xmlns:a16="http://schemas.microsoft.com/office/drawing/2014/main" id="{A47417F4-1286-4419-9E9F-36854187F3E9}"/>
              </a:ext>
            </a:extLst>
          </p:cNvPr>
          <p:cNvPicPr>
            <a:picLocks noChangeAspect="1"/>
          </p:cNvPicPr>
          <p:nvPr/>
        </p:nvPicPr>
        <p:blipFill>
          <a:blip r:embed="rId3"/>
          <a:stretch>
            <a:fillRect/>
          </a:stretch>
        </p:blipFill>
        <p:spPr>
          <a:xfrm>
            <a:off x="2123518" y="1517489"/>
            <a:ext cx="7944959" cy="4658375"/>
          </a:xfrm>
          <a:prstGeom prst="rect">
            <a:avLst/>
          </a:prstGeom>
        </p:spPr>
      </p:pic>
    </p:spTree>
    <p:extLst>
      <p:ext uri="{BB962C8B-B14F-4D97-AF65-F5344CB8AC3E}">
        <p14:creationId xmlns:p14="http://schemas.microsoft.com/office/powerpoint/2010/main" val="1220538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42C3187-30FC-402A-8C9D-F1425288FE9A}"/>
              </a:ext>
            </a:extLst>
          </p:cNvPr>
          <p:cNvSpPr>
            <a:spLocks noGrp="1"/>
          </p:cNvSpPr>
          <p:nvPr>
            <p:ph type="dt" sz="half" idx="10"/>
          </p:nvPr>
        </p:nvSpPr>
        <p:spPr/>
        <p:txBody>
          <a:bodyPr/>
          <a:lstStyle/>
          <a:p>
            <a:fld id="{BF5A2554-468B-44E7-959E-8F3376471EAD}" type="datetime2">
              <a:rPr lang="en-US" smtClean="0"/>
              <a:t>Monday, January 5, 2026</a:t>
            </a:fld>
            <a:endParaRPr lang="en-US"/>
          </a:p>
        </p:txBody>
      </p:sp>
      <p:sp>
        <p:nvSpPr>
          <p:cNvPr id="5" name="Footer Placeholder 4">
            <a:extLst>
              <a:ext uri="{FF2B5EF4-FFF2-40B4-BE49-F238E27FC236}">
                <a16:creationId xmlns:a16="http://schemas.microsoft.com/office/drawing/2014/main" id="{7A348B38-7475-4C57-ADA5-9880C44A5490}"/>
              </a:ext>
            </a:extLst>
          </p:cNvPr>
          <p:cNvSpPr>
            <a:spLocks noGrp="1"/>
          </p:cNvSpPr>
          <p:nvPr>
            <p:ph type="ftr" sz="quarter" idx="11"/>
          </p:nvPr>
        </p:nvSpPr>
        <p:spPr/>
        <p:txBody>
          <a:bodyPr/>
          <a:lstStyle/>
          <a:p>
            <a:r>
              <a:rPr lang="en-US"/>
              <a:t>Department of Computer Science &amp; Engineering, PUB</a:t>
            </a:r>
          </a:p>
        </p:txBody>
      </p:sp>
      <p:sp>
        <p:nvSpPr>
          <p:cNvPr id="6" name="Slide Number Placeholder 5">
            <a:extLst>
              <a:ext uri="{FF2B5EF4-FFF2-40B4-BE49-F238E27FC236}">
                <a16:creationId xmlns:a16="http://schemas.microsoft.com/office/drawing/2014/main" id="{1E5D9F93-4D8A-4D72-9067-FAA7E3598ED5}"/>
              </a:ext>
            </a:extLst>
          </p:cNvPr>
          <p:cNvSpPr>
            <a:spLocks noGrp="1"/>
          </p:cNvSpPr>
          <p:nvPr>
            <p:ph type="sldNum" sz="quarter" idx="12"/>
          </p:nvPr>
        </p:nvSpPr>
        <p:spPr/>
        <p:txBody>
          <a:bodyPr/>
          <a:lstStyle/>
          <a:p>
            <a:fld id="{B4B5837F-C97E-4545-805A-A81BC2BC5EE4}" type="slidenum">
              <a:rPr lang="en-US" smtClean="0"/>
              <a:t>13</a:t>
            </a:fld>
            <a:endParaRPr lang="en-US"/>
          </a:p>
        </p:txBody>
      </p:sp>
      <p:sp>
        <p:nvSpPr>
          <p:cNvPr id="7" name="Rectangle 6">
            <a:extLst>
              <a:ext uri="{FF2B5EF4-FFF2-40B4-BE49-F238E27FC236}">
                <a16:creationId xmlns:a16="http://schemas.microsoft.com/office/drawing/2014/main" id="{A1D78FBB-2417-45EE-A7AF-ECB35850902D}"/>
              </a:ext>
            </a:extLst>
          </p:cNvPr>
          <p:cNvSpPr/>
          <p:nvPr/>
        </p:nvSpPr>
        <p:spPr>
          <a:xfrm>
            <a:off x="-14248" y="-11478"/>
            <a:ext cx="12192000" cy="132611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B91C289B-B3E9-4C38-8625-0EC0084E22CE}"/>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9" name="Date Placeholder 3">
            <a:extLst>
              <a:ext uri="{FF2B5EF4-FFF2-40B4-BE49-F238E27FC236}">
                <a16:creationId xmlns:a16="http://schemas.microsoft.com/office/drawing/2014/main" id="{98F15A8E-2904-49EF-982C-EB46D721B43E}"/>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pPr/>
              <a:t>Monday, January 5, 2026</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0" name="Footer Placeholder 4">
            <a:extLst>
              <a:ext uri="{FF2B5EF4-FFF2-40B4-BE49-F238E27FC236}">
                <a16:creationId xmlns:a16="http://schemas.microsoft.com/office/drawing/2014/main" id="{84A568A5-D155-4251-BED8-980DBBECCEE2}"/>
              </a:ext>
            </a:extLst>
          </p:cNvPr>
          <p:cNvSpPr txBox="1">
            <a:spLocks/>
          </p:cNvSpPr>
          <p:nvPr/>
        </p:nvSpPr>
        <p:spPr>
          <a:xfrm>
            <a:off x="3995154" y="634172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11" name="Slide Number Placeholder 5">
            <a:extLst>
              <a:ext uri="{FF2B5EF4-FFF2-40B4-BE49-F238E27FC236}">
                <a16:creationId xmlns:a16="http://schemas.microsoft.com/office/drawing/2014/main" id="{CD59B25D-6E8C-4373-90B7-4F3CCECE36B6}"/>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pPr/>
              <a:t>13</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676C3B8B-979C-4552-9D3C-3877F0F991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3" name="Rectangle 12">
            <a:extLst>
              <a:ext uri="{FF2B5EF4-FFF2-40B4-BE49-F238E27FC236}">
                <a16:creationId xmlns:a16="http://schemas.microsoft.com/office/drawing/2014/main" id="{4D0C4E90-89DE-4A61-91AA-AED5786C4A05}"/>
              </a:ext>
            </a:extLst>
          </p:cNvPr>
          <p:cNvSpPr/>
          <p:nvPr/>
        </p:nvSpPr>
        <p:spPr>
          <a:xfrm>
            <a:off x="-1" y="1314639"/>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4" name="Title 1">
            <a:extLst>
              <a:ext uri="{FF2B5EF4-FFF2-40B4-BE49-F238E27FC236}">
                <a16:creationId xmlns:a16="http://schemas.microsoft.com/office/drawing/2014/main" id="{F9B68EDA-ADEF-4E34-B8F1-7393E2C4EAFE}"/>
              </a:ext>
            </a:extLst>
          </p:cNvPr>
          <p:cNvSpPr txBox="1">
            <a:spLocks/>
          </p:cNvSpPr>
          <p:nvPr/>
        </p:nvSpPr>
        <p:spPr>
          <a:xfrm>
            <a:off x="1273976" y="457199"/>
            <a:ext cx="10161104" cy="619813"/>
          </a:xfrm>
          <a:prstGeom prst="rect">
            <a:avLst/>
          </a:prstGeom>
          <a:effectLst>
            <a:outerShdw blurRad="63500" sx="102000" sy="102000" algn="ctr" rotWithShape="0">
              <a:prstClr val="black">
                <a:alpha val="40000"/>
              </a:prstClr>
            </a:outerShdw>
          </a:effec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3200" b="1" dirty="0">
                <a:latin typeface="Times New Roman" panose="02020603050405020304" pitchFamily="18" charset="0"/>
                <a:ea typeface="Akzidenz-Grotesk Bold"/>
                <a:cs typeface="Times New Roman" panose="02020603050405020304" pitchFamily="18" charset="0"/>
                <a:sym typeface="Akzidenz-Grotesk Bold"/>
              </a:rPr>
              <a:t>Entity-Relationship Diagram</a:t>
            </a:r>
          </a:p>
        </p:txBody>
      </p:sp>
      <p:sp>
        <p:nvSpPr>
          <p:cNvPr id="15" name="Freeform 37">
            <a:extLst>
              <a:ext uri="{FF2B5EF4-FFF2-40B4-BE49-F238E27FC236}">
                <a16:creationId xmlns:a16="http://schemas.microsoft.com/office/drawing/2014/main" id="{EB9E5022-B568-4674-9C44-5F255ED85450}"/>
              </a:ext>
            </a:extLst>
          </p:cNvPr>
          <p:cNvSpPr/>
          <p:nvPr/>
        </p:nvSpPr>
        <p:spPr>
          <a:xfrm>
            <a:off x="1987224" y="6751338"/>
            <a:ext cx="5997471" cy="1308098"/>
          </a:xfrm>
          <a:custGeom>
            <a:avLst/>
            <a:gdLst/>
            <a:ahLst/>
            <a:cxnLst/>
            <a:rect l="l" t="t" r="r" b="b"/>
            <a:pathLst>
              <a:path w="7996628" h="1744131">
                <a:moveTo>
                  <a:pt x="0" y="0"/>
                </a:moveTo>
                <a:lnTo>
                  <a:pt x="7996628" y="0"/>
                </a:lnTo>
                <a:lnTo>
                  <a:pt x="7996628" y="1744131"/>
                </a:lnTo>
                <a:lnTo>
                  <a:pt x="0" y="1744131"/>
                </a:lnTo>
                <a:close/>
              </a:path>
            </a:pathLst>
          </a:custGeom>
          <a:solidFill>
            <a:srgbClr val="000000">
              <a:alpha val="0"/>
            </a:srgbClr>
          </a:solidFill>
        </p:spPr>
      </p:sp>
      <p:grpSp>
        <p:nvGrpSpPr>
          <p:cNvPr id="16" name="Group 15">
            <a:extLst>
              <a:ext uri="{FF2B5EF4-FFF2-40B4-BE49-F238E27FC236}">
                <a16:creationId xmlns:a16="http://schemas.microsoft.com/office/drawing/2014/main" id="{BF5D25C2-AD81-41E6-8CD0-5235A811D681}"/>
              </a:ext>
            </a:extLst>
          </p:cNvPr>
          <p:cNvGrpSpPr/>
          <p:nvPr/>
        </p:nvGrpSpPr>
        <p:grpSpPr>
          <a:xfrm>
            <a:off x="950741" y="1725792"/>
            <a:ext cx="11036701" cy="3594173"/>
            <a:chOff x="1407814" y="1142171"/>
            <a:chExt cx="16044227" cy="7885484"/>
          </a:xfrm>
        </p:grpSpPr>
        <p:sp>
          <p:nvSpPr>
            <p:cNvPr id="17" name="Oval 16">
              <a:extLst>
                <a:ext uri="{FF2B5EF4-FFF2-40B4-BE49-F238E27FC236}">
                  <a16:creationId xmlns:a16="http://schemas.microsoft.com/office/drawing/2014/main" id="{C7D5095C-5A65-47F1-8672-2577311C1388}"/>
                </a:ext>
              </a:extLst>
            </p:cNvPr>
            <p:cNvSpPr/>
            <p:nvPr/>
          </p:nvSpPr>
          <p:spPr>
            <a:xfrm rot="3999137">
              <a:off x="3211590" y="1149585"/>
              <a:ext cx="1062920" cy="1048092"/>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Oval 17">
              <a:extLst>
                <a:ext uri="{FF2B5EF4-FFF2-40B4-BE49-F238E27FC236}">
                  <a16:creationId xmlns:a16="http://schemas.microsoft.com/office/drawing/2014/main" id="{B6ED8580-4D4D-478D-B66A-2ADFAD93BBF7}"/>
                </a:ext>
              </a:extLst>
            </p:cNvPr>
            <p:cNvSpPr/>
            <p:nvPr/>
          </p:nvSpPr>
          <p:spPr>
            <a:xfrm rot="3999137">
              <a:off x="13666965" y="5091579"/>
              <a:ext cx="1015277" cy="983605"/>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9" name="Rectangle 18">
              <a:extLst>
                <a:ext uri="{FF2B5EF4-FFF2-40B4-BE49-F238E27FC236}">
                  <a16:creationId xmlns:a16="http://schemas.microsoft.com/office/drawing/2014/main" id="{7B58A6CA-0EFB-426A-954F-4D4E2AA42577}"/>
                </a:ext>
              </a:extLst>
            </p:cNvPr>
            <p:cNvSpPr/>
            <p:nvPr/>
          </p:nvSpPr>
          <p:spPr>
            <a:xfrm>
              <a:off x="2780711" y="3058783"/>
              <a:ext cx="1379990" cy="516936"/>
            </a:xfrm>
            <a:prstGeom prst="rect">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20" name="Straight Connector 19">
              <a:extLst>
                <a:ext uri="{FF2B5EF4-FFF2-40B4-BE49-F238E27FC236}">
                  <a16:creationId xmlns:a16="http://schemas.microsoft.com/office/drawing/2014/main" id="{3FFA2AD3-2F67-4C3C-B434-58F1E6378EA0}"/>
                </a:ext>
              </a:extLst>
            </p:cNvPr>
            <p:cNvCxnSpPr>
              <a:cxnSpLocks/>
            </p:cNvCxnSpPr>
            <p:nvPr/>
          </p:nvCxnSpPr>
          <p:spPr>
            <a:xfrm flipV="1">
              <a:off x="3374926" y="2195711"/>
              <a:ext cx="321265" cy="892179"/>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0F0A92DE-6A63-4BED-9AB4-B14FE9A639FE}"/>
                </a:ext>
              </a:extLst>
            </p:cNvPr>
            <p:cNvSpPr/>
            <p:nvPr/>
          </p:nvSpPr>
          <p:spPr>
            <a:xfrm rot="19866515">
              <a:off x="2018649" y="1445434"/>
              <a:ext cx="1218629" cy="932115"/>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22" name="Straight Connector 21">
              <a:extLst>
                <a:ext uri="{FF2B5EF4-FFF2-40B4-BE49-F238E27FC236}">
                  <a16:creationId xmlns:a16="http://schemas.microsoft.com/office/drawing/2014/main" id="{A1679497-B208-4CFF-B74B-453AD3879AC7}"/>
                </a:ext>
              </a:extLst>
            </p:cNvPr>
            <p:cNvCxnSpPr>
              <a:cxnSpLocks/>
            </p:cNvCxnSpPr>
            <p:nvPr/>
          </p:nvCxnSpPr>
          <p:spPr>
            <a:xfrm flipH="1" flipV="1">
              <a:off x="2780711" y="2328213"/>
              <a:ext cx="303181" cy="747354"/>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52FF6DF0-F35D-4E18-A820-E152B13BC2E4}"/>
                </a:ext>
              </a:extLst>
            </p:cNvPr>
            <p:cNvSpPr/>
            <p:nvPr/>
          </p:nvSpPr>
          <p:spPr>
            <a:xfrm rot="3999137">
              <a:off x="4324117" y="1496307"/>
              <a:ext cx="1015277" cy="1048092"/>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24" name="Straight Connector 23">
              <a:extLst>
                <a:ext uri="{FF2B5EF4-FFF2-40B4-BE49-F238E27FC236}">
                  <a16:creationId xmlns:a16="http://schemas.microsoft.com/office/drawing/2014/main" id="{CC0C3DDC-0539-4D76-811A-96E51DE2CACC}"/>
                </a:ext>
              </a:extLst>
            </p:cNvPr>
            <p:cNvCxnSpPr>
              <a:cxnSpLocks/>
            </p:cNvCxnSpPr>
            <p:nvPr/>
          </p:nvCxnSpPr>
          <p:spPr>
            <a:xfrm flipV="1">
              <a:off x="3973375" y="2389007"/>
              <a:ext cx="490507" cy="667225"/>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101311D7-D4B2-43D0-88CD-79143F64913B}"/>
                </a:ext>
              </a:extLst>
            </p:cNvPr>
            <p:cNvSpPr/>
            <p:nvPr/>
          </p:nvSpPr>
          <p:spPr>
            <a:xfrm rot="19866515">
              <a:off x="5368363" y="1519282"/>
              <a:ext cx="1218629" cy="932115"/>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26" name="Straight Connector 25">
              <a:extLst>
                <a:ext uri="{FF2B5EF4-FFF2-40B4-BE49-F238E27FC236}">
                  <a16:creationId xmlns:a16="http://schemas.microsoft.com/office/drawing/2014/main" id="{C84E7145-49D5-424B-97DE-15621ABDFB26}"/>
                </a:ext>
              </a:extLst>
            </p:cNvPr>
            <p:cNvCxnSpPr>
              <a:cxnSpLocks/>
              <a:endCxn id="25" idx="2"/>
            </p:cNvCxnSpPr>
            <p:nvPr/>
          </p:nvCxnSpPr>
          <p:spPr>
            <a:xfrm flipV="1">
              <a:off x="4167623" y="2268909"/>
              <a:ext cx="1276577" cy="818982"/>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DB5E1CDE-0936-48E7-ACFF-FF6038EFA41D}"/>
                </a:ext>
              </a:extLst>
            </p:cNvPr>
            <p:cNvSpPr/>
            <p:nvPr/>
          </p:nvSpPr>
          <p:spPr>
            <a:xfrm rot="9212811">
              <a:off x="1828769" y="3896087"/>
              <a:ext cx="1218629" cy="932115"/>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28" name="Straight Connector 27">
              <a:extLst>
                <a:ext uri="{FF2B5EF4-FFF2-40B4-BE49-F238E27FC236}">
                  <a16:creationId xmlns:a16="http://schemas.microsoft.com/office/drawing/2014/main" id="{B9474080-A673-4ADD-8DC4-B4B1034C6A40}"/>
                </a:ext>
              </a:extLst>
            </p:cNvPr>
            <p:cNvCxnSpPr>
              <a:cxnSpLocks/>
              <a:endCxn id="27" idx="3"/>
            </p:cNvCxnSpPr>
            <p:nvPr/>
          </p:nvCxnSpPr>
          <p:spPr>
            <a:xfrm flipH="1">
              <a:off x="2671417" y="3555997"/>
              <a:ext cx="159944" cy="326225"/>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29" name="Diamond 28">
              <a:extLst>
                <a:ext uri="{FF2B5EF4-FFF2-40B4-BE49-F238E27FC236}">
                  <a16:creationId xmlns:a16="http://schemas.microsoft.com/office/drawing/2014/main" id="{D884887E-DB91-41F9-8FFC-F9B7995B1AE3}"/>
                </a:ext>
              </a:extLst>
            </p:cNvPr>
            <p:cNvSpPr/>
            <p:nvPr/>
          </p:nvSpPr>
          <p:spPr>
            <a:xfrm>
              <a:off x="6185554" y="2790444"/>
              <a:ext cx="1308720" cy="1078155"/>
            </a:xfrm>
            <a:prstGeom prst="diamond">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nvGrpSpPr>
            <p:cNvPr id="30" name="Group 29">
              <a:extLst>
                <a:ext uri="{FF2B5EF4-FFF2-40B4-BE49-F238E27FC236}">
                  <a16:creationId xmlns:a16="http://schemas.microsoft.com/office/drawing/2014/main" id="{807D71C2-6356-4C13-B4A4-26E4F1B5B768}"/>
                </a:ext>
              </a:extLst>
            </p:cNvPr>
            <p:cNvGrpSpPr/>
            <p:nvPr/>
          </p:nvGrpSpPr>
          <p:grpSpPr>
            <a:xfrm rot="10800000">
              <a:off x="6699500" y="5369383"/>
              <a:ext cx="4387204" cy="3658272"/>
              <a:chOff x="17643032" y="4105478"/>
              <a:chExt cx="5016895" cy="4026819"/>
            </a:xfrm>
          </p:grpSpPr>
          <p:sp>
            <p:nvSpPr>
              <p:cNvPr id="132" name="Rectangle 131">
                <a:extLst>
                  <a:ext uri="{FF2B5EF4-FFF2-40B4-BE49-F238E27FC236}">
                    <a16:creationId xmlns:a16="http://schemas.microsoft.com/office/drawing/2014/main" id="{CD203336-76BC-434D-A551-0AD836635D25}"/>
                  </a:ext>
                </a:extLst>
              </p:cNvPr>
              <p:cNvSpPr/>
              <p:nvPr/>
            </p:nvSpPr>
            <p:spPr>
              <a:xfrm>
                <a:off x="18321918" y="6039719"/>
                <a:ext cx="2452624" cy="511460"/>
              </a:xfrm>
              <a:prstGeom prst="rect">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33" name="Oval 132">
                <a:extLst>
                  <a:ext uri="{FF2B5EF4-FFF2-40B4-BE49-F238E27FC236}">
                    <a16:creationId xmlns:a16="http://schemas.microsoft.com/office/drawing/2014/main" id="{A213E714-603D-4511-845A-0C24131445C5}"/>
                  </a:ext>
                </a:extLst>
              </p:cNvPr>
              <p:cNvSpPr/>
              <p:nvPr/>
            </p:nvSpPr>
            <p:spPr>
              <a:xfrm rot="3999137">
                <a:off x="19211448" y="4152690"/>
                <a:ext cx="1136144" cy="1041720"/>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34" name="Straight Connector 133">
                <a:extLst>
                  <a:ext uri="{FF2B5EF4-FFF2-40B4-BE49-F238E27FC236}">
                    <a16:creationId xmlns:a16="http://schemas.microsoft.com/office/drawing/2014/main" id="{74744CB8-5270-46C1-B2EB-95F67DDF99A3}"/>
                  </a:ext>
                </a:extLst>
              </p:cNvPr>
              <p:cNvCxnSpPr>
                <a:cxnSpLocks/>
              </p:cNvCxnSpPr>
              <p:nvPr/>
            </p:nvCxnSpPr>
            <p:spPr>
              <a:xfrm flipH="1">
                <a:off x="19365233" y="5206166"/>
                <a:ext cx="248837" cy="829395"/>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135" name="Oval 134">
                <a:extLst>
                  <a:ext uri="{FF2B5EF4-FFF2-40B4-BE49-F238E27FC236}">
                    <a16:creationId xmlns:a16="http://schemas.microsoft.com/office/drawing/2014/main" id="{9B4313C2-D4A3-4E5F-9D1C-4B9848386651}"/>
                  </a:ext>
                </a:extLst>
              </p:cNvPr>
              <p:cNvSpPr/>
              <p:nvPr/>
            </p:nvSpPr>
            <p:spPr>
              <a:xfrm rot="19866515">
                <a:off x="17984635" y="4346069"/>
                <a:ext cx="1211220" cy="961802"/>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36" name="Straight Connector 135">
                <a:extLst>
                  <a:ext uri="{FF2B5EF4-FFF2-40B4-BE49-F238E27FC236}">
                    <a16:creationId xmlns:a16="http://schemas.microsoft.com/office/drawing/2014/main" id="{E1B12F74-FE71-472B-9D26-1BBF52218DAC}"/>
                  </a:ext>
                </a:extLst>
              </p:cNvPr>
              <p:cNvCxnSpPr>
                <a:cxnSpLocks/>
              </p:cNvCxnSpPr>
              <p:nvPr/>
            </p:nvCxnSpPr>
            <p:spPr>
              <a:xfrm rot="10800000">
                <a:off x="18774637" y="5285886"/>
                <a:ext cx="301339" cy="771156"/>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137" name="Oval 136">
                <a:extLst>
                  <a:ext uri="{FF2B5EF4-FFF2-40B4-BE49-F238E27FC236}">
                    <a16:creationId xmlns:a16="http://schemas.microsoft.com/office/drawing/2014/main" id="{01F5FD33-A94B-4FC9-BBFA-CD51F36E8FBB}"/>
                  </a:ext>
                </a:extLst>
              </p:cNvPr>
              <p:cNvSpPr/>
              <p:nvPr/>
            </p:nvSpPr>
            <p:spPr>
              <a:xfrm rot="3999137">
                <a:off x="20148913" y="4357521"/>
                <a:ext cx="1136145" cy="1041722"/>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38" name="Straight Connector 137">
                <a:extLst>
                  <a:ext uri="{FF2B5EF4-FFF2-40B4-BE49-F238E27FC236}">
                    <a16:creationId xmlns:a16="http://schemas.microsoft.com/office/drawing/2014/main" id="{C0CD0DEE-DEAF-447C-8A28-0826AC2EDB94}"/>
                  </a:ext>
                </a:extLst>
              </p:cNvPr>
              <p:cNvCxnSpPr>
                <a:cxnSpLocks/>
                <a:stCxn id="132" idx="0"/>
                <a:endCxn id="137" idx="5"/>
              </p:cNvCxnSpPr>
              <p:nvPr/>
            </p:nvCxnSpPr>
            <p:spPr>
              <a:xfrm rot="10800000" flipH="1">
                <a:off x="19548232" y="5459223"/>
                <a:ext cx="940189" cy="580496"/>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139" name="Oval 138">
                <a:extLst>
                  <a:ext uri="{FF2B5EF4-FFF2-40B4-BE49-F238E27FC236}">
                    <a16:creationId xmlns:a16="http://schemas.microsoft.com/office/drawing/2014/main" id="{63E8B664-5A65-423F-A236-EDA7E0819ABC}"/>
                  </a:ext>
                </a:extLst>
              </p:cNvPr>
              <p:cNvSpPr/>
              <p:nvPr/>
            </p:nvSpPr>
            <p:spPr>
              <a:xfrm rot="19866515">
                <a:off x="21403720" y="4415816"/>
                <a:ext cx="1256207" cy="1276436"/>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40" name="Straight Connector 139">
                <a:extLst>
                  <a:ext uri="{FF2B5EF4-FFF2-40B4-BE49-F238E27FC236}">
                    <a16:creationId xmlns:a16="http://schemas.microsoft.com/office/drawing/2014/main" id="{1AEB1B5E-D74F-4BDF-A77E-C461F0BBE57F}"/>
                  </a:ext>
                </a:extLst>
              </p:cNvPr>
              <p:cNvCxnSpPr>
                <a:cxnSpLocks/>
                <a:endCxn id="139" idx="1"/>
              </p:cNvCxnSpPr>
              <p:nvPr/>
            </p:nvCxnSpPr>
            <p:spPr>
              <a:xfrm rot="10800000" flipH="1">
                <a:off x="20740168" y="4970651"/>
                <a:ext cx="752709" cy="1118312"/>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141" name="Oval 140">
                <a:extLst>
                  <a:ext uri="{FF2B5EF4-FFF2-40B4-BE49-F238E27FC236}">
                    <a16:creationId xmlns:a16="http://schemas.microsoft.com/office/drawing/2014/main" id="{4E9A14BB-5426-4B09-A190-8ABE797C18C7}"/>
                  </a:ext>
                </a:extLst>
              </p:cNvPr>
              <p:cNvSpPr/>
              <p:nvPr/>
            </p:nvSpPr>
            <p:spPr>
              <a:xfrm rot="9212811">
                <a:off x="17643032" y="7085780"/>
                <a:ext cx="1458286" cy="1046517"/>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42" name="Straight Connector 141">
                <a:extLst>
                  <a:ext uri="{FF2B5EF4-FFF2-40B4-BE49-F238E27FC236}">
                    <a16:creationId xmlns:a16="http://schemas.microsoft.com/office/drawing/2014/main" id="{6B5FBC5F-9C48-4BB5-8BDB-016470E7422C}"/>
                  </a:ext>
                </a:extLst>
              </p:cNvPr>
              <p:cNvCxnSpPr>
                <a:cxnSpLocks/>
                <a:endCxn id="141" idx="3"/>
              </p:cNvCxnSpPr>
              <p:nvPr/>
            </p:nvCxnSpPr>
            <p:spPr>
              <a:xfrm rot="10800000" flipV="1">
                <a:off x="18720318" y="6527668"/>
                <a:ext cx="282067" cy="416451"/>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143" name="Oval 142">
                <a:extLst>
                  <a:ext uri="{FF2B5EF4-FFF2-40B4-BE49-F238E27FC236}">
                    <a16:creationId xmlns:a16="http://schemas.microsoft.com/office/drawing/2014/main" id="{D89C4F14-94EE-4337-93A8-03F2A34A6658}"/>
                  </a:ext>
                </a:extLst>
              </p:cNvPr>
              <p:cNvSpPr/>
              <p:nvPr/>
            </p:nvSpPr>
            <p:spPr>
              <a:xfrm rot="9212811">
                <a:off x="20093260" y="7000547"/>
                <a:ext cx="1211222" cy="1043084"/>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44" name="Straight Connector 143">
                <a:extLst>
                  <a:ext uri="{FF2B5EF4-FFF2-40B4-BE49-F238E27FC236}">
                    <a16:creationId xmlns:a16="http://schemas.microsoft.com/office/drawing/2014/main" id="{79D43C43-843C-47DE-A740-EFF3FE64906F}"/>
                  </a:ext>
                </a:extLst>
              </p:cNvPr>
              <p:cNvCxnSpPr>
                <a:cxnSpLocks/>
              </p:cNvCxnSpPr>
              <p:nvPr/>
            </p:nvCxnSpPr>
            <p:spPr>
              <a:xfrm rot="10800000" flipH="1" flipV="1">
                <a:off x="20048501" y="6511324"/>
                <a:ext cx="363079" cy="595828"/>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grpSp>
        <p:sp>
          <p:nvSpPr>
            <p:cNvPr id="31" name="Rectangle 30">
              <a:extLst>
                <a:ext uri="{FF2B5EF4-FFF2-40B4-BE49-F238E27FC236}">
                  <a16:creationId xmlns:a16="http://schemas.microsoft.com/office/drawing/2014/main" id="{6374B0C0-00AC-4F50-A952-D64669537605}"/>
                </a:ext>
              </a:extLst>
            </p:cNvPr>
            <p:cNvSpPr/>
            <p:nvPr/>
          </p:nvSpPr>
          <p:spPr>
            <a:xfrm>
              <a:off x="9144000" y="3056232"/>
              <a:ext cx="1379990" cy="516936"/>
            </a:xfrm>
            <a:prstGeom prst="rect">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32" name="Straight Connector 31">
              <a:extLst>
                <a:ext uri="{FF2B5EF4-FFF2-40B4-BE49-F238E27FC236}">
                  <a16:creationId xmlns:a16="http://schemas.microsoft.com/office/drawing/2014/main" id="{D4780542-34BE-4BF8-A874-C7A4348CF02A}"/>
                </a:ext>
              </a:extLst>
            </p:cNvPr>
            <p:cNvCxnSpPr>
              <a:cxnSpLocks/>
            </p:cNvCxnSpPr>
            <p:nvPr/>
          </p:nvCxnSpPr>
          <p:spPr>
            <a:xfrm flipV="1">
              <a:off x="9886456" y="2204061"/>
              <a:ext cx="206433" cy="860851"/>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56440A97-E4A5-4C10-AA4E-92CAB8F2EAB1}"/>
                </a:ext>
              </a:extLst>
            </p:cNvPr>
            <p:cNvSpPr/>
            <p:nvPr/>
          </p:nvSpPr>
          <p:spPr>
            <a:xfrm rot="19866515">
              <a:off x="8381939" y="1442883"/>
              <a:ext cx="1218629" cy="932115"/>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34" name="Straight Connector 33">
              <a:extLst>
                <a:ext uri="{FF2B5EF4-FFF2-40B4-BE49-F238E27FC236}">
                  <a16:creationId xmlns:a16="http://schemas.microsoft.com/office/drawing/2014/main" id="{CAF7B6EC-CC52-4727-ADB8-1137EC51E340}"/>
                </a:ext>
              </a:extLst>
            </p:cNvPr>
            <p:cNvCxnSpPr>
              <a:cxnSpLocks/>
            </p:cNvCxnSpPr>
            <p:nvPr/>
          </p:nvCxnSpPr>
          <p:spPr>
            <a:xfrm flipH="1" flipV="1">
              <a:off x="9144000" y="2325663"/>
              <a:ext cx="303181" cy="747354"/>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A2396A83-5277-4D5B-8EAD-805050BD691F}"/>
                </a:ext>
              </a:extLst>
            </p:cNvPr>
            <p:cNvSpPr/>
            <p:nvPr/>
          </p:nvSpPr>
          <p:spPr>
            <a:xfrm rot="3999137">
              <a:off x="10687406" y="1493756"/>
              <a:ext cx="1015277" cy="1048092"/>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36" name="Straight Connector 35">
              <a:extLst>
                <a:ext uri="{FF2B5EF4-FFF2-40B4-BE49-F238E27FC236}">
                  <a16:creationId xmlns:a16="http://schemas.microsoft.com/office/drawing/2014/main" id="{6687EC40-CDE1-4A66-A05C-0001B36D72F0}"/>
                </a:ext>
              </a:extLst>
            </p:cNvPr>
            <p:cNvCxnSpPr>
              <a:cxnSpLocks/>
            </p:cNvCxnSpPr>
            <p:nvPr/>
          </p:nvCxnSpPr>
          <p:spPr>
            <a:xfrm flipV="1">
              <a:off x="10336665" y="2386456"/>
              <a:ext cx="490507" cy="667225"/>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3B29B6BB-19EB-49C4-9ECA-F56F7CEF930E}"/>
                </a:ext>
              </a:extLst>
            </p:cNvPr>
            <p:cNvSpPr/>
            <p:nvPr/>
          </p:nvSpPr>
          <p:spPr>
            <a:xfrm rot="19866515">
              <a:off x="11731652" y="1516731"/>
              <a:ext cx="1218629" cy="932115"/>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38" name="Straight Connector 37">
              <a:extLst>
                <a:ext uri="{FF2B5EF4-FFF2-40B4-BE49-F238E27FC236}">
                  <a16:creationId xmlns:a16="http://schemas.microsoft.com/office/drawing/2014/main" id="{64F87FB1-613B-43C3-A7D3-83F4DC5F360E}"/>
                </a:ext>
              </a:extLst>
            </p:cNvPr>
            <p:cNvCxnSpPr>
              <a:cxnSpLocks/>
              <a:endCxn id="37" idx="2"/>
            </p:cNvCxnSpPr>
            <p:nvPr/>
          </p:nvCxnSpPr>
          <p:spPr>
            <a:xfrm flipV="1">
              <a:off x="10530913" y="2427085"/>
              <a:ext cx="1276576" cy="658259"/>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3FED4E37-D31B-409C-A675-6A607CB244E4}"/>
                </a:ext>
              </a:extLst>
            </p:cNvPr>
            <p:cNvSpPr/>
            <p:nvPr/>
          </p:nvSpPr>
          <p:spPr>
            <a:xfrm rot="9212811">
              <a:off x="8239166" y="3979595"/>
              <a:ext cx="1258377" cy="1062951"/>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40" name="Straight Connector 39">
              <a:extLst>
                <a:ext uri="{FF2B5EF4-FFF2-40B4-BE49-F238E27FC236}">
                  <a16:creationId xmlns:a16="http://schemas.microsoft.com/office/drawing/2014/main" id="{0752DB55-64FA-4EC8-8BFC-D546C2C36A15}"/>
                </a:ext>
              </a:extLst>
            </p:cNvPr>
            <p:cNvCxnSpPr>
              <a:cxnSpLocks/>
              <a:endCxn id="39" idx="3"/>
            </p:cNvCxnSpPr>
            <p:nvPr/>
          </p:nvCxnSpPr>
          <p:spPr>
            <a:xfrm flipH="1">
              <a:off x="9155751" y="3563137"/>
              <a:ext cx="291432" cy="312361"/>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9F1A582C-9209-4C56-BA79-7A4670DE82E0}"/>
                </a:ext>
              </a:extLst>
            </p:cNvPr>
            <p:cNvSpPr/>
            <p:nvPr/>
          </p:nvSpPr>
          <p:spPr>
            <a:xfrm rot="9212811">
              <a:off x="9456803" y="4091275"/>
              <a:ext cx="1218629" cy="932115"/>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42" name="Straight Connector 41">
              <a:extLst>
                <a:ext uri="{FF2B5EF4-FFF2-40B4-BE49-F238E27FC236}">
                  <a16:creationId xmlns:a16="http://schemas.microsoft.com/office/drawing/2014/main" id="{4A9592C4-6A1C-4F3C-8C27-317C4D2A1A38}"/>
                </a:ext>
              </a:extLst>
            </p:cNvPr>
            <p:cNvCxnSpPr>
              <a:cxnSpLocks/>
              <a:stCxn id="31" idx="2"/>
              <a:endCxn id="41" idx="4"/>
            </p:cNvCxnSpPr>
            <p:nvPr/>
          </p:nvCxnSpPr>
          <p:spPr>
            <a:xfrm>
              <a:off x="9833995" y="3573168"/>
              <a:ext cx="16587" cy="566904"/>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87DD47D7-E7D6-42AB-A461-941EB6EC5CDF}"/>
                </a:ext>
              </a:extLst>
            </p:cNvPr>
            <p:cNvSpPr/>
            <p:nvPr/>
          </p:nvSpPr>
          <p:spPr>
            <a:xfrm rot="19866515">
              <a:off x="10715489" y="4161516"/>
              <a:ext cx="1108406" cy="932114"/>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cxnSp>
          <p:nvCxnSpPr>
            <p:cNvPr id="44" name="Straight Connector 43">
              <a:extLst>
                <a:ext uri="{FF2B5EF4-FFF2-40B4-BE49-F238E27FC236}">
                  <a16:creationId xmlns:a16="http://schemas.microsoft.com/office/drawing/2014/main" id="{63CFCED4-9E07-43C0-B669-DA3B45615586}"/>
                </a:ext>
              </a:extLst>
            </p:cNvPr>
            <p:cNvCxnSpPr>
              <a:cxnSpLocks/>
              <a:endCxn id="43" idx="0"/>
            </p:cNvCxnSpPr>
            <p:nvPr/>
          </p:nvCxnSpPr>
          <p:spPr>
            <a:xfrm>
              <a:off x="10370912" y="3582683"/>
              <a:ext cx="749579" cy="636840"/>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45" name="Diamond 44">
              <a:extLst>
                <a:ext uri="{FF2B5EF4-FFF2-40B4-BE49-F238E27FC236}">
                  <a16:creationId xmlns:a16="http://schemas.microsoft.com/office/drawing/2014/main" id="{85278539-3F1C-48E0-B92F-CF4465B7C5E4}"/>
                </a:ext>
              </a:extLst>
            </p:cNvPr>
            <p:cNvSpPr/>
            <p:nvPr/>
          </p:nvSpPr>
          <p:spPr>
            <a:xfrm rot="21410818">
              <a:off x="12547247" y="2833360"/>
              <a:ext cx="1254103" cy="967781"/>
            </a:xfrm>
            <a:prstGeom prst="diamond">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46" name="Straight Connector 45">
              <a:extLst>
                <a:ext uri="{FF2B5EF4-FFF2-40B4-BE49-F238E27FC236}">
                  <a16:creationId xmlns:a16="http://schemas.microsoft.com/office/drawing/2014/main" id="{A629A3F5-23A8-4D1B-A404-4CE92BB9BA97}"/>
                </a:ext>
              </a:extLst>
            </p:cNvPr>
            <p:cNvCxnSpPr>
              <a:cxnSpLocks/>
              <a:stCxn id="45" idx="3"/>
            </p:cNvCxnSpPr>
            <p:nvPr/>
          </p:nvCxnSpPr>
          <p:spPr>
            <a:xfrm flipV="1">
              <a:off x="13800401" y="3263360"/>
              <a:ext cx="1265696" cy="19401"/>
            </a:xfrm>
            <a:prstGeom prst="line">
              <a:avLst/>
            </a:prstGeom>
            <a:ln w="28575">
              <a:solidFill>
                <a:srgbClr val="134E1A"/>
              </a:solidFil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6C12A36C-6592-480B-AB95-2C1F2150746C}"/>
                </a:ext>
              </a:extLst>
            </p:cNvPr>
            <p:cNvSpPr/>
            <p:nvPr/>
          </p:nvSpPr>
          <p:spPr>
            <a:xfrm>
              <a:off x="2700933" y="6078808"/>
              <a:ext cx="1521131" cy="516936"/>
            </a:xfrm>
            <a:prstGeom prst="rect">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8" name="Oval 47">
              <a:extLst>
                <a:ext uri="{FF2B5EF4-FFF2-40B4-BE49-F238E27FC236}">
                  <a16:creationId xmlns:a16="http://schemas.microsoft.com/office/drawing/2014/main" id="{7E47C2D6-497D-4F3C-9ACA-C1FF2CF9A287}"/>
                </a:ext>
              </a:extLst>
            </p:cNvPr>
            <p:cNvSpPr/>
            <p:nvPr/>
          </p:nvSpPr>
          <p:spPr>
            <a:xfrm rot="14799137">
              <a:off x="3755383" y="7289894"/>
              <a:ext cx="1015277" cy="1048093"/>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49" name="Straight Connector 48">
              <a:extLst>
                <a:ext uri="{FF2B5EF4-FFF2-40B4-BE49-F238E27FC236}">
                  <a16:creationId xmlns:a16="http://schemas.microsoft.com/office/drawing/2014/main" id="{CF2B24B7-A63E-467B-A2E6-AF6B3B541280}"/>
                </a:ext>
              </a:extLst>
            </p:cNvPr>
            <p:cNvCxnSpPr>
              <a:cxnSpLocks/>
              <a:stCxn id="47" idx="2"/>
              <a:endCxn id="48" idx="6"/>
            </p:cNvCxnSpPr>
            <p:nvPr/>
          </p:nvCxnSpPr>
          <p:spPr>
            <a:xfrm>
              <a:off x="3461499" y="6595745"/>
              <a:ext cx="600341" cy="752125"/>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0762CF37-EB31-4410-B503-84B9BA0943A4}"/>
                </a:ext>
              </a:extLst>
            </p:cNvPr>
            <p:cNvSpPr/>
            <p:nvPr/>
          </p:nvSpPr>
          <p:spPr>
            <a:xfrm rot="9066515">
              <a:off x="4962359" y="7266672"/>
              <a:ext cx="1218629" cy="932115"/>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51" name="Straight Connector 50">
              <a:extLst>
                <a:ext uri="{FF2B5EF4-FFF2-40B4-BE49-F238E27FC236}">
                  <a16:creationId xmlns:a16="http://schemas.microsoft.com/office/drawing/2014/main" id="{34BA35E8-3498-42E4-A034-ADE3E4456B0E}"/>
                </a:ext>
              </a:extLst>
            </p:cNvPr>
            <p:cNvCxnSpPr>
              <a:cxnSpLocks/>
              <a:endCxn id="50" idx="4"/>
            </p:cNvCxnSpPr>
            <p:nvPr/>
          </p:nvCxnSpPr>
          <p:spPr>
            <a:xfrm>
              <a:off x="4210806" y="6595744"/>
              <a:ext cx="1127098" cy="728934"/>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0D683C2E-FD8E-4A9D-9B45-35CDE7E5AAF0}"/>
                </a:ext>
              </a:extLst>
            </p:cNvPr>
            <p:cNvSpPr/>
            <p:nvPr/>
          </p:nvSpPr>
          <p:spPr>
            <a:xfrm rot="14799137">
              <a:off x="2672148" y="7089844"/>
              <a:ext cx="1015277" cy="1048093"/>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53" name="Straight Connector 52">
              <a:extLst>
                <a:ext uri="{FF2B5EF4-FFF2-40B4-BE49-F238E27FC236}">
                  <a16:creationId xmlns:a16="http://schemas.microsoft.com/office/drawing/2014/main" id="{415DEA37-46D2-4C24-87D0-0A79430D4C89}"/>
                </a:ext>
              </a:extLst>
            </p:cNvPr>
            <p:cNvCxnSpPr>
              <a:cxnSpLocks/>
              <a:endCxn id="52" idx="6"/>
            </p:cNvCxnSpPr>
            <p:nvPr/>
          </p:nvCxnSpPr>
          <p:spPr>
            <a:xfrm flipH="1">
              <a:off x="2970926" y="6578012"/>
              <a:ext cx="139041" cy="569807"/>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6B7BA651-D2F3-4D7B-9AF4-B613506E1B67}"/>
                </a:ext>
              </a:extLst>
            </p:cNvPr>
            <p:cNvSpPr/>
            <p:nvPr/>
          </p:nvSpPr>
          <p:spPr>
            <a:xfrm rot="9066515">
              <a:off x="1407814" y="7175852"/>
              <a:ext cx="1218629" cy="932115"/>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cxnSp>
          <p:nvCxnSpPr>
            <p:cNvPr id="55" name="Straight Connector 54">
              <a:extLst>
                <a:ext uri="{FF2B5EF4-FFF2-40B4-BE49-F238E27FC236}">
                  <a16:creationId xmlns:a16="http://schemas.microsoft.com/office/drawing/2014/main" id="{8C839B75-A7CD-465C-A4BC-5B90DFF89687}"/>
                </a:ext>
              </a:extLst>
            </p:cNvPr>
            <p:cNvCxnSpPr>
              <a:cxnSpLocks/>
              <a:endCxn id="54" idx="3"/>
            </p:cNvCxnSpPr>
            <p:nvPr/>
          </p:nvCxnSpPr>
          <p:spPr>
            <a:xfrm flipH="1">
              <a:off x="2288853" y="6569577"/>
              <a:ext cx="454086" cy="469631"/>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56" name="Diamond 55">
              <a:extLst>
                <a:ext uri="{FF2B5EF4-FFF2-40B4-BE49-F238E27FC236}">
                  <a16:creationId xmlns:a16="http://schemas.microsoft.com/office/drawing/2014/main" id="{B624188E-63AD-4660-B83C-5BE23F0A1464}"/>
                </a:ext>
              </a:extLst>
            </p:cNvPr>
            <p:cNvSpPr/>
            <p:nvPr/>
          </p:nvSpPr>
          <p:spPr>
            <a:xfrm>
              <a:off x="2934043" y="4203107"/>
              <a:ext cx="1308720" cy="1078155"/>
            </a:xfrm>
            <a:prstGeom prst="diamond">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7" name="Diamond 56">
              <a:extLst>
                <a:ext uri="{FF2B5EF4-FFF2-40B4-BE49-F238E27FC236}">
                  <a16:creationId xmlns:a16="http://schemas.microsoft.com/office/drawing/2014/main" id="{21CD99D9-B945-4FCA-A834-2F2487170F49}"/>
                </a:ext>
              </a:extLst>
            </p:cNvPr>
            <p:cNvSpPr/>
            <p:nvPr/>
          </p:nvSpPr>
          <p:spPr>
            <a:xfrm>
              <a:off x="6384430" y="5846910"/>
              <a:ext cx="1308721" cy="1704698"/>
            </a:xfrm>
            <a:prstGeom prst="diamond">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58" name="TextBox 36">
              <a:extLst>
                <a:ext uri="{FF2B5EF4-FFF2-40B4-BE49-F238E27FC236}">
                  <a16:creationId xmlns:a16="http://schemas.microsoft.com/office/drawing/2014/main" id="{C6CA9E6F-3CD8-4DB9-9FEF-5F0DFC4307A4}"/>
                </a:ext>
              </a:extLst>
            </p:cNvPr>
            <p:cNvSpPr txBox="1"/>
            <p:nvPr/>
          </p:nvSpPr>
          <p:spPr>
            <a:xfrm>
              <a:off x="3134042" y="2903957"/>
              <a:ext cx="894987" cy="696353"/>
            </a:xfrm>
            <a:prstGeom prst="rect">
              <a:avLst/>
            </a:prstGeom>
          </p:spPr>
          <p:txBody>
            <a:bodyPr wrap="square" lIns="0" tIns="0" rIns="0" bIns="0" rtlCol="0" anchor="t">
              <a:spAutoFit/>
            </a:bodyPr>
            <a:lstStyle/>
            <a:p>
              <a:pPr algn="ctr">
                <a:lnSpc>
                  <a:spcPts val="2826"/>
                </a:lnSpc>
              </a:pPr>
              <a:r>
                <a:rPr lang="en-US" sz="16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User</a:t>
              </a:r>
            </a:p>
          </p:txBody>
        </p:sp>
        <p:sp>
          <p:nvSpPr>
            <p:cNvPr id="59" name="TextBox 36">
              <a:extLst>
                <a:ext uri="{FF2B5EF4-FFF2-40B4-BE49-F238E27FC236}">
                  <a16:creationId xmlns:a16="http://schemas.microsoft.com/office/drawing/2014/main" id="{B66A208D-4F77-4F48-9A77-AAFCDE485F3A}"/>
                </a:ext>
              </a:extLst>
            </p:cNvPr>
            <p:cNvSpPr txBox="1"/>
            <p:nvPr/>
          </p:nvSpPr>
          <p:spPr>
            <a:xfrm rot="19962597">
              <a:off x="2225343" y="1444363"/>
              <a:ext cx="854411" cy="810301"/>
            </a:xfrm>
            <a:prstGeom prst="rect">
              <a:avLst/>
            </a:prstGeom>
          </p:spPr>
          <p:txBody>
            <a:bodyPr wrap="square" lIns="0" tIns="0" rIns="0" bIns="0" rtlCol="0" anchor="t">
              <a:spAutoFit/>
            </a:bodyPr>
            <a:lstStyle/>
            <a:p>
              <a:pPr algn="ctr"/>
              <a:r>
                <a:rPr lang="en-US" sz="1200" u="sng"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User NID</a:t>
              </a:r>
            </a:p>
          </p:txBody>
        </p:sp>
        <p:sp>
          <p:nvSpPr>
            <p:cNvPr id="60" name="TextBox 36">
              <a:extLst>
                <a:ext uri="{FF2B5EF4-FFF2-40B4-BE49-F238E27FC236}">
                  <a16:creationId xmlns:a16="http://schemas.microsoft.com/office/drawing/2014/main" id="{96688F7F-F4BF-4787-BD16-29F7D1D12362}"/>
                </a:ext>
              </a:extLst>
            </p:cNvPr>
            <p:cNvSpPr txBox="1"/>
            <p:nvPr/>
          </p:nvSpPr>
          <p:spPr>
            <a:xfrm>
              <a:off x="3311983" y="1188578"/>
              <a:ext cx="894987" cy="663433"/>
            </a:xfrm>
            <a:prstGeom prst="rect">
              <a:avLst/>
            </a:prstGeom>
          </p:spPr>
          <p:txBody>
            <a:bodyPr wrap="square" lIns="0" tIns="0" rIns="0" bIns="0" rtlCol="0" anchor="t">
              <a:spAutoFit/>
            </a:bodyPr>
            <a:lstStyle/>
            <a:p>
              <a:pPr algn="ctr">
                <a:lnSpc>
                  <a:spcPts val="2826"/>
                </a:lnSpc>
              </a:pPr>
              <a:r>
                <a:rPr lang="en-US" sz="11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Name</a:t>
              </a:r>
            </a:p>
          </p:txBody>
        </p:sp>
        <p:sp>
          <p:nvSpPr>
            <p:cNvPr id="61" name="TextBox 36">
              <a:extLst>
                <a:ext uri="{FF2B5EF4-FFF2-40B4-BE49-F238E27FC236}">
                  <a16:creationId xmlns:a16="http://schemas.microsoft.com/office/drawing/2014/main" id="{5307A444-6FFA-4493-B294-80349E817DFE}"/>
                </a:ext>
              </a:extLst>
            </p:cNvPr>
            <p:cNvSpPr txBox="1"/>
            <p:nvPr/>
          </p:nvSpPr>
          <p:spPr>
            <a:xfrm>
              <a:off x="4432975" y="1564305"/>
              <a:ext cx="894987" cy="696353"/>
            </a:xfrm>
            <a:prstGeom prst="rect">
              <a:avLst/>
            </a:prstGeom>
          </p:spPr>
          <p:txBody>
            <a:bodyPr wrap="square" lIns="0" tIns="0" rIns="0" bIns="0" rtlCol="0" anchor="t">
              <a:spAutoFit/>
            </a:bodyPr>
            <a:lstStyle/>
            <a:p>
              <a:pPr algn="ctr">
                <a:lnSpc>
                  <a:spcPts val="2826"/>
                </a:lnSpc>
              </a:pP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Phone</a:t>
              </a:r>
            </a:p>
          </p:txBody>
        </p:sp>
        <p:sp>
          <p:nvSpPr>
            <p:cNvPr id="62" name="TextBox 36">
              <a:extLst>
                <a:ext uri="{FF2B5EF4-FFF2-40B4-BE49-F238E27FC236}">
                  <a16:creationId xmlns:a16="http://schemas.microsoft.com/office/drawing/2014/main" id="{DFE948DB-5172-418B-97D0-CABD4460033A}"/>
                </a:ext>
              </a:extLst>
            </p:cNvPr>
            <p:cNvSpPr txBox="1"/>
            <p:nvPr/>
          </p:nvSpPr>
          <p:spPr>
            <a:xfrm>
              <a:off x="5509079" y="1527916"/>
              <a:ext cx="894987" cy="663433"/>
            </a:xfrm>
            <a:prstGeom prst="rect">
              <a:avLst/>
            </a:prstGeom>
          </p:spPr>
          <p:txBody>
            <a:bodyPr wrap="square" lIns="0" tIns="0" rIns="0" bIns="0" rtlCol="0" anchor="t">
              <a:spAutoFit/>
            </a:bodyPr>
            <a:lstStyle/>
            <a:p>
              <a:pPr algn="ctr">
                <a:lnSpc>
                  <a:spcPts val="2826"/>
                </a:lnSpc>
              </a:pP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Email</a:t>
              </a:r>
            </a:p>
          </p:txBody>
        </p:sp>
        <p:sp>
          <p:nvSpPr>
            <p:cNvPr id="63" name="TextBox 36">
              <a:extLst>
                <a:ext uri="{FF2B5EF4-FFF2-40B4-BE49-F238E27FC236}">
                  <a16:creationId xmlns:a16="http://schemas.microsoft.com/office/drawing/2014/main" id="{8385E46B-28AD-48AD-98B1-527597C142B4}"/>
                </a:ext>
              </a:extLst>
            </p:cNvPr>
            <p:cNvSpPr txBox="1"/>
            <p:nvPr/>
          </p:nvSpPr>
          <p:spPr>
            <a:xfrm>
              <a:off x="1953962" y="3897010"/>
              <a:ext cx="894987" cy="669905"/>
            </a:xfrm>
            <a:prstGeom prst="rect">
              <a:avLst/>
            </a:prstGeom>
          </p:spPr>
          <p:txBody>
            <a:bodyPr wrap="square" lIns="0" tIns="0" rIns="0" bIns="0" rtlCol="0" anchor="t">
              <a:spAutoFit/>
            </a:bodyPr>
            <a:lstStyle/>
            <a:p>
              <a:pPr algn="ctr">
                <a:lnSpc>
                  <a:spcPts val="2826"/>
                </a:lnSpc>
              </a:pP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Address</a:t>
              </a:r>
            </a:p>
          </p:txBody>
        </p:sp>
        <p:sp>
          <p:nvSpPr>
            <p:cNvPr id="64" name="Oval 63">
              <a:extLst>
                <a:ext uri="{FF2B5EF4-FFF2-40B4-BE49-F238E27FC236}">
                  <a16:creationId xmlns:a16="http://schemas.microsoft.com/office/drawing/2014/main" id="{5385351A-708A-4504-810A-D37129B6EE11}"/>
                </a:ext>
              </a:extLst>
            </p:cNvPr>
            <p:cNvSpPr/>
            <p:nvPr/>
          </p:nvSpPr>
          <p:spPr>
            <a:xfrm rot="3999137">
              <a:off x="4398067" y="1543301"/>
              <a:ext cx="867374" cy="934279"/>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5" name="Oval 64">
              <a:extLst>
                <a:ext uri="{FF2B5EF4-FFF2-40B4-BE49-F238E27FC236}">
                  <a16:creationId xmlns:a16="http://schemas.microsoft.com/office/drawing/2014/main" id="{078569D6-51FE-4618-9BA7-165282CB01CE}"/>
                </a:ext>
              </a:extLst>
            </p:cNvPr>
            <p:cNvSpPr/>
            <p:nvPr/>
          </p:nvSpPr>
          <p:spPr>
            <a:xfrm rot="3999137">
              <a:off x="5633297" y="1490415"/>
              <a:ext cx="724302" cy="1038840"/>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6" name="TextBox 36">
              <a:extLst>
                <a:ext uri="{FF2B5EF4-FFF2-40B4-BE49-F238E27FC236}">
                  <a16:creationId xmlns:a16="http://schemas.microsoft.com/office/drawing/2014/main" id="{E4135AA8-E902-4CB6-8D0E-EEBD7E6ED201}"/>
                </a:ext>
              </a:extLst>
            </p:cNvPr>
            <p:cNvSpPr txBox="1"/>
            <p:nvPr/>
          </p:nvSpPr>
          <p:spPr>
            <a:xfrm rot="20025041">
              <a:off x="8509092" y="1761676"/>
              <a:ext cx="894987" cy="405150"/>
            </a:xfrm>
            <a:prstGeom prst="rect">
              <a:avLst/>
            </a:prstGeom>
          </p:spPr>
          <p:txBody>
            <a:bodyPr wrap="square" lIns="0" tIns="0" rIns="0" bIns="0" rtlCol="0" anchor="t">
              <a:spAutoFit/>
            </a:bodyPr>
            <a:lstStyle/>
            <a:p>
              <a:pPr algn="ctr"/>
              <a:r>
                <a:rPr lang="en-US" sz="1200" u="sng"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Work ID</a:t>
              </a:r>
            </a:p>
          </p:txBody>
        </p:sp>
        <p:sp>
          <p:nvSpPr>
            <p:cNvPr id="67" name="TextBox 36">
              <a:extLst>
                <a:ext uri="{FF2B5EF4-FFF2-40B4-BE49-F238E27FC236}">
                  <a16:creationId xmlns:a16="http://schemas.microsoft.com/office/drawing/2014/main" id="{CDC127C4-A491-4F9F-B697-D29C04191A94}"/>
                </a:ext>
              </a:extLst>
            </p:cNvPr>
            <p:cNvSpPr txBox="1"/>
            <p:nvPr/>
          </p:nvSpPr>
          <p:spPr>
            <a:xfrm rot="19867035">
              <a:off x="9686865" y="1345738"/>
              <a:ext cx="894987" cy="810301"/>
            </a:xfrm>
            <a:prstGeom prst="rect">
              <a:avLst/>
            </a:prstGeom>
          </p:spPr>
          <p:txBody>
            <a:bodyPr wrap="square" lIns="0" tIns="0" rIns="0" bIns="0" rtlCol="0" anchor="t">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Work Tittle</a:t>
              </a:r>
            </a:p>
          </p:txBody>
        </p:sp>
        <p:sp>
          <p:nvSpPr>
            <p:cNvPr id="68" name="TextBox 36">
              <a:extLst>
                <a:ext uri="{FF2B5EF4-FFF2-40B4-BE49-F238E27FC236}">
                  <a16:creationId xmlns:a16="http://schemas.microsoft.com/office/drawing/2014/main" id="{FF19A1E3-D366-4D12-A745-479C23B13532}"/>
                </a:ext>
              </a:extLst>
            </p:cNvPr>
            <p:cNvSpPr txBox="1"/>
            <p:nvPr/>
          </p:nvSpPr>
          <p:spPr>
            <a:xfrm rot="20168979">
              <a:off x="10731412" y="1672491"/>
              <a:ext cx="894987" cy="810301"/>
            </a:xfrm>
            <a:prstGeom prst="rect">
              <a:avLst/>
            </a:prstGeom>
          </p:spPr>
          <p:txBody>
            <a:bodyPr wrap="square" lIns="0" tIns="0" rIns="0" bIns="0" rtlCol="0" anchor="t">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Work Details</a:t>
              </a:r>
            </a:p>
          </p:txBody>
        </p:sp>
        <p:sp>
          <p:nvSpPr>
            <p:cNvPr id="69" name="TextBox 36">
              <a:extLst>
                <a:ext uri="{FF2B5EF4-FFF2-40B4-BE49-F238E27FC236}">
                  <a16:creationId xmlns:a16="http://schemas.microsoft.com/office/drawing/2014/main" id="{66362D9B-887F-4A8A-B99E-7F7FC488F977}"/>
                </a:ext>
              </a:extLst>
            </p:cNvPr>
            <p:cNvSpPr txBox="1"/>
            <p:nvPr/>
          </p:nvSpPr>
          <p:spPr>
            <a:xfrm>
              <a:off x="11865197" y="1834259"/>
              <a:ext cx="894987" cy="405150"/>
            </a:xfrm>
            <a:prstGeom prst="rect">
              <a:avLst/>
            </a:prstGeom>
          </p:spPr>
          <p:txBody>
            <a:bodyPr wrap="square" lIns="0" tIns="0" rIns="0" bIns="0" rtlCol="0" anchor="t">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Price</a:t>
              </a:r>
            </a:p>
          </p:txBody>
        </p:sp>
        <p:sp>
          <p:nvSpPr>
            <p:cNvPr id="70" name="TextBox 36">
              <a:extLst>
                <a:ext uri="{FF2B5EF4-FFF2-40B4-BE49-F238E27FC236}">
                  <a16:creationId xmlns:a16="http://schemas.microsoft.com/office/drawing/2014/main" id="{9A15C6F8-1238-4268-ABA9-C404F64389E6}"/>
                </a:ext>
              </a:extLst>
            </p:cNvPr>
            <p:cNvSpPr txBox="1"/>
            <p:nvPr/>
          </p:nvSpPr>
          <p:spPr>
            <a:xfrm rot="19496984">
              <a:off x="10721706" y="4231964"/>
              <a:ext cx="894987" cy="669905"/>
            </a:xfrm>
            <a:prstGeom prst="rect">
              <a:avLst/>
            </a:prstGeom>
          </p:spPr>
          <p:txBody>
            <a:bodyPr wrap="square" lIns="0" tIns="0" rIns="0" bIns="0" rtlCol="0" anchor="t">
              <a:spAutoFit/>
            </a:bodyPr>
            <a:lstStyle/>
            <a:p>
              <a:pPr algn="ctr">
                <a:lnSpc>
                  <a:spcPts val="2826"/>
                </a:lnSpc>
              </a:pP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User NID</a:t>
              </a:r>
            </a:p>
          </p:txBody>
        </p:sp>
        <p:sp>
          <p:nvSpPr>
            <p:cNvPr id="71" name="Rectangle 70">
              <a:extLst>
                <a:ext uri="{FF2B5EF4-FFF2-40B4-BE49-F238E27FC236}">
                  <a16:creationId xmlns:a16="http://schemas.microsoft.com/office/drawing/2014/main" id="{6D77CC65-AAB2-42D2-8933-47758597F0A4}"/>
                </a:ext>
              </a:extLst>
            </p:cNvPr>
            <p:cNvSpPr/>
            <p:nvPr/>
          </p:nvSpPr>
          <p:spPr>
            <a:xfrm>
              <a:off x="8401300" y="4032298"/>
              <a:ext cx="804424" cy="1012876"/>
            </a:xfrm>
            <a:prstGeom prst="rect">
              <a:avLst/>
            </a:prstGeom>
          </p:spPr>
          <p:txBody>
            <a:bodyPr wrap="none">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User</a:t>
              </a:r>
            </a:p>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Name</a:t>
              </a:r>
            </a:p>
          </p:txBody>
        </p:sp>
        <p:sp>
          <p:nvSpPr>
            <p:cNvPr id="72" name="Rectangle 71">
              <a:extLst>
                <a:ext uri="{FF2B5EF4-FFF2-40B4-BE49-F238E27FC236}">
                  <a16:creationId xmlns:a16="http://schemas.microsoft.com/office/drawing/2014/main" id="{004272AF-5BD7-4B81-AF0E-4510B549EEAE}"/>
                </a:ext>
              </a:extLst>
            </p:cNvPr>
            <p:cNvSpPr/>
            <p:nvPr/>
          </p:nvSpPr>
          <p:spPr>
            <a:xfrm>
              <a:off x="9066137" y="2989218"/>
              <a:ext cx="1539218" cy="607726"/>
            </a:xfrm>
            <a:prstGeom prst="rect">
              <a:avLst/>
            </a:prstGeom>
          </p:spPr>
          <p:txBody>
            <a:bodyPr wrap="none">
              <a:spAutoFit/>
            </a:bodyPr>
            <a:lstStyle/>
            <a:p>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Work Request</a:t>
              </a:r>
              <a:endParaRPr lang="en-US" sz="1200" dirty="0">
                <a:latin typeface="Times New Roman" panose="02020603050405020304" pitchFamily="18" charset="0"/>
                <a:cs typeface="Times New Roman" panose="02020603050405020304" pitchFamily="18" charset="0"/>
              </a:endParaRPr>
            </a:p>
          </p:txBody>
        </p:sp>
        <p:sp>
          <p:nvSpPr>
            <p:cNvPr id="73" name="TextBox 36">
              <a:extLst>
                <a:ext uri="{FF2B5EF4-FFF2-40B4-BE49-F238E27FC236}">
                  <a16:creationId xmlns:a16="http://schemas.microsoft.com/office/drawing/2014/main" id="{0E505E43-ABC8-431D-8E5B-9B6B614F7610}"/>
                </a:ext>
              </a:extLst>
            </p:cNvPr>
            <p:cNvSpPr txBox="1"/>
            <p:nvPr/>
          </p:nvSpPr>
          <p:spPr>
            <a:xfrm rot="20243806">
              <a:off x="9618625" y="4242509"/>
              <a:ext cx="894987" cy="810301"/>
            </a:xfrm>
            <a:prstGeom prst="rect">
              <a:avLst/>
            </a:prstGeom>
          </p:spPr>
          <p:txBody>
            <a:bodyPr wrap="square" lIns="0" tIns="0" rIns="0" bIns="0" rtlCol="0" anchor="t">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Worker</a:t>
              </a:r>
            </a:p>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ID</a:t>
              </a:r>
            </a:p>
          </p:txBody>
        </p:sp>
        <p:sp>
          <p:nvSpPr>
            <p:cNvPr id="74" name="Rectangle 73">
              <a:extLst>
                <a:ext uri="{FF2B5EF4-FFF2-40B4-BE49-F238E27FC236}">
                  <a16:creationId xmlns:a16="http://schemas.microsoft.com/office/drawing/2014/main" id="{99467FCD-F7D5-45EE-AD18-E2BC6AC692CB}"/>
                </a:ext>
              </a:extLst>
            </p:cNvPr>
            <p:cNvSpPr/>
            <p:nvPr/>
          </p:nvSpPr>
          <p:spPr>
            <a:xfrm>
              <a:off x="8709107" y="6791598"/>
              <a:ext cx="1623760" cy="607726"/>
            </a:xfrm>
            <a:prstGeom prst="rect">
              <a:avLst/>
            </a:prstGeom>
          </p:spPr>
          <p:txBody>
            <a:bodyPr wrap="none">
              <a:spAutoFit/>
            </a:bodyPr>
            <a:lstStyle/>
            <a:p>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Skilled Worker</a:t>
              </a:r>
              <a:endParaRPr lang="en-US" sz="1200" dirty="0">
                <a:latin typeface="Times New Roman" panose="02020603050405020304" pitchFamily="18" charset="0"/>
                <a:cs typeface="Times New Roman" panose="02020603050405020304" pitchFamily="18" charset="0"/>
              </a:endParaRPr>
            </a:p>
          </p:txBody>
        </p:sp>
        <p:sp>
          <p:nvSpPr>
            <p:cNvPr id="75" name="TextBox 36">
              <a:extLst>
                <a:ext uri="{FF2B5EF4-FFF2-40B4-BE49-F238E27FC236}">
                  <a16:creationId xmlns:a16="http://schemas.microsoft.com/office/drawing/2014/main" id="{8154A15F-3AF3-4FE1-B6BF-D43CADA2313B}"/>
                </a:ext>
              </a:extLst>
            </p:cNvPr>
            <p:cNvSpPr txBox="1"/>
            <p:nvPr/>
          </p:nvSpPr>
          <p:spPr>
            <a:xfrm>
              <a:off x="8038453" y="5625522"/>
              <a:ext cx="828393" cy="810301"/>
            </a:xfrm>
            <a:prstGeom prst="rect">
              <a:avLst/>
            </a:prstGeom>
          </p:spPr>
          <p:txBody>
            <a:bodyPr wrap="square" lIns="0" tIns="0" rIns="0" bIns="0" rtlCol="0" anchor="t">
              <a:spAutoFit/>
            </a:bodyPr>
            <a:lstStyle/>
            <a:p>
              <a:pPr algn="ctr"/>
              <a:r>
                <a:rPr lang="en-US" sz="1200" u="sng"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Worker</a:t>
              </a:r>
            </a:p>
            <a:p>
              <a:pPr algn="ctr"/>
              <a:r>
                <a:rPr lang="en-US" sz="1200" u="sng"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ID</a:t>
              </a:r>
            </a:p>
          </p:txBody>
        </p:sp>
        <p:sp>
          <p:nvSpPr>
            <p:cNvPr id="76" name="TextBox 36">
              <a:extLst>
                <a:ext uri="{FF2B5EF4-FFF2-40B4-BE49-F238E27FC236}">
                  <a16:creationId xmlns:a16="http://schemas.microsoft.com/office/drawing/2014/main" id="{9A0FC3AE-0D50-408D-A36C-8A33B8C6EC09}"/>
                </a:ext>
              </a:extLst>
            </p:cNvPr>
            <p:cNvSpPr txBox="1"/>
            <p:nvPr/>
          </p:nvSpPr>
          <p:spPr>
            <a:xfrm rot="20419295">
              <a:off x="10005391" y="5490485"/>
              <a:ext cx="894987" cy="810301"/>
            </a:xfrm>
            <a:prstGeom prst="rect">
              <a:avLst/>
            </a:prstGeom>
          </p:spPr>
          <p:txBody>
            <a:bodyPr wrap="square" lIns="0" tIns="0" rIns="0" bIns="0" rtlCol="0" anchor="t">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Worker</a:t>
              </a:r>
            </a:p>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Name</a:t>
              </a:r>
            </a:p>
          </p:txBody>
        </p:sp>
        <p:sp>
          <p:nvSpPr>
            <p:cNvPr id="77" name="TextBox 36">
              <a:extLst>
                <a:ext uri="{FF2B5EF4-FFF2-40B4-BE49-F238E27FC236}">
                  <a16:creationId xmlns:a16="http://schemas.microsoft.com/office/drawing/2014/main" id="{41B35D4E-FA3F-445B-AD9E-42A2AAB61F23}"/>
                </a:ext>
              </a:extLst>
            </p:cNvPr>
            <p:cNvSpPr txBox="1"/>
            <p:nvPr/>
          </p:nvSpPr>
          <p:spPr>
            <a:xfrm>
              <a:off x="9805010" y="8150773"/>
              <a:ext cx="894987" cy="405150"/>
            </a:xfrm>
            <a:prstGeom prst="rect">
              <a:avLst/>
            </a:prstGeom>
          </p:spPr>
          <p:txBody>
            <a:bodyPr wrap="square" lIns="0" tIns="0" rIns="0" bIns="0" rtlCol="0" anchor="t">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Phone</a:t>
              </a:r>
            </a:p>
          </p:txBody>
        </p:sp>
        <p:sp>
          <p:nvSpPr>
            <p:cNvPr id="78" name="Oval 77">
              <a:extLst>
                <a:ext uri="{FF2B5EF4-FFF2-40B4-BE49-F238E27FC236}">
                  <a16:creationId xmlns:a16="http://schemas.microsoft.com/office/drawing/2014/main" id="{D404CA10-DEBD-4935-A578-5FE730C2FBD6}"/>
                </a:ext>
              </a:extLst>
            </p:cNvPr>
            <p:cNvSpPr/>
            <p:nvPr/>
          </p:nvSpPr>
          <p:spPr>
            <a:xfrm rot="9066515">
              <a:off x="9797654" y="7921233"/>
              <a:ext cx="897671" cy="802409"/>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Times New Roman" panose="02020603050405020304" pitchFamily="18" charset="0"/>
                <a:cs typeface="Times New Roman" panose="02020603050405020304" pitchFamily="18" charset="0"/>
              </a:endParaRPr>
            </a:p>
          </p:txBody>
        </p:sp>
        <p:sp>
          <p:nvSpPr>
            <p:cNvPr id="79" name="TextBox 36">
              <a:extLst>
                <a:ext uri="{FF2B5EF4-FFF2-40B4-BE49-F238E27FC236}">
                  <a16:creationId xmlns:a16="http://schemas.microsoft.com/office/drawing/2014/main" id="{9E7B1888-4C81-435A-99E8-E5CAD4337DB8}"/>
                </a:ext>
              </a:extLst>
            </p:cNvPr>
            <p:cNvSpPr txBox="1"/>
            <p:nvPr/>
          </p:nvSpPr>
          <p:spPr>
            <a:xfrm>
              <a:off x="7913416" y="8202509"/>
              <a:ext cx="894987" cy="405150"/>
            </a:xfrm>
            <a:prstGeom prst="rect">
              <a:avLst/>
            </a:prstGeom>
          </p:spPr>
          <p:txBody>
            <a:bodyPr wrap="square" lIns="0" tIns="0" rIns="0" bIns="0" rtlCol="0" anchor="t">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Address</a:t>
              </a:r>
            </a:p>
          </p:txBody>
        </p:sp>
        <p:sp>
          <p:nvSpPr>
            <p:cNvPr id="80" name="TextBox 36">
              <a:extLst>
                <a:ext uri="{FF2B5EF4-FFF2-40B4-BE49-F238E27FC236}">
                  <a16:creationId xmlns:a16="http://schemas.microsoft.com/office/drawing/2014/main" id="{A415849A-A3DF-428D-9B70-ACE38545D5F5}"/>
                </a:ext>
              </a:extLst>
            </p:cNvPr>
            <p:cNvSpPr txBox="1"/>
            <p:nvPr/>
          </p:nvSpPr>
          <p:spPr>
            <a:xfrm>
              <a:off x="8738376" y="8290193"/>
              <a:ext cx="894987" cy="405150"/>
            </a:xfrm>
            <a:prstGeom prst="rect">
              <a:avLst/>
            </a:prstGeom>
          </p:spPr>
          <p:txBody>
            <a:bodyPr wrap="square" lIns="0" tIns="0" rIns="0" bIns="0" rtlCol="0" anchor="t">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Email</a:t>
              </a:r>
            </a:p>
          </p:txBody>
        </p:sp>
        <p:sp>
          <p:nvSpPr>
            <p:cNvPr id="81" name="TextBox 36">
              <a:extLst>
                <a:ext uri="{FF2B5EF4-FFF2-40B4-BE49-F238E27FC236}">
                  <a16:creationId xmlns:a16="http://schemas.microsoft.com/office/drawing/2014/main" id="{9AFDEBC5-1458-4591-8375-C2476636D7EA}"/>
                </a:ext>
              </a:extLst>
            </p:cNvPr>
            <p:cNvSpPr txBox="1"/>
            <p:nvPr/>
          </p:nvSpPr>
          <p:spPr>
            <a:xfrm>
              <a:off x="6853454" y="7830751"/>
              <a:ext cx="758520" cy="810301"/>
            </a:xfrm>
            <a:prstGeom prst="rect">
              <a:avLst/>
            </a:prstGeom>
          </p:spPr>
          <p:txBody>
            <a:bodyPr wrap="square" lIns="0" tIns="0" rIns="0" bIns="0" rtlCol="0" anchor="t">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Service</a:t>
              </a:r>
            </a:p>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type</a:t>
              </a:r>
            </a:p>
          </p:txBody>
        </p:sp>
        <p:sp>
          <p:nvSpPr>
            <p:cNvPr id="82" name="Oval 81">
              <a:extLst>
                <a:ext uri="{FF2B5EF4-FFF2-40B4-BE49-F238E27FC236}">
                  <a16:creationId xmlns:a16="http://schemas.microsoft.com/office/drawing/2014/main" id="{0356B340-EEF5-4846-B0CA-FF466AF01910}"/>
                </a:ext>
              </a:extLst>
            </p:cNvPr>
            <p:cNvSpPr/>
            <p:nvPr/>
          </p:nvSpPr>
          <p:spPr>
            <a:xfrm rot="14799137">
              <a:off x="8754951" y="8098180"/>
              <a:ext cx="911086" cy="804811"/>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83" name="TextBox 36">
              <a:extLst>
                <a:ext uri="{FF2B5EF4-FFF2-40B4-BE49-F238E27FC236}">
                  <a16:creationId xmlns:a16="http://schemas.microsoft.com/office/drawing/2014/main" id="{604D9751-D16E-4560-9971-E4D0F86D0B3C}"/>
                </a:ext>
              </a:extLst>
            </p:cNvPr>
            <p:cNvSpPr txBox="1"/>
            <p:nvPr/>
          </p:nvSpPr>
          <p:spPr>
            <a:xfrm>
              <a:off x="1543832" y="7134514"/>
              <a:ext cx="894987" cy="696353"/>
            </a:xfrm>
            <a:prstGeom prst="rect">
              <a:avLst/>
            </a:prstGeom>
          </p:spPr>
          <p:txBody>
            <a:bodyPr wrap="square" lIns="0" tIns="0" rIns="0" bIns="0" rtlCol="0" anchor="t">
              <a:spAutoFit/>
            </a:bodyPr>
            <a:lstStyle/>
            <a:p>
              <a:pPr algn="ctr">
                <a:lnSpc>
                  <a:spcPts val="2826"/>
                </a:lnSpc>
              </a:pP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Rating</a:t>
              </a:r>
            </a:p>
          </p:txBody>
        </p:sp>
        <p:sp>
          <p:nvSpPr>
            <p:cNvPr id="84" name="TextBox 36">
              <a:extLst>
                <a:ext uri="{FF2B5EF4-FFF2-40B4-BE49-F238E27FC236}">
                  <a16:creationId xmlns:a16="http://schemas.microsoft.com/office/drawing/2014/main" id="{47CB85AB-7272-4EE7-8C85-4D6535379DA5}"/>
                </a:ext>
              </a:extLst>
            </p:cNvPr>
            <p:cNvSpPr txBox="1"/>
            <p:nvPr/>
          </p:nvSpPr>
          <p:spPr>
            <a:xfrm rot="21255263">
              <a:off x="3729509" y="7425618"/>
              <a:ext cx="1165200" cy="945350"/>
            </a:xfrm>
            <a:prstGeom prst="rect">
              <a:avLst/>
            </a:prstGeom>
          </p:spPr>
          <p:txBody>
            <a:bodyPr wrap="square" lIns="0" tIns="0" rIns="0" bIns="0" rtlCol="0" anchor="t">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Worker</a:t>
              </a:r>
            </a:p>
            <a:p>
              <a:pPr algn="ctr"/>
              <a:r>
                <a:rPr lang="en-US" sz="16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 </a:t>
              </a: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ID</a:t>
              </a:r>
            </a:p>
          </p:txBody>
        </p:sp>
        <p:sp>
          <p:nvSpPr>
            <p:cNvPr id="85" name="TextBox 36">
              <a:extLst>
                <a:ext uri="{FF2B5EF4-FFF2-40B4-BE49-F238E27FC236}">
                  <a16:creationId xmlns:a16="http://schemas.microsoft.com/office/drawing/2014/main" id="{FC95AD03-3012-4274-B989-F221857D67B6}"/>
                </a:ext>
              </a:extLst>
            </p:cNvPr>
            <p:cNvSpPr txBox="1"/>
            <p:nvPr/>
          </p:nvSpPr>
          <p:spPr>
            <a:xfrm>
              <a:off x="5121264" y="7514186"/>
              <a:ext cx="894987" cy="405150"/>
            </a:xfrm>
            <a:prstGeom prst="rect">
              <a:avLst/>
            </a:prstGeom>
          </p:spPr>
          <p:txBody>
            <a:bodyPr wrap="square" lIns="0" tIns="0" rIns="0" bIns="0" rtlCol="0" anchor="t">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Work ID</a:t>
              </a:r>
            </a:p>
          </p:txBody>
        </p:sp>
        <p:sp>
          <p:nvSpPr>
            <p:cNvPr id="86" name="TextBox 36">
              <a:extLst>
                <a:ext uri="{FF2B5EF4-FFF2-40B4-BE49-F238E27FC236}">
                  <a16:creationId xmlns:a16="http://schemas.microsoft.com/office/drawing/2014/main" id="{2C9140C6-B459-485B-B0AD-A73FA1504D46}"/>
                </a:ext>
              </a:extLst>
            </p:cNvPr>
            <p:cNvSpPr txBox="1"/>
            <p:nvPr/>
          </p:nvSpPr>
          <p:spPr>
            <a:xfrm>
              <a:off x="2776732" y="7099248"/>
              <a:ext cx="894987" cy="669905"/>
            </a:xfrm>
            <a:prstGeom prst="rect">
              <a:avLst/>
            </a:prstGeom>
          </p:spPr>
          <p:txBody>
            <a:bodyPr wrap="square" lIns="0" tIns="0" rIns="0" bIns="0" rtlCol="0" anchor="t">
              <a:spAutoFit/>
            </a:bodyPr>
            <a:lstStyle/>
            <a:p>
              <a:pPr algn="ctr">
                <a:lnSpc>
                  <a:spcPts val="2826"/>
                </a:lnSpc>
              </a:pP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Review</a:t>
              </a:r>
            </a:p>
          </p:txBody>
        </p:sp>
        <p:sp>
          <p:nvSpPr>
            <p:cNvPr id="87" name="TextBox 36">
              <a:extLst>
                <a:ext uri="{FF2B5EF4-FFF2-40B4-BE49-F238E27FC236}">
                  <a16:creationId xmlns:a16="http://schemas.microsoft.com/office/drawing/2014/main" id="{346F026A-5CD4-45ED-A228-ED23F9797C2C}"/>
                </a:ext>
              </a:extLst>
            </p:cNvPr>
            <p:cNvSpPr txBox="1"/>
            <p:nvPr/>
          </p:nvSpPr>
          <p:spPr>
            <a:xfrm>
              <a:off x="2651221" y="5889060"/>
              <a:ext cx="1576332" cy="669905"/>
            </a:xfrm>
            <a:prstGeom prst="rect">
              <a:avLst/>
            </a:prstGeom>
          </p:spPr>
          <p:txBody>
            <a:bodyPr wrap="square" lIns="0" tIns="0" rIns="0" bIns="0" rtlCol="0" anchor="t">
              <a:spAutoFit/>
            </a:bodyPr>
            <a:lstStyle/>
            <a:p>
              <a:pPr algn="ctr">
                <a:lnSpc>
                  <a:spcPts val="2826"/>
                </a:lnSpc>
              </a:pP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Review/Rating</a:t>
              </a:r>
            </a:p>
          </p:txBody>
        </p:sp>
        <p:sp>
          <p:nvSpPr>
            <p:cNvPr id="88" name="TextBox 36">
              <a:extLst>
                <a:ext uri="{FF2B5EF4-FFF2-40B4-BE49-F238E27FC236}">
                  <a16:creationId xmlns:a16="http://schemas.microsoft.com/office/drawing/2014/main" id="{E9B179EF-B791-4EE0-9E6D-6E628104B94C}"/>
                </a:ext>
              </a:extLst>
            </p:cNvPr>
            <p:cNvSpPr txBox="1"/>
            <p:nvPr/>
          </p:nvSpPr>
          <p:spPr>
            <a:xfrm>
              <a:off x="6326944" y="2992935"/>
              <a:ext cx="1138965" cy="810301"/>
            </a:xfrm>
            <a:prstGeom prst="rect">
              <a:avLst/>
            </a:prstGeom>
          </p:spPr>
          <p:txBody>
            <a:bodyPr wrap="square" lIns="0" tIns="0" rIns="0" bIns="0" rtlCol="0" anchor="t">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Provide</a:t>
              </a:r>
            </a:p>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work</a:t>
              </a:r>
            </a:p>
          </p:txBody>
        </p:sp>
        <p:sp>
          <p:nvSpPr>
            <p:cNvPr id="89" name="TextBox 36">
              <a:extLst>
                <a:ext uri="{FF2B5EF4-FFF2-40B4-BE49-F238E27FC236}">
                  <a16:creationId xmlns:a16="http://schemas.microsoft.com/office/drawing/2014/main" id="{DD249975-44D9-4F48-BB1C-4DED107B1505}"/>
                </a:ext>
              </a:extLst>
            </p:cNvPr>
            <p:cNvSpPr txBox="1"/>
            <p:nvPr/>
          </p:nvSpPr>
          <p:spPr>
            <a:xfrm>
              <a:off x="12766694" y="3132894"/>
              <a:ext cx="894987" cy="405150"/>
            </a:xfrm>
            <a:prstGeom prst="rect">
              <a:avLst/>
            </a:prstGeom>
          </p:spPr>
          <p:txBody>
            <a:bodyPr wrap="square" lIns="0" tIns="0" rIns="0" bIns="0" rtlCol="0" anchor="t">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YES / No</a:t>
              </a:r>
            </a:p>
          </p:txBody>
        </p:sp>
        <p:sp>
          <p:nvSpPr>
            <p:cNvPr id="90" name="TextBox 36">
              <a:extLst>
                <a:ext uri="{FF2B5EF4-FFF2-40B4-BE49-F238E27FC236}">
                  <a16:creationId xmlns:a16="http://schemas.microsoft.com/office/drawing/2014/main" id="{19FB7CA2-75A8-469A-A567-31DF4F08A60E}"/>
                </a:ext>
              </a:extLst>
            </p:cNvPr>
            <p:cNvSpPr txBox="1"/>
            <p:nvPr/>
          </p:nvSpPr>
          <p:spPr>
            <a:xfrm>
              <a:off x="3108920" y="4613668"/>
              <a:ext cx="894987" cy="405150"/>
            </a:xfrm>
            <a:prstGeom prst="rect">
              <a:avLst/>
            </a:prstGeom>
          </p:spPr>
          <p:txBody>
            <a:bodyPr wrap="square" lIns="0" tIns="0" rIns="0" bIns="0" rtlCol="0" anchor="t">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Does</a:t>
              </a:r>
            </a:p>
          </p:txBody>
        </p:sp>
        <p:sp>
          <p:nvSpPr>
            <p:cNvPr id="91" name="TextBox 36">
              <a:extLst>
                <a:ext uri="{FF2B5EF4-FFF2-40B4-BE49-F238E27FC236}">
                  <a16:creationId xmlns:a16="http://schemas.microsoft.com/office/drawing/2014/main" id="{4D63F488-069E-4F9B-BAFA-A136C860EB00}"/>
                </a:ext>
              </a:extLst>
            </p:cNvPr>
            <p:cNvSpPr txBox="1"/>
            <p:nvPr/>
          </p:nvSpPr>
          <p:spPr>
            <a:xfrm>
              <a:off x="6411399" y="6445055"/>
              <a:ext cx="1222901" cy="810301"/>
            </a:xfrm>
            <a:prstGeom prst="rect">
              <a:avLst/>
            </a:prstGeom>
          </p:spPr>
          <p:txBody>
            <a:bodyPr wrap="square" lIns="0" tIns="0" rIns="0" bIns="0" rtlCol="0" anchor="t">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Complete</a:t>
              </a:r>
            </a:p>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Work</a:t>
              </a:r>
            </a:p>
          </p:txBody>
        </p:sp>
        <p:sp>
          <p:nvSpPr>
            <p:cNvPr id="92" name="Rectangle 91">
              <a:extLst>
                <a:ext uri="{FF2B5EF4-FFF2-40B4-BE49-F238E27FC236}">
                  <a16:creationId xmlns:a16="http://schemas.microsoft.com/office/drawing/2014/main" id="{4332C0BA-4F79-41D4-B6B6-28615FA68756}"/>
                </a:ext>
              </a:extLst>
            </p:cNvPr>
            <p:cNvSpPr/>
            <p:nvPr/>
          </p:nvSpPr>
          <p:spPr>
            <a:xfrm>
              <a:off x="13454994" y="6775670"/>
              <a:ext cx="1440692" cy="607726"/>
            </a:xfrm>
            <a:prstGeom prst="rect">
              <a:avLst/>
            </a:prstGeom>
          </p:spPr>
          <p:txBody>
            <a:bodyPr wrap="none">
              <a:spAutoFit/>
            </a:bodyPr>
            <a:lstStyle/>
            <a:p>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Work Accept</a:t>
              </a:r>
              <a:endParaRPr lang="en-US" sz="1200" dirty="0">
                <a:latin typeface="Times New Roman" panose="02020603050405020304" pitchFamily="18" charset="0"/>
                <a:cs typeface="Times New Roman" panose="02020603050405020304" pitchFamily="18" charset="0"/>
              </a:endParaRPr>
            </a:p>
          </p:txBody>
        </p:sp>
        <p:sp>
          <p:nvSpPr>
            <p:cNvPr id="93" name="Rectangle 92">
              <a:extLst>
                <a:ext uri="{FF2B5EF4-FFF2-40B4-BE49-F238E27FC236}">
                  <a16:creationId xmlns:a16="http://schemas.microsoft.com/office/drawing/2014/main" id="{75E73964-65C0-4B8C-9FB4-D6C8358BE238}"/>
                </a:ext>
              </a:extLst>
            </p:cNvPr>
            <p:cNvSpPr/>
            <p:nvPr/>
          </p:nvSpPr>
          <p:spPr>
            <a:xfrm rot="10800000">
              <a:off x="13223270" y="6815426"/>
              <a:ext cx="2146651" cy="464650"/>
            </a:xfrm>
            <a:prstGeom prst="rect">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94" name="Oval 93">
              <a:extLst>
                <a:ext uri="{FF2B5EF4-FFF2-40B4-BE49-F238E27FC236}">
                  <a16:creationId xmlns:a16="http://schemas.microsoft.com/office/drawing/2014/main" id="{E8B4B4FF-0CC8-404F-AD6E-5218FEB7DE07}"/>
                </a:ext>
              </a:extLst>
            </p:cNvPr>
            <p:cNvSpPr/>
            <p:nvPr/>
          </p:nvSpPr>
          <p:spPr>
            <a:xfrm rot="19866515">
              <a:off x="12409880" y="5231001"/>
              <a:ext cx="1218629" cy="932115"/>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95" name="Oval 94">
              <a:extLst>
                <a:ext uri="{FF2B5EF4-FFF2-40B4-BE49-F238E27FC236}">
                  <a16:creationId xmlns:a16="http://schemas.microsoft.com/office/drawing/2014/main" id="{54146690-94EE-4743-A01F-2A39BCC57526}"/>
                </a:ext>
              </a:extLst>
            </p:cNvPr>
            <p:cNvSpPr/>
            <p:nvPr/>
          </p:nvSpPr>
          <p:spPr>
            <a:xfrm rot="3999137">
              <a:off x="15165860" y="5331280"/>
              <a:ext cx="1015277" cy="1048092"/>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96" name="Oval 95">
              <a:extLst>
                <a:ext uri="{FF2B5EF4-FFF2-40B4-BE49-F238E27FC236}">
                  <a16:creationId xmlns:a16="http://schemas.microsoft.com/office/drawing/2014/main" id="{F9405C1D-9E4D-4E6A-A920-30AF7CE4FFF9}"/>
                </a:ext>
              </a:extLst>
            </p:cNvPr>
            <p:cNvSpPr/>
            <p:nvPr/>
          </p:nvSpPr>
          <p:spPr>
            <a:xfrm rot="19866515">
              <a:off x="16233412" y="5375170"/>
              <a:ext cx="1218629" cy="932115"/>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97" name="TextBox 36">
              <a:extLst>
                <a:ext uri="{FF2B5EF4-FFF2-40B4-BE49-F238E27FC236}">
                  <a16:creationId xmlns:a16="http://schemas.microsoft.com/office/drawing/2014/main" id="{6D947F00-298C-4591-8330-9C95EBA47EFF}"/>
                </a:ext>
              </a:extLst>
            </p:cNvPr>
            <p:cNvSpPr txBox="1"/>
            <p:nvPr/>
          </p:nvSpPr>
          <p:spPr>
            <a:xfrm rot="20004894">
              <a:off x="12572674" y="5565372"/>
              <a:ext cx="894987" cy="405150"/>
            </a:xfrm>
            <a:prstGeom prst="rect">
              <a:avLst/>
            </a:prstGeom>
          </p:spPr>
          <p:txBody>
            <a:bodyPr wrap="square" lIns="0" tIns="0" rIns="0" bIns="0" rtlCol="0" anchor="t">
              <a:spAutoFit/>
            </a:bodyPr>
            <a:lstStyle/>
            <a:p>
              <a:pPr algn="ctr"/>
              <a:r>
                <a:rPr lang="en-US" sz="1200" u="sng"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Work ID</a:t>
              </a:r>
            </a:p>
          </p:txBody>
        </p:sp>
        <p:sp>
          <p:nvSpPr>
            <p:cNvPr id="98" name="TextBox 36">
              <a:extLst>
                <a:ext uri="{FF2B5EF4-FFF2-40B4-BE49-F238E27FC236}">
                  <a16:creationId xmlns:a16="http://schemas.microsoft.com/office/drawing/2014/main" id="{D5B91AE7-6D5A-4904-89C4-73A1E218FC32}"/>
                </a:ext>
              </a:extLst>
            </p:cNvPr>
            <p:cNvSpPr txBox="1"/>
            <p:nvPr/>
          </p:nvSpPr>
          <p:spPr>
            <a:xfrm rot="20569797">
              <a:off x="13746878" y="5206207"/>
              <a:ext cx="894987" cy="810301"/>
            </a:xfrm>
            <a:prstGeom prst="rect">
              <a:avLst/>
            </a:prstGeom>
          </p:spPr>
          <p:txBody>
            <a:bodyPr wrap="square" lIns="0" tIns="0" rIns="0" bIns="0" rtlCol="0" anchor="t">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Work Tittle</a:t>
              </a:r>
            </a:p>
          </p:txBody>
        </p:sp>
        <p:sp>
          <p:nvSpPr>
            <p:cNvPr id="99" name="TextBox 36">
              <a:extLst>
                <a:ext uri="{FF2B5EF4-FFF2-40B4-BE49-F238E27FC236}">
                  <a16:creationId xmlns:a16="http://schemas.microsoft.com/office/drawing/2014/main" id="{8341D787-4CB8-4F61-BDD3-C88560EDE519}"/>
                </a:ext>
              </a:extLst>
            </p:cNvPr>
            <p:cNvSpPr txBox="1"/>
            <p:nvPr/>
          </p:nvSpPr>
          <p:spPr>
            <a:xfrm rot="19933268">
              <a:off x="15209867" y="5510016"/>
              <a:ext cx="894987" cy="810301"/>
            </a:xfrm>
            <a:prstGeom prst="rect">
              <a:avLst/>
            </a:prstGeom>
          </p:spPr>
          <p:txBody>
            <a:bodyPr wrap="square" lIns="0" tIns="0" rIns="0" bIns="0" rtlCol="0" anchor="t">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Work Details</a:t>
              </a:r>
            </a:p>
          </p:txBody>
        </p:sp>
        <p:sp>
          <p:nvSpPr>
            <p:cNvPr id="100" name="TextBox 36">
              <a:extLst>
                <a:ext uri="{FF2B5EF4-FFF2-40B4-BE49-F238E27FC236}">
                  <a16:creationId xmlns:a16="http://schemas.microsoft.com/office/drawing/2014/main" id="{A2295528-61F8-4682-BD60-42834C8CDEBD}"/>
                </a:ext>
              </a:extLst>
            </p:cNvPr>
            <p:cNvSpPr txBox="1"/>
            <p:nvPr/>
          </p:nvSpPr>
          <p:spPr>
            <a:xfrm>
              <a:off x="16312989" y="5609309"/>
              <a:ext cx="894987" cy="405150"/>
            </a:xfrm>
            <a:prstGeom prst="rect">
              <a:avLst/>
            </a:prstGeom>
          </p:spPr>
          <p:txBody>
            <a:bodyPr wrap="square" lIns="0" tIns="0" rIns="0" bIns="0" rtlCol="0" anchor="t">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Price</a:t>
              </a:r>
            </a:p>
          </p:txBody>
        </p:sp>
        <p:sp>
          <p:nvSpPr>
            <p:cNvPr id="101" name="Oval 100">
              <a:extLst>
                <a:ext uri="{FF2B5EF4-FFF2-40B4-BE49-F238E27FC236}">
                  <a16:creationId xmlns:a16="http://schemas.microsoft.com/office/drawing/2014/main" id="{331EFD97-6D95-4436-895A-6DE828FC280A}"/>
                </a:ext>
              </a:extLst>
            </p:cNvPr>
            <p:cNvSpPr/>
            <p:nvPr/>
          </p:nvSpPr>
          <p:spPr>
            <a:xfrm rot="3999137">
              <a:off x="9581769" y="1210772"/>
              <a:ext cx="1015277" cy="1048092"/>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2" name="Oval 101">
              <a:extLst>
                <a:ext uri="{FF2B5EF4-FFF2-40B4-BE49-F238E27FC236}">
                  <a16:creationId xmlns:a16="http://schemas.microsoft.com/office/drawing/2014/main" id="{D0FB65AB-663A-4588-A37C-A8408E09E4DD}"/>
                </a:ext>
              </a:extLst>
            </p:cNvPr>
            <p:cNvSpPr/>
            <p:nvPr/>
          </p:nvSpPr>
          <p:spPr>
            <a:xfrm rot="9212811">
              <a:off x="12711286" y="7691138"/>
              <a:ext cx="1218629" cy="932115"/>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03" name="Straight Connector 102">
              <a:extLst>
                <a:ext uri="{FF2B5EF4-FFF2-40B4-BE49-F238E27FC236}">
                  <a16:creationId xmlns:a16="http://schemas.microsoft.com/office/drawing/2014/main" id="{466F7AAE-8C0B-432F-8D77-BFCA770D091A}"/>
                </a:ext>
              </a:extLst>
            </p:cNvPr>
            <p:cNvCxnSpPr>
              <a:cxnSpLocks/>
            </p:cNvCxnSpPr>
            <p:nvPr/>
          </p:nvCxnSpPr>
          <p:spPr>
            <a:xfrm flipH="1">
              <a:off x="13553934" y="7254465"/>
              <a:ext cx="382594" cy="397956"/>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4A2941ED-80A7-4710-AA68-8E84E871AD5F}"/>
                </a:ext>
              </a:extLst>
            </p:cNvPr>
            <p:cNvSpPr/>
            <p:nvPr/>
          </p:nvSpPr>
          <p:spPr>
            <a:xfrm rot="9212811">
              <a:off x="13946150" y="7782603"/>
              <a:ext cx="1218629" cy="932115"/>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05" name="Straight Connector 104">
              <a:extLst>
                <a:ext uri="{FF2B5EF4-FFF2-40B4-BE49-F238E27FC236}">
                  <a16:creationId xmlns:a16="http://schemas.microsoft.com/office/drawing/2014/main" id="{538880A1-0004-4234-8DB3-ADB7BD31AE40}"/>
                </a:ext>
              </a:extLst>
            </p:cNvPr>
            <p:cNvCxnSpPr>
              <a:cxnSpLocks/>
              <a:endCxn id="104" idx="4"/>
            </p:cNvCxnSpPr>
            <p:nvPr/>
          </p:nvCxnSpPr>
          <p:spPr>
            <a:xfrm>
              <a:off x="14323342" y="7264496"/>
              <a:ext cx="16587" cy="566904"/>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106" name="Oval 105">
              <a:extLst>
                <a:ext uri="{FF2B5EF4-FFF2-40B4-BE49-F238E27FC236}">
                  <a16:creationId xmlns:a16="http://schemas.microsoft.com/office/drawing/2014/main" id="{5D7CE1A1-DCC6-46B7-99FF-810D14198614}"/>
                </a:ext>
              </a:extLst>
            </p:cNvPr>
            <p:cNvSpPr/>
            <p:nvPr/>
          </p:nvSpPr>
          <p:spPr>
            <a:xfrm rot="19866515">
              <a:off x="15101473" y="7893029"/>
              <a:ext cx="1218629" cy="932115"/>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cxnSp>
          <p:nvCxnSpPr>
            <p:cNvPr id="107" name="Straight Connector 106">
              <a:extLst>
                <a:ext uri="{FF2B5EF4-FFF2-40B4-BE49-F238E27FC236}">
                  <a16:creationId xmlns:a16="http://schemas.microsoft.com/office/drawing/2014/main" id="{73142016-7B00-4ADE-BA08-F9BCA39CE655}"/>
                </a:ext>
              </a:extLst>
            </p:cNvPr>
            <p:cNvCxnSpPr>
              <a:cxnSpLocks/>
              <a:endCxn id="106" idx="0"/>
            </p:cNvCxnSpPr>
            <p:nvPr/>
          </p:nvCxnSpPr>
          <p:spPr>
            <a:xfrm>
              <a:off x="14860259" y="7274012"/>
              <a:ext cx="616759" cy="677024"/>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108" name="TextBox 36">
              <a:extLst>
                <a:ext uri="{FF2B5EF4-FFF2-40B4-BE49-F238E27FC236}">
                  <a16:creationId xmlns:a16="http://schemas.microsoft.com/office/drawing/2014/main" id="{48C54623-B9EF-40A0-B05F-2A7DB08A3F07}"/>
                </a:ext>
              </a:extLst>
            </p:cNvPr>
            <p:cNvSpPr txBox="1"/>
            <p:nvPr/>
          </p:nvSpPr>
          <p:spPr>
            <a:xfrm rot="19442291">
              <a:off x="15209867" y="8175919"/>
              <a:ext cx="894987" cy="405150"/>
            </a:xfrm>
            <a:prstGeom prst="rect">
              <a:avLst/>
            </a:prstGeom>
          </p:spPr>
          <p:txBody>
            <a:bodyPr wrap="square" lIns="0" tIns="0" rIns="0" bIns="0" rtlCol="0" anchor="t">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User NID</a:t>
              </a:r>
            </a:p>
          </p:txBody>
        </p:sp>
        <p:sp>
          <p:nvSpPr>
            <p:cNvPr id="109" name="Rectangle 108">
              <a:extLst>
                <a:ext uri="{FF2B5EF4-FFF2-40B4-BE49-F238E27FC236}">
                  <a16:creationId xmlns:a16="http://schemas.microsoft.com/office/drawing/2014/main" id="{44FC1740-58D3-463D-9AE2-98BDB77FF008}"/>
                </a:ext>
              </a:extLst>
            </p:cNvPr>
            <p:cNvSpPr/>
            <p:nvPr/>
          </p:nvSpPr>
          <p:spPr>
            <a:xfrm rot="19396367">
              <a:off x="12896789" y="7648251"/>
              <a:ext cx="804424" cy="1012876"/>
            </a:xfrm>
            <a:prstGeom prst="rect">
              <a:avLst/>
            </a:prstGeom>
          </p:spPr>
          <p:txBody>
            <a:bodyPr wrap="none">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User</a:t>
              </a:r>
            </a:p>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Name</a:t>
              </a:r>
            </a:p>
          </p:txBody>
        </p:sp>
        <p:sp>
          <p:nvSpPr>
            <p:cNvPr id="110" name="TextBox 36">
              <a:extLst>
                <a:ext uri="{FF2B5EF4-FFF2-40B4-BE49-F238E27FC236}">
                  <a16:creationId xmlns:a16="http://schemas.microsoft.com/office/drawing/2014/main" id="{39DE1BFA-3D18-4F65-92AB-FAEA201D12D9}"/>
                </a:ext>
              </a:extLst>
            </p:cNvPr>
            <p:cNvSpPr txBox="1"/>
            <p:nvPr/>
          </p:nvSpPr>
          <p:spPr>
            <a:xfrm rot="19833579">
              <a:off x="14071362" y="7999978"/>
              <a:ext cx="894987" cy="810301"/>
            </a:xfrm>
            <a:prstGeom prst="rect">
              <a:avLst/>
            </a:prstGeom>
          </p:spPr>
          <p:txBody>
            <a:bodyPr wrap="square" lIns="0" tIns="0" rIns="0" bIns="0" rtlCol="0" anchor="t">
              <a:spAutoFit/>
            </a:bodyPr>
            <a:lstStyle/>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Worker</a:t>
              </a:r>
            </a:p>
            <a:p>
              <a:pPr algn="ctr"/>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ID</a:t>
              </a:r>
            </a:p>
          </p:txBody>
        </p:sp>
        <p:sp>
          <p:nvSpPr>
            <p:cNvPr id="111" name="Oval 110">
              <a:extLst>
                <a:ext uri="{FF2B5EF4-FFF2-40B4-BE49-F238E27FC236}">
                  <a16:creationId xmlns:a16="http://schemas.microsoft.com/office/drawing/2014/main" id="{2121FB52-657B-4B46-94EA-442DDF62F724}"/>
                </a:ext>
              </a:extLst>
            </p:cNvPr>
            <p:cNvSpPr/>
            <p:nvPr/>
          </p:nvSpPr>
          <p:spPr>
            <a:xfrm rot="19145893">
              <a:off x="16199525" y="7211577"/>
              <a:ext cx="1049295" cy="1110540"/>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cxnSp>
          <p:nvCxnSpPr>
            <p:cNvPr id="112" name="Straight Connector 111">
              <a:extLst>
                <a:ext uri="{FF2B5EF4-FFF2-40B4-BE49-F238E27FC236}">
                  <a16:creationId xmlns:a16="http://schemas.microsoft.com/office/drawing/2014/main" id="{67EB6B91-B069-412A-B021-29FB0AFD96E6}"/>
                </a:ext>
              </a:extLst>
            </p:cNvPr>
            <p:cNvCxnSpPr>
              <a:cxnSpLocks/>
            </p:cNvCxnSpPr>
            <p:nvPr/>
          </p:nvCxnSpPr>
          <p:spPr>
            <a:xfrm>
              <a:off x="15365460" y="7023178"/>
              <a:ext cx="898085" cy="507732"/>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113" name="Rectangle 112">
              <a:extLst>
                <a:ext uri="{FF2B5EF4-FFF2-40B4-BE49-F238E27FC236}">
                  <a16:creationId xmlns:a16="http://schemas.microsoft.com/office/drawing/2014/main" id="{42539AB0-4237-488F-9973-CA8E3B7EDFA1}"/>
                </a:ext>
              </a:extLst>
            </p:cNvPr>
            <p:cNvSpPr/>
            <p:nvPr/>
          </p:nvSpPr>
          <p:spPr>
            <a:xfrm rot="18412046">
              <a:off x="15910617" y="7600552"/>
              <a:ext cx="1646627" cy="402678"/>
            </a:xfrm>
            <a:prstGeom prst="rect">
              <a:avLst/>
            </a:prstGeom>
          </p:spPr>
          <p:txBody>
            <a:bodyPr wrap="none">
              <a:spAutoFit/>
            </a:bodyPr>
            <a:lstStyle/>
            <a:p>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Schedule</a:t>
              </a:r>
              <a:endParaRPr lang="en-US" sz="1200" dirty="0">
                <a:latin typeface="Times New Roman" panose="02020603050405020304" pitchFamily="18" charset="0"/>
                <a:cs typeface="Times New Roman" panose="02020603050405020304" pitchFamily="18" charset="0"/>
              </a:endParaRPr>
            </a:p>
          </p:txBody>
        </p:sp>
        <p:cxnSp>
          <p:nvCxnSpPr>
            <p:cNvPr id="114" name="Straight Connector 113">
              <a:extLst>
                <a:ext uri="{FF2B5EF4-FFF2-40B4-BE49-F238E27FC236}">
                  <a16:creationId xmlns:a16="http://schemas.microsoft.com/office/drawing/2014/main" id="{2330A3E4-8D68-448E-BE80-56D947A162E4}"/>
                </a:ext>
              </a:extLst>
            </p:cNvPr>
            <p:cNvCxnSpPr>
              <a:cxnSpLocks/>
            </p:cNvCxnSpPr>
            <p:nvPr/>
          </p:nvCxnSpPr>
          <p:spPr>
            <a:xfrm flipH="1" flipV="1">
              <a:off x="13098745" y="6141643"/>
              <a:ext cx="455189" cy="700357"/>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00EFFB9C-7DDA-47C6-B7D0-46C831471505}"/>
                </a:ext>
              </a:extLst>
            </p:cNvPr>
            <p:cNvCxnSpPr>
              <a:cxnSpLocks/>
            </p:cNvCxnSpPr>
            <p:nvPr/>
          </p:nvCxnSpPr>
          <p:spPr>
            <a:xfrm flipV="1">
              <a:off x="15168638" y="6308781"/>
              <a:ext cx="335743" cy="488176"/>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1BD0447A-AF68-4E99-AAAE-C9D1D7982E0C}"/>
                </a:ext>
              </a:extLst>
            </p:cNvPr>
            <p:cNvCxnSpPr>
              <a:cxnSpLocks/>
              <a:stCxn id="93" idx="2"/>
            </p:cNvCxnSpPr>
            <p:nvPr/>
          </p:nvCxnSpPr>
          <p:spPr>
            <a:xfrm flipH="1" flipV="1">
              <a:off x="14136691" y="6082266"/>
              <a:ext cx="159904" cy="733160"/>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EC93EA83-2188-4939-B96C-2C44EA3016E3}"/>
                </a:ext>
              </a:extLst>
            </p:cNvPr>
            <p:cNvCxnSpPr>
              <a:cxnSpLocks/>
              <a:stCxn id="93" idx="1"/>
            </p:cNvCxnSpPr>
            <p:nvPr/>
          </p:nvCxnSpPr>
          <p:spPr>
            <a:xfrm flipV="1">
              <a:off x="15369921" y="6306041"/>
              <a:ext cx="1299846" cy="741710"/>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118" name="Oval 117">
              <a:extLst>
                <a:ext uri="{FF2B5EF4-FFF2-40B4-BE49-F238E27FC236}">
                  <a16:creationId xmlns:a16="http://schemas.microsoft.com/office/drawing/2014/main" id="{B1C7936E-62FB-487F-9C1D-96982CD66B46}"/>
                </a:ext>
              </a:extLst>
            </p:cNvPr>
            <p:cNvSpPr/>
            <p:nvPr/>
          </p:nvSpPr>
          <p:spPr>
            <a:xfrm rot="19145893">
              <a:off x="11466435" y="7374031"/>
              <a:ext cx="1049295" cy="1110540"/>
            </a:xfrm>
            <a:prstGeom prst="ellipse">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cxnSp>
          <p:nvCxnSpPr>
            <p:cNvPr id="119" name="Straight Connector 118">
              <a:extLst>
                <a:ext uri="{FF2B5EF4-FFF2-40B4-BE49-F238E27FC236}">
                  <a16:creationId xmlns:a16="http://schemas.microsoft.com/office/drawing/2014/main" id="{3FFF0326-4D62-43A3-9B9C-9F30FDE04387}"/>
                </a:ext>
              </a:extLst>
            </p:cNvPr>
            <p:cNvCxnSpPr>
              <a:cxnSpLocks/>
              <a:stCxn id="118" idx="6"/>
            </p:cNvCxnSpPr>
            <p:nvPr/>
          </p:nvCxnSpPr>
          <p:spPr>
            <a:xfrm flipV="1">
              <a:off x="12387629" y="7087800"/>
              <a:ext cx="826560" cy="497981"/>
            </a:xfrm>
            <a:prstGeom prst="line">
              <a:avLst/>
            </a:prstGeom>
            <a:ln>
              <a:solidFill>
                <a:srgbClr val="134E1A"/>
              </a:solidFill>
            </a:ln>
          </p:spPr>
          <p:style>
            <a:lnRef idx="1">
              <a:schemeClr val="accent1"/>
            </a:lnRef>
            <a:fillRef idx="0">
              <a:schemeClr val="accent1"/>
            </a:fillRef>
            <a:effectRef idx="0">
              <a:schemeClr val="accent1"/>
            </a:effectRef>
            <a:fontRef idx="minor">
              <a:schemeClr val="tx1"/>
            </a:fontRef>
          </p:style>
        </p:cxnSp>
        <p:sp>
          <p:nvSpPr>
            <p:cNvPr id="120" name="Rectangle 119">
              <a:extLst>
                <a:ext uri="{FF2B5EF4-FFF2-40B4-BE49-F238E27FC236}">
                  <a16:creationId xmlns:a16="http://schemas.microsoft.com/office/drawing/2014/main" id="{A7371A55-2D87-4952-B0B1-102BD9F4189E}"/>
                </a:ext>
              </a:extLst>
            </p:cNvPr>
            <p:cNvSpPr/>
            <p:nvPr/>
          </p:nvSpPr>
          <p:spPr>
            <a:xfrm rot="19558672">
              <a:off x="11485608" y="7324312"/>
              <a:ext cx="1189195" cy="1012876"/>
            </a:xfrm>
            <a:prstGeom prst="rect">
              <a:avLst/>
            </a:prstGeom>
          </p:spPr>
          <p:txBody>
            <a:bodyPr wrap="square">
              <a:spAutoFit/>
            </a:bodyPr>
            <a:lstStyle/>
            <a:p>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User Address</a:t>
              </a:r>
              <a:endParaRPr lang="en-US" sz="1200" dirty="0">
                <a:latin typeface="Times New Roman" panose="02020603050405020304" pitchFamily="18" charset="0"/>
                <a:cs typeface="Times New Roman" panose="02020603050405020304" pitchFamily="18" charset="0"/>
              </a:endParaRPr>
            </a:p>
          </p:txBody>
        </p:sp>
        <p:cxnSp>
          <p:nvCxnSpPr>
            <p:cNvPr id="121" name="Straight Arrow Connector 120">
              <a:extLst>
                <a:ext uri="{FF2B5EF4-FFF2-40B4-BE49-F238E27FC236}">
                  <a16:creationId xmlns:a16="http://schemas.microsoft.com/office/drawing/2014/main" id="{3CB1990F-A2D9-4D3F-9EB4-86E23AB1A86D}"/>
                </a:ext>
              </a:extLst>
            </p:cNvPr>
            <p:cNvCxnSpPr>
              <a:stCxn id="19" idx="3"/>
              <a:endCxn id="29" idx="1"/>
            </p:cNvCxnSpPr>
            <p:nvPr/>
          </p:nvCxnSpPr>
          <p:spPr>
            <a:xfrm>
              <a:off x="4160701" y="3317251"/>
              <a:ext cx="2024853" cy="12271"/>
            </a:xfrm>
            <a:prstGeom prst="straightConnector1">
              <a:avLst/>
            </a:prstGeom>
            <a:ln w="38100">
              <a:solidFill>
                <a:srgbClr val="134E1A"/>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6F344FC1-8FE3-4DA7-9E2F-DC8F509C9597}"/>
                </a:ext>
              </a:extLst>
            </p:cNvPr>
            <p:cNvCxnSpPr>
              <a:cxnSpLocks/>
              <a:endCxn id="31" idx="1"/>
            </p:cNvCxnSpPr>
            <p:nvPr/>
          </p:nvCxnSpPr>
          <p:spPr>
            <a:xfrm flipV="1">
              <a:off x="7447006" y="3314700"/>
              <a:ext cx="1696994" cy="23134"/>
            </a:xfrm>
            <a:prstGeom prst="straightConnector1">
              <a:avLst/>
            </a:prstGeom>
            <a:ln w="38100">
              <a:solidFill>
                <a:srgbClr val="316437"/>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5DCA5370-63DE-4B6E-B5B1-50530A7C50D3}"/>
                </a:ext>
              </a:extLst>
            </p:cNvPr>
            <p:cNvCxnSpPr/>
            <p:nvPr/>
          </p:nvCxnSpPr>
          <p:spPr>
            <a:xfrm>
              <a:off x="10506436" y="3323199"/>
              <a:ext cx="2024853" cy="12271"/>
            </a:xfrm>
            <a:prstGeom prst="straightConnector1">
              <a:avLst/>
            </a:prstGeom>
            <a:ln w="38100">
              <a:solidFill>
                <a:srgbClr val="134E1A"/>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B010583A-5DE6-4D6B-8646-B1E657D42E57}"/>
                </a:ext>
              </a:extLst>
            </p:cNvPr>
            <p:cNvCxnSpPr>
              <a:cxnSpLocks/>
            </p:cNvCxnSpPr>
            <p:nvPr/>
          </p:nvCxnSpPr>
          <p:spPr>
            <a:xfrm flipH="1">
              <a:off x="14966350" y="3250107"/>
              <a:ext cx="79656" cy="3565319"/>
            </a:xfrm>
            <a:prstGeom prst="straightConnector1">
              <a:avLst/>
            </a:prstGeom>
            <a:ln w="38100">
              <a:solidFill>
                <a:srgbClr val="134E1A"/>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6F537618-1986-45E2-8568-7668FE8B2ACD}"/>
                </a:ext>
              </a:extLst>
            </p:cNvPr>
            <p:cNvCxnSpPr>
              <a:cxnSpLocks/>
              <a:endCxn id="93" idx="3"/>
            </p:cNvCxnSpPr>
            <p:nvPr/>
          </p:nvCxnSpPr>
          <p:spPr>
            <a:xfrm flipV="1">
              <a:off x="10496727" y="7047751"/>
              <a:ext cx="2726543" cy="2188"/>
            </a:xfrm>
            <a:prstGeom prst="straightConnector1">
              <a:avLst/>
            </a:prstGeom>
            <a:ln w="38100">
              <a:solidFill>
                <a:srgbClr val="134E1A"/>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67145E79-B77A-4D7C-A9B7-13642DDACE90}"/>
                </a:ext>
              </a:extLst>
            </p:cNvPr>
            <p:cNvCxnSpPr>
              <a:cxnSpLocks/>
              <a:endCxn id="56" idx="0"/>
            </p:cNvCxnSpPr>
            <p:nvPr/>
          </p:nvCxnSpPr>
          <p:spPr>
            <a:xfrm flipH="1">
              <a:off x="3588403" y="3555997"/>
              <a:ext cx="26330" cy="647110"/>
            </a:xfrm>
            <a:prstGeom prst="straightConnector1">
              <a:avLst/>
            </a:prstGeom>
            <a:ln w="38100">
              <a:solidFill>
                <a:srgbClr val="134E1A"/>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3CCBCB4D-13A0-486C-AAE9-C1BA0713A72F}"/>
                </a:ext>
              </a:extLst>
            </p:cNvPr>
            <p:cNvCxnSpPr>
              <a:cxnSpLocks/>
              <a:stCxn id="56" idx="2"/>
            </p:cNvCxnSpPr>
            <p:nvPr/>
          </p:nvCxnSpPr>
          <p:spPr>
            <a:xfrm flipH="1">
              <a:off x="3581803" y="5281262"/>
              <a:ext cx="6600" cy="809047"/>
            </a:xfrm>
            <a:prstGeom prst="straightConnector1">
              <a:avLst/>
            </a:prstGeom>
            <a:ln w="38100">
              <a:solidFill>
                <a:srgbClr val="134E1A"/>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28" name="Rectangle 127">
              <a:extLst>
                <a:ext uri="{FF2B5EF4-FFF2-40B4-BE49-F238E27FC236}">
                  <a16:creationId xmlns:a16="http://schemas.microsoft.com/office/drawing/2014/main" id="{B2366FA1-B6BE-4FF8-B836-793D8E4A3F84}"/>
                </a:ext>
              </a:extLst>
            </p:cNvPr>
            <p:cNvSpPr/>
            <p:nvPr/>
          </p:nvSpPr>
          <p:spPr>
            <a:xfrm>
              <a:off x="5346225" y="5160750"/>
              <a:ext cx="1121292" cy="607726"/>
            </a:xfrm>
            <a:prstGeom prst="rect">
              <a:avLst/>
            </a:prstGeom>
          </p:spPr>
          <p:txBody>
            <a:bodyPr wrap="square">
              <a:spAutoFit/>
            </a:bodyPr>
            <a:lstStyle/>
            <a:p>
              <a:r>
                <a:rPr lang="en-US" sz="1200" dirty="0">
                  <a:solidFill>
                    <a:srgbClr val="134E1A"/>
                  </a:solidFill>
                  <a:latin typeface="Times New Roman" panose="02020603050405020304" pitchFamily="18" charset="0"/>
                  <a:ea typeface="Agrandir Narrow Bold"/>
                  <a:cs typeface="Times New Roman" panose="02020603050405020304" pitchFamily="18" charset="0"/>
                  <a:sym typeface="Agrandir Narrow Bold"/>
                </a:rPr>
                <a:t>YES/NO</a:t>
              </a:r>
              <a:endParaRPr lang="en-US" sz="1200" dirty="0">
                <a:latin typeface="Times New Roman" panose="02020603050405020304" pitchFamily="18" charset="0"/>
                <a:cs typeface="Times New Roman" panose="02020603050405020304" pitchFamily="18" charset="0"/>
              </a:endParaRPr>
            </a:p>
          </p:txBody>
        </p:sp>
        <p:cxnSp>
          <p:nvCxnSpPr>
            <p:cNvPr id="129" name="Straight Arrow Connector 128">
              <a:extLst>
                <a:ext uri="{FF2B5EF4-FFF2-40B4-BE49-F238E27FC236}">
                  <a16:creationId xmlns:a16="http://schemas.microsoft.com/office/drawing/2014/main" id="{92205C7C-5A36-413D-B936-7EDDD10B6EE1}"/>
                </a:ext>
              </a:extLst>
            </p:cNvPr>
            <p:cNvCxnSpPr>
              <a:cxnSpLocks/>
            </p:cNvCxnSpPr>
            <p:nvPr/>
          </p:nvCxnSpPr>
          <p:spPr>
            <a:xfrm flipH="1" flipV="1">
              <a:off x="4143336" y="3552808"/>
              <a:ext cx="1780884" cy="1446124"/>
            </a:xfrm>
            <a:prstGeom prst="straightConnector1">
              <a:avLst/>
            </a:prstGeom>
            <a:ln w="38100">
              <a:solidFill>
                <a:srgbClr val="134E1A"/>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0" name="Diamond 129">
              <a:extLst>
                <a:ext uri="{FF2B5EF4-FFF2-40B4-BE49-F238E27FC236}">
                  <a16:creationId xmlns:a16="http://schemas.microsoft.com/office/drawing/2014/main" id="{8F525359-9EC7-4C31-A718-7A7CEC6B331B}"/>
                </a:ext>
              </a:extLst>
            </p:cNvPr>
            <p:cNvSpPr/>
            <p:nvPr/>
          </p:nvSpPr>
          <p:spPr>
            <a:xfrm rot="21410818">
              <a:off x="5285263" y="4969218"/>
              <a:ext cx="1254103" cy="967781"/>
            </a:xfrm>
            <a:prstGeom prst="diamond">
              <a:avLst/>
            </a:prstGeom>
            <a:noFill/>
            <a:ln>
              <a:solidFill>
                <a:srgbClr val="134E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31" name="Straight Connector 130">
              <a:extLst>
                <a:ext uri="{FF2B5EF4-FFF2-40B4-BE49-F238E27FC236}">
                  <a16:creationId xmlns:a16="http://schemas.microsoft.com/office/drawing/2014/main" id="{79AE0249-48F3-4AEB-A8A5-57605431CD86}"/>
                </a:ext>
              </a:extLst>
            </p:cNvPr>
            <p:cNvCxnSpPr>
              <a:cxnSpLocks/>
              <a:stCxn id="130" idx="2"/>
              <a:endCxn id="57" idx="1"/>
            </p:cNvCxnSpPr>
            <p:nvPr/>
          </p:nvCxnSpPr>
          <p:spPr>
            <a:xfrm>
              <a:off x="5929950" y="5936266"/>
              <a:ext cx="454480" cy="762995"/>
            </a:xfrm>
            <a:prstGeom prst="line">
              <a:avLst/>
            </a:prstGeom>
            <a:ln w="28575">
              <a:solidFill>
                <a:srgbClr val="134E1A"/>
              </a:solidFill>
            </a:ln>
          </p:spPr>
          <p:style>
            <a:lnRef idx="1">
              <a:schemeClr val="accent1"/>
            </a:lnRef>
            <a:fillRef idx="0">
              <a:schemeClr val="accent1"/>
            </a:fillRef>
            <a:effectRef idx="0">
              <a:schemeClr val="accent1"/>
            </a:effectRef>
            <a:fontRef idx="minor">
              <a:schemeClr val="tx1"/>
            </a:fontRef>
          </p:style>
        </p:cxnSp>
      </p:grpSp>
      <p:cxnSp>
        <p:nvCxnSpPr>
          <p:cNvPr id="145" name="Straight Arrow Connector 144">
            <a:extLst>
              <a:ext uri="{FF2B5EF4-FFF2-40B4-BE49-F238E27FC236}">
                <a16:creationId xmlns:a16="http://schemas.microsoft.com/office/drawing/2014/main" id="{B1A7ECD5-7A31-422E-9EE5-72F59F425C34}"/>
              </a:ext>
            </a:extLst>
          </p:cNvPr>
          <p:cNvCxnSpPr>
            <a:cxnSpLocks/>
            <a:endCxn id="57" idx="3"/>
          </p:cNvCxnSpPr>
          <p:nvPr/>
        </p:nvCxnSpPr>
        <p:spPr>
          <a:xfrm flipH="1" flipV="1">
            <a:off x="5274376" y="4258692"/>
            <a:ext cx="475902" cy="69682"/>
          </a:xfrm>
          <a:prstGeom prst="straightConnector1">
            <a:avLst/>
          </a:prstGeom>
          <a:ln w="38100">
            <a:solidFill>
              <a:srgbClr val="316437"/>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7808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C251917-BA4B-4056-9FE2-D09F88C5B76A}"/>
              </a:ext>
            </a:extLst>
          </p:cNvPr>
          <p:cNvSpPr>
            <a:spLocks noGrp="1"/>
          </p:cNvSpPr>
          <p:nvPr>
            <p:ph type="dt" sz="half" idx="10"/>
          </p:nvPr>
        </p:nvSpPr>
        <p:spPr/>
        <p:txBody>
          <a:bodyPr/>
          <a:lstStyle/>
          <a:p>
            <a:fld id="{BF5A2554-468B-44E7-959E-8F3376471EAD}" type="datetime2">
              <a:rPr lang="en-US" smtClean="0"/>
              <a:t>Monday, January 5, 2026</a:t>
            </a:fld>
            <a:endParaRPr lang="en-US"/>
          </a:p>
        </p:txBody>
      </p:sp>
      <p:sp>
        <p:nvSpPr>
          <p:cNvPr id="5" name="Footer Placeholder 4">
            <a:extLst>
              <a:ext uri="{FF2B5EF4-FFF2-40B4-BE49-F238E27FC236}">
                <a16:creationId xmlns:a16="http://schemas.microsoft.com/office/drawing/2014/main" id="{5CF3A6EE-5A12-4792-88FB-1BED7B495B47}"/>
              </a:ext>
            </a:extLst>
          </p:cNvPr>
          <p:cNvSpPr>
            <a:spLocks noGrp="1"/>
          </p:cNvSpPr>
          <p:nvPr>
            <p:ph type="ftr" sz="quarter" idx="11"/>
          </p:nvPr>
        </p:nvSpPr>
        <p:spPr/>
        <p:txBody>
          <a:bodyPr/>
          <a:lstStyle/>
          <a:p>
            <a:r>
              <a:rPr lang="en-US"/>
              <a:t>Department of Computer Science &amp; Engineering, PUB</a:t>
            </a:r>
          </a:p>
        </p:txBody>
      </p:sp>
      <p:sp>
        <p:nvSpPr>
          <p:cNvPr id="6" name="Slide Number Placeholder 5">
            <a:extLst>
              <a:ext uri="{FF2B5EF4-FFF2-40B4-BE49-F238E27FC236}">
                <a16:creationId xmlns:a16="http://schemas.microsoft.com/office/drawing/2014/main" id="{9D4E0D25-F9A7-420A-97CB-69DDEBEF2A6A}"/>
              </a:ext>
            </a:extLst>
          </p:cNvPr>
          <p:cNvSpPr>
            <a:spLocks noGrp="1"/>
          </p:cNvSpPr>
          <p:nvPr>
            <p:ph type="sldNum" sz="quarter" idx="12"/>
          </p:nvPr>
        </p:nvSpPr>
        <p:spPr/>
        <p:txBody>
          <a:bodyPr/>
          <a:lstStyle/>
          <a:p>
            <a:fld id="{B4B5837F-C97E-4545-805A-A81BC2BC5EE4}" type="slidenum">
              <a:rPr lang="en-US" smtClean="0"/>
              <a:t>14</a:t>
            </a:fld>
            <a:endParaRPr lang="en-US"/>
          </a:p>
        </p:txBody>
      </p:sp>
      <p:sp>
        <p:nvSpPr>
          <p:cNvPr id="8" name="Date Placeholder 3">
            <a:extLst>
              <a:ext uri="{FF2B5EF4-FFF2-40B4-BE49-F238E27FC236}">
                <a16:creationId xmlns:a16="http://schemas.microsoft.com/office/drawing/2014/main" id="{ECFEA046-177F-41C8-931E-A4DD44A90621}"/>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F5A2554-468B-44E7-959E-8F3376471EAD}" type="datetime2">
              <a:rPr lang="en-US" smtClean="0"/>
              <a:pPr/>
              <a:t>Monday, January 5, 2026</a:t>
            </a:fld>
            <a:endParaRPr lang="en-US"/>
          </a:p>
        </p:txBody>
      </p:sp>
      <p:sp>
        <p:nvSpPr>
          <p:cNvPr id="9" name="Footer Placeholder 4">
            <a:extLst>
              <a:ext uri="{FF2B5EF4-FFF2-40B4-BE49-F238E27FC236}">
                <a16:creationId xmlns:a16="http://schemas.microsoft.com/office/drawing/2014/main" id="{C8551998-A123-4B29-86AC-2D0A7310276F}"/>
              </a:ext>
            </a:extLst>
          </p:cNvPr>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&amp; Engineering, PUB</a:t>
            </a:r>
          </a:p>
        </p:txBody>
      </p:sp>
      <p:sp>
        <p:nvSpPr>
          <p:cNvPr id="10" name="Slide Number Placeholder 5">
            <a:extLst>
              <a:ext uri="{FF2B5EF4-FFF2-40B4-BE49-F238E27FC236}">
                <a16:creationId xmlns:a16="http://schemas.microsoft.com/office/drawing/2014/main" id="{5789D06E-45DA-46C7-990D-0DA547966335}"/>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B5837F-C97E-4545-805A-A81BC2BC5EE4}" type="slidenum">
              <a:rPr lang="en-US" smtClean="0"/>
              <a:pPr/>
              <a:t>14</a:t>
            </a:fld>
            <a:endParaRPr lang="en-US"/>
          </a:p>
        </p:txBody>
      </p:sp>
      <p:sp>
        <p:nvSpPr>
          <p:cNvPr id="11" name="Rectangle 10">
            <a:extLst>
              <a:ext uri="{FF2B5EF4-FFF2-40B4-BE49-F238E27FC236}">
                <a16:creationId xmlns:a16="http://schemas.microsoft.com/office/drawing/2014/main" id="{1C926EFC-75C8-4EEB-8106-857FC40F5083}"/>
              </a:ext>
            </a:extLst>
          </p:cNvPr>
          <p:cNvSpPr/>
          <p:nvPr/>
        </p:nvSpPr>
        <p:spPr>
          <a:xfrm>
            <a:off x="0" y="0"/>
            <a:ext cx="12192000" cy="132611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8F39D378-E313-4B91-BDA4-D211146262E6}"/>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13" name="Date Placeholder 3">
            <a:extLst>
              <a:ext uri="{FF2B5EF4-FFF2-40B4-BE49-F238E27FC236}">
                <a16:creationId xmlns:a16="http://schemas.microsoft.com/office/drawing/2014/main" id="{29BC5EDD-01A9-4873-95C1-287956034E4E}"/>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pPr/>
              <a:t>Monday, January 5, 2026</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4" name="Footer Placeholder 4">
            <a:extLst>
              <a:ext uri="{FF2B5EF4-FFF2-40B4-BE49-F238E27FC236}">
                <a16:creationId xmlns:a16="http://schemas.microsoft.com/office/drawing/2014/main" id="{CD31592C-BE2F-42CC-8B39-11EA186A4D43}"/>
              </a:ext>
            </a:extLst>
          </p:cNvPr>
          <p:cNvSpPr txBox="1">
            <a:spLocks/>
          </p:cNvSpPr>
          <p:nvPr/>
        </p:nvSpPr>
        <p:spPr>
          <a:xfrm>
            <a:off x="3995154" y="634172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15" name="Slide Number Placeholder 5">
            <a:extLst>
              <a:ext uri="{FF2B5EF4-FFF2-40B4-BE49-F238E27FC236}">
                <a16:creationId xmlns:a16="http://schemas.microsoft.com/office/drawing/2014/main" id="{62FCA287-4333-43D7-8ABD-2FBE12BF8BCE}"/>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pPr/>
              <a:t>14</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3F31F40F-EAE7-4194-9296-0316E31DD4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7" name="Rectangle 16">
            <a:extLst>
              <a:ext uri="{FF2B5EF4-FFF2-40B4-BE49-F238E27FC236}">
                <a16:creationId xmlns:a16="http://schemas.microsoft.com/office/drawing/2014/main" id="{1C6E8054-5570-476B-B246-392776A6BD4E}"/>
              </a:ext>
            </a:extLst>
          </p:cNvPr>
          <p:cNvSpPr/>
          <p:nvPr/>
        </p:nvSpPr>
        <p:spPr>
          <a:xfrm>
            <a:off x="-1" y="1314639"/>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Title 1">
            <a:extLst>
              <a:ext uri="{FF2B5EF4-FFF2-40B4-BE49-F238E27FC236}">
                <a16:creationId xmlns:a16="http://schemas.microsoft.com/office/drawing/2014/main" id="{7BB01D1E-1B82-4451-8E00-9CD2F949FB3C}"/>
              </a:ext>
            </a:extLst>
          </p:cNvPr>
          <p:cNvSpPr txBox="1">
            <a:spLocks/>
          </p:cNvSpPr>
          <p:nvPr/>
        </p:nvSpPr>
        <p:spPr>
          <a:xfrm>
            <a:off x="1273976" y="457199"/>
            <a:ext cx="10161104" cy="619813"/>
          </a:xfrm>
          <a:prstGeom prst="rect">
            <a:avLst/>
          </a:prstGeom>
          <a:effectLst>
            <a:outerShdw blurRad="63500" sx="102000" sy="102000" algn="ctr" rotWithShape="0">
              <a:prstClr val="black">
                <a:alpha val="40000"/>
              </a:prstClr>
            </a:outerShdw>
          </a:effec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3200" b="1" dirty="0">
                <a:latin typeface="Times New Roman" panose="02020603050405020304" pitchFamily="18" charset="0"/>
                <a:ea typeface="Akzidenz-Grotesk Bold"/>
                <a:cs typeface="Times New Roman" panose="02020603050405020304" pitchFamily="18" charset="0"/>
                <a:sym typeface="Akzidenz-Grotesk Bold"/>
              </a:rPr>
              <a:t>Data Flow Diagram(DFD</a:t>
            </a:r>
          </a:p>
        </p:txBody>
      </p:sp>
      <p:sp>
        <p:nvSpPr>
          <p:cNvPr id="19" name="Freeform 37">
            <a:extLst>
              <a:ext uri="{FF2B5EF4-FFF2-40B4-BE49-F238E27FC236}">
                <a16:creationId xmlns:a16="http://schemas.microsoft.com/office/drawing/2014/main" id="{DBB07606-D36D-46B4-9F48-454F6002AC4F}"/>
              </a:ext>
            </a:extLst>
          </p:cNvPr>
          <p:cNvSpPr/>
          <p:nvPr/>
        </p:nvSpPr>
        <p:spPr>
          <a:xfrm>
            <a:off x="1987224" y="6751338"/>
            <a:ext cx="5997471" cy="1308098"/>
          </a:xfrm>
          <a:custGeom>
            <a:avLst/>
            <a:gdLst/>
            <a:ahLst/>
            <a:cxnLst/>
            <a:rect l="l" t="t" r="r" b="b"/>
            <a:pathLst>
              <a:path w="7996628" h="1744131">
                <a:moveTo>
                  <a:pt x="0" y="0"/>
                </a:moveTo>
                <a:lnTo>
                  <a:pt x="7996628" y="0"/>
                </a:lnTo>
                <a:lnTo>
                  <a:pt x="7996628" y="1744131"/>
                </a:lnTo>
                <a:lnTo>
                  <a:pt x="0" y="1744131"/>
                </a:lnTo>
                <a:close/>
              </a:path>
            </a:pathLst>
          </a:custGeom>
          <a:solidFill>
            <a:srgbClr val="000000">
              <a:alpha val="0"/>
            </a:srgbClr>
          </a:solidFill>
        </p:spPr>
      </p:sp>
      <p:pic>
        <p:nvPicPr>
          <p:cNvPr id="151" name="Picture 150">
            <a:extLst>
              <a:ext uri="{FF2B5EF4-FFF2-40B4-BE49-F238E27FC236}">
                <a16:creationId xmlns:a16="http://schemas.microsoft.com/office/drawing/2014/main" id="{A9F62E38-47CD-48C6-92C4-5AE0CE119B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1514" y="2277938"/>
            <a:ext cx="9098172" cy="2309536"/>
          </a:xfrm>
          <a:prstGeom prst="rect">
            <a:avLst/>
          </a:prstGeom>
        </p:spPr>
      </p:pic>
    </p:spTree>
    <p:extLst>
      <p:ext uri="{BB962C8B-B14F-4D97-AF65-F5344CB8AC3E}">
        <p14:creationId xmlns:p14="http://schemas.microsoft.com/office/powerpoint/2010/main" val="3300572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E4F6D71-5B16-458F-B140-4A6B23A414AF}"/>
              </a:ext>
            </a:extLst>
          </p:cNvPr>
          <p:cNvSpPr>
            <a:spLocks noGrp="1"/>
          </p:cNvSpPr>
          <p:nvPr>
            <p:ph type="dt" sz="half" idx="10"/>
          </p:nvPr>
        </p:nvSpPr>
        <p:spPr/>
        <p:txBody>
          <a:bodyPr/>
          <a:lstStyle/>
          <a:p>
            <a:fld id="{BF5A2554-468B-44E7-959E-8F3376471EAD}" type="datetime2">
              <a:rPr lang="en-US" smtClean="0"/>
              <a:t>Monday, January 5, 2026</a:t>
            </a:fld>
            <a:endParaRPr lang="en-US"/>
          </a:p>
        </p:txBody>
      </p:sp>
      <p:sp>
        <p:nvSpPr>
          <p:cNvPr id="5" name="Footer Placeholder 4">
            <a:extLst>
              <a:ext uri="{FF2B5EF4-FFF2-40B4-BE49-F238E27FC236}">
                <a16:creationId xmlns:a16="http://schemas.microsoft.com/office/drawing/2014/main" id="{9DD84D77-255C-4203-9801-580891CC156E}"/>
              </a:ext>
            </a:extLst>
          </p:cNvPr>
          <p:cNvSpPr>
            <a:spLocks noGrp="1"/>
          </p:cNvSpPr>
          <p:nvPr>
            <p:ph type="ftr" sz="quarter" idx="11"/>
          </p:nvPr>
        </p:nvSpPr>
        <p:spPr/>
        <p:txBody>
          <a:bodyPr/>
          <a:lstStyle/>
          <a:p>
            <a:r>
              <a:rPr lang="en-US"/>
              <a:t>Department of Computer Science &amp; Engineering, PUB</a:t>
            </a:r>
          </a:p>
        </p:txBody>
      </p:sp>
      <p:sp>
        <p:nvSpPr>
          <p:cNvPr id="6" name="Slide Number Placeholder 5">
            <a:extLst>
              <a:ext uri="{FF2B5EF4-FFF2-40B4-BE49-F238E27FC236}">
                <a16:creationId xmlns:a16="http://schemas.microsoft.com/office/drawing/2014/main" id="{B342014C-37AB-40E0-AFD1-AE30A118482D}"/>
              </a:ext>
            </a:extLst>
          </p:cNvPr>
          <p:cNvSpPr>
            <a:spLocks noGrp="1"/>
          </p:cNvSpPr>
          <p:nvPr>
            <p:ph type="sldNum" sz="quarter" idx="12"/>
          </p:nvPr>
        </p:nvSpPr>
        <p:spPr/>
        <p:txBody>
          <a:bodyPr/>
          <a:lstStyle/>
          <a:p>
            <a:fld id="{B4B5837F-C97E-4545-805A-A81BC2BC5EE4}" type="slidenum">
              <a:rPr lang="en-US" smtClean="0"/>
              <a:t>15</a:t>
            </a:fld>
            <a:endParaRPr lang="en-US"/>
          </a:p>
        </p:txBody>
      </p:sp>
      <p:sp>
        <p:nvSpPr>
          <p:cNvPr id="7" name="Date Placeholder 3">
            <a:extLst>
              <a:ext uri="{FF2B5EF4-FFF2-40B4-BE49-F238E27FC236}">
                <a16:creationId xmlns:a16="http://schemas.microsoft.com/office/drawing/2014/main" id="{8A7B9757-9A0A-4CC4-ABC6-BA4E7B84750A}"/>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F5A2554-468B-44E7-959E-8F3376471EAD}" type="datetime2">
              <a:rPr lang="en-US" smtClean="0"/>
              <a:pPr/>
              <a:t>Monday, January 5, 2026</a:t>
            </a:fld>
            <a:endParaRPr lang="en-US"/>
          </a:p>
        </p:txBody>
      </p:sp>
      <p:sp>
        <p:nvSpPr>
          <p:cNvPr id="8" name="Footer Placeholder 4">
            <a:extLst>
              <a:ext uri="{FF2B5EF4-FFF2-40B4-BE49-F238E27FC236}">
                <a16:creationId xmlns:a16="http://schemas.microsoft.com/office/drawing/2014/main" id="{7B04D1EA-6EE9-45FC-BFA1-3A61502E60B7}"/>
              </a:ext>
            </a:extLst>
          </p:cNvPr>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&amp; Engineering, PUB</a:t>
            </a:r>
          </a:p>
        </p:txBody>
      </p:sp>
      <p:sp>
        <p:nvSpPr>
          <p:cNvPr id="9" name="Slide Number Placeholder 5">
            <a:extLst>
              <a:ext uri="{FF2B5EF4-FFF2-40B4-BE49-F238E27FC236}">
                <a16:creationId xmlns:a16="http://schemas.microsoft.com/office/drawing/2014/main" id="{815F802A-E2D6-4BE4-92E7-C58E864B0F2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B5837F-C97E-4545-805A-A81BC2BC5EE4}" type="slidenum">
              <a:rPr lang="en-US" smtClean="0"/>
              <a:pPr/>
              <a:t>15</a:t>
            </a:fld>
            <a:endParaRPr lang="en-US"/>
          </a:p>
        </p:txBody>
      </p:sp>
      <p:sp>
        <p:nvSpPr>
          <p:cNvPr id="10" name="Date Placeholder 3">
            <a:extLst>
              <a:ext uri="{FF2B5EF4-FFF2-40B4-BE49-F238E27FC236}">
                <a16:creationId xmlns:a16="http://schemas.microsoft.com/office/drawing/2014/main" id="{699241C5-F580-41D6-A73C-008E6CDEE4FE}"/>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F5A2554-468B-44E7-959E-8F3376471EAD}" type="datetime2">
              <a:rPr lang="en-US" smtClean="0"/>
              <a:pPr/>
              <a:t>Monday, January 5, 2026</a:t>
            </a:fld>
            <a:endParaRPr lang="en-US"/>
          </a:p>
        </p:txBody>
      </p:sp>
      <p:sp>
        <p:nvSpPr>
          <p:cNvPr id="11" name="Footer Placeholder 4">
            <a:extLst>
              <a:ext uri="{FF2B5EF4-FFF2-40B4-BE49-F238E27FC236}">
                <a16:creationId xmlns:a16="http://schemas.microsoft.com/office/drawing/2014/main" id="{C2D71B68-3140-44D4-A6EA-84C05CB0D26A}"/>
              </a:ext>
            </a:extLst>
          </p:cNvPr>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&amp; Engineering, PUB</a:t>
            </a:r>
          </a:p>
        </p:txBody>
      </p:sp>
      <p:sp>
        <p:nvSpPr>
          <p:cNvPr id="12" name="Slide Number Placeholder 5">
            <a:extLst>
              <a:ext uri="{FF2B5EF4-FFF2-40B4-BE49-F238E27FC236}">
                <a16:creationId xmlns:a16="http://schemas.microsoft.com/office/drawing/2014/main" id="{FEBD4640-16A7-4BBB-8BD3-31E3A1BD0C18}"/>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B5837F-C97E-4545-805A-A81BC2BC5EE4}" type="slidenum">
              <a:rPr lang="en-US" smtClean="0"/>
              <a:pPr/>
              <a:t>15</a:t>
            </a:fld>
            <a:endParaRPr lang="en-US"/>
          </a:p>
        </p:txBody>
      </p:sp>
      <p:sp>
        <p:nvSpPr>
          <p:cNvPr id="13" name="Rectangle 12">
            <a:extLst>
              <a:ext uri="{FF2B5EF4-FFF2-40B4-BE49-F238E27FC236}">
                <a16:creationId xmlns:a16="http://schemas.microsoft.com/office/drawing/2014/main" id="{08595D30-E2A4-419B-8927-D944232CFE3A}"/>
              </a:ext>
            </a:extLst>
          </p:cNvPr>
          <p:cNvSpPr/>
          <p:nvPr/>
        </p:nvSpPr>
        <p:spPr>
          <a:xfrm>
            <a:off x="0" y="0"/>
            <a:ext cx="12192000" cy="132611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2281082E-5E64-45C8-99EA-993D05711D75}"/>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15" name="Date Placeholder 3">
            <a:extLst>
              <a:ext uri="{FF2B5EF4-FFF2-40B4-BE49-F238E27FC236}">
                <a16:creationId xmlns:a16="http://schemas.microsoft.com/office/drawing/2014/main" id="{080A50B9-76EB-4DE1-A904-6BA45DA7C826}"/>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pPr/>
              <a:t>Monday, January 5, 2026</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Footer Placeholder 4">
            <a:extLst>
              <a:ext uri="{FF2B5EF4-FFF2-40B4-BE49-F238E27FC236}">
                <a16:creationId xmlns:a16="http://schemas.microsoft.com/office/drawing/2014/main" id="{8D000349-952D-47F0-8D35-094C08AB38EA}"/>
              </a:ext>
            </a:extLst>
          </p:cNvPr>
          <p:cNvSpPr txBox="1">
            <a:spLocks/>
          </p:cNvSpPr>
          <p:nvPr/>
        </p:nvSpPr>
        <p:spPr>
          <a:xfrm>
            <a:off x="3995154" y="634172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17" name="Slide Number Placeholder 5">
            <a:extLst>
              <a:ext uri="{FF2B5EF4-FFF2-40B4-BE49-F238E27FC236}">
                <a16:creationId xmlns:a16="http://schemas.microsoft.com/office/drawing/2014/main" id="{938B5AEC-DFA7-4110-8A64-7EDE3A11C4A7}"/>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pPr/>
              <a:t>15</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A072F42D-5E49-418E-9999-67475352F5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9" name="Rectangle 18">
            <a:extLst>
              <a:ext uri="{FF2B5EF4-FFF2-40B4-BE49-F238E27FC236}">
                <a16:creationId xmlns:a16="http://schemas.microsoft.com/office/drawing/2014/main" id="{FE935C3E-4657-4BD9-BEB3-3F0A2EACE39A}"/>
              </a:ext>
            </a:extLst>
          </p:cNvPr>
          <p:cNvSpPr/>
          <p:nvPr/>
        </p:nvSpPr>
        <p:spPr>
          <a:xfrm>
            <a:off x="-1" y="1314639"/>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0" name="Title 1">
            <a:extLst>
              <a:ext uri="{FF2B5EF4-FFF2-40B4-BE49-F238E27FC236}">
                <a16:creationId xmlns:a16="http://schemas.microsoft.com/office/drawing/2014/main" id="{CE1E6101-DAA5-4D96-86DD-4DB3E70C9A6B}"/>
              </a:ext>
            </a:extLst>
          </p:cNvPr>
          <p:cNvSpPr txBox="1">
            <a:spLocks/>
          </p:cNvSpPr>
          <p:nvPr/>
        </p:nvSpPr>
        <p:spPr>
          <a:xfrm>
            <a:off x="1273976" y="457199"/>
            <a:ext cx="10161104" cy="619813"/>
          </a:xfrm>
          <a:prstGeom prst="rect">
            <a:avLst/>
          </a:prstGeom>
          <a:effectLst>
            <a:outerShdw blurRad="63500" sx="102000" sy="102000" algn="ctr" rotWithShape="0">
              <a:prstClr val="black">
                <a:alpha val="40000"/>
              </a:prstClr>
            </a:outerShdw>
          </a:effec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3200" b="1" dirty="0">
                <a:latin typeface="Times New Roman" panose="02020603050405020304" pitchFamily="18" charset="0"/>
                <a:ea typeface="Akzidenz-Grotesk Bold"/>
                <a:cs typeface="Times New Roman" panose="02020603050405020304" pitchFamily="18" charset="0"/>
                <a:sym typeface="Akzidenz-Grotesk Bold"/>
              </a:rPr>
              <a:t>Data Flow Diagram(DFD)</a:t>
            </a:r>
          </a:p>
        </p:txBody>
      </p:sp>
      <p:sp>
        <p:nvSpPr>
          <p:cNvPr id="21" name="Freeform 37">
            <a:extLst>
              <a:ext uri="{FF2B5EF4-FFF2-40B4-BE49-F238E27FC236}">
                <a16:creationId xmlns:a16="http://schemas.microsoft.com/office/drawing/2014/main" id="{F06EDED4-1001-4435-9DFD-44533C0B6316}"/>
              </a:ext>
            </a:extLst>
          </p:cNvPr>
          <p:cNvSpPr/>
          <p:nvPr/>
        </p:nvSpPr>
        <p:spPr>
          <a:xfrm>
            <a:off x="1987224" y="6751338"/>
            <a:ext cx="5997471" cy="1308098"/>
          </a:xfrm>
          <a:custGeom>
            <a:avLst/>
            <a:gdLst/>
            <a:ahLst/>
            <a:cxnLst/>
            <a:rect l="l" t="t" r="r" b="b"/>
            <a:pathLst>
              <a:path w="7996628" h="1744131">
                <a:moveTo>
                  <a:pt x="0" y="0"/>
                </a:moveTo>
                <a:lnTo>
                  <a:pt x="7996628" y="0"/>
                </a:lnTo>
                <a:lnTo>
                  <a:pt x="7996628" y="1744131"/>
                </a:lnTo>
                <a:lnTo>
                  <a:pt x="0" y="1744131"/>
                </a:lnTo>
                <a:close/>
              </a:path>
            </a:pathLst>
          </a:custGeom>
          <a:solidFill>
            <a:srgbClr val="000000">
              <a:alpha val="0"/>
            </a:srgbClr>
          </a:solidFill>
        </p:spPr>
      </p:sp>
      <p:pic>
        <p:nvPicPr>
          <p:cNvPr id="23" name="Picture 22">
            <a:extLst>
              <a:ext uri="{FF2B5EF4-FFF2-40B4-BE49-F238E27FC236}">
                <a16:creationId xmlns:a16="http://schemas.microsoft.com/office/drawing/2014/main" id="{053F7D42-35D5-41DF-9BF0-85FE0EFCC04A}"/>
              </a:ext>
            </a:extLst>
          </p:cNvPr>
          <p:cNvPicPr>
            <a:picLocks noChangeAspect="1"/>
          </p:cNvPicPr>
          <p:nvPr/>
        </p:nvPicPr>
        <p:blipFill>
          <a:blip r:embed="rId3"/>
          <a:stretch>
            <a:fillRect/>
          </a:stretch>
        </p:blipFill>
        <p:spPr>
          <a:xfrm>
            <a:off x="1326466" y="1543734"/>
            <a:ext cx="9539067" cy="4568835"/>
          </a:xfrm>
          <a:prstGeom prst="rect">
            <a:avLst/>
          </a:prstGeom>
        </p:spPr>
      </p:pic>
    </p:spTree>
    <p:extLst>
      <p:ext uri="{BB962C8B-B14F-4D97-AF65-F5344CB8AC3E}">
        <p14:creationId xmlns:p14="http://schemas.microsoft.com/office/powerpoint/2010/main" val="2083958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94BFE8D-56A7-4AA2-A443-8435560BC95D}"/>
              </a:ext>
            </a:extLst>
          </p:cNvPr>
          <p:cNvSpPr>
            <a:spLocks noGrp="1"/>
          </p:cNvSpPr>
          <p:nvPr>
            <p:ph type="dt" sz="half" idx="10"/>
          </p:nvPr>
        </p:nvSpPr>
        <p:spPr/>
        <p:txBody>
          <a:bodyPr/>
          <a:lstStyle/>
          <a:p>
            <a:fld id="{BF5A2554-468B-44E7-959E-8F3376471EAD}" type="datetime2">
              <a:rPr lang="en-US" smtClean="0"/>
              <a:t>Monday, January 5, 2026</a:t>
            </a:fld>
            <a:endParaRPr lang="en-US"/>
          </a:p>
        </p:txBody>
      </p:sp>
      <p:sp>
        <p:nvSpPr>
          <p:cNvPr id="5" name="Footer Placeholder 4">
            <a:extLst>
              <a:ext uri="{FF2B5EF4-FFF2-40B4-BE49-F238E27FC236}">
                <a16:creationId xmlns:a16="http://schemas.microsoft.com/office/drawing/2014/main" id="{A955BA3C-28E0-4B2E-A194-F913898AC6C2}"/>
              </a:ext>
            </a:extLst>
          </p:cNvPr>
          <p:cNvSpPr>
            <a:spLocks noGrp="1"/>
          </p:cNvSpPr>
          <p:nvPr>
            <p:ph type="ftr" sz="quarter" idx="11"/>
          </p:nvPr>
        </p:nvSpPr>
        <p:spPr/>
        <p:txBody>
          <a:bodyPr/>
          <a:lstStyle/>
          <a:p>
            <a:r>
              <a:rPr lang="en-US"/>
              <a:t>Department of Computer Science &amp; Engineering, PUB</a:t>
            </a:r>
          </a:p>
        </p:txBody>
      </p:sp>
      <p:sp>
        <p:nvSpPr>
          <p:cNvPr id="6" name="Slide Number Placeholder 5">
            <a:extLst>
              <a:ext uri="{FF2B5EF4-FFF2-40B4-BE49-F238E27FC236}">
                <a16:creationId xmlns:a16="http://schemas.microsoft.com/office/drawing/2014/main" id="{7D3FE13A-71F1-41FF-A20A-2829B0064A6F}"/>
              </a:ext>
            </a:extLst>
          </p:cNvPr>
          <p:cNvSpPr>
            <a:spLocks noGrp="1"/>
          </p:cNvSpPr>
          <p:nvPr>
            <p:ph type="sldNum" sz="quarter" idx="12"/>
          </p:nvPr>
        </p:nvSpPr>
        <p:spPr/>
        <p:txBody>
          <a:bodyPr/>
          <a:lstStyle/>
          <a:p>
            <a:fld id="{B4B5837F-C97E-4545-805A-A81BC2BC5EE4}" type="slidenum">
              <a:rPr lang="en-US" smtClean="0"/>
              <a:t>16</a:t>
            </a:fld>
            <a:endParaRPr lang="en-US"/>
          </a:p>
        </p:txBody>
      </p:sp>
      <p:sp>
        <p:nvSpPr>
          <p:cNvPr id="7" name="Date Placeholder 3">
            <a:extLst>
              <a:ext uri="{FF2B5EF4-FFF2-40B4-BE49-F238E27FC236}">
                <a16:creationId xmlns:a16="http://schemas.microsoft.com/office/drawing/2014/main" id="{EF1F93B7-10B3-46DF-A448-C88B6DD286C3}"/>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F5A2554-468B-44E7-959E-8F3376471EAD}" type="datetime2">
              <a:rPr lang="en-US" smtClean="0"/>
              <a:pPr/>
              <a:t>Monday, January 5, 2026</a:t>
            </a:fld>
            <a:endParaRPr lang="en-US"/>
          </a:p>
        </p:txBody>
      </p:sp>
      <p:sp>
        <p:nvSpPr>
          <p:cNvPr id="8" name="Footer Placeholder 4">
            <a:extLst>
              <a:ext uri="{FF2B5EF4-FFF2-40B4-BE49-F238E27FC236}">
                <a16:creationId xmlns:a16="http://schemas.microsoft.com/office/drawing/2014/main" id="{24EF5D2D-B0A2-4DF7-B9E2-148BC4BF9518}"/>
              </a:ext>
            </a:extLst>
          </p:cNvPr>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&amp; Engineering, PUB</a:t>
            </a:r>
          </a:p>
        </p:txBody>
      </p:sp>
      <p:sp>
        <p:nvSpPr>
          <p:cNvPr id="9" name="Slide Number Placeholder 5">
            <a:extLst>
              <a:ext uri="{FF2B5EF4-FFF2-40B4-BE49-F238E27FC236}">
                <a16:creationId xmlns:a16="http://schemas.microsoft.com/office/drawing/2014/main" id="{BBD45C72-127E-459F-8981-A2258BA00563}"/>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B5837F-C97E-4545-805A-A81BC2BC5EE4}" type="slidenum">
              <a:rPr lang="en-US" smtClean="0"/>
              <a:pPr/>
              <a:t>16</a:t>
            </a:fld>
            <a:endParaRPr lang="en-US"/>
          </a:p>
        </p:txBody>
      </p:sp>
      <p:sp>
        <p:nvSpPr>
          <p:cNvPr id="10" name="Date Placeholder 3">
            <a:extLst>
              <a:ext uri="{FF2B5EF4-FFF2-40B4-BE49-F238E27FC236}">
                <a16:creationId xmlns:a16="http://schemas.microsoft.com/office/drawing/2014/main" id="{940F71ED-AFD3-41BC-974C-13EFE59C3544}"/>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F5A2554-468B-44E7-959E-8F3376471EAD}" type="datetime2">
              <a:rPr lang="en-US" smtClean="0"/>
              <a:pPr/>
              <a:t>Monday, January 5, 2026</a:t>
            </a:fld>
            <a:endParaRPr lang="en-US"/>
          </a:p>
        </p:txBody>
      </p:sp>
      <p:sp>
        <p:nvSpPr>
          <p:cNvPr id="11" name="Footer Placeholder 4">
            <a:extLst>
              <a:ext uri="{FF2B5EF4-FFF2-40B4-BE49-F238E27FC236}">
                <a16:creationId xmlns:a16="http://schemas.microsoft.com/office/drawing/2014/main" id="{C367F2EA-F660-48B5-BE2F-47C1849858AA}"/>
              </a:ext>
            </a:extLst>
          </p:cNvPr>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&amp; Engineering, PUB</a:t>
            </a:r>
          </a:p>
        </p:txBody>
      </p:sp>
      <p:sp>
        <p:nvSpPr>
          <p:cNvPr id="12" name="Slide Number Placeholder 5">
            <a:extLst>
              <a:ext uri="{FF2B5EF4-FFF2-40B4-BE49-F238E27FC236}">
                <a16:creationId xmlns:a16="http://schemas.microsoft.com/office/drawing/2014/main" id="{C824246B-BB9C-4D08-827C-CAB45B2155A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B5837F-C97E-4545-805A-A81BC2BC5EE4}" type="slidenum">
              <a:rPr lang="en-US" smtClean="0"/>
              <a:pPr/>
              <a:t>16</a:t>
            </a:fld>
            <a:endParaRPr lang="en-US"/>
          </a:p>
        </p:txBody>
      </p:sp>
      <p:sp>
        <p:nvSpPr>
          <p:cNvPr id="13" name="Date Placeholder 3">
            <a:extLst>
              <a:ext uri="{FF2B5EF4-FFF2-40B4-BE49-F238E27FC236}">
                <a16:creationId xmlns:a16="http://schemas.microsoft.com/office/drawing/2014/main" id="{B924286D-8EBB-4FBC-8806-1697ED5D2FDB}"/>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F5A2554-468B-44E7-959E-8F3376471EAD}" type="datetime2">
              <a:rPr lang="en-US" smtClean="0"/>
              <a:pPr/>
              <a:t>Monday, January 5, 2026</a:t>
            </a:fld>
            <a:endParaRPr lang="en-US"/>
          </a:p>
        </p:txBody>
      </p:sp>
      <p:sp>
        <p:nvSpPr>
          <p:cNvPr id="14" name="Footer Placeholder 4">
            <a:extLst>
              <a:ext uri="{FF2B5EF4-FFF2-40B4-BE49-F238E27FC236}">
                <a16:creationId xmlns:a16="http://schemas.microsoft.com/office/drawing/2014/main" id="{7E0AA4F0-5089-413B-AA7B-E80CDDAAA48F}"/>
              </a:ext>
            </a:extLst>
          </p:cNvPr>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&amp; Engineering, PUB</a:t>
            </a:r>
          </a:p>
        </p:txBody>
      </p:sp>
      <p:sp>
        <p:nvSpPr>
          <p:cNvPr id="15" name="Slide Number Placeholder 5">
            <a:extLst>
              <a:ext uri="{FF2B5EF4-FFF2-40B4-BE49-F238E27FC236}">
                <a16:creationId xmlns:a16="http://schemas.microsoft.com/office/drawing/2014/main" id="{C63C80D0-8AB2-4AD1-8D86-CEEA4575E4C9}"/>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B5837F-C97E-4545-805A-A81BC2BC5EE4}" type="slidenum">
              <a:rPr lang="en-US" smtClean="0"/>
              <a:pPr/>
              <a:t>16</a:t>
            </a:fld>
            <a:endParaRPr lang="en-US"/>
          </a:p>
        </p:txBody>
      </p:sp>
      <p:sp>
        <p:nvSpPr>
          <p:cNvPr id="16" name="Rectangle 15">
            <a:extLst>
              <a:ext uri="{FF2B5EF4-FFF2-40B4-BE49-F238E27FC236}">
                <a16:creationId xmlns:a16="http://schemas.microsoft.com/office/drawing/2014/main" id="{1C6E9B8F-E1A7-4C4C-BCEC-3E182C66BBE7}"/>
              </a:ext>
            </a:extLst>
          </p:cNvPr>
          <p:cNvSpPr/>
          <p:nvPr/>
        </p:nvSpPr>
        <p:spPr>
          <a:xfrm>
            <a:off x="0" y="0"/>
            <a:ext cx="12192000" cy="132611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6D3FFCAE-DEA7-4544-A55F-C8EFAE5A1550}"/>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18" name="Date Placeholder 3">
            <a:extLst>
              <a:ext uri="{FF2B5EF4-FFF2-40B4-BE49-F238E27FC236}">
                <a16:creationId xmlns:a16="http://schemas.microsoft.com/office/drawing/2014/main" id="{1B142569-55D5-4D05-9775-5609291F1A37}"/>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pPr/>
              <a:t>Monday, January 5, 2026</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9" name="Footer Placeholder 4">
            <a:extLst>
              <a:ext uri="{FF2B5EF4-FFF2-40B4-BE49-F238E27FC236}">
                <a16:creationId xmlns:a16="http://schemas.microsoft.com/office/drawing/2014/main" id="{C6F1E0EF-1F9E-44AF-A8BD-5246C43D016C}"/>
              </a:ext>
            </a:extLst>
          </p:cNvPr>
          <p:cNvSpPr txBox="1">
            <a:spLocks/>
          </p:cNvSpPr>
          <p:nvPr/>
        </p:nvSpPr>
        <p:spPr>
          <a:xfrm>
            <a:off x="3995154" y="634172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20" name="Slide Number Placeholder 5">
            <a:extLst>
              <a:ext uri="{FF2B5EF4-FFF2-40B4-BE49-F238E27FC236}">
                <a16:creationId xmlns:a16="http://schemas.microsoft.com/office/drawing/2014/main" id="{C264C1E7-F4F0-4C87-9415-313DC57E9890}"/>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pPr/>
              <a:t>16</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1C1B48BE-CF09-4B60-9896-E9236A280F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22" name="Rectangle 21">
            <a:extLst>
              <a:ext uri="{FF2B5EF4-FFF2-40B4-BE49-F238E27FC236}">
                <a16:creationId xmlns:a16="http://schemas.microsoft.com/office/drawing/2014/main" id="{771539AB-C034-44C2-B06A-61D1379D5505}"/>
              </a:ext>
            </a:extLst>
          </p:cNvPr>
          <p:cNvSpPr/>
          <p:nvPr/>
        </p:nvSpPr>
        <p:spPr>
          <a:xfrm>
            <a:off x="-1" y="1314639"/>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3" name="Title 1">
            <a:extLst>
              <a:ext uri="{FF2B5EF4-FFF2-40B4-BE49-F238E27FC236}">
                <a16:creationId xmlns:a16="http://schemas.microsoft.com/office/drawing/2014/main" id="{9D9B11E4-DDC8-4DBD-A400-266F41F13E37}"/>
              </a:ext>
            </a:extLst>
          </p:cNvPr>
          <p:cNvSpPr txBox="1">
            <a:spLocks/>
          </p:cNvSpPr>
          <p:nvPr/>
        </p:nvSpPr>
        <p:spPr>
          <a:xfrm>
            <a:off x="1273976" y="457199"/>
            <a:ext cx="10161104" cy="619813"/>
          </a:xfrm>
          <a:prstGeom prst="rect">
            <a:avLst/>
          </a:prstGeom>
          <a:effectLst>
            <a:outerShdw blurRad="63500" sx="102000" sy="102000" algn="ctr" rotWithShape="0">
              <a:prstClr val="black">
                <a:alpha val="40000"/>
              </a:prstClr>
            </a:outerShdw>
          </a:effec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3200" b="1" dirty="0">
                <a:latin typeface="Times New Roman" panose="02020603050405020304" pitchFamily="18" charset="0"/>
                <a:ea typeface="Akzidenz-Grotesk Bold"/>
                <a:cs typeface="Times New Roman" panose="02020603050405020304" pitchFamily="18" charset="0"/>
                <a:sym typeface="Akzidenz-Grotesk Bold"/>
              </a:rPr>
              <a:t>Data Flow Diagram(DFD</a:t>
            </a:r>
          </a:p>
        </p:txBody>
      </p:sp>
      <p:sp>
        <p:nvSpPr>
          <p:cNvPr id="24" name="Freeform 37">
            <a:extLst>
              <a:ext uri="{FF2B5EF4-FFF2-40B4-BE49-F238E27FC236}">
                <a16:creationId xmlns:a16="http://schemas.microsoft.com/office/drawing/2014/main" id="{2CE56F4C-933B-4DF7-96A7-ED7AC14ABAB3}"/>
              </a:ext>
            </a:extLst>
          </p:cNvPr>
          <p:cNvSpPr/>
          <p:nvPr/>
        </p:nvSpPr>
        <p:spPr>
          <a:xfrm>
            <a:off x="1987224" y="6751338"/>
            <a:ext cx="5997471" cy="1308098"/>
          </a:xfrm>
          <a:custGeom>
            <a:avLst/>
            <a:gdLst/>
            <a:ahLst/>
            <a:cxnLst/>
            <a:rect l="l" t="t" r="r" b="b"/>
            <a:pathLst>
              <a:path w="7996628" h="1744131">
                <a:moveTo>
                  <a:pt x="0" y="0"/>
                </a:moveTo>
                <a:lnTo>
                  <a:pt x="7996628" y="0"/>
                </a:lnTo>
                <a:lnTo>
                  <a:pt x="7996628" y="1744131"/>
                </a:lnTo>
                <a:lnTo>
                  <a:pt x="0" y="1744131"/>
                </a:lnTo>
                <a:close/>
              </a:path>
            </a:pathLst>
          </a:custGeom>
          <a:solidFill>
            <a:srgbClr val="000000">
              <a:alpha val="0"/>
            </a:srgbClr>
          </a:solidFill>
        </p:spPr>
      </p:sp>
      <p:pic>
        <p:nvPicPr>
          <p:cNvPr id="52" name="Picture 51">
            <a:extLst>
              <a:ext uri="{FF2B5EF4-FFF2-40B4-BE49-F238E27FC236}">
                <a16:creationId xmlns:a16="http://schemas.microsoft.com/office/drawing/2014/main" id="{572CD0E5-38E4-4239-BA2E-4E27D1ABF3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4976" y="1658889"/>
            <a:ext cx="8742048" cy="4044827"/>
          </a:xfrm>
          <a:prstGeom prst="rect">
            <a:avLst/>
          </a:prstGeom>
        </p:spPr>
      </p:pic>
    </p:spTree>
    <p:extLst>
      <p:ext uri="{BB962C8B-B14F-4D97-AF65-F5344CB8AC3E}">
        <p14:creationId xmlns:p14="http://schemas.microsoft.com/office/powerpoint/2010/main" val="3301123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F8F538D-149D-C9B5-6C3B-89FD836724F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D7E2A16-805F-8C64-5BC2-8F93CA3B1F2A}"/>
              </a:ext>
            </a:extLst>
          </p:cNvPr>
          <p:cNvSpPr/>
          <p:nvPr/>
        </p:nvSpPr>
        <p:spPr>
          <a:xfrm>
            <a:off x="0" y="0"/>
            <a:ext cx="12192000" cy="132611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66450F2-CF7E-1FE1-30EE-D60D867CF5AC}"/>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D93381EF-E66D-E27A-96B7-92D8E9E855B4}"/>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Monday, January 5, 2026</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C28CB633-F1B1-5AA2-7616-AEF6E0DF8360}"/>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E79D2D25-2955-F5EC-C541-17FA71463E6B}"/>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17</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64D1B26-5C4F-78A5-0FA4-7C65A21418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43FC0F64-C578-9225-8FA3-BA41CCCC1B39}"/>
              </a:ext>
            </a:extLst>
          </p:cNvPr>
          <p:cNvSpPr/>
          <p:nvPr/>
        </p:nvSpPr>
        <p:spPr>
          <a:xfrm>
            <a:off x="-1" y="1314639"/>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D530E3B7-B626-CE1E-83DC-D03F1E27D7F3}"/>
              </a:ext>
            </a:extLst>
          </p:cNvPr>
          <p:cNvSpPr>
            <a:spLocks noGrp="1"/>
          </p:cNvSpPr>
          <p:nvPr>
            <p:ph type="ctrTitle"/>
          </p:nvPr>
        </p:nvSpPr>
        <p:spPr>
          <a:xfrm>
            <a:off x="1273976" y="457199"/>
            <a:ext cx="10161104" cy="619813"/>
          </a:xfrm>
          <a:effectLst>
            <a:outerShdw blurRad="63500" sx="102000" sy="102000" algn="ctr" rotWithShape="0">
              <a:prstClr val="black">
                <a:alpha val="40000"/>
              </a:prstClr>
            </a:outerShdw>
          </a:effectLst>
        </p:spPr>
        <p:txBody>
          <a:bodyPr>
            <a:noAutofit/>
          </a:bodyPr>
          <a:lstStyle/>
          <a:p>
            <a:pPr algn="l">
              <a:lnSpc>
                <a:spcPts val="7539"/>
              </a:lnSpc>
            </a:pPr>
            <a:br>
              <a:rPr lang="en-US" sz="3200" b="1" dirty="0">
                <a:solidFill>
                  <a:srgbClr val="134E1A"/>
                </a:solidFill>
                <a:latin typeface="Akzidenz-Grotesk Bold"/>
                <a:ea typeface="Akzidenz-Grotesk Bold"/>
                <a:cs typeface="Akzidenz-Grotesk Bold"/>
                <a:sym typeface="Akzidenz-Grotesk Bold"/>
              </a:rPr>
            </a:br>
            <a:br>
              <a:rPr lang="en-US" sz="3200" b="1" dirty="0">
                <a:solidFill>
                  <a:srgbClr val="134E1A"/>
                </a:solidFill>
                <a:latin typeface="Akzidenz-Grotesk Bold"/>
                <a:ea typeface="Akzidenz-Grotesk Bold"/>
                <a:cs typeface="Akzidenz-Grotesk Bold"/>
                <a:sym typeface="Akzidenz-Grotesk Bold"/>
              </a:rPr>
            </a:br>
            <a:br>
              <a:rPr lang="en-US" sz="3200" b="1" dirty="0">
                <a:solidFill>
                  <a:srgbClr val="134E1A"/>
                </a:solidFill>
                <a:latin typeface="Akzidenz-Grotesk Bold"/>
                <a:ea typeface="Akzidenz-Grotesk Bold"/>
                <a:cs typeface="Akzidenz-Grotesk Bold"/>
                <a:sym typeface="Akzidenz-Grotesk Bold"/>
              </a:rPr>
            </a:br>
            <a:r>
              <a:rPr lang="en-US" sz="3200" b="1" dirty="0">
                <a:latin typeface="Times New Roman" panose="02020603050405020304" pitchFamily="18" charset="0"/>
                <a:ea typeface="Akzidenz-Grotesk Bold"/>
                <a:cs typeface="Times New Roman" panose="02020603050405020304" pitchFamily="18" charset="0"/>
                <a:sym typeface="Akzidenz-Grotesk Bold"/>
              </a:rPr>
              <a:t>Tools &amp; Technologies</a:t>
            </a:r>
          </a:p>
        </p:txBody>
      </p:sp>
      <p:sp>
        <p:nvSpPr>
          <p:cNvPr id="23" name="Freeform 37">
            <a:extLst>
              <a:ext uri="{FF2B5EF4-FFF2-40B4-BE49-F238E27FC236}">
                <a16:creationId xmlns:a16="http://schemas.microsoft.com/office/drawing/2014/main" id="{9697CFD7-210F-42BF-BF1F-A778D93ACAC3}"/>
              </a:ext>
            </a:extLst>
          </p:cNvPr>
          <p:cNvSpPr/>
          <p:nvPr/>
        </p:nvSpPr>
        <p:spPr>
          <a:xfrm>
            <a:off x="1987224" y="6751338"/>
            <a:ext cx="5997471" cy="1308098"/>
          </a:xfrm>
          <a:custGeom>
            <a:avLst/>
            <a:gdLst/>
            <a:ahLst/>
            <a:cxnLst/>
            <a:rect l="l" t="t" r="r" b="b"/>
            <a:pathLst>
              <a:path w="7996628" h="1744131">
                <a:moveTo>
                  <a:pt x="0" y="0"/>
                </a:moveTo>
                <a:lnTo>
                  <a:pt x="7996628" y="0"/>
                </a:lnTo>
                <a:lnTo>
                  <a:pt x="7996628" y="1744131"/>
                </a:lnTo>
                <a:lnTo>
                  <a:pt x="0" y="1744131"/>
                </a:lnTo>
                <a:close/>
              </a:path>
            </a:pathLst>
          </a:custGeom>
          <a:solidFill>
            <a:srgbClr val="000000">
              <a:alpha val="0"/>
            </a:srgbClr>
          </a:solidFill>
        </p:spPr>
      </p:sp>
      <p:sp>
        <p:nvSpPr>
          <p:cNvPr id="15" name="TextBox 18">
            <a:extLst>
              <a:ext uri="{FF2B5EF4-FFF2-40B4-BE49-F238E27FC236}">
                <a16:creationId xmlns:a16="http://schemas.microsoft.com/office/drawing/2014/main" id="{6A56D146-B660-4107-A05E-9A4812D203DD}"/>
              </a:ext>
            </a:extLst>
          </p:cNvPr>
          <p:cNvSpPr txBox="1"/>
          <p:nvPr/>
        </p:nvSpPr>
        <p:spPr>
          <a:xfrm>
            <a:off x="1459357" y="2186108"/>
            <a:ext cx="9273281" cy="2186111"/>
          </a:xfrm>
          <a:prstGeom prst="rect">
            <a:avLst/>
          </a:prstGeom>
        </p:spPr>
        <p:txBody>
          <a:bodyPr lIns="0" tIns="0" rIns="0" bIns="0" rtlCol="0" anchor="t">
            <a:spAutoFit/>
          </a:bodyPr>
          <a:lstStyle/>
          <a:p>
            <a:pPr algn="just">
              <a:lnSpc>
                <a:spcPts val="3500"/>
              </a:lnSpc>
            </a:pPr>
            <a:r>
              <a:rPr lang="en-US" dirty="0">
                <a:latin typeface="Times New Roman" panose="02020603050405020304" pitchFamily="18" charset="0"/>
                <a:ea typeface="Aileron Ultra-Bold"/>
                <a:cs typeface="Times New Roman" panose="02020603050405020304" pitchFamily="18" charset="0"/>
                <a:sym typeface="Aileron Ultra-Bold"/>
              </a:rPr>
              <a:t>Development:  Android Studio, Java.</a:t>
            </a:r>
          </a:p>
          <a:p>
            <a:pPr algn="just">
              <a:lnSpc>
                <a:spcPts val="3500"/>
              </a:lnSpc>
            </a:pPr>
            <a:r>
              <a:rPr lang="en-US" dirty="0">
                <a:latin typeface="Times New Roman" panose="02020603050405020304" pitchFamily="18" charset="0"/>
                <a:ea typeface="Aileron Ultra-Bold"/>
                <a:cs typeface="Times New Roman" panose="02020603050405020304" pitchFamily="18" charset="0"/>
                <a:sym typeface="Aileron Ultra-Bold"/>
              </a:rPr>
              <a:t>Back-end:  Firebase (Auth, Realtime DB, Cloud Functions).</a:t>
            </a:r>
          </a:p>
          <a:p>
            <a:pPr algn="just">
              <a:lnSpc>
                <a:spcPts val="3500"/>
              </a:lnSpc>
            </a:pPr>
            <a:r>
              <a:rPr lang="en-US" dirty="0">
                <a:latin typeface="Times New Roman" panose="02020603050405020304" pitchFamily="18" charset="0"/>
                <a:ea typeface="Aileron Ultra-Bold"/>
                <a:cs typeface="Times New Roman" panose="02020603050405020304" pitchFamily="18" charset="0"/>
                <a:sym typeface="Aileron Ultra-Bold"/>
              </a:rPr>
              <a:t>APIs:   Google Maps, Payment Gateway .</a:t>
            </a:r>
          </a:p>
          <a:p>
            <a:pPr algn="just">
              <a:lnSpc>
                <a:spcPts val="3500"/>
              </a:lnSpc>
            </a:pPr>
            <a:r>
              <a:rPr lang="en-US" dirty="0">
                <a:latin typeface="Times New Roman" panose="02020603050405020304" pitchFamily="18" charset="0"/>
                <a:ea typeface="Aileron Ultra-Bold"/>
                <a:cs typeface="Times New Roman" panose="02020603050405020304" pitchFamily="18" charset="0"/>
                <a:sym typeface="Aileron Ultra-Bold"/>
              </a:rPr>
              <a:t>Design/Version Control:  </a:t>
            </a:r>
            <a:r>
              <a:rPr lang="en-US" dirty="0" err="1">
                <a:latin typeface="Times New Roman" panose="02020603050405020304" pitchFamily="18" charset="0"/>
                <a:ea typeface="Aileron Ultra-Bold"/>
                <a:cs typeface="Times New Roman" panose="02020603050405020304" pitchFamily="18" charset="0"/>
                <a:sym typeface="Aileron Ultra-Bold"/>
              </a:rPr>
              <a:t>Figma</a:t>
            </a:r>
            <a:r>
              <a:rPr lang="en-US" dirty="0">
                <a:latin typeface="Times New Roman" panose="02020603050405020304" pitchFamily="18" charset="0"/>
                <a:ea typeface="Aileron Ultra-Bold"/>
                <a:cs typeface="Times New Roman" panose="02020603050405020304" pitchFamily="18" charset="0"/>
                <a:sym typeface="Aileron Ultra-Bold"/>
              </a:rPr>
              <a:t>/Adobe XD, Git.</a:t>
            </a:r>
          </a:p>
          <a:p>
            <a:pPr algn="just">
              <a:lnSpc>
                <a:spcPts val="3500"/>
              </a:lnSpc>
            </a:pPr>
            <a:endParaRPr lang="en-US" dirty="0">
              <a:latin typeface="Times New Roman" panose="02020603050405020304" pitchFamily="18" charset="0"/>
              <a:ea typeface="Aileron Ultra-Bold"/>
              <a:cs typeface="Times New Roman" panose="02020603050405020304" pitchFamily="18" charset="0"/>
              <a:sym typeface="Aileron Ultra-Bold"/>
            </a:endParaRPr>
          </a:p>
        </p:txBody>
      </p:sp>
      <p:grpSp>
        <p:nvGrpSpPr>
          <p:cNvPr id="12" name="Group 3">
            <a:extLst>
              <a:ext uri="{FF2B5EF4-FFF2-40B4-BE49-F238E27FC236}">
                <a16:creationId xmlns:a16="http://schemas.microsoft.com/office/drawing/2014/main" id="{4FB06138-5734-48B1-8287-BA22CB57A0F5}"/>
              </a:ext>
            </a:extLst>
          </p:cNvPr>
          <p:cNvGrpSpPr/>
          <p:nvPr/>
        </p:nvGrpSpPr>
        <p:grpSpPr>
          <a:xfrm>
            <a:off x="8384346" y="1641224"/>
            <a:ext cx="1587574" cy="1546458"/>
            <a:chOff x="0" y="0"/>
            <a:chExt cx="3794808" cy="3696531"/>
          </a:xfrm>
        </p:grpSpPr>
        <p:sp>
          <p:nvSpPr>
            <p:cNvPr id="13" name="Freeform 4">
              <a:extLst>
                <a:ext uri="{FF2B5EF4-FFF2-40B4-BE49-F238E27FC236}">
                  <a16:creationId xmlns:a16="http://schemas.microsoft.com/office/drawing/2014/main" id="{6E734CA6-79DF-4328-9098-E0DC72139AA2}"/>
                </a:ext>
              </a:extLst>
            </p:cNvPr>
            <p:cNvSpPr/>
            <p:nvPr/>
          </p:nvSpPr>
          <p:spPr>
            <a:xfrm>
              <a:off x="0" y="0"/>
              <a:ext cx="3794839" cy="3696477"/>
            </a:xfrm>
            <a:custGeom>
              <a:avLst/>
              <a:gdLst/>
              <a:ahLst/>
              <a:cxnLst/>
              <a:rect l="l" t="t" r="r" b="b"/>
              <a:pathLst>
                <a:path w="3794839" h="3696477">
                  <a:moveTo>
                    <a:pt x="0" y="0"/>
                  </a:moveTo>
                  <a:lnTo>
                    <a:pt x="3794839" y="0"/>
                  </a:lnTo>
                  <a:lnTo>
                    <a:pt x="3794839" y="3696477"/>
                  </a:lnTo>
                  <a:lnTo>
                    <a:pt x="0" y="3696477"/>
                  </a:lnTo>
                  <a:lnTo>
                    <a:pt x="0" y="0"/>
                  </a:lnTo>
                  <a:close/>
                </a:path>
              </a:pathLst>
            </a:custGeom>
            <a:blipFill>
              <a:blip r:embed="rId3"/>
              <a:stretch>
                <a:fillRect l="-7326" t="-9434" r="-121720" b="-9436"/>
              </a:stretch>
            </a:blipFill>
          </p:spPr>
        </p:sp>
      </p:grpSp>
      <p:grpSp>
        <p:nvGrpSpPr>
          <p:cNvPr id="16" name="Group 5">
            <a:extLst>
              <a:ext uri="{FF2B5EF4-FFF2-40B4-BE49-F238E27FC236}">
                <a16:creationId xmlns:a16="http://schemas.microsoft.com/office/drawing/2014/main" id="{B3A6BA08-BE73-41CF-AF58-3FDFB69FFB2E}"/>
              </a:ext>
            </a:extLst>
          </p:cNvPr>
          <p:cNvGrpSpPr/>
          <p:nvPr/>
        </p:nvGrpSpPr>
        <p:grpSpPr>
          <a:xfrm>
            <a:off x="9577649" y="1999058"/>
            <a:ext cx="2309977" cy="1733485"/>
            <a:chOff x="0" y="0"/>
            <a:chExt cx="3849360" cy="2888688"/>
          </a:xfrm>
        </p:grpSpPr>
        <p:sp>
          <p:nvSpPr>
            <p:cNvPr id="17" name="Freeform 6">
              <a:extLst>
                <a:ext uri="{FF2B5EF4-FFF2-40B4-BE49-F238E27FC236}">
                  <a16:creationId xmlns:a16="http://schemas.microsoft.com/office/drawing/2014/main" id="{76E9AF54-3942-4790-85C2-0F5862EBAD07}"/>
                </a:ext>
              </a:extLst>
            </p:cNvPr>
            <p:cNvSpPr/>
            <p:nvPr/>
          </p:nvSpPr>
          <p:spPr>
            <a:xfrm>
              <a:off x="0" y="0"/>
              <a:ext cx="3849370" cy="2888742"/>
            </a:xfrm>
            <a:custGeom>
              <a:avLst/>
              <a:gdLst/>
              <a:ahLst/>
              <a:cxnLst/>
              <a:rect l="l" t="t" r="r" b="b"/>
              <a:pathLst>
                <a:path w="3849370" h="2888742">
                  <a:moveTo>
                    <a:pt x="0" y="0"/>
                  </a:moveTo>
                  <a:lnTo>
                    <a:pt x="3849370" y="0"/>
                  </a:lnTo>
                  <a:lnTo>
                    <a:pt x="3849370" y="2888742"/>
                  </a:lnTo>
                  <a:lnTo>
                    <a:pt x="0" y="2888742"/>
                  </a:lnTo>
                  <a:lnTo>
                    <a:pt x="0" y="0"/>
                  </a:lnTo>
                  <a:close/>
                </a:path>
              </a:pathLst>
            </a:custGeom>
            <a:blipFill>
              <a:blip r:embed="rId4"/>
              <a:stretch>
                <a:fillRect t="-136" b="-134"/>
              </a:stretch>
            </a:blipFill>
          </p:spPr>
        </p:sp>
      </p:grpSp>
      <p:grpSp>
        <p:nvGrpSpPr>
          <p:cNvPr id="18" name="Group 7">
            <a:extLst>
              <a:ext uri="{FF2B5EF4-FFF2-40B4-BE49-F238E27FC236}">
                <a16:creationId xmlns:a16="http://schemas.microsoft.com/office/drawing/2014/main" id="{58CACFEC-6CA4-43AD-9BA0-0EF911664986}"/>
              </a:ext>
            </a:extLst>
          </p:cNvPr>
          <p:cNvGrpSpPr/>
          <p:nvPr/>
        </p:nvGrpSpPr>
        <p:grpSpPr>
          <a:xfrm rot="-80125">
            <a:off x="7932502" y="2975299"/>
            <a:ext cx="2268571" cy="2268571"/>
            <a:chOff x="0" y="0"/>
            <a:chExt cx="3780363" cy="3780363"/>
          </a:xfrm>
        </p:grpSpPr>
        <p:sp>
          <p:nvSpPr>
            <p:cNvPr id="19" name="Freeform 8">
              <a:extLst>
                <a:ext uri="{FF2B5EF4-FFF2-40B4-BE49-F238E27FC236}">
                  <a16:creationId xmlns:a16="http://schemas.microsoft.com/office/drawing/2014/main" id="{A134AA1E-E91B-456D-A19B-E7B766EE59C1}"/>
                </a:ext>
              </a:extLst>
            </p:cNvPr>
            <p:cNvSpPr/>
            <p:nvPr/>
          </p:nvSpPr>
          <p:spPr>
            <a:xfrm>
              <a:off x="0" y="0"/>
              <a:ext cx="3780409" cy="3780409"/>
            </a:xfrm>
            <a:custGeom>
              <a:avLst/>
              <a:gdLst/>
              <a:ahLst/>
              <a:cxnLst/>
              <a:rect l="l" t="t" r="r" b="b"/>
              <a:pathLst>
                <a:path w="3780409" h="3780409">
                  <a:moveTo>
                    <a:pt x="0" y="0"/>
                  </a:moveTo>
                  <a:lnTo>
                    <a:pt x="3780409" y="0"/>
                  </a:lnTo>
                  <a:lnTo>
                    <a:pt x="3780409" y="3780409"/>
                  </a:lnTo>
                  <a:lnTo>
                    <a:pt x="0" y="3780409"/>
                  </a:lnTo>
                  <a:lnTo>
                    <a:pt x="0" y="0"/>
                  </a:lnTo>
                  <a:close/>
                </a:path>
              </a:pathLst>
            </a:custGeom>
            <a:blipFill>
              <a:blip r:embed="rId5"/>
              <a:stretch>
                <a:fillRect r="1" b="1"/>
              </a:stretch>
            </a:blipFill>
          </p:spPr>
        </p:sp>
      </p:grpSp>
      <p:grpSp>
        <p:nvGrpSpPr>
          <p:cNvPr id="20" name="Group 9">
            <a:extLst>
              <a:ext uri="{FF2B5EF4-FFF2-40B4-BE49-F238E27FC236}">
                <a16:creationId xmlns:a16="http://schemas.microsoft.com/office/drawing/2014/main" id="{84532F49-A01B-41BB-8289-29DDC915318F}"/>
              </a:ext>
            </a:extLst>
          </p:cNvPr>
          <p:cNvGrpSpPr/>
          <p:nvPr/>
        </p:nvGrpSpPr>
        <p:grpSpPr>
          <a:xfrm>
            <a:off x="9175121" y="3159800"/>
            <a:ext cx="3584990" cy="3638685"/>
            <a:chOff x="0" y="0"/>
            <a:chExt cx="5974049" cy="6063527"/>
          </a:xfrm>
        </p:grpSpPr>
        <p:sp>
          <p:nvSpPr>
            <p:cNvPr id="21" name="Freeform 10">
              <a:extLst>
                <a:ext uri="{FF2B5EF4-FFF2-40B4-BE49-F238E27FC236}">
                  <a16:creationId xmlns:a16="http://schemas.microsoft.com/office/drawing/2014/main" id="{F0F8CF73-7962-40A1-8FCD-D73E2955E19B}"/>
                </a:ext>
              </a:extLst>
            </p:cNvPr>
            <p:cNvSpPr/>
            <p:nvPr/>
          </p:nvSpPr>
          <p:spPr>
            <a:xfrm>
              <a:off x="0" y="0"/>
              <a:ext cx="5974080" cy="6063488"/>
            </a:xfrm>
            <a:custGeom>
              <a:avLst/>
              <a:gdLst/>
              <a:ahLst/>
              <a:cxnLst/>
              <a:rect l="l" t="t" r="r" b="b"/>
              <a:pathLst>
                <a:path w="5974080" h="6063488">
                  <a:moveTo>
                    <a:pt x="0" y="0"/>
                  </a:moveTo>
                  <a:lnTo>
                    <a:pt x="5974080" y="0"/>
                  </a:lnTo>
                  <a:lnTo>
                    <a:pt x="5974080" y="6063488"/>
                  </a:lnTo>
                  <a:lnTo>
                    <a:pt x="0" y="6063488"/>
                  </a:lnTo>
                  <a:lnTo>
                    <a:pt x="0" y="0"/>
                  </a:lnTo>
                  <a:close/>
                </a:path>
              </a:pathLst>
            </a:custGeom>
            <a:blipFill>
              <a:blip r:embed="rId6"/>
              <a:stretch>
                <a:fillRect l="-17782" r="-17782"/>
              </a:stretch>
            </a:blipFill>
          </p:spPr>
        </p:sp>
      </p:grpSp>
    </p:spTree>
    <p:extLst>
      <p:ext uri="{BB962C8B-B14F-4D97-AF65-F5344CB8AC3E}">
        <p14:creationId xmlns:p14="http://schemas.microsoft.com/office/powerpoint/2010/main" val="30254872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F8F538D-149D-C9B5-6C3B-89FD836724F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D7E2A16-805F-8C64-5BC2-8F93CA3B1F2A}"/>
              </a:ext>
            </a:extLst>
          </p:cNvPr>
          <p:cNvSpPr/>
          <p:nvPr/>
        </p:nvSpPr>
        <p:spPr>
          <a:xfrm>
            <a:off x="0" y="0"/>
            <a:ext cx="12192000" cy="132611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66450F2-CF7E-1FE1-30EE-D60D867CF5AC}"/>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D93381EF-E66D-E27A-96B7-92D8E9E855B4}"/>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Monday, January 5, 2026</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C28CB633-F1B1-5AA2-7616-AEF6E0DF8360}"/>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E79D2D25-2955-F5EC-C541-17FA71463E6B}"/>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18</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64D1B26-5C4F-78A5-0FA4-7C65A21418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43FC0F64-C578-9225-8FA3-BA41CCCC1B39}"/>
              </a:ext>
            </a:extLst>
          </p:cNvPr>
          <p:cNvSpPr/>
          <p:nvPr/>
        </p:nvSpPr>
        <p:spPr>
          <a:xfrm>
            <a:off x="-1" y="1314639"/>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D530E3B7-B626-CE1E-83DC-D03F1E27D7F3}"/>
              </a:ext>
            </a:extLst>
          </p:cNvPr>
          <p:cNvSpPr>
            <a:spLocks noGrp="1"/>
          </p:cNvSpPr>
          <p:nvPr>
            <p:ph type="ctrTitle"/>
          </p:nvPr>
        </p:nvSpPr>
        <p:spPr>
          <a:xfrm>
            <a:off x="1273976" y="457199"/>
            <a:ext cx="10161104" cy="619813"/>
          </a:xfrm>
          <a:effectLst>
            <a:outerShdw blurRad="63500" sx="102000" sy="102000" algn="ctr" rotWithShape="0">
              <a:prstClr val="black">
                <a:alpha val="40000"/>
              </a:prstClr>
            </a:outerShdw>
          </a:effectLst>
        </p:spPr>
        <p:txBody>
          <a:bodyPr>
            <a:noAutofit/>
          </a:bodyPr>
          <a:lstStyle/>
          <a:p>
            <a:pPr algn="l">
              <a:lnSpc>
                <a:spcPts val="7539"/>
              </a:lnSpc>
            </a:pPr>
            <a:br>
              <a:rPr lang="en-US" sz="3200" b="1" dirty="0">
                <a:solidFill>
                  <a:srgbClr val="134E1A"/>
                </a:solidFill>
                <a:latin typeface="Akzidenz-Grotesk Bold"/>
                <a:ea typeface="Akzidenz-Grotesk Bold"/>
                <a:cs typeface="Akzidenz-Grotesk Bold"/>
                <a:sym typeface="Akzidenz-Grotesk Bold"/>
              </a:rPr>
            </a:br>
            <a:br>
              <a:rPr lang="en-US" sz="3200" b="1" dirty="0">
                <a:solidFill>
                  <a:srgbClr val="134E1A"/>
                </a:solidFill>
                <a:latin typeface="Akzidenz-Grotesk Bold"/>
                <a:ea typeface="Akzidenz-Grotesk Bold"/>
                <a:cs typeface="Akzidenz-Grotesk Bold"/>
                <a:sym typeface="Akzidenz-Grotesk Bold"/>
              </a:rPr>
            </a:br>
            <a:br>
              <a:rPr lang="en-US" sz="3200" b="1" dirty="0">
                <a:solidFill>
                  <a:srgbClr val="134E1A"/>
                </a:solidFill>
                <a:latin typeface="Akzidenz-Grotesk Bold"/>
                <a:ea typeface="Akzidenz-Grotesk Bold"/>
                <a:cs typeface="Akzidenz-Grotesk Bold"/>
                <a:sym typeface="Akzidenz-Grotesk Bold"/>
              </a:rPr>
            </a:br>
            <a:br>
              <a:rPr lang="en-US" sz="3200" b="1" dirty="0">
                <a:solidFill>
                  <a:srgbClr val="134E1A"/>
                </a:solidFill>
                <a:latin typeface="Akzidenz-Grotesk Bold"/>
                <a:ea typeface="Akzidenz-Grotesk Bold"/>
                <a:cs typeface="Akzidenz-Grotesk Bold"/>
                <a:sym typeface="Akzidenz-Grotesk Bold"/>
              </a:rPr>
            </a:br>
            <a:r>
              <a:rPr lang="en-US" sz="3200" b="1" dirty="0">
                <a:latin typeface="Times New Roman" panose="02020603050405020304" pitchFamily="18" charset="0"/>
                <a:ea typeface="Akzidenz-Grotesk Bold"/>
                <a:cs typeface="Times New Roman" panose="02020603050405020304" pitchFamily="18" charset="0"/>
                <a:sym typeface="Akzidenz-Grotesk Bold"/>
              </a:rPr>
              <a:t>Expected Outcomes</a:t>
            </a:r>
          </a:p>
        </p:txBody>
      </p:sp>
      <p:sp>
        <p:nvSpPr>
          <p:cNvPr id="23" name="Freeform 37">
            <a:extLst>
              <a:ext uri="{FF2B5EF4-FFF2-40B4-BE49-F238E27FC236}">
                <a16:creationId xmlns:a16="http://schemas.microsoft.com/office/drawing/2014/main" id="{9697CFD7-210F-42BF-BF1F-A778D93ACAC3}"/>
              </a:ext>
            </a:extLst>
          </p:cNvPr>
          <p:cNvSpPr/>
          <p:nvPr/>
        </p:nvSpPr>
        <p:spPr>
          <a:xfrm>
            <a:off x="1987224" y="6751338"/>
            <a:ext cx="5997471" cy="1308098"/>
          </a:xfrm>
          <a:custGeom>
            <a:avLst/>
            <a:gdLst/>
            <a:ahLst/>
            <a:cxnLst/>
            <a:rect l="l" t="t" r="r" b="b"/>
            <a:pathLst>
              <a:path w="7996628" h="1744131">
                <a:moveTo>
                  <a:pt x="0" y="0"/>
                </a:moveTo>
                <a:lnTo>
                  <a:pt x="7996628" y="0"/>
                </a:lnTo>
                <a:lnTo>
                  <a:pt x="7996628" y="1744131"/>
                </a:lnTo>
                <a:lnTo>
                  <a:pt x="0" y="1744131"/>
                </a:lnTo>
                <a:close/>
              </a:path>
            </a:pathLst>
          </a:custGeom>
          <a:solidFill>
            <a:srgbClr val="000000">
              <a:alpha val="0"/>
            </a:srgbClr>
          </a:solidFill>
        </p:spPr>
      </p:sp>
      <p:sp>
        <p:nvSpPr>
          <p:cNvPr id="15" name="TextBox 18">
            <a:extLst>
              <a:ext uri="{FF2B5EF4-FFF2-40B4-BE49-F238E27FC236}">
                <a16:creationId xmlns:a16="http://schemas.microsoft.com/office/drawing/2014/main" id="{6A56D146-B660-4107-A05E-9A4812D203DD}"/>
              </a:ext>
            </a:extLst>
          </p:cNvPr>
          <p:cNvSpPr txBox="1"/>
          <p:nvPr/>
        </p:nvSpPr>
        <p:spPr>
          <a:xfrm>
            <a:off x="1459357" y="2186108"/>
            <a:ext cx="9273281" cy="1660326"/>
          </a:xfrm>
          <a:prstGeom prst="rect">
            <a:avLst/>
          </a:prstGeom>
        </p:spPr>
        <p:txBody>
          <a:bodyPr lIns="0" tIns="0" rIns="0" bIns="0" rtlCol="0" anchor="t">
            <a:spAutoFit/>
          </a:bodyPr>
          <a:lstStyle/>
          <a:p>
            <a:pPr marL="285750" indent="-285750" algn="just">
              <a:lnSpc>
                <a:spcPts val="3236"/>
              </a:lnSpc>
              <a:buFont typeface="Wingdings" panose="05000000000000000000" pitchFamily="2" charset="2"/>
              <a:buChar char="Ø"/>
            </a:pPr>
            <a:r>
              <a:rPr lang="en-US" dirty="0">
                <a:latin typeface="Times New Roman" panose="02020603050405020304" pitchFamily="18" charset="0"/>
                <a:ea typeface="Aileron Bold"/>
                <a:cs typeface="Times New Roman" panose="02020603050405020304" pitchFamily="18" charset="0"/>
                <a:sym typeface="Aileron Bold"/>
              </a:rPr>
              <a:t>A fully functional app for finding/hiring local professionals.</a:t>
            </a:r>
          </a:p>
          <a:p>
            <a:pPr marL="285750" indent="-285750" algn="just">
              <a:lnSpc>
                <a:spcPts val="3236"/>
              </a:lnSpc>
              <a:buFont typeface="Wingdings" panose="05000000000000000000" pitchFamily="2" charset="2"/>
              <a:buChar char="Ø"/>
            </a:pPr>
            <a:r>
              <a:rPr lang="en-US" dirty="0">
                <a:latin typeface="Times New Roman" panose="02020603050405020304" pitchFamily="18" charset="0"/>
                <a:ea typeface="Aileron Bold"/>
                <a:cs typeface="Times New Roman" panose="02020603050405020304" pitchFamily="18" charset="0"/>
                <a:sym typeface="Aileron Bold"/>
              </a:rPr>
              <a:t>Improved accessibility and convenience for users.</a:t>
            </a:r>
          </a:p>
          <a:p>
            <a:pPr marL="285750" indent="-285750" algn="just">
              <a:lnSpc>
                <a:spcPts val="3500"/>
              </a:lnSpc>
              <a:buFont typeface="Wingdings" panose="05000000000000000000" pitchFamily="2" charset="2"/>
              <a:buChar char="Ø"/>
            </a:pPr>
            <a:r>
              <a:rPr lang="en-US" dirty="0">
                <a:latin typeface="Times New Roman" panose="02020603050405020304" pitchFamily="18" charset="0"/>
                <a:ea typeface="Aileron Bold"/>
                <a:cs typeface="Times New Roman" panose="02020603050405020304" pitchFamily="18" charset="0"/>
                <a:sym typeface="Aileron Bold"/>
              </a:rPr>
              <a:t>Growth opportunities for service providers </a:t>
            </a:r>
          </a:p>
          <a:p>
            <a:pPr algn="just">
              <a:lnSpc>
                <a:spcPts val="3500"/>
              </a:lnSpc>
            </a:pPr>
            <a:endParaRPr lang="en-US" dirty="0">
              <a:latin typeface="Times New Roman" panose="02020603050405020304" pitchFamily="18" charset="0"/>
              <a:ea typeface="Aileron Ultra-Bold"/>
              <a:cs typeface="Times New Roman" panose="02020603050405020304" pitchFamily="18" charset="0"/>
              <a:sym typeface="Aileron Ultra-Bold"/>
            </a:endParaRPr>
          </a:p>
        </p:txBody>
      </p:sp>
    </p:spTree>
    <p:extLst>
      <p:ext uri="{BB962C8B-B14F-4D97-AF65-F5344CB8AC3E}">
        <p14:creationId xmlns:p14="http://schemas.microsoft.com/office/powerpoint/2010/main" val="26852905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F8F538D-149D-C9B5-6C3B-89FD836724F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D7E2A16-805F-8C64-5BC2-8F93CA3B1F2A}"/>
              </a:ext>
            </a:extLst>
          </p:cNvPr>
          <p:cNvSpPr/>
          <p:nvPr/>
        </p:nvSpPr>
        <p:spPr>
          <a:xfrm>
            <a:off x="0" y="0"/>
            <a:ext cx="12192000" cy="132611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66450F2-CF7E-1FE1-30EE-D60D867CF5AC}"/>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D93381EF-E66D-E27A-96B7-92D8E9E855B4}"/>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Monday, January 5, 2026</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C28CB633-F1B1-5AA2-7616-AEF6E0DF8360}"/>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E79D2D25-2955-F5EC-C541-17FA71463E6B}"/>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19</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64D1B26-5C4F-78A5-0FA4-7C65A21418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43FC0F64-C578-9225-8FA3-BA41CCCC1B39}"/>
              </a:ext>
            </a:extLst>
          </p:cNvPr>
          <p:cNvSpPr/>
          <p:nvPr/>
        </p:nvSpPr>
        <p:spPr>
          <a:xfrm>
            <a:off x="-1" y="1314639"/>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D530E3B7-B626-CE1E-83DC-D03F1E27D7F3}"/>
              </a:ext>
            </a:extLst>
          </p:cNvPr>
          <p:cNvSpPr>
            <a:spLocks noGrp="1"/>
          </p:cNvSpPr>
          <p:nvPr>
            <p:ph type="ctrTitle"/>
          </p:nvPr>
        </p:nvSpPr>
        <p:spPr>
          <a:xfrm>
            <a:off x="1273976" y="457199"/>
            <a:ext cx="10161104" cy="619813"/>
          </a:xfrm>
          <a:effectLst>
            <a:outerShdw blurRad="63500" sx="102000" sy="102000" algn="ctr" rotWithShape="0">
              <a:prstClr val="black">
                <a:alpha val="40000"/>
              </a:prstClr>
            </a:outerShdw>
          </a:effectLst>
        </p:spPr>
        <p:txBody>
          <a:bodyPr>
            <a:noAutofit/>
          </a:bodyPr>
          <a:lstStyle/>
          <a:p>
            <a:pPr algn="l">
              <a:lnSpc>
                <a:spcPts val="7539"/>
              </a:lnSpc>
            </a:pPr>
            <a:br>
              <a:rPr lang="en-US" sz="3200" b="1" dirty="0">
                <a:solidFill>
                  <a:srgbClr val="134E1A"/>
                </a:solidFill>
                <a:latin typeface="Akzidenz-Grotesk Bold"/>
                <a:ea typeface="Akzidenz-Grotesk Bold"/>
                <a:cs typeface="Akzidenz-Grotesk Bold"/>
                <a:sym typeface="Akzidenz-Grotesk Bold"/>
              </a:rPr>
            </a:br>
            <a:br>
              <a:rPr lang="en-US" sz="3200" b="1" dirty="0">
                <a:solidFill>
                  <a:srgbClr val="134E1A"/>
                </a:solidFill>
                <a:latin typeface="Akzidenz-Grotesk Bold"/>
                <a:ea typeface="Akzidenz-Grotesk Bold"/>
                <a:cs typeface="Akzidenz-Grotesk Bold"/>
                <a:sym typeface="Akzidenz-Grotesk Bold"/>
              </a:rPr>
            </a:br>
            <a:br>
              <a:rPr lang="en-US" sz="3200" b="1" dirty="0">
                <a:solidFill>
                  <a:srgbClr val="134E1A"/>
                </a:solidFill>
                <a:latin typeface="Akzidenz-Grotesk Bold"/>
                <a:ea typeface="Akzidenz-Grotesk Bold"/>
                <a:cs typeface="Akzidenz-Grotesk Bold"/>
                <a:sym typeface="Akzidenz-Grotesk Bold"/>
              </a:rPr>
            </a:br>
            <a:br>
              <a:rPr lang="en-US" sz="3200" b="1" dirty="0">
                <a:solidFill>
                  <a:srgbClr val="134E1A"/>
                </a:solidFill>
                <a:latin typeface="Akzidenz-Grotesk Bold"/>
                <a:ea typeface="Akzidenz-Grotesk Bold"/>
                <a:cs typeface="Akzidenz-Grotesk Bold"/>
                <a:sym typeface="Akzidenz-Grotesk Bold"/>
              </a:rPr>
            </a:br>
            <a:br>
              <a:rPr lang="en-US" sz="3200" b="1" dirty="0">
                <a:solidFill>
                  <a:srgbClr val="134E1A"/>
                </a:solidFill>
                <a:latin typeface="Akzidenz-Grotesk Bold"/>
                <a:ea typeface="Akzidenz-Grotesk Bold"/>
                <a:cs typeface="Akzidenz-Grotesk Bold"/>
                <a:sym typeface="Akzidenz-Grotesk Bold"/>
              </a:rPr>
            </a:br>
            <a:r>
              <a:rPr lang="en-US" sz="3200" b="1" dirty="0">
                <a:latin typeface="Times New Roman" panose="02020603050405020304" pitchFamily="18" charset="0"/>
                <a:ea typeface="Akzidenz-Grotesk Bold"/>
                <a:cs typeface="Times New Roman" panose="02020603050405020304" pitchFamily="18" charset="0"/>
                <a:sym typeface="Akzidenz-Grotesk Bold"/>
              </a:rPr>
              <a:t>References</a:t>
            </a:r>
          </a:p>
        </p:txBody>
      </p:sp>
      <p:sp>
        <p:nvSpPr>
          <p:cNvPr id="23" name="Freeform 37">
            <a:extLst>
              <a:ext uri="{FF2B5EF4-FFF2-40B4-BE49-F238E27FC236}">
                <a16:creationId xmlns:a16="http://schemas.microsoft.com/office/drawing/2014/main" id="{9697CFD7-210F-42BF-BF1F-A778D93ACAC3}"/>
              </a:ext>
            </a:extLst>
          </p:cNvPr>
          <p:cNvSpPr/>
          <p:nvPr/>
        </p:nvSpPr>
        <p:spPr>
          <a:xfrm>
            <a:off x="1987224" y="6751338"/>
            <a:ext cx="5997471" cy="1308098"/>
          </a:xfrm>
          <a:custGeom>
            <a:avLst/>
            <a:gdLst/>
            <a:ahLst/>
            <a:cxnLst/>
            <a:rect l="l" t="t" r="r" b="b"/>
            <a:pathLst>
              <a:path w="7996628" h="1744131">
                <a:moveTo>
                  <a:pt x="0" y="0"/>
                </a:moveTo>
                <a:lnTo>
                  <a:pt x="7996628" y="0"/>
                </a:lnTo>
                <a:lnTo>
                  <a:pt x="7996628" y="1744131"/>
                </a:lnTo>
                <a:lnTo>
                  <a:pt x="0" y="1744131"/>
                </a:lnTo>
                <a:close/>
              </a:path>
            </a:pathLst>
          </a:custGeom>
          <a:solidFill>
            <a:srgbClr val="000000">
              <a:alpha val="0"/>
            </a:srgbClr>
          </a:solidFill>
        </p:spPr>
      </p:sp>
      <p:sp>
        <p:nvSpPr>
          <p:cNvPr id="12" name="TextBox 5">
            <a:extLst>
              <a:ext uri="{FF2B5EF4-FFF2-40B4-BE49-F238E27FC236}">
                <a16:creationId xmlns:a16="http://schemas.microsoft.com/office/drawing/2014/main" id="{57DC7DD5-FB04-4D30-A17D-CE5DB493377D}"/>
              </a:ext>
            </a:extLst>
          </p:cNvPr>
          <p:cNvSpPr txBox="1"/>
          <p:nvPr/>
        </p:nvSpPr>
        <p:spPr>
          <a:xfrm>
            <a:off x="1273977" y="2238806"/>
            <a:ext cx="10161104" cy="2634952"/>
          </a:xfrm>
          <a:prstGeom prst="rect">
            <a:avLst/>
          </a:prstGeom>
        </p:spPr>
        <p:txBody>
          <a:bodyPr wrap="square" lIns="0" tIns="0" rIns="0" bIns="0" rtlCol="0" anchor="t">
            <a:spAutoFit/>
          </a:bodyPr>
          <a:lstStyle/>
          <a:p>
            <a:pPr algn="just">
              <a:lnSpc>
                <a:spcPts val="3500"/>
              </a:lnSpc>
            </a:pPr>
            <a:r>
              <a:rPr lang="en-US" dirty="0">
                <a:latin typeface="Times New Roman" panose="02020603050405020304" pitchFamily="18" charset="0"/>
                <a:ea typeface="Aileron Ultra-Bold"/>
                <a:cs typeface="Times New Roman" panose="02020603050405020304" pitchFamily="18" charset="0"/>
                <a:sym typeface="Aileron Ultra-Bold"/>
              </a:rPr>
              <a:t>1.“Firebase Documentation”[online]. Available : https://firebase.google.com/docs</a:t>
            </a:r>
            <a:endParaRPr lang="en-US" u="sng" dirty="0">
              <a:latin typeface="Times New Roman" panose="02020603050405020304" pitchFamily="18" charset="0"/>
              <a:ea typeface="Aileron Ultra-Bold"/>
              <a:cs typeface="Times New Roman" panose="02020603050405020304" pitchFamily="18" charset="0"/>
              <a:sym typeface="Aileron Ultra-Bold"/>
              <a:hlinkClick r:id="rId3" tooltip="https://developer.android.com/studio">
                <a:extLst>
                  <a:ext uri="{A12FA001-AC4F-418D-AE19-62706E023703}">
                    <ahyp:hlinkClr xmlns:ahyp="http://schemas.microsoft.com/office/drawing/2018/hyperlinkcolor" val="tx"/>
                  </a:ext>
                </a:extLst>
              </a:hlinkClick>
            </a:endParaRPr>
          </a:p>
          <a:p>
            <a:pPr algn="just">
              <a:lnSpc>
                <a:spcPts val="3500"/>
              </a:lnSpc>
            </a:pPr>
            <a:r>
              <a:rPr lang="en-US" dirty="0">
                <a:latin typeface="Times New Roman" panose="02020603050405020304" pitchFamily="18" charset="0"/>
                <a:ea typeface="Aileron Ultra-Bold"/>
                <a:cs typeface="Times New Roman" panose="02020603050405020304" pitchFamily="18" charset="0"/>
                <a:sym typeface="Aileron Ultra-Bold"/>
              </a:rPr>
              <a:t>2.“Android Studio”[online]. Available : https://developer.android.com/develop</a:t>
            </a:r>
            <a:endParaRPr lang="en-US" u="sng" dirty="0">
              <a:latin typeface="Times New Roman" panose="02020603050405020304" pitchFamily="18" charset="0"/>
              <a:ea typeface="Aileron Ultra-Bold"/>
              <a:cs typeface="Times New Roman" panose="02020603050405020304" pitchFamily="18" charset="0"/>
              <a:sym typeface="Aileron Ultra-Bold"/>
              <a:hlinkClick r:id="rId4" tooltip="https://developers.google.com/maps/documentation">
                <a:extLst>
                  <a:ext uri="{A12FA001-AC4F-418D-AE19-62706E023703}">
                    <ahyp:hlinkClr xmlns:ahyp="http://schemas.microsoft.com/office/drawing/2018/hyperlinkcolor" val="tx"/>
                  </a:ext>
                </a:extLst>
              </a:hlinkClick>
            </a:endParaRPr>
          </a:p>
          <a:p>
            <a:pPr>
              <a:lnSpc>
                <a:spcPts val="3500"/>
              </a:lnSpc>
            </a:pPr>
            <a:r>
              <a:rPr lang="en-US" dirty="0">
                <a:latin typeface="Times New Roman" panose="02020603050405020304" pitchFamily="18" charset="0"/>
                <a:ea typeface="Aileron Ultra-Bold"/>
                <a:cs typeface="Times New Roman" panose="02020603050405020304" pitchFamily="18" charset="0"/>
                <a:sym typeface="Aileron Ultra-Bold"/>
              </a:rPr>
              <a:t>3.“Google Map API Docs”[online]. Available :  https://developers.google.com/maps/documentation</a:t>
            </a:r>
            <a:endParaRPr lang="en-US" u="sng" dirty="0">
              <a:latin typeface="Times New Roman" panose="02020603050405020304" pitchFamily="18" charset="0"/>
              <a:ea typeface="Aileron Ultra-Bold"/>
              <a:cs typeface="Times New Roman" panose="02020603050405020304" pitchFamily="18" charset="0"/>
              <a:sym typeface="Aileron Ultra-Bold"/>
              <a:hlinkClick r:id="rId4" tooltip="https://developers.google.com/maps/documentation">
                <a:extLst>
                  <a:ext uri="{A12FA001-AC4F-418D-AE19-62706E023703}">
                    <ahyp:hlinkClr xmlns:ahyp="http://schemas.microsoft.com/office/drawing/2018/hyperlinkcolor" val="tx"/>
                  </a:ext>
                </a:extLst>
              </a:hlinkClick>
            </a:endParaRPr>
          </a:p>
          <a:p>
            <a:pPr>
              <a:lnSpc>
                <a:spcPts val="3500"/>
              </a:lnSpc>
            </a:pPr>
            <a:r>
              <a:rPr lang="en-US" dirty="0">
                <a:latin typeface="Times New Roman" panose="02020603050405020304" pitchFamily="18" charset="0"/>
                <a:cs typeface="Times New Roman" panose="02020603050405020304" pitchFamily="18" charset="0"/>
              </a:rPr>
              <a:t>4.“Thumbtack: Hire Service Pros”[1].Available: https://play.google.com/store/apps/details?id=com.thumbtack.</a:t>
            </a:r>
          </a:p>
          <a:p>
            <a:pPr algn="just">
              <a:lnSpc>
                <a:spcPts val="3500"/>
              </a:lnSpc>
            </a:pPr>
            <a:r>
              <a:rPr lang="en-US" dirty="0">
                <a:latin typeface="Times New Roman" panose="02020603050405020304" pitchFamily="18" charset="0"/>
                <a:cs typeface="Times New Roman" panose="02020603050405020304" pitchFamily="18" charset="0"/>
              </a:rPr>
              <a:t>5.“Handy - Book home services”[2].Available: https://play.google.com/store/apps/details?id=</a:t>
            </a:r>
          </a:p>
          <a:p>
            <a:pPr algn="just">
              <a:lnSpc>
                <a:spcPts val="3500"/>
              </a:lnSpc>
            </a:pPr>
            <a:endParaRPr lang="en-US" b="1" u="sng" dirty="0">
              <a:latin typeface="Times New Roman" panose="02020603050405020304" pitchFamily="18" charset="0"/>
              <a:ea typeface="Aileron Ultra-Bold"/>
              <a:cs typeface="Times New Roman" panose="02020603050405020304" pitchFamily="18" charset="0"/>
              <a:sym typeface="Aileron Ultra-Bold"/>
              <a:hlinkClick r:id="rId4" tooltip="https://developers.google.com/maps/documentation">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42426284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F8F538D-149D-C9B5-6C3B-89FD836724F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D7E2A16-805F-8C64-5BC2-8F93CA3B1F2A}"/>
              </a:ext>
            </a:extLst>
          </p:cNvPr>
          <p:cNvSpPr/>
          <p:nvPr/>
        </p:nvSpPr>
        <p:spPr>
          <a:xfrm>
            <a:off x="0" y="0"/>
            <a:ext cx="12192000" cy="1326117"/>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66450F2-CF7E-1FE1-30EE-D60D867CF5AC}"/>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D93381EF-E66D-E27A-96B7-92D8E9E855B4}"/>
              </a:ext>
            </a:extLst>
          </p:cNvPr>
          <p:cNvSpPr>
            <a:spLocks noGrp="1"/>
          </p:cNvSpPr>
          <p:nvPr>
            <p:ph type="dt" sz="half" idx="10"/>
          </p:nvPr>
        </p:nvSpPr>
        <p:spPr/>
        <p:txBody>
          <a:bodyPr/>
          <a:lstStyle/>
          <a:p>
            <a:fld id="{09F3FE4D-2A4B-458E-879C-F7C1D4F014B9}" type="datetime2">
              <a:rPr lang="en-US" smtClean="0">
                <a:solidFill>
                  <a:schemeClr val="bg1"/>
                </a:solidFill>
                <a:latin typeface="Times New Roman" panose="02020603050405020304" pitchFamily="18" charset="0"/>
                <a:cs typeface="Times New Roman" panose="02020603050405020304" pitchFamily="18" charset="0"/>
              </a:rPr>
              <a:t>Monday, January 5, 2026</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C28CB633-F1B1-5AA2-7616-AEF6E0DF8360}"/>
              </a:ext>
            </a:extLst>
          </p:cNvPr>
          <p:cNvSpPr>
            <a:spLocks noGrp="1"/>
          </p:cNvSpPr>
          <p:nvPr>
            <p:ph type="ftr" sz="quarter" idx="1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Department of Computer Science &amp; Engineering, PUB</a:t>
            </a:r>
          </a:p>
        </p:txBody>
      </p:sp>
      <p:sp>
        <p:nvSpPr>
          <p:cNvPr id="6" name="Slide Number Placeholder 5">
            <a:extLst>
              <a:ext uri="{FF2B5EF4-FFF2-40B4-BE49-F238E27FC236}">
                <a16:creationId xmlns:a16="http://schemas.microsoft.com/office/drawing/2014/main" id="{E79D2D25-2955-F5EC-C541-17FA71463E6B}"/>
              </a:ext>
            </a:extLst>
          </p:cNvPr>
          <p:cNvSpPr>
            <a:spLocks noGrp="1"/>
          </p:cNvSpPr>
          <p:nvPr>
            <p:ph type="sldNum" sz="quarter" idx="12"/>
          </p:nvPr>
        </p:nvSpPr>
        <p:spPr/>
        <p:txBody>
          <a:bodyPr/>
          <a:lstStyle/>
          <a:p>
            <a:fld id="{B4B5837F-C97E-4545-805A-A81BC2BC5EE4}" type="slidenum">
              <a:rPr lang="en-US" smtClean="0">
                <a:solidFill>
                  <a:schemeClr val="bg1"/>
                </a:solidFill>
                <a:latin typeface="Times New Roman" panose="02020603050405020304" pitchFamily="18" charset="0"/>
                <a:cs typeface="Times New Roman" panose="02020603050405020304" pitchFamily="18" charset="0"/>
              </a:rPr>
              <a:t>20</a:t>
            </a:fld>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64D1B26-5C4F-78A5-0FA4-7C65A21418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74" y="457199"/>
            <a:ext cx="592309" cy="586409"/>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43FC0F64-C578-9225-8FA3-BA41CCCC1B39}"/>
              </a:ext>
            </a:extLst>
          </p:cNvPr>
          <p:cNvSpPr/>
          <p:nvPr/>
        </p:nvSpPr>
        <p:spPr>
          <a:xfrm>
            <a:off x="-1" y="1314639"/>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D530E3B7-B626-CE1E-83DC-D03F1E27D7F3}"/>
              </a:ext>
            </a:extLst>
          </p:cNvPr>
          <p:cNvSpPr>
            <a:spLocks noGrp="1"/>
          </p:cNvSpPr>
          <p:nvPr>
            <p:ph type="ctrTitle"/>
          </p:nvPr>
        </p:nvSpPr>
        <p:spPr>
          <a:xfrm>
            <a:off x="1273976" y="457199"/>
            <a:ext cx="10161104" cy="619813"/>
          </a:xfrm>
          <a:effectLst>
            <a:outerShdw blurRad="63500" sx="102000" sy="102000" algn="ctr" rotWithShape="0">
              <a:prstClr val="black">
                <a:alpha val="40000"/>
              </a:prstClr>
            </a:outerShdw>
          </a:effectLst>
        </p:spPr>
        <p:txBody>
          <a:bodyPr>
            <a:noAutofit/>
          </a:bodyPr>
          <a:lstStyle/>
          <a:p>
            <a:pPr algn="l">
              <a:lnSpc>
                <a:spcPts val="7539"/>
              </a:lnSpc>
            </a:pPr>
            <a:br>
              <a:rPr lang="en-US" sz="3200" b="1" dirty="0">
                <a:solidFill>
                  <a:srgbClr val="134E1A"/>
                </a:solidFill>
                <a:latin typeface="Akzidenz-Grotesk Bold"/>
                <a:ea typeface="Akzidenz-Grotesk Bold"/>
                <a:cs typeface="Akzidenz-Grotesk Bold"/>
                <a:sym typeface="Akzidenz-Grotesk Bold"/>
              </a:rPr>
            </a:br>
            <a:br>
              <a:rPr lang="en-US" sz="3200" b="1" dirty="0">
                <a:solidFill>
                  <a:srgbClr val="134E1A"/>
                </a:solidFill>
                <a:latin typeface="Akzidenz-Grotesk Bold"/>
                <a:ea typeface="Akzidenz-Grotesk Bold"/>
                <a:cs typeface="Akzidenz-Grotesk Bold"/>
                <a:sym typeface="Akzidenz-Grotesk Bold"/>
              </a:rPr>
            </a:br>
            <a:br>
              <a:rPr lang="en-US" sz="3200" b="1" dirty="0">
                <a:solidFill>
                  <a:srgbClr val="134E1A"/>
                </a:solidFill>
                <a:latin typeface="Akzidenz-Grotesk Bold"/>
                <a:ea typeface="Akzidenz-Grotesk Bold"/>
                <a:cs typeface="Akzidenz-Grotesk Bold"/>
                <a:sym typeface="Akzidenz-Grotesk Bold"/>
              </a:rPr>
            </a:br>
            <a:br>
              <a:rPr lang="en-US" sz="3200" b="1" dirty="0">
                <a:solidFill>
                  <a:srgbClr val="134E1A"/>
                </a:solidFill>
                <a:latin typeface="Akzidenz-Grotesk Bold"/>
                <a:ea typeface="Akzidenz-Grotesk Bold"/>
                <a:cs typeface="Akzidenz-Grotesk Bold"/>
                <a:sym typeface="Akzidenz-Grotesk Bold"/>
              </a:rPr>
            </a:br>
            <a:endParaRPr lang="en-US" sz="3200" b="1" dirty="0">
              <a:latin typeface="Times New Roman" panose="02020603050405020304" pitchFamily="18" charset="0"/>
              <a:ea typeface="Akzidenz-Grotesk Bold"/>
              <a:cs typeface="Times New Roman" panose="02020603050405020304" pitchFamily="18" charset="0"/>
              <a:sym typeface="Akzidenz-Grotesk Bold"/>
            </a:endParaRPr>
          </a:p>
        </p:txBody>
      </p:sp>
      <p:sp>
        <p:nvSpPr>
          <p:cNvPr id="23" name="Freeform 37">
            <a:extLst>
              <a:ext uri="{FF2B5EF4-FFF2-40B4-BE49-F238E27FC236}">
                <a16:creationId xmlns:a16="http://schemas.microsoft.com/office/drawing/2014/main" id="{9697CFD7-210F-42BF-BF1F-A778D93ACAC3}"/>
              </a:ext>
            </a:extLst>
          </p:cNvPr>
          <p:cNvSpPr/>
          <p:nvPr/>
        </p:nvSpPr>
        <p:spPr>
          <a:xfrm>
            <a:off x="1987224" y="6751338"/>
            <a:ext cx="5997471" cy="1308098"/>
          </a:xfrm>
          <a:custGeom>
            <a:avLst/>
            <a:gdLst/>
            <a:ahLst/>
            <a:cxnLst/>
            <a:rect l="l" t="t" r="r" b="b"/>
            <a:pathLst>
              <a:path w="7996628" h="1744131">
                <a:moveTo>
                  <a:pt x="0" y="0"/>
                </a:moveTo>
                <a:lnTo>
                  <a:pt x="7996628" y="0"/>
                </a:lnTo>
                <a:lnTo>
                  <a:pt x="7996628" y="1744131"/>
                </a:lnTo>
                <a:lnTo>
                  <a:pt x="0" y="1744131"/>
                </a:lnTo>
                <a:close/>
              </a:path>
            </a:pathLst>
          </a:custGeom>
          <a:solidFill>
            <a:srgbClr val="000000">
              <a:alpha val="0"/>
            </a:srgbClr>
          </a:solidFill>
        </p:spPr>
      </p:sp>
      <p:sp>
        <p:nvSpPr>
          <p:cNvPr id="2" name="Rectangle 1">
            <a:extLst>
              <a:ext uri="{FF2B5EF4-FFF2-40B4-BE49-F238E27FC236}">
                <a16:creationId xmlns:a16="http://schemas.microsoft.com/office/drawing/2014/main" id="{A45655F7-8274-4E95-861E-FC36F426644D}"/>
              </a:ext>
            </a:extLst>
          </p:cNvPr>
          <p:cNvSpPr/>
          <p:nvPr/>
        </p:nvSpPr>
        <p:spPr>
          <a:xfrm>
            <a:off x="1403252" y="1792797"/>
            <a:ext cx="9950548" cy="2315570"/>
          </a:xfrm>
          <a:prstGeom prst="rect">
            <a:avLst/>
          </a:prstGeom>
        </p:spPr>
        <p:txBody>
          <a:bodyPr wrap="square">
            <a:spAutoFit/>
          </a:bodyPr>
          <a:lstStyle/>
          <a:p>
            <a:pPr algn="ctr">
              <a:lnSpc>
                <a:spcPts val="20249"/>
              </a:lnSpc>
            </a:pPr>
            <a:r>
              <a:rPr lang="en-US" sz="9600" b="1" dirty="0">
                <a:latin typeface="Times New Roman" panose="02020603050405020304" pitchFamily="18" charset="0"/>
                <a:ea typeface="Agrandir Narrow Bold"/>
                <a:cs typeface="Times New Roman" panose="02020603050405020304" pitchFamily="18" charset="0"/>
                <a:sym typeface="Agrandir Narrow Bold"/>
              </a:rPr>
              <a:t>THANK YOU!</a:t>
            </a:r>
          </a:p>
        </p:txBody>
      </p:sp>
    </p:spTree>
    <p:extLst>
      <p:ext uri="{BB962C8B-B14F-4D97-AF65-F5344CB8AC3E}">
        <p14:creationId xmlns:p14="http://schemas.microsoft.com/office/powerpoint/2010/main" val="26467380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65C7BDA-76C9-4226-9B1A-FE228012FD2F}" vid="{A434E4A6-0EAA-4E37-B99D-C00F0197FD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FY Presentation Template</Template>
  <TotalTime>511</TotalTime>
  <Words>1129</Words>
  <Application>Microsoft Office PowerPoint</Application>
  <PresentationFormat>Widescreen</PresentationFormat>
  <Paragraphs>253</Paragraphs>
  <Slides>20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Agrandir Narrow Bold</vt:lpstr>
      <vt:lpstr>Aileron Bold</vt:lpstr>
      <vt:lpstr>Aileron Ultra-Bold</vt:lpstr>
      <vt:lpstr>Akzidenz-Grotesk Bold</vt:lpstr>
      <vt:lpstr>Arial</vt:lpstr>
      <vt:lpstr>Calibri</vt:lpstr>
      <vt:lpstr>Calibri Light</vt:lpstr>
      <vt:lpstr>Times New Roman</vt:lpstr>
      <vt:lpstr>Wingdings</vt:lpstr>
      <vt:lpstr>Office Theme</vt:lpstr>
      <vt:lpstr>        A Geo-Location-Based Platform for Connecting Users with Skilled Professionals Using Mobile Application</vt:lpstr>
      <vt:lpstr>A Geo-Location-Based Platform for Connecting Users with Skilled Professionals Using Mobile Application</vt:lpstr>
      <vt:lpstr>Outline</vt:lpstr>
      <vt:lpstr>Introduction </vt:lpstr>
      <vt:lpstr>Problem Statement</vt:lpstr>
      <vt:lpstr>Feasibility Study</vt:lpstr>
      <vt:lpstr>Existing Work</vt:lpstr>
      <vt:lpstr> Objectives</vt:lpstr>
      <vt:lpstr> Proposed Methodology</vt:lpstr>
      <vt:lpstr> Key Features</vt:lpstr>
      <vt:lpstr>  Activity Diagram</vt:lpstr>
      <vt:lpstr>PowerPoint Presentation</vt:lpstr>
      <vt:lpstr>PowerPoint Presentation</vt:lpstr>
      <vt:lpstr>PowerPoint Presentation</vt:lpstr>
      <vt:lpstr>PowerPoint Presentation</vt:lpstr>
      <vt:lpstr>PowerPoint Presentation</vt:lpstr>
      <vt:lpstr>   Tools &amp; Technologies</vt:lpstr>
      <vt:lpstr>    Expected Outcomes</vt:lpstr>
      <vt:lpstr>     References</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 Geo-Location-Based Platform for Connecting Users with Skilled Professionals Using Mobile Application</dc:title>
  <dc:creator>Nahid Hasan</dc:creator>
  <cp:lastModifiedBy>HP</cp:lastModifiedBy>
  <cp:revision>25</cp:revision>
  <dcterms:created xsi:type="dcterms:W3CDTF">2025-07-15T06:51:59Z</dcterms:created>
  <dcterms:modified xsi:type="dcterms:W3CDTF">2026-01-05T09:27:32Z</dcterms:modified>
</cp:coreProperties>
</file>